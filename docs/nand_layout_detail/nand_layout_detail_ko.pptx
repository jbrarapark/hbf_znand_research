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bf61ea9509495e" /><Relationship Type="http://schemas.openxmlformats.org/officeDocument/2006/relationships/extended-properties" Target="/docProps/app.xml" Id="R76db5a7d389b41f1" /><Relationship Type="http://schemas.openxmlformats.org/officeDocument/2006/relationships/officeDocument" Target="/ppt/presentation.xml" Id="Ra22904641fd947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7aae65c826441b"/>
  </p:sldMasterIdLst>
  <p:notesMasterIdLst>
    <p:notesMasterId xmlns:r="http://schemas.openxmlformats.org/officeDocument/2006/relationships" r:id="Re897f69c49cc4bc0"/>
  </p:notesMasterIdLst>
  <p:sldIdLst>
    <p:sldId xmlns:r="http://schemas.openxmlformats.org/officeDocument/2006/relationships" id="256" r:id="Rf4531092e36a4ac5"/>
    <p:sldId xmlns:r="http://schemas.openxmlformats.org/officeDocument/2006/relationships" id="257" r:id="Ree200db90f0d4f0c"/>
    <p:sldId xmlns:r="http://schemas.openxmlformats.org/officeDocument/2006/relationships" id="258" r:id="R58289baef5d949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f2db62403d419a" /><Relationship Type="http://schemas.openxmlformats.org/officeDocument/2006/relationships/slideMaster" Target="/ppt/slideMasters/slideMaster1.xml" Id="R237aae65c826441b" /><Relationship Type="http://schemas.openxmlformats.org/officeDocument/2006/relationships/notesMaster" Target="/ppt/notesMasters/notesMaster1.xml" Id="Re897f69c49cc4bc0" /><Relationship Type="http://schemas.openxmlformats.org/officeDocument/2006/relationships/presProps" Target="/ppt/presProps.xml" Id="Rff35ba7a320143b7" /><Relationship Type="http://schemas.openxmlformats.org/officeDocument/2006/relationships/tableStyles" Target="/ppt/tableStyles.xml" Id="Rae713baf2b4b4d31" /><Relationship Type="http://schemas.openxmlformats.org/officeDocument/2006/relationships/slide" Target="/ppt/slides/slide1.xml" Id="Rf4531092e36a4ac5" /><Relationship Type="http://schemas.openxmlformats.org/officeDocument/2006/relationships/slide" Target="/ppt/slides/slide2.xml" Id="Ree200db90f0d4f0c" /><Relationship Type="http://schemas.openxmlformats.org/officeDocument/2006/relationships/slide" Target="/ppt/slides/slide3.xml" Id="R58289baef5d949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9f09e79bac4c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f94b8302e24600" /><Relationship Type="http://schemas.openxmlformats.org/officeDocument/2006/relationships/notesMaster" Target="/ppt/notesMasters/notesMaster1.xml" Id="Ra907beaa473145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595a3c4a4b4545" /><Relationship Type="http://schemas.openxmlformats.org/officeDocument/2006/relationships/notesMaster" Target="/ppt/notesMasters/notesMaster1.xml" Id="R0005386b365e44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64cb052a164628" /><Relationship Type="http://schemas.openxmlformats.org/officeDocument/2006/relationships/notesMaster" Target="/ppt/notesMasters/notesMaster1.xml" Id="R3efdbd3de61d42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https://github.com/JBRARAPARK/HBF_zNAND_Research/blob/8495ed5/znand/model.py</a:t>
            </a:r>
          </a:p>
          <a:p xmlns:a="http://schemas.openxmlformats.org/drawingml/2006/main">
            <a:r>
              <a:t>https://github.com/JBRARAPARK/HBF_zNAND_Research/blob/8495ed5/docs/09_plane_expansion_layout_ko.md</a:t>
            </a:r>
          </a:p>
          <a:p xmlns:a="http://schemas.openxmlformats.org/drawingml/2006/main">
            <a:r>
              <a:t>이 도식은 시뮬레이터의 자원 및 주소 모델이다. 실제 zNAND 제품의 배선, 셀 단면, Die/LUN 제약을 확정하지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https://github.com/JBRARAPARK/HBF_zNAND_Research/blob/8495ed5/znand/model.py</a:t>
            </a:r>
          </a:p>
          <a:p xmlns:a="http://schemas.openxmlformats.org/drawingml/2006/main">
            <a:r>
              <a:t>https://github.com/JBRARAPARK/HBF_zNAND_Research/blob/8495ed5/docs/09_plane_expansion_layout_ko.md</a:t>
            </a:r>
          </a:p>
          <a:p xmlns:a="http://schemas.openxmlformats.org/drawingml/2006/main">
            <a:r>
              <a:t>이 도식은 시뮬레이터의 자원 및 주소 모델이다. 실제 zNAND 제품의 배선, 셀 단면, Die/LUN 제약을 확정하지 않는다.</a:t>
            </a:r>
          </a:p>
          <a:p xmlns:a="http://schemas.openxmlformats.org/drawingml/2006/main">
            <a:r>
              <a:t>address(q): r=q%10104; (q//10104,420-r//24,(r%24)//12,(r%12)//2,r%2). 10104=421*2*6*2. 10104*16384/2**20=157.875MiB. Group은 모델상의 주소 묶음이다. Group 개수나 유한 물리 용량은 제한하지 않는다. SSL/E/O는 모델의 주소 라벨이며 실제품의 스트링 수나 셀 배치를 의미하지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https://github.com/JBRARAPARK/HBF_zNAND_Research/blob/8495ed5/znand/model.py</a:t>
            </a:r>
          </a:p>
          <a:p xmlns:a="http://schemas.openxmlformats.org/drawingml/2006/main">
            <a:r>
              <a:t>https://github.com/JBRARAPARK/HBF_zNAND_Research/blob/8495ed5/docs/09_plane_expansion_layout_ko.md</a:t>
            </a:r>
          </a:p>
          <a:p xmlns:a="http://schemas.openxmlformats.org/drawingml/2006/main">
            <a:r>
              <a:t>이 도식은 시뮬레이터의 자원 및 주소 모델이다. 실제 zNAND 제품의 배선, 셀 단면, Die/LUN 제약을 확정하지 않는다.</a:t>
            </a:r>
          </a:p>
          <a:p xmlns:a="http://schemas.openxmlformats.org/drawingml/2006/main">
            <a:r>
              <a:t>NAND transfer duration=16384/(80.1125*1000)+0.05=약0.2545µs. Page-buffer hit도 CA 0.1µs, 전체 페이지 출력, ECC 0.2µs를 수행한다. Plane busy는 transferred 시 해제된다. Controller 항목은 마지막 참조 응답 이후 해제되므로 영구 캐시가 아니다. 페이지 버퍼 hit는 sensing된 q와 일치할 때만 가능하며 maintenance/상태 제약이 추가될 수 있다. tR는 실측 보장값이 아닌 Config 값이다.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6decfb98cc44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b341d3a10a47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e741b08bcc48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8312924f5e42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bbb1ebc6fd4ca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f9ea7aa33649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2491A0-2155-4FE6-AD6B-7CDE11499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881EED4-F3AC-4FF2-8BA0-640C40DC45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57C3DE3-4AC5-4378-AF16-E07914C66D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D3B8D9-880E-4D9E-BD52-9D259D89A5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692E96D-468E-4C41-8AF4-5B6BDBEFCB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18FDEA0-FF4C-4AA9-908B-6943907C2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8B20321-6C9E-476A-A549-1DC299AAFF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B5F73D2-0F17-4721-8557-CD77A189DD9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E66646-04FE-40A6-917B-0768AB90B9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C97EB3-340C-421C-935F-DCFF1BA950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56c2a5e69444e1" /><Relationship Type="http://schemas.openxmlformats.org/officeDocument/2006/relationships/slideLayout" Target="/ppt/slideLayouts/slideLayout1.xml" Id="Rdcba1c72fe2849a2" /><Relationship Type="http://schemas.openxmlformats.org/officeDocument/2006/relationships/slideLayout" Target="/ppt/slideLayouts/slideLayout2.xml" Id="Rec359a1d6b8840e9" /><Relationship Type="http://schemas.openxmlformats.org/officeDocument/2006/relationships/slideLayout" Target="/ppt/slideLayouts/slideLayout3.xml" Id="R4d0233c877f14bb0" /><Relationship Type="http://schemas.openxmlformats.org/officeDocument/2006/relationships/slideLayout" Target="/ppt/slideLayouts/slideLayout4.xml" Id="Ra0da729b62c94e37" /><Relationship Type="http://schemas.openxmlformats.org/officeDocument/2006/relationships/slideLayout" Target="/ppt/slideLayouts/slideLayout5.xml" Id="R1c19fba9bba04532" /><Relationship Type="http://schemas.openxmlformats.org/officeDocument/2006/relationships/slideLayout" Target="/ppt/slideLayouts/slideLayout6.xml" Id="R96ca3462bff743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ba1c72fe2849a2"/>
    <p:sldLayoutId xmlns:r="http://schemas.openxmlformats.org/officeDocument/2006/relationships" id="2147483650" r:id="Rec359a1d6b8840e9"/>
    <p:sldLayoutId xmlns:r="http://schemas.openxmlformats.org/officeDocument/2006/relationships" id="2147483651" r:id="R4d0233c877f14bb0"/>
    <p:sldLayoutId xmlns:r="http://schemas.openxmlformats.org/officeDocument/2006/relationships" id="2147483652" r:id="Ra0da729b62c94e37"/>
    <p:sldLayoutId xmlns:r="http://schemas.openxmlformats.org/officeDocument/2006/relationships" id="2147483653" r:id="R1c19fba9bba04532"/>
    <p:sldLayoutId xmlns:r="http://schemas.openxmlformats.org/officeDocument/2006/relationships" id="2147483654" r:id="R96ca3462bff743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b9fbf5127e408d" /><Relationship Type="http://schemas.openxmlformats.org/officeDocument/2006/relationships/notesSlide" Target="/ppt/notesSlides/notesSlide1.xml" Id="R2e2989da6a2947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2dc4c36c0542ae" /><Relationship Type="http://schemas.openxmlformats.org/officeDocument/2006/relationships/notesSlide" Target="/ppt/notesSlides/notesSlide2.xml" Id="R17052accdf1a48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43097ec21844f6" /><Relationship Type="http://schemas.openxmlformats.org/officeDocument/2006/relationships/notesSlide" Target="/ppt/notesSlides/notesSlide3.xml" Id="R8f1772562c3a4c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ext-0">
            <a:extLst xmlns:a="http://schemas.openxmlformats.org/drawingml/2006/main">
              <a:ext uri="{FF2B5EF4-FFF2-40B4-BE49-F238E27FC236}">
                <a16:creationId xmlns:a16="http://schemas.microsoft.com/office/drawing/2014/main" id="{5CCD35BB-9289-4DF3-8613-209E922E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NAND 채널 내부의 Plane과 공유 경로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C61378F-C59A-476E-AB24-A2BCFF63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822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rPr>
              <a:t>4 Channel × 16 Plane = 총 64개 독립 sensing 자원. 아래는 CH0을 확대한 모델 구조입니다.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9AC0D5B-EAB7-4792-97D6-11F44947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rPr>
              <a:t>HBF zNAND 모델 해석 | 64 Plane 구성 | 제품의 실제 die floorplan은 미확정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49804D4-0A1D-4594-B606-15FC3696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5" name="block-4">
            <a:extLst xmlns:a="http://schemas.openxmlformats.org/drawingml/2006/main">
              <a:ext uri="{FF2B5EF4-FFF2-40B4-BE49-F238E27FC236}">
                <a16:creationId xmlns:a16="http://schemas.microsoft.com/office/drawing/2014/main" id="{7F278A3B-5F24-4FB4-92AD-B51878EA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66925"/>
            <a:ext cx="20002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5240">
            <a:solidFill>
              <a:srgbClr val="172738"/>
            </a:solidFill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42F7C33-A6D1-4339-9A39-96DD7651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17716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Controller</a:t>
            </a:r>
          </a:p>
          <a:p xmlns:a="http://schemas.openxmlformats.org/drawingml/2006/main">
            <a:pPr>
              <a:defRPr sz="1950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CA 스케줄러</a:t>
            </a:r>
          </a:p>
          <a:p xmlns:a="http://schemas.openxmlformats.org/drawingml/2006/main">
            <a:pPr>
              <a:defRPr sz="1950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Data 수신</a:t>
            </a:r>
          </a:p>
        </p:txBody>
      </p:sp>
      <p:sp>
        <p:nvSpPr>
          <p:cNvPr id="7" name="block-6">
            <a:extLst xmlns:a="http://schemas.openxmlformats.org/drawingml/2006/main">
              <a:ext uri="{FF2B5EF4-FFF2-40B4-BE49-F238E27FC236}">
                <a16:creationId xmlns:a16="http://schemas.microsoft.com/office/drawing/2014/main" id="{74E4A492-AA9F-40B5-96C6-38D0842F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62125"/>
            <a:ext cx="857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9CBD8"/>
            </a:solidFill>
          </a:ln>
        </p:spPr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2A7A99F-A833-41BC-A3F2-64FDE6D6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24050"/>
            <a:ext cx="781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CH0   ·   CH1–CH3도 동일한 구성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1F8ABF4-1BFE-4DAD-8EFD-9A5112A6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19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rPr>
              <a:t>공유 CA 경로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2877D-01BF-4356-9C97-C490D0B7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90825"/>
            <a:ext cx="784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DC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4B0C8-98CC-4B1A-8BD8-98AF5786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686050"/>
            <a:ext cx="34290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6DC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FFD75-342F-425E-B81D-717B292B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09875"/>
            <a:ext cx="19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DCA"/>
          </a:solidFill>
          <a:ln xmlns:a="http://schemas.openxmlformats.org/drawingml/2006/main" w="0">
            <a:noFill/>
          </a:ln>
        </p:spPr>
      </p:sp>
      <p:sp>
        <p:nvSpPr>
          <p:cNvPr id="13" name="block-9">
            <a:extLst xmlns:a="http://schemas.openxmlformats.org/drawingml/2006/main">
              <a:ext uri="{FF2B5EF4-FFF2-40B4-BE49-F238E27FC236}">
                <a16:creationId xmlns:a16="http://schemas.microsoft.com/office/drawing/2014/main" id="{9BF0F261-5F5A-4768-B9C7-824A93BC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24200"/>
            <a:ext cx="171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5240">
            <a:solidFill>
              <a:srgbClr val="126DCA"/>
            </a:solidFill>
          </a:ln>
        </p:spPr>
      </p:sp>
      <p:sp>
        <p:nvSpPr>
          <p:cNvPr id="14" name="text-10">
            <a:extLst xmlns:a="http://schemas.openxmlformats.org/drawingml/2006/main">
              <a:ext uri="{FF2B5EF4-FFF2-40B4-BE49-F238E27FC236}">
                <a16:creationId xmlns:a16="http://schemas.microsoft.com/office/drawing/2014/main" id="{9EC46437-1985-4A72-A38E-7759EFBC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38500"/>
            <a:ext cx="148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rPr>
              <a:t>Plane 0</a:t>
            </a:r>
          </a:p>
        </p:txBody>
      </p:sp>
      <p:sp>
        <p:nvSpPr>
          <p:cNvPr id="15" name="text-11">
            <a:extLst xmlns:a="http://schemas.openxmlformats.org/drawingml/2006/main">
              <a:ext uri="{FF2B5EF4-FFF2-40B4-BE49-F238E27FC236}">
                <a16:creationId xmlns:a16="http://schemas.microsoft.com/office/drawing/2014/main" id="{83891A92-0F33-4ACC-9BCF-D60CED40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14725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독립 busy / tR</a:t>
            </a:r>
          </a:p>
          <a:p xmlns:a="http://schemas.openxmlformats.org/drawingml/2006/main">
            <a:pPr>
              <a:defRPr sz="14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16KiB page buffer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FCCFC-64AD-481D-9527-E551CC2F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95750"/>
            <a:ext cx="19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B87048-95F4-4D92-B7DD-FE3DD612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09875"/>
            <a:ext cx="19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DCA"/>
          </a:solidFill>
          <a:ln xmlns:a="http://schemas.openxmlformats.org/drawingml/2006/main" w="0">
            <a:noFill/>
          </a:ln>
        </p:spPr>
      </p:sp>
      <p:sp>
        <p:nvSpPr>
          <p:cNvPr id="18" name="block-12">
            <a:extLst xmlns:a="http://schemas.openxmlformats.org/drawingml/2006/main">
              <a:ext uri="{FF2B5EF4-FFF2-40B4-BE49-F238E27FC236}">
                <a16:creationId xmlns:a16="http://schemas.microsoft.com/office/drawing/2014/main" id="{E915505B-82C3-431C-A59F-F8B61121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24200"/>
            <a:ext cx="171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5240">
            <a:solidFill>
              <a:srgbClr val="126DCA"/>
            </a:solidFill>
          </a:ln>
        </p:spPr>
      </p:sp>
      <p:sp>
        <p:nvSpPr>
          <p:cNvPr id="19" name="text-13">
            <a:extLst xmlns:a="http://schemas.openxmlformats.org/drawingml/2006/main">
              <a:ext uri="{FF2B5EF4-FFF2-40B4-BE49-F238E27FC236}">
                <a16:creationId xmlns:a16="http://schemas.microsoft.com/office/drawing/2014/main" id="{C5A84076-A592-4377-ABE7-2E41A7C8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38500"/>
            <a:ext cx="148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rPr>
              <a:t>Plane 1</a:t>
            </a:r>
          </a:p>
        </p:txBody>
      </p:sp>
      <p:sp>
        <p:nvSpPr>
          <p:cNvPr id="20" name="text-14">
            <a:extLst xmlns:a="http://schemas.openxmlformats.org/drawingml/2006/main">
              <a:ext uri="{FF2B5EF4-FFF2-40B4-BE49-F238E27FC236}">
                <a16:creationId xmlns:a16="http://schemas.microsoft.com/office/drawing/2014/main" id="{2F5FD897-34F9-4BFF-BDAA-CD5DAD52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514725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독립 busy / tR</a:t>
            </a:r>
          </a:p>
          <a:p xmlns:a="http://schemas.openxmlformats.org/drawingml/2006/main">
            <a:pPr>
              <a:defRPr sz="14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16KiB page buffer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2DBFDE-712F-4D23-A7F0-7CEF1DA6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95750"/>
            <a:ext cx="19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BBC2A1-2F84-4DCE-937C-7F6E9948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09875"/>
            <a:ext cx="19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DCA"/>
          </a:solidFill>
          <a:ln xmlns:a="http://schemas.openxmlformats.org/drawingml/2006/main" w="0">
            <a:noFill/>
          </a:ln>
        </p:spPr>
      </p:sp>
      <p:sp>
        <p:nvSpPr>
          <p:cNvPr id="23" name="block-15">
            <a:extLst xmlns:a="http://schemas.openxmlformats.org/drawingml/2006/main">
              <a:ext uri="{FF2B5EF4-FFF2-40B4-BE49-F238E27FC236}">
                <a16:creationId xmlns:a16="http://schemas.microsoft.com/office/drawing/2014/main" id="{A963ACF6-D55C-4280-89A0-CDA5D5E4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24200"/>
            <a:ext cx="171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5240">
            <a:solidFill>
              <a:srgbClr val="126DCA"/>
            </a:solidFill>
          </a:ln>
        </p:spPr>
      </p:sp>
      <p:sp>
        <p:nvSpPr>
          <p:cNvPr id="24" name="text-16">
            <a:extLst xmlns:a="http://schemas.openxmlformats.org/drawingml/2006/main">
              <a:ext uri="{FF2B5EF4-FFF2-40B4-BE49-F238E27FC236}">
                <a16:creationId xmlns:a16="http://schemas.microsoft.com/office/drawing/2014/main" id="{FD08B4F8-19A4-4BBA-8DE7-6FFCFE66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38500"/>
            <a:ext cx="148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rPr>
              <a:t>Plane 2 … 14</a:t>
            </a:r>
          </a:p>
        </p:txBody>
      </p:sp>
      <p:sp>
        <p:nvSpPr>
          <p:cNvPr id="25" name="text-17">
            <a:extLst xmlns:a="http://schemas.openxmlformats.org/drawingml/2006/main">
              <a:ext uri="{FF2B5EF4-FFF2-40B4-BE49-F238E27FC236}">
                <a16:creationId xmlns:a16="http://schemas.microsoft.com/office/drawing/2014/main" id="{89D60F77-8540-40CA-8D5A-1223AFEE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14725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독립 busy / tR</a:t>
            </a:r>
          </a:p>
          <a:p xmlns:a="http://schemas.openxmlformats.org/drawingml/2006/main">
            <a:pPr>
              <a:defRPr sz="14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16KiB page buffer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2EF795-80E7-4F53-9548-A160937E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19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A3AEC3-FC3C-4094-B335-39B1D04B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09875"/>
            <a:ext cx="19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DCA"/>
          </a:solidFill>
          <a:ln xmlns:a="http://schemas.openxmlformats.org/drawingml/2006/main" w="0">
            <a:noFill/>
          </a:ln>
        </p:spPr>
      </p:sp>
      <p:sp>
        <p:nvSpPr>
          <p:cNvPr id="28" name="block-18">
            <a:extLst xmlns:a="http://schemas.openxmlformats.org/drawingml/2006/main">
              <a:ext uri="{FF2B5EF4-FFF2-40B4-BE49-F238E27FC236}">
                <a16:creationId xmlns:a16="http://schemas.microsoft.com/office/drawing/2014/main" id="{10F776D2-A043-46C2-AA41-FD3ECD96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24200"/>
            <a:ext cx="171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5240">
            <a:solidFill>
              <a:srgbClr val="126DCA"/>
            </a:solidFill>
          </a:ln>
        </p:spPr>
      </p:sp>
      <p:sp>
        <p:nvSpPr>
          <p:cNvPr id="29" name="text-19">
            <a:extLst xmlns:a="http://schemas.openxmlformats.org/drawingml/2006/main">
              <a:ext uri="{FF2B5EF4-FFF2-40B4-BE49-F238E27FC236}">
                <a16:creationId xmlns:a16="http://schemas.microsoft.com/office/drawing/2014/main" id="{10F1A277-2E5E-4EA6-8D10-EE817A4E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38500"/>
            <a:ext cx="148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rPr>
              <a:t>Plane 15</a:t>
            </a:r>
          </a:p>
        </p:txBody>
      </p:sp>
      <p:sp>
        <p:nvSpPr>
          <p:cNvPr id="30" name="text-20">
            <a:extLst xmlns:a="http://schemas.openxmlformats.org/drawingml/2006/main">
              <a:ext uri="{FF2B5EF4-FFF2-40B4-BE49-F238E27FC236}">
                <a16:creationId xmlns:a16="http://schemas.microsoft.com/office/drawing/2014/main" id="{C63CC3DA-3F52-4708-B3F6-48E9D824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14725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독립 busy / tR</a:t>
            </a:r>
          </a:p>
          <a:p xmlns:a="http://schemas.openxmlformats.org/drawingml/2006/main">
            <a:pPr>
              <a:defRPr sz="14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16KiB page buffer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604201-81D2-4F03-9990-0796E446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095750"/>
            <a:ext cx="19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970AB2-25BB-4AF9-9C03-CD93B09E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29125"/>
            <a:ext cx="784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2"/>
          </a:solidFill>
          <a:ln xmlns:a="http://schemas.openxmlformats.org/drawingml/2006/main" w="0">
            <a:noFill/>
          </a:ln>
        </p:spPr>
      </p:sp>
      <p:sp>
        <p:nvSpPr>
          <p:cNvPr id="33" name="text-21">
            <a:extLst xmlns:a="http://schemas.openxmlformats.org/drawingml/2006/main">
              <a:ext uri="{FF2B5EF4-FFF2-40B4-BE49-F238E27FC236}">
                <a16:creationId xmlns:a16="http://schemas.microsoft.com/office/drawing/2014/main" id="{4E8926C5-9883-4F6C-A059-FDE15E22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6291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008B82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08B82"/>
                </a:solidFill>
                <a:latin typeface="Apple SD Gothic Neo"/>
                <a:ea typeface="Apple SD Gothic Neo"/>
                <a:cs typeface="Apple SD Gothic Neo"/>
              </a:rPr>
              <a:t>공유 Data 경로   ·   채널당 80.1125 GB/s 설정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30D6B7-2074-4AF3-9C12-55175F55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267200"/>
            <a:ext cx="342900" cy="18097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08B82"/>
          </a:solidFill>
          <a:ln xmlns:a="http://schemas.openxmlformats.org/drawingml/2006/main" w="0">
            <a:noFill/>
          </a:ln>
        </p:spPr>
      </p:sp>
      <p:sp>
        <p:nvSpPr>
          <p:cNvPr id="35" name="text-22">
            <a:extLst xmlns:a="http://schemas.openxmlformats.org/drawingml/2006/main">
              <a:ext uri="{FF2B5EF4-FFF2-40B4-BE49-F238E27FC236}">
                <a16:creationId xmlns:a16="http://schemas.microsoft.com/office/drawing/2014/main" id="{1ADA7D24-8281-4C99-AA57-E6F8EEEC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863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독립적인 sensing은 겹칠 수 있지만, 같은 채널의 출력 전송은 직렬화됩니다.</a:t>
            </a:r>
          </a:p>
        </p:txBody>
      </p:sp>
      <p:sp>
        <p:nvSpPr>
          <p:cNvPr id="36" name="text-23">
            <a:extLst xmlns:a="http://schemas.openxmlformats.org/drawingml/2006/main">
              <a:ext uri="{FF2B5EF4-FFF2-40B4-BE49-F238E27FC236}">
                <a16:creationId xmlns:a16="http://schemas.microsoft.com/office/drawing/2014/main" id="{148F3FF9-B50B-42A5-A9D1-7DDA7BCE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816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rPr>
              <a:t>Die/LUN은 모델에 없음. 2 Plane/Die를 가정하면 8 Die/Channel로 해석할 수 있으나 구현 확정값은 아닙니다.</a:t>
            </a:r>
          </a:p>
          <a:p xmlns:a="http://schemas.openxmlformats.org/drawingml/2006/main">
            <a:pPr>
              <a:defRPr sz="1575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rPr>
              <a:t>Plane page buffer 합계: 64 × 16KiB = 1MiB. Controller buffer 8MiB와는 별도 자원입니다.</a:t>
            </a:r>
          </a:p>
        </p:txBody>
      </p:sp>
    </p:spTree>
    <p:extLst>
      <p:ext uri="{BB962C8B-B14F-4D97-AF65-F5344CB8AC3E}">
        <p14:creationId xmlns:p14="http://schemas.microsoft.com/office/powerpoint/2010/main" val="1207150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24">
            <a:extLst xmlns:a="http://schemas.openxmlformats.org/drawingml/2006/main">
              <a:ext uri="{FF2B5EF4-FFF2-40B4-BE49-F238E27FC236}">
                <a16:creationId xmlns:a16="http://schemas.microsoft.com/office/drawing/2014/main" id="{BD844486-5B8E-4C69-8962-4372A6E4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Plane 내부의 주소 계층과 페이지 배치</a:t>
            </a:r>
          </a:p>
        </p:txBody>
      </p:sp>
      <p:sp>
        <p:nvSpPr>
          <p:cNvPr id="2" name="text-25">
            <a:extLst xmlns:a="http://schemas.openxmlformats.org/drawingml/2006/main">
              <a:ext uri="{FF2B5EF4-FFF2-40B4-BE49-F238E27FC236}">
                <a16:creationId xmlns:a16="http://schemas.microsoft.com/office/drawing/2014/main" id="{DD9A02EA-D025-4292-A742-8B70A26E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822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rPr>
              <a:t>코드의 plane-local 페이지 번호 q를 Group, WL, Block, SSL, E/O로 분해한 논리 배치입니다.</a:t>
            </a:r>
          </a:p>
        </p:txBody>
      </p:sp>
      <p:sp>
        <p:nvSpPr>
          <p:cNvPr id="3" name="text-26">
            <a:extLst xmlns:a="http://schemas.openxmlformats.org/drawingml/2006/main">
              <a:ext uri="{FF2B5EF4-FFF2-40B4-BE49-F238E27FC236}">
                <a16:creationId xmlns:a16="http://schemas.microsoft.com/office/drawing/2014/main" id="{DCA7D26D-A25D-46C0-8FDF-47582DF2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rPr>
              <a:t>HBF zNAND 모델 해석 | 64 Plane 구성 | 제품의 실제 die floorplan은 미확정</a:t>
            </a:r>
          </a:p>
        </p:txBody>
      </p:sp>
      <p:sp>
        <p:nvSpPr>
          <p:cNvPr id="4" name="text-27">
            <a:extLst xmlns:a="http://schemas.openxmlformats.org/drawingml/2006/main">
              <a:ext uri="{FF2B5EF4-FFF2-40B4-BE49-F238E27FC236}">
                <a16:creationId xmlns:a16="http://schemas.microsoft.com/office/drawing/2014/main" id="{F591A2E4-8436-4100-98DA-AEF793B9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5" name="block-28">
            <a:extLst xmlns:a="http://schemas.openxmlformats.org/drawingml/2006/main">
              <a:ext uri="{FF2B5EF4-FFF2-40B4-BE49-F238E27FC236}">
                <a16:creationId xmlns:a16="http://schemas.microsoft.com/office/drawing/2014/main" id="{44866350-86C2-4015-BA7F-0BE60A31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733425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9CBD8"/>
            </a:solidFill>
          </a:ln>
        </p:spPr>
      </p:sp>
      <p:sp>
        <p:nvSpPr>
          <p:cNvPr id="6" name="text-29">
            <a:extLst xmlns:a="http://schemas.openxmlformats.org/drawingml/2006/main">
              <a:ext uri="{FF2B5EF4-FFF2-40B4-BE49-F238E27FC236}">
                <a16:creationId xmlns:a16="http://schemas.microsoft.com/office/drawing/2014/main" id="{E313C20E-D51D-4C99-BA32-8F1ED83D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4310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한 Plane의 주소 공간</a:t>
            </a:r>
          </a:p>
        </p:txBody>
      </p:sp>
      <p:sp>
        <p:nvSpPr>
          <p:cNvPr id="7" name="block-30">
            <a:extLst xmlns:a="http://schemas.openxmlformats.org/drawingml/2006/main">
              <a:ext uri="{FF2B5EF4-FFF2-40B4-BE49-F238E27FC236}">
                <a16:creationId xmlns:a16="http://schemas.microsoft.com/office/drawing/2014/main" id="{EBEAD4D0-1547-41D8-A04C-94F8A2D7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681037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5240">
            <a:solidFill>
              <a:srgbClr val="126DCA"/>
            </a:solidFill>
          </a:ln>
        </p:spPr>
      </p:sp>
      <p:sp>
        <p:nvSpPr>
          <p:cNvPr id="8" name="text-31">
            <a:extLst xmlns:a="http://schemas.openxmlformats.org/drawingml/2006/main">
              <a:ext uri="{FF2B5EF4-FFF2-40B4-BE49-F238E27FC236}">
                <a16:creationId xmlns:a16="http://schemas.microsoft.com/office/drawing/2014/main" id="{F376CEEF-633B-471D-9055-917F6661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62225"/>
            <a:ext cx="6581775" cy="2390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rPr>
              <a:t>Group g</a:t>
            </a:r>
          </a:p>
        </p:txBody>
      </p:sp>
      <p:sp>
        <p:nvSpPr>
          <p:cNvPr id="9" name="text-32">
            <a:extLst xmlns:a="http://schemas.openxmlformats.org/drawingml/2006/main">
              <a:ext uri="{FF2B5EF4-FFF2-40B4-BE49-F238E27FC236}">
                <a16:creationId xmlns:a16="http://schemas.microsoft.com/office/drawing/2014/main" id="{151D370C-CEBA-4BBA-ADF5-FEAA48E1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43225"/>
            <a:ext cx="628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WL 420 … 0  (q가 증가하면 WL 감소)</a:t>
            </a:r>
          </a:p>
        </p:txBody>
      </p:sp>
      <p:sp>
        <p:nvSpPr>
          <p:cNvPr id="10" name="block-33">
            <a:extLst xmlns:a="http://schemas.openxmlformats.org/drawingml/2006/main">
              <a:ext uri="{FF2B5EF4-FFF2-40B4-BE49-F238E27FC236}">
                <a16:creationId xmlns:a16="http://schemas.microsoft.com/office/drawing/2014/main" id="{C2858B00-8279-4131-B370-1D6B869E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57575"/>
            <a:ext cx="3000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8B82"/>
            </a:solidFill>
          </a:ln>
        </p:spPr>
      </p:sp>
      <p:sp>
        <p:nvSpPr>
          <p:cNvPr id="11" name="text-34">
            <a:extLst xmlns:a="http://schemas.openxmlformats.org/drawingml/2006/main">
              <a:ext uri="{FF2B5EF4-FFF2-40B4-BE49-F238E27FC236}">
                <a16:creationId xmlns:a16="http://schemas.microsoft.com/office/drawing/2014/main" id="{75271501-E243-4FF2-95E0-9C0AF792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71875"/>
            <a:ext cx="27717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008B82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08B82"/>
                </a:solidFill>
                <a:latin typeface="Apple SD Gothic Neo"/>
                <a:ea typeface="Apple SD Gothic Neo"/>
                <a:cs typeface="Apple SD Gothic Neo"/>
              </a:rPr>
              <a:t>Block 0</a:t>
            </a:r>
          </a:p>
        </p:txBody>
      </p:sp>
      <p:sp>
        <p:nvSpPr>
          <p:cNvPr id="12" name="text-35">
            <a:extLst xmlns:a="http://schemas.openxmlformats.org/drawingml/2006/main">
              <a:ext uri="{FF2B5EF4-FFF2-40B4-BE49-F238E27FC236}">
                <a16:creationId xmlns:a16="http://schemas.microsoft.com/office/drawing/2014/main" id="{52EC45E1-E472-4539-A8D1-B57EF502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8481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SSL 0 … 5</a:t>
            </a:r>
          </a:p>
        </p:txBody>
      </p:sp>
      <p:sp>
        <p:nvSpPr>
          <p:cNvPr id="13" name="text-36">
            <a:extLst xmlns:a="http://schemas.openxmlformats.org/drawingml/2006/main">
              <a:ext uri="{FF2B5EF4-FFF2-40B4-BE49-F238E27FC236}">
                <a16:creationId xmlns:a16="http://schemas.microsoft.com/office/drawing/2014/main" id="{ABE9F01C-DED9-4D5B-B632-3DA7A212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314825"/>
            <a:ext cx="276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rPr>
              <a:t>각 SSL: Even / Odd 16KiB page</a:t>
            </a:r>
          </a:p>
        </p:txBody>
      </p:sp>
      <p:sp>
        <p:nvSpPr>
          <p:cNvPr id="14" name="block-37">
            <a:extLst xmlns:a="http://schemas.openxmlformats.org/drawingml/2006/main">
              <a:ext uri="{FF2B5EF4-FFF2-40B4-BE49-F238E27FC236}">
                <a16:creationId xmlns:a16="http://schemas.microsoft.com/office/drawing/2014/main" id="{ABC1337D-F551-45A3-A6CE-9751B065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57575"/>
            <a:ext cx="3000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8B82"/>
            </a:solidFill>
          </a:ln>
        </p:spPr>
      </p:sp>
      <p:sp>
        <p:nvSpPr>
          <p:cNvPr id="15" name="text-38">
            <a:extLst xmlns:a="http://schemas.openxmlformats.org/drawingml/2006/main">
              <a:ext uri="{FF2B5EF4-FFF2-40B4-BE49-F238E27FC236}">
                <a16:creationId xmlns:a16="http://schemas.microsoft.com/office/drawing/2014/main" id="{6DB4686B-38BD-4DE0-B261-CD95FBEE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71875"/>
            <a:ext cx="27717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008B82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8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08B82"/>
                </a:solidFill>
                <a:latin typeface="Apple SD Gothic Neo"/>
                <a:ea typeface="Apple SD Gothic Neo"/>
                <a:cs typeface="Apple SD Gothic Neo"/>
              </a:rPr>
              <a:t>Block 1</a:t>
            </a:r>
          </a:p>
        </p:txBody>
      </p:sp>
      <p:sp>
        <p:nvSpPr>
          <p:cNvPr id="16" name="text-39">
            <a:extLst xmlns:a="http://schemas.openxmlformats.org/drawingml/2006/main">
              <a:ext uri="{FF2B5EF4-FFF2-40B4-BE49-F238E27FC236}">
                <a16:creationId xmlns:a16="http://schemas.microsoft.com/office/drawing/2014/main" id="{0B6939B9-99E0-49DE-8425-CC2E7D6F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8481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SSL 0 … 5</a:t>
            </a:r>
          </a:p>
        </p:txBody>
      </p:sp>
      <p:sp>
        <p:nvSpPr>
          <p:cNvPr id="17" name="text-40">
            <a:extLst xmlns:a="http://schemas.openxmlformats.org/drawingml/2006/main">
              <a:ext uri="{FF2B5EF4-FFF2-40B4-BE49-F238E27FC236}">
                <a16:creationId xmlns:a16="http://schemas.microsoft.com/office/drawing/2014/main" id="{CA64137B-2221-49D5-8B36-769B8363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314825"/>
            <a:ext cx="276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rPr>
              <a:t>각 SSL: Even / Odd 16KiB page</a:t>
            </a:r>
          </a:p>
        </p:txBody>
      </p:sp>
      <p:sp>
        <p:nvSpPr>
          <p:cNvPr id="18" name="text-41">
            <a:extLst xmlns:a="http://schemas.openxmlformats.org/drawingml/2006/main">
              <a:ext uri="{FF2B5EF4-FFF2-40B4-BE49-F238E27FC236}">
                <a16:creationId xmlns:a16="http://schemas.microsoft.com/office/drawing/2014/main" id="{E3544C80-1C24-458D-8CF3-14E8E34F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6690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rPr>
              <a:t>모델의 순차 탐색</a:t>
            </a:r>
          </a:p>
        </p:txBody>
      </p:sp>
      <p:sp>
        <p:nvSpPr>
          <p:cNvPr id="19" name="text-42">
            <a:extLst xmlns:a="http://schemas.openxmlformats.org/drawingml/2006/main">
              <a:ext uri="{FF2B5EF4-FFF2-40B4-BE49-F238E27FC236}">
                <a16:creationId xmlns:a16="http://schemas.microsoft.com/office/drawing/2014/main" id="{F0100CB7-4A48-4BB1-86F5-60CEE683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81250"/>
            <a:ext cx="32575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E/O 2개</a:t>
            </a:r>
          </a:p>
          <a:p xmlns:a="http://schemas.openxmlformats.org/drawingml/2006/main">
            <a:pPr>
              <a:defRPr sz="217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SSL 6개</a:t>
            </a:r>
          </a:p>
          <a:p xmlns:a="http://schemas.openxmlformats.org/drawingml/2006/main">
            <a:pPr>
              <a:defRPr sz="217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Block 2개</a:t>
            </a:r>
          </a:p>
          <a:p xmlns:a="http://schemas.openxmlformats.org/drawingml/2006/main">
            <a:pPr>
              <a:defRPr sz="217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WL 421개</a:t>
            </a:r>
          </a:p>
          <a:p xmlns:a="http://schemas.openxmlformats.org/drawingml/2006/main">
            <a:pPr>
              <a:defRPr sz="217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Group 증가</a:t>
            </a:r>
          </a:p>
        </p:txBody>
      </p:sp>
      <p:sp>
        <p:nvSpPr>
          <p:cNvPr id="20" name="text-43">
            <a:extLst xmlns:a="http://schemas.openxmlformats.org/drawingml/2006/main">
              <a:ext uri="{FF2B5EF4-FFF2-40B4-BE49-F238E27FC236}">
                <a16:creationId xmlns:a16="http://schemas.microsoft.com/office/drawing/2014/main" id="{EA7CCD2E-E8C8-4037-AC22-0524C176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81550"/>
            <a:ext cx="3476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08B82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8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8B82"/>
                </a:solidFill>
                <a:latin typeface="Apple SD Gothic Neo"/>
                <a:ea typeface="Apple SD Gothic Neo"/>
                <a:cs typeface="Apple SD Gothic Neo"/>
              </a:rPr>
              <a:t>한 Group = 10,104 pages</a:t>
            </a:r>
          </a:p>
          <a:p xmlns:a="http://schemas.openxmlformats.org/drawingml/2006/main">
            <a:pPr>
              <a:defRPr sz="1875" b="1">
                <a:solidFill>
                  <a:srgbClr val="008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8B82"/>
                </a:solidFill>
                <a:latin typeface="Apple SD Gothic Neo"/>
                <a:ea typeface="Apple SD Gothic Neo"/>
                <a:cs typeface="Apple SD Gothic Neo"/>
              </a:rPr>
              <a:t>= 157.875MiB / Plane</a:t>
            </a:r>
          </a:p>
        </p:txBody>
      </p:sp>
      <p:sp>
        <p:nvSpPr>
          <p:cNvPr id="21" name="text-44">
            <a:extLst xmlns:a="http://schemas.openxmlformats.org/drawingml/2006/main">
              <a:ext uri="{FF2B5EF4-FFF2-40B4-BE49-F238E27FC236}">
                <a16:creationId xmlns:a16="http://schemas.microsoft.com/office/drawing/2014/main" id="{22FAA239-C972-4132-A47E-C8F10174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483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q 예시</a:t>
            </a:r>
          </a:p>
        </p:txBody>
      </p:sp>
      <p:sp>
        <p:nvSpPr>
          <p:cNvPr id="22" name="text-45">
            <a:extLst xmlns:a="http://schemas.openxmlformats.org/drawingml/2006/main">
              <a:ext uri="{FF2B5EF4-FFF2-40B4-BE49-F238E27FC236}">
                <a16:creationId xmlns:a16="http://schemas.microsoft.com/office/drawing/2014/main" id="{0EE4BFB6-BDF6-402E-A171-911B649D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619750"/>
            <a:ext cx="966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0: WL420/B0/SSL0/E     1: …/O     2: WL420/B0/SSL1/E</a:t>
            </a:r>
          </a:p>
        </p:txBody>
      </p:sp>
      <p:sp>
        <p:nvSpPr>
          <p:cNvPr id="23" name="text-46">
            <a:extLst xmlns:a="http://schemas.openxmlformats.org/drawingml/2006/main">
              <a:ext uri="{FF2B5EF4-FFF2-40B4-BE49-F238E27FC236}">
                <a16:creationId xmlns:a16="http://schemas.microsoft.com/office/drawing/2014/main" id="{A644A000-59D5-4685-83DB-C72D73D0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000750"/>
            <a:ext cx="9667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rPr>
              <a:t>12: WL420/B1/SSL0/E     24: WL419/B0/SSL0/E     10,104: 다음 Group</a:t>
            </a:r>
          </a:p>
        </p:txBody>
      </p:sp>
    </p:spTree>
    <p:extLst>
      <p:ext uri="{BB962C8B-B14F-4D97-AF65-F5344CB8AC3E}">
        <p14:creationId xmlns:p14="http://schemas.microsoft.com/office/powerpoint/2010/main" val="5279887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47">
            <a:extLst xmlns:a="http://schemas.openxmlformats.org/drawingml/2006/main">
              <a:ext uri="{FF2B5EF4-FFF2-40B4-BE49-F238E27FC236}">
                <a16:creationId xmlns:a16="http://schemas.microsoft.com/office/drawing/2014/main" id="{4E02EEB6-2EE7-4F0A-A1DA-1A42C48B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Plane의 읽기와 두 버퍼의 역할</a:t>
            </a:r>
          </a:p>
        </p:txBody>
      </p:sp>
      <p:sp>
        <p:nvSpPr>
          <p:cNvPr id="2" name="text-48">
            <a:extLst xmlns:a="http://schemas.openxmlformats.org/drawingml/2006/main">
              <a:ext uri="{FF2B5EF4-FFF2-40B4-BE49-F238E27FC236}">
                <a16:creationId xmlns:a16="http://schemas.microsoft.com/office/drawing/2014/main" id="{B15BADA0-226C-4D3E-8B49-7E301018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3822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rPr>
              <a:t>요청 주소가 같은 페이지라도 데이터가 남아 있는 위치에 따라 통과하는 단계가 달라집니다.</a:t>
            </a:r>
          </a:p>
        </p:txBody>
      </p:sp>
      <p:sp>
        <p:nvSpPr>
          <p:cNvPr id="3" name="text-49">
            <a:extLst xmlns:a="http://schemas.openxmlformats.org/drawingml/2006/main">
              <a:ext uri="{FF2B5EF4-FFF2-40B4-BE49-F238E27FC236}">
                <a16:creationId xmlns:a16="http://schemas.microsoft.com/office/drawing/2014/main" id="{7A224780-F8D0-4DA4-8656-D65E9359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rPr>
              <a:t>HBF zNAND 모델 해석 | 64 Plane 구성 | 제품의 실제 die floorplan은 미확정</a:t>
            </a:r>
          </a:p>
        </p:txBody>
      </p:sp>
      <p:sp>
        <p:nvSpPr>
          <p:cNvPr id="4" name="text-50">
            <a:extLst xmlns:a="http://schemas.openxmlformats.org/drawingml/2006/main">
              <a:ext uri="{FF2B5EF4-FFF2-40B4-BE49-F238E27FC236}">
                <a16:creationId xmlns:a16="http://schemas.microsoft.com/office/drawing/2014/main" id="{6792EBA8-90AB-4E1F-8823-F89DF31A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5" name="block-51">
            <a:extLst xmlns:a="http://schemas.openxmlformats.org/drawingml/2006/main">
              <a:ext uri="{FF2B5EF4-FFF2-40B4-BE49-F238E27FC236}">
                <a16:creationId xmlns:a16="http://schemas.microsoft.com/office/drawing/2014/main" id="{EE7B7A13-6D1E-49E1-9DA1-6639128A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38375"/>
            <a:ext cx="18478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5240">
            <a:solidFill>
              <a:srgbClr val="126DCA"/>
            </a:solidFill>
          </a:ln>
        </p:spPr>
      </p:sp>
      <p:sp>
        <p:nvSpPr>
          <p:cNvPr id="6" name="text-52">
            <a:extLst xmlns:a="http://schemas.openxmlformats.org/drawingml/2006/main">
              <a:ext uri="{FF2B5EF4-FFF2-40B4-BE49-F238E27FC236}">
                <a16:creationId xmlns:a16="http://schemas.microsoft.com/office/drawing/2014/main" id="{93E802E3-D01B-4DE0-BF3A-D0072296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52675"/>
            <a:ext cx="1619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rPr>
              <a:t>CA 명령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DABB3-D06A-4DBC-AF00-8742A353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609850"/>
            <a:ext cx="33337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6DCA"/>
          </a:solidFill>
          <a:ln xmlns:a="http://schemas.openxmlformats.org/drawingml/2006/main" w="0">
            <a:noFill/>
          </a:ln>
        </p:spPr>
      </p:sp>
      <p:sp>
        <p:nvSpPr>
          <p:cNvPr id="8" name="block-53">
            <a:extLst xmlns:a="http://schemas.openxmlformats.org/drawingml/2006/main">
              <a:ext uri="{FF2B5EF4-FFF2-40B4-BE49-F238E27FC236}">
                <a16:creationId xmlns:a16="http://schemas.microsoft.com/office/drawing/2014/main" id="{5E3A3B51-F8BE-4693-AD86-00B715BD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18478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5240">
            <a:solidFill>
              <a:srgbClr val="126DCA"/>
            </a:solidFill>
          </a:ln>
        </p:spPr>
      </p:sp>
      <p:sp>
        <p:nvSpPr>
          <p:cNvPr id="9" name="text-54">
            <a:extLst xmlns:a="http://schemas.openxmlformats.org/drawingml/2006/main">
              <a:ext uri="{FF2B5EF4-FFF2-40B4-BE49-F238E27FC236}">
                <a16:creationId xmlns:a16="http://schemas.microsoft.com/office/drawing/2014/main" id="{869FE648-C61F-46E1-9D03-A9808155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52675"/>
            <a:ext cx="1619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rPr>
              <a:t>Array sensing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BECFA-7473-48D2-85CF-7747296B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09850"/>
            <a:ext cx="33337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6DCA"/>
          </a:solidFill>
          <a:ln xmlns:a="http://schemas.openxmlformats.org/drawingml/2006/main" w="0">
            <a:noFill/>
          </a:ln>
        </p:spPr>
      </p:sp>
      <p:sp>
        <p:nvSpPr>
          <p:cNvPr id="11" name="block-55">
            <a:extLst xmlns:a="http://schemas.openxmlformats.org/drawingml/2006/main">
              <a:ext uri="{FF2B5EF4-FFF2-40B4-BE49-F238E27FC236}">
                <a16:creationId xmlns:a16="http://schemas.microsoft.com/office/drawing/2014/main" id="{A07E4D4B-2CDF-4E49-B756-4FD0E0AD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38375"/>
            <a:ext cx="18478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5240">
            <a:solidFill>
              <a:srgbClr val="008B82"/>
            </a:solidFill>
          </a:ln>
        </p:spPr>
      </p:sp>
      <p:sp>
        <p:nvSpPr>
          <p:cNvPr id="12" name="text-56">
            <a:extLst xmlns:a="http://schemas.openxmlformats.org/drawingml/2006/main">
              <a:ext uri="{FF2B5EF4-FFF2-40B4-BE49-F238E27FC236}">
                <a16:creationId xmlns:a16="http://schemas.microsoft.com/office/drawing/2014/main" id="{F2C03BBA-A935-4B25-AB80-D6E8FC4D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52675"/>
            <a:ext cx="1619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008B82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8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8B82"/>
                </a:solidFill>
                <a:latin typeface="Apple SD Gothic Neo"/>
                <a:ea typeface="Apple SD Gothic Neo"/>
                <a:cs typeface="Apple SD Gothic Neo"/>
              </a:rPr>
              <a:t>Page buffer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283026-2B06-4759-BB82-0F5C7C4B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09850"/>
            <a:ext cx="33337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6DCA"/>
          </a:solidFill>
          <a:ln xmlns:a="http://schemas.openxmlformats.org/drawingml/2006/main" w="0">
            <a:noFill/>
          </a:ln>
        </p:spPr>
      </p:sp>
      <p:sp>
        <p:nvSpPr>
          <p:cNvPr id="14" name="block-57">
            <a:extLst xmlns:a="http://schemas.openxmlformats.org/drawingml/2006/main">
              <a:ext uri="{FF2B5EF4-FFF2-40B4-BE49-F238E27FC236}">
                <a16:creationId xmlns:a16="http://schemas.microsoft.com/office/drawing/2014/main" id="{79A43A41-5D1B-4D88-8CDB-F46424D4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38375"/>
            <a:ext cx="18478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5240">
            <a:solidFill>
              <a:srgbClr val="126DCA"/>
            </a:solidFill>
          </a:ln>
        </p:spPr>
      </p:sp>
      <p:sp>
        <p:nvSpPr>
          <p:cNvPr id="15" name="text-58">
            <a:extLst xmlns:a="http://schemas.openxmlformats.org/drawingml/2006/main">
              <a:ext uri="{FF2B5EF4-FFF2-40B4-BE49-F238E27FC236}">
                <a16:creationId xmlns:a16="http://schemas.microsoft.com/office/drawing/2014/main" id="{637AECF9-834F-4C98-AA00-36B5F936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52675"/>
            <a:ext cx="1619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rPr>
              <a:t>Data + ECC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17B7D-E4EA-4141-BDB0-18BBFED2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609850"/>
            <a:ext cx="33337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6DCA"/>
          </a:solidFill>
          <a:ln xmlns:a="http://schemas.openxmlformats.org/drawingml/2006/main" w="0">
            <a:noFill/>
          </a:ln>
        </p:spPr>
      </p:sp>
      <p:sp>
        <p:nvSpPr>
          <p:cNvPr id="17" name="block-59">
            <a:extLst xmlns:a="http://schemas.openxmlformats.org/drawingml/2006/main">
              <a:ext uri="{FF2B5EF4-FFF2-40B4-BE49-F238E27FC236}">
                <a16:creationId xmlns:a16="http://schemas.microsoft.com/office/drawing/2014/main" id="{14A667DA-17C7-44DA-A5E0-DD97D9CE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38375"/>
            <a:ext cx="18478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5240">
            <a:solidFill>
              <a:srgbClr val="126DCA"/>
            </a:solidFill>
          </a:ln>
        </p:spPr>
      </p:sp>
      <p:sp>
        <p:nvSpPr>
          <p:cNvPr id="18" name="text-60">
            <a:extLst xmlns:a="http://schemas.openxmlformats.org/drawingml/2006/main">
              <a:ext uri="{FF2B5EF4-FFF2-40B4-BE49-F238E27FC236}">
                <a16:creationId xmlns:a16="http://schemas.microsoft.com/office/drawing/2014/main" id="{A0F9B528-C0A6-45E6-83D9-75408EE5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352675"/>
            <a:ext cx="1619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rPr>
              <a:t>Controller buffer</a:t>
            </a:r>
          </a:p>
        </p:txBody>
      </p:sp>
      <p:sp>
        <p:nvSpPr>
          <p:cNvPr id="19" name="text-61">
            <a:extLst xmlns:a="http://schemas.openxmlformats.org/drawingml/2006/main">
              <a:ext uri="{FF2B5EF4-FFF2-40B4-BE49-F238E27FC236}">
                <a16:creationId xmlns:a16="http://schemas.microsoft.com/office/drawing/2014/main" id="{D9F799EC-6FC6-4872-8194-E50AFFB0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86125"/>
            <a:ext cx="179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rPr>
              <a:t>채널당 공유</a:t>
            </a:r>
          </a:p>
          <a:p xmlns:a="http://schemas.openxmlformats.org/drawingml/2006/main">
            <a:pPr>
              <a:defRPr sz="18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rPr>
              <a:t>0.1µs</a:t>
            </a:r>
          </a:p>
        </p:txBody>
      </p:sp>
      <p:sp>
        <p:nvSpPr>
          <p:cNvPr id="20" name="text-62">
            <a:extLst xmlns:a="http://schemas.openxmlformats.org/drawingml/2006/main">
              <a:ext uri="{FF2B5EF4-FFF2-40B4-BE49-F238E27FC236}">
                <a16:creationId xmlns:a16="http://schemas.microsoft.com/office/drawing/2014/main" id="{3B92FCB4-6530-4E20-A3D8-FBC5243D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286125"/>
            <a:ext cx="179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rPr>
              <a:t>Plane별 독립</a:t>
            </a:r>
          </a:p>
          <a:p xmlns:a="http://schemas.openxmlformats.org/drawingml/2006/main">
            <a:pPr>
              <a:defRPr sz="18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rPr>
              <a:t>tR 분류 적용</a:t>
            </a:r>
          </a:p>
        </p:txBody>
      </p:sp>
      <p:sp>
        <p:nvSpPr>
          <p:cNvPr id="21" name="text-63">
            <a:extLst xmlns:a="http://schemas.openxmlformats.org/drawingml/2006/main">
              <a:ext uri="{FF2B5EF4-FFF2-40B4-BE49-F238E27FC236}">
                <a16:creationId xmlns:a16="http://schemas.microsoft.com/office/drawing/2014/main" id="{7E471D7A-D486-4767-BABE-5C882BC7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8612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008B82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8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008B82"/>
                </a:solidFill>
                <a:latin typeface="Apple SD Gothic Neo"/>
                <a:ea typeface="Apple SD Gothic Neo"/>
                <a:cs typeface="Apple SD Gothic Neo"/>
              </a:rPr>
              <a:t>Plane당 16KiB</a:t>
            </a:r>
          </a:p>
          <a:p xmlns:a="http://schemas.openxmlformats.org/drawingml/2006/main">
            <a:pPr>
              <a:defRPr sz="1725" b="0">
                <a:solidFill>
                  <a:srgbClr val="008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008B82"/>
                </a:solidFill>
                <a:latin typeface="Apple SD Gothic Neo"/>
                <a:ea typeface="Apple SD Gothic Neo"/>
                <a:cs typeface="Apple SD Gothic Neo"/>
              </a:rPr>
              <a:t>마지막 sensing q</a:t>
            </a:r>
          </a:p>
        </p:txBody>
      </p:sp>
      <p:sp>
        <p:nvSpPr>
          <p:cNvPr id="22" name="text-64">
            <a:extLst xmlns:a="http://schemas.openxmlformats.org/drawingml/2006/main">
              <a:ext uri="{FF2B5EF4-FFF2-40B4-BE49-F238E27FC236}">
                <a16:creationId xmlns:a16="http://schemas.microsoft.com/office/drawing/2014/main" id="{771E6CAE-C59A-44F9-B913-DCD4A725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286125"/>
            <a:ext cx="179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rPr>
              <a:t>16KiB 전체 전송</a:t>
            </a:r>
          </a:p>
          <a:p xmlns:a="http://schemas.openxmlformats.org/drawingml/2006/main">
            <a:pPr>
              <a:defRPr sz="165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rPr>
              <a:t>그 뒤 ECC 0.2µs</a:t>
            </a:r>
          </a:p>
        </p:txBody>
      </p:sp>
      <p:sp>
        <p:nvSpPr>
          <p:cNvPr id="23" name="text-65">
            <a:extLst xmlns:a="http://schemas.openxmlformats.org/drawingml/2006/main">
              <a:ext uri="{FF2B5EF4-FFF2-40B4-BE49-F238E27FC236}">
                <a16:creationId xmlns:a16="http://schemas.microsoft.com/office/drawing/2014/main" id="{7188C49D-4AE8-4AE2-B82D-4C42A1D8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286125"/>
            <a:ext cx="179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rPr>
              <a:t>8MiB 설정</a:t>
            </a:r>
          </a:p>
          <a:p xmlns:a="http://schemas.openxmlformats.org/drawingml/2006/main">
            <a:pPr>
              <a:defRPr sz="165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rPr>
              <a:t>Host: 4KiB / 64B</a:t>
            </a:r>
          </a:p>
        </p:txBody>
      </p:sp>
      <p:sp>
        <p:nvSpPr>
          <p:cNvPr id="24" name="text-66">
            <a:extLst xmlns:a="http://schemas.openxmlformats.org/drawingml/2006/main">
              <a:ext uri="{FF2B5EF4-FFF2-40B4-BE49-F238E27FC236}">
                <a16:creationId xmlns:a16="http://schemas.microsoft.com/office/drawing/2014/main" id="{F46AFC21-FF01-4DBD-86D9-670E6D66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529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① Controller buffer hit</a:t>
            </a:r>
          </a:p>
        </p:txBody>
      </p:sp>
      <p:sp>
        <p:nvSpPr>
          <p:cNvPr id="25" name="text-67">
            <a:extLst xmlns:a="http://schemas.openxmlformats.org/drawingml/2006/main">
              <a:ext uri="{FF2B5EF4-FFF2-40B4-BE49-F238E27FC236}">
                <a16:creationId xmlns:a16="http://schemas.microsoft.com/office/drawing/2014/main" id="{C01683AB-ABA9-42AD-B0EB-E1467E98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381500"/>
            <a:ext cx="6962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준비된 페이지를 재사용. 새 NAND 읽기/전송 없이 응답 대기</a:t>
            </a:r>
          </a:p>
        </p:txBody>
      </p:sp>
      <p:sp>
        <p:nvSpPr>
          <p:cNvPr id="26" name="text-68">
            <a:extLst xmlns:a="http://schemas.openxmlformats.org/drawingml/2006/main">
              <a:ext uri="{FF2B5EF4-FFF2-40B4-BE49-F238E27FC236}">
                <a16:creationId xmlns:a16="http://schemas.microsoft.com/office/drawing/2014/main" id="{46CC886A-37A7-42B9-B39F-62EC8801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8291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008B82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08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08B82"/>
                </a:solidFill>
                <a:latin typeface="Apple SD Gothic Neo"/>
                <a:ea typeface="Apple SD Gothic Neo"/>
                <a:cs typeface="Apple SD Gothic Neo"/>
              </a:rPr>
              <a:t>② NAND page buffer hit</a:t>
            </a:r>
          </a:p>
        </p:txBody>
      </p:sp>
      <p:sp>
        <p:nvSpPr>
          <p:cNvPr id="27" name="text-69">
            <a:extLst xmlns:a="http://schemas.openxmlformats.org/drawingml/2006/main">
              <a:ext uri="{FF2B5EF4-FFF2-40B4-BE49-F238E27FC236}">
                <a16:creationId xmlns:a16="http://schemas.microsoft.com/office/drawing/2014/main" id="{D36072DD-5DD3-404E-A04C-12917B49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857750"/>
            <a:ext cx="6962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sensing 생략. 출력 CA와 16KiB Data 전송은 다시 수행</a:t>
            </a:r>
          </a:p>
        </p:txBody>
      </p:sp>
      <p:sp>
        <p:nvSpPr>
          <p:cNvPr id="28" name="text-70">
            <a:extLst xmlns:a="http://schemas.openxmlformats.org/drawingml/2006/main">
              <a:ext uri="{FF2B5EF4-FFF2-40B4-BE49-F238E27FC236}">
                <a16:creationId xmlns:a16="http://schemas.microsoft.com/office/drawing/2014/main" id="{BF4E9DE7-26F7-420F-A519-526798E2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3054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26DCA"/>
                </a:solidFill>
                <a:latin typeface="Apple SD Gothic Neo"/>
                <a:ea typeface="Apple SD Gothic Neo"/>
                <a:cs typeface="Apple SD Gothic Neo"/>
              </a:rPr>
              <a:t>③ 두 버퍼 모두 miss</a:t>
            </a:r>
          </a:p>
        </p:txBody>
      </p:sp>
      <p:sp>
        <p:nvSpPr>
          <p:cNvPr id="29" name="text-71">
            <a:extLst xmlns:a="http://schemas.openxmlformats.org/drawingml/2006/main">
              <a:ext uri="{FF2B5EF4-FFF2-40B4-BE49-F238E27FC236}">
                <a16:creationId xmlns:a16="http://schemas.microsoft.com/office/drawing/2014/main" id="{424AA0FE-374F-49C3-B136-B41AFF64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334000"/>
            <a:ext cx="6962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738"/>
                </a:solidFill>
                <a:latin typeface="Apple SD Gothic Neo"/>
                <a:ea typeface="Apple SD Gothic Neo"/>
                <a:cs typeface="Apple SD Gothic Neo"/>
              </a:rPr>
              <a:t>CA, tR, 전송, ECC를 거친 후 Port별 in-order 응답</a:t>
            </a:r>
          </a:p>
        </p:txBody>
      </p:sp>
      <p:sp>
        <p:nvSpPr>
          <p:cNvPr id="30" name="text-72">
            <a:extLst xmlns:a="http://schemas.openxmlformats.org/drawingml/2006/main">
              <a:ext uri="{FF2B5EF4-FFF2-40B4-BE49-F238E27FC236}">
                <a16:creationId xmlns:a16="http://schemas.microsoft.com/office/drawing/2014/main" id="{29ADDF8A-8918-4524-B7B8-1E80B623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43600"/>
            <a:ext cx="1119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86875"/>
                </a:solidFill>
                <a:latin typeface="Apple SD Gothic Neo"/>
                <a:ea typeface="Apple SD Gothic Neo"/>
                <a:cs typeface="Apple SD Gothic Neo"/>
              </a:rPr>
              <a:t>tR 모델: First / Group 20.69µs · Short 2.00µs · Mid 2.08µs · Long 12.16µs</a:t>
            </a:r>
          </a:p>
        </p:txBody>
      </p:sp>
    </p:spTree>
    <p:extLst>
      <p:ext uri="{BB962C8B-B14F-4D97-AF65-F5344CB8AC3E}">
        <p14:creationId xmlns:p14="http://schemas.microsoft.com/office/powerpoint/2010/main" val="8377063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2026-10-11T13:56:02.0450000Z</dcterms:created>
  <dcterms:modified xsi:type="dcterms:W3CDTF">2026-10-11T13:56:02.0460000Z</dcterms:modified>
</coreProperties>
</file>