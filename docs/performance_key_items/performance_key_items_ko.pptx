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1841bd2d9634b20" /><Relationship Type="http://schemas.openxmlformats.org/officeDocument/2006/relationships/extended-properties" Target="/docProps/app.xml" Id="R7663892104a94472" /><Relationship Type="http://schemas.openxmlformats.org/officeDocument/2006/relationships/officeDocument" Target="/ppt/presentation.xml" Id="R7d8015d51d974b2a" /></Relationships>
</file>

<file path=ppt/presentation.xml><?xml version="1.0" encoding="utf-8"?>
<p:presentation xmlns:p="http://schemas.openxmlformats.org/presentationml/2006/main">
  <p:sldMasterIdLst>
    <p:sldMasterId xmlns:r="http://schemas.openxmlformats.org/officeDocument/2006/relationships" id="2147483648" r:id="R9cf14940b70748a7"/>
  </p:sldMasterIdLst>
  <p:notesMasterIdLst>
    <p:notesMasterId xmlns:r="http://schemas.openxmlformats.org/officeDocument/2006/relationships" r:id="R320ac2b8bce948b4"/>
  </p:notesMasterIdLst>
  <p:sldIdLst>
    <p:sldId xmlns:r="http://schemas.openxmlformats.org/officeDocument/2006/relationships" id="256" r:id="R4a83ca1778d24ab2"/>
    <p:sldId xmlns:r="http://schemas.openxmlformats.org/officeDocument/2006/relationships" id="257" r:id="R19946e9984414ebf"/>
    <p:sldId xmlns:r="http://schemas.openxmlformats.org/officeDocument/2006/relationships" id="258" r:id="R122c248705f74471"/>
    <p:sldId xmlns:r="http://schemas.openxmlformats.org/officeDocument/2006/relationships" id="259" r:id="R53777452fb004ac6"/>
    <p:sldId xmlns:r="http://schemas.openxmlformats.org/officeDocument/2006/relationships" id="260" r:id="R48e2dee5fc554039"/>
    <p:sldId xmlns:r="http://schemas.openxmlformats.org/officeDocument/2006/relationships" id="261" r:id="R805eb05ab6124366"/>
    <p:sldId xmlns:r="http://schemas.openxmlformats.org/officeDocument/2006/relationships" id="262" r:id="R733b393032c046a0"/>
    <p:sldId xmlns:r="http://schemas.openxmlformats.org/officeDocument/2006/relationships" id="263" r:id="R6ef95d283d7d49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f5259709fdd44e6" /><Relationship Type="http://schemas.openxmlformats.org/officeDocument/2006/relationships/slideMaster" Target="/ppt/slideMasters/slideMaster1.xml" Id="R9cf14940b70748a7" /><Relationship Type="http://schemas.openxmlformats.org/officeDocument/2006/relationships/notesMaster" Target="/ppt/notesMasters/notesMaster1.xml" Id="R320ac2b8bce948b4" /><Relationship Type="http://schemas.openxmlformats.org/officeDocument/2006/relationships/presProps" Target="/ppt/presProps.xml" Id="R2b69056bc51f4829" /><Relationship Type="http://schemas.openxmlformats.org/officeDocument/2006/relationships/tableStyles" Target="/ppt/tableStyles.xml" Id="Rf28c44edfa274417" /><Relationship Type="http://schemas.openxmlformats.org/officeDocument/2006/relationships/slide" Target="/ppt/slides/slide1.xml" Id="R4a83ca1778d24ab2" /><Relationship Type="http://schemas.openxmlformats.org/officeDocument/2006/relationships/slide" Target="/ppt/slides/slide2.xml" Id="R19946e9984414ebf" /><Relationship Type="http://schemas.openxmlformats.org/officeDocument/2006/relationships/slide" Target="/ppt/slides/slide3.xml" Id="R122c248705f74471" /><Relationship Type="http://schemas.openxmlformats.org/officeDocument/2006/relationships/slide" Target="/ppt/slides/slide4.xml" Id="R53777452fb004ac6" /><Relationship Type="http://schemas.openxmlformats.org/officeDocument/2006/relationships/slide" Target="/ppt/slides/slide5.xml" Id="R48e2dee5fc554039" /><Relationship Type="http://schemas.openxmlformats.org/officeDocument/2006/relationships/slide" Target="/ppt/slides/slide6.xml" Id="R805eb05ab6124366" /><Relationship Type="http://schemas.openxmlformats.org/officeDocument/2006/relationships/slide" Target="/ppt/slides/slide7.xml" Id="R733b393032c046a0" /><Relationship Type="http://schemas.openxmlformats.org/officeDocument/2006/relationships/slide" Target="/ppt/slides/slide8.xml" Id="R6ef95d283d7d49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93870b193b48e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a900d778544e37" /><Relationship Type="http://schemas.openxmlformats.org/officeDocument/2006/relationships/notesMaster" Target="/ppt/notesMasters/notesMaster1.xml" Id="Rb44a9f8307114b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d4114d796c4878" /><Relationship Type="http://schemas.openxmlformats.org/officeDocument/2006/relationships/notesMaster" Target="/ppt/notesMasters/notesMaster1.xml" Id="R2dc93679e0ee48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5ed71791a3470b" /><Relationship Type="http://schemas.openxmlformats.org/officeDocument/2006/relationships/notesMaster" Target="/ppt/notesMasters/notesMaster1.xml" Id="R4e42a07a13244b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9c80b6a9a144a2" /><Relationship Type="http://schemas.openxmlformats.org/officeDocument/2006/relationships/notesMaster" Target="/ppt/notesMasters/notesMaster1.xml" Id="R2c14ed9780824e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6e6010094a4283" /><Relationship Type="http://schemas.openxmlformats.org/officeDocument/2006/relationships/notesMaster" Target="/ppt/notesMasters/notesMaster1.xml" Id="R4efd3535f32b43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151c1388d454419" /><Relationship Type="http://schemas.openxmlformats.org/officeDocument/2006/relationships/notesMaster" Target="/ppt/notesMasters/notesMaster1.xml" Id="Ref2c715b206c4f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f6e2d0406a4e49" /><Relationship Type="http://schemas.openxmlformats.org/officeDocument/2006/relationships/notesMaster" Target="/ppt/notesMasters/notesMaster1.xml" Id="Reb343ebeef9543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6f040bde794f85" /><Relationship Type="http://schemas.openxmlformats.org/officeDocument/2006/relationships/notesMaster" Target="/ppt/notesMasters/notesMaster1.xml" Id="Rebe93c8e639b4a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저장된 실험 결과를 설명하는 자료다. 세 항목은 스케줄러 정책, 물리 자원과 데이터 배치, 실행 설정의 조합이다. 실험 조건이 다르므로 개선율을 누적하거나 합산하지 않는다. 수치는 제품 실측이나 공식 사양 보장이 아닌 본 모델의 결과다. 새 성능 실험이나 모델 변경 없이 기존 원자료를 정리했다.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항목 중 1번은 내부 스케줄러 변경, 2번은 물리 자원 확대와 L2P 배치 변경, 3번은 버퍼와 포트별 QD 설정의 조합이다. 3번 비교는 admission 알고리즘을 수정한 결과가 아니다. 1번은 PF ON, 32 Plane, 32MiB, QD2048, 16KiB stripe의 A2 case37. 2번은 PF OFF, 64 Plane, 32MiB, QD2048, A2의 snapshot만 변경한 쌍. 3번은 PF OFF, 64 Plane, 8MiB, 영역 배치 A1의 고정 2ms 평균이다.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https://github.com/JBRARAPARK/HBF_zNAND_Research/blob/22d9b33f085991f33d5273fdd9ce5688fb429fa4/results/znand/locality/matched_comparison.csv</a:t>
            </a:r>
          </a:p>
          <a:p xmlns:a="http://schemas.openxmlformats.org/drawingml/2006/main">
            <a:r>
              <a:t>https://github.com/JBRARAPARK/HBF_zNAND_Research/blob/22d9b33f085991f33d5273fdd9ce5688fb429fa4/results/znand/host_ceiling/sweep.csv</a:t>
            </a:r>
          </a:p>
          <a:p xmlns:a="http://schemas.openxmlformats.org/drawingml/2006/main">
            <a:r>
              <a:t>https://github.com/JBRARAPARK/HBF_zNAND_Research/blob/22d9b33f085991f33d5273fdd9ce5688fb429fa4/results/znand/saturation/sweep.csv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동일 조건의 CA 선택 정책만 비교한 case37. FIFO 37.08340647376568 GB/s, locality 118.25742257207769 GB/s, 증가율 218.89579145254046%. Long 비율 91.81307955100048%에서 10.56612981942411%. locality에서는 같은 Group의 q+1만 연속 후보로 취급한다. 이미 busy인 Plane은 선점하지 않는다. 이 초기 비교의 bypass 한도는 8이다. 후속 실험은 32로 확대했다. A1에서 bypass32 locality 129.174 GB/s와 head_locality 134.339 GB/s를 비교한 추가 이득은 4.00%였으며, 그 전체 증가를 선두 우선 효과로 해석하지 않는다. A2는 선두 우선의 추가 효과가 작아서 locality를 유지했다. 과거 B 패턴에 선두 우선을 무조건 확대하면 성능이 떨어진 사례도 있다. 현재 B 지속 부하 실험은 A1과 조건을 맞춰 head_locality를 사용한다.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https://github.com/JBRARAPARK/HBF_zNAND_Research/blob/22d9b33f085991f33d5273fdd9ce5688fb429fa4/docs/12_controller_scheduling_ko.md</a:t>
            </a:r>
          </a:p>
          <a:p xmlns:a="http://schemas.openxmlformats.org/drawingml/2006/main">
            <a:r>
              <a:t>https://github.com/JBRARAPARK/HBF_zNAND_Research/blob/22d9b33f085991f33d5273fdd9ce5688fb429fa4/results/znand/locality/matched_comparison.csv</a:t>
            </a:r>
          </a:p>
          <a:p xmlns:a="http://schemas.openxmlformats.org/drawingml/2006/main">
            <a:r>
              <a:t>https://github.com/JBRARAPARK/HBF_zNAND_Research/blob/22d9b33f085991f33d5273fdd9ce5688fb429fa4/results/znand/head_locality/RESULTS_KO.md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 Plane의 최단 주기 상한은 CA 0.1µs + Short tR 2µs + NAND Data/turnaround 0.254512µs로 계산한 낙관적 상한이다. 가용률 100%로 놓아도 약222.674GB/s이며 현재85%를 고려한 Short/Mid 교대 공급량은 약186.111GB/s다. 이 가용률을 실험 결과에서 다시 감산하면 안 된다. 32에서64 Plane으로 바꾸는 비교는 geometry 변경을 포함한다. 같은 geometry의 기존 배치와 영역 배치 쌍은 전체 config 중 snapshot만 다르다. 64 Plane A2 Long비율은1142/8196=13.93%에서3/8196=0.0366%이며 finite run 초기first sensing을 포함한다. 평균tR만 낮아졌으며 tR 상수는 바꾸지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https://github.com/JBRARAPARK/HBF_zNAND_Research/blob/22d9b33f085991f33d5273fdd9ce5688fb429fa4/results/znand/host_ceiling/sweep.csv</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https://github.com/JBRARAPARK/HBF_zNAND_Research/blob/22d9b33f085991f33d5273fdd9ce5688fb429fa4/results/znand/host_ceiling/timing_validation.json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표의 Plane 번호는 각 채널 내부 번호다. 동일하게 표시된 Plane 0은 채널별로 서로 다른 물리 자원이다. 영역 0은 채널당 Plane 0~3 등 4개 Plane을 사용하며, 4채널을 모두 활용한다. 비중첩 논리 영역을 각 Port가 읽는 합성 요청열에 맞춘 정적 L2P snapshot이다. 같은 물리 페이지의 offset 및 Channel 배치를 보존하고 Plane을 재배치한다. 64B 단위의 물리 분산이나 64B 단위 매핑을 추가하지 않았다. 동적 L2P와 편향 workload는 후속 검증이 필요하다.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https://github.com/JBRARAPARK/HBF_zNAND_Research/blob/22d9b33f085991f33d5273fdd9ce5688fb429fa4/results/znand/host_ceiling/RESULTS_KO.md</a:t>
            </a:r>
          </a:p>
          <a:p xmlns:a="http://schemas.openxmlformats.org/drawingml/2006/main">
            <a:r>
              <a:t>https://github.com/JBRARAPARK/HBF_zNAND_Research/blob/22d9b33f085991f33d5273fdd9ce5688fb429fa4/results/znand/host_ceiling/snapshots/A2_64Plane.json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admission은 Port 0, 1, 2, 3 순서이고, 요청 수락 시 공유 controller buffer를 예약한다. 버퍼와 Port별 QD 제한을 조합해 기존 admission의 편중을 줄인 결과다. 공정 중재 알고리즘을 구현한 결과는 아니다. 표는 설정 상한과 실제 평균 outstanding을 구분한다. A1 8MiB QD2048은 총 2029.55개, QD512는 총 2006.69개로 총합이 비슷해도 Port 분포가 다르다. A1 고정 평균은 68.857856에서 255.365922GB/s, A2는 71.888925에서 255.058330GB/s다. Actual outstanding은 수락된 AR에서 마지막 응답 완료 수를 뺀 값이며, Host 대기 요청은 포함하지 않는다. A1은 head_locality와 4KiB stripe, A2는 locality와 16KiB stripe를 사용한다.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버퍼별 QD를 함께 선택한 결과다. 4MiB는 측정 조합 중 A1/A2가 모두 200GB/s를 넘긴 최소 용량이며, 모든 슬롯 수와 QD를 전수 탐색한 절대 하한은 아니다. 8MiB와 16MiB의 QD512 쌍은 같은 QD에서 버퍼를 비교할 수 있다. A1은 255.365922/255.371651, A2는 255.058330/255.211219GB/s다. 최고 500µs 값과 고정 2ms 값을 혼용하지 않는다. PF OFF이므로 Host 요청만으로 이 수치를 관측했다. Controller buffer는 16KiB 작업 단위로 예약하며 마지막 연결 응답 후 해제하는 임시 버퍼다. 지속적인 demand cache나 LRU를 새로 도입한 결과가 아니다. B1/B2는 연속된 64B 모두를 읽는 패턴이 아니고, 각 4KiB 논리 페이지의 64B만 읽는다. 16KiB 물리 페이지당 4개 64B, 즉 256B를 사용하므로 명목 효율은 1/64이다. 모델 내 NAND 부분 전송은 없다.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a:p xmlns:a="http://schemas.openxmlformats.org/drawingml/2006/main">
            <a:r>
              <a:t>https://github.com/JBRARAPARK/HBF_zNAND_Research/blob/22d9b33f085991f33d5273fdd9ce5688fb429fa4/results/znand/partial_saturation/RESULTS_KO.md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증거 목록과 원문은 아래 고정 커밋 URL로 제공한다. 본 자료는 제품 실측 성능이나 HBF 사양의 공식 보장이 아니다. 모델은 4개의 독립 Port가 4채널 전체를 공유하며, Plane당 page buffer 1개와 물리 16KiB page를 사용한다. 가용률 85%는 100µs 주기의 명목 15µs Plane 휴지 구간으로 모델링했다. 실제 GC 쓰기/erase trace를 실행한 것은 아니다. 이전 maintenance OFF 실험은 B 패턴 낙폭 원인 확인을 위한 대조군이며, 성능 개선 기준으로 채택하지 않았다. Controller cache 및 64B 물리 분산도 채택하지 않았다. 후속 후보는 Port별 수락의 공정성, 주소 편향 및 동적 매핑에서의 재현성 검증이다. 이번 정리는 기존 결과만 사용했으며 성능 엔진이나 입력 tR을 수정하지 않았다.</a:t>
            </a:r>
          </a:p>
          <a:p xmlns:a="http://schemas.openxmlformats.org/drawingml/2006/main">
            <a:r>
              <a:t/>
            </a:r>
          </a:p>
          <a:p xmlns:a="http://schemas.openxmlformats.org/drawingml/2006/main">
            <a:r>
              <a:t>출처</a:t>
            </a:r>
          </a:p>
          <a:p xmlns:a="http://schemas.openxmlformats.org/drawingml/2006/main">
            <a:r>
              <a:t>https://github.com/JBRARAPARK/HBF_zNAND_Research/blob/22d9b33f085991f33d5273fdd9ce5688fb429fa4/results/znand/locality/matched_comparison.csv</a:t>
            </a:r>
          </a:p>
          <a:p xmlns:a="http://schemas.openxmlformats.org/drawingml/2006/main">
            <a:r>
              <a:t>https://github.com/JBRARAPARK/HBF_zNAND_Research/blob/22d9b33f085991f33d5273fdd9ce5688fb429fa4/results/znand/host_ceiling/sweep.csv</a:t>
            </a:r>
          </a:p>
          <a:p xmlns:a="http://schemas.openxmlformats.org/drawingml/2006/main">
            <a:r>
              <a:t>https://github.com/JBRARAPARK/HBF_zNAND_Research/blob/22d9b33f085991f33d5273fdd9ce5688fb429fa4/results/znand/host_ceiling/timing_validation.json</a:t>
            </a:r>
          </a:p>
          <a:p xmlns:a="http://schemas.openxmlformats.org/drawingml/2006/main">
            <a:r>
              <a:t>https://github.com/JBRARAPARK/HBF_zNAND_Research/blob/22d9b33f085991f33d5273fdd9ce5688fb429fa4/results/znand/saturation/sweep.csv</a:t>
            </a:r>
          </a:p>
          <a:p xmlns:a="http://schemas.openxmlformats.org/drawingml/2006/main">
            <a:r>
              <a:t>https://github.com/JBRARAPARK/HBF_zNAND_Research/blob/22d9b33f085991f33d5273fdd9ce5688fb429fa4/results/znand/saturation/RESULTS_KO.md</a:t>
            </a:r>
          </a:p>
          <a:p xmlns:a="http://schemas.openxmlformats.org/drawingml/2006/main">
            <a:r>
              <a:t>https://github.com/JBRARAPARK/HBF_zNAND_Research/blob/22d9b33f085991f33d5273fdd9ce5688fb429fa4/results/znand/partial_dips/RESULTS_KO.md</a:t>
            </a:r>
          </a:p>
          <a:p xmlns:a="http://schemas.openxmlformats.org/drawingml/2006/main">
            <a:r>
              <a:t>https://github.com/JBRARAPARK/HBF_zNAND_Research/blob/22d9b33f085991f33d5273fdd9ce5688fb429fa4/docs/07_prefetch_tuning_ko.md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d887b18b8f43e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afdb0eac89d4e3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66d5de4d0a40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82e5a75b5346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9886cb4779049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7b735047334f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773C5F-39EF-4004-87CD-23D308AB018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5B076E3-25CE-47B8-8574-BA62C773405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C0E923-BD43-4427-9683-1C04D0C798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8B4EE3-1571-41F5-B97B-1D9AF7FAEF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6DC9912-CB87-4F1E-8209-0FE4007A045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5D1394-563D-44D6-8EAC-14F94A3FD2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0E7220-2257-4928-8748-4C2767D480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BE3D6BF-05A7-453A-A03A-32517BCBEF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21E750-8B9F-4536-825A-FB30A926DF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F253DC-2FEF-42B9-9B12-2FC6790D6E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b601001e754129" /><Relationship Type="http://schemas.openxmlformats.org/officeDocument/2006/relationships/slideLayout" Target="/ppt/slideLayouts/slideLayout1.xml" Id="Rd8ec38e252d24bfa" /><Relationship Type="http://schemas.openxmlformats.org/officeDocument/2006/relationships/slideLayout" Target="/ppt/slideLayouts/slideLayout2.xml" Id="R54e5acec7a57448c" /><Relationship Type="http://schemas.openxmlformats.org/officeDocument/2006/relationships/slideLayout" Target="/ppt/slideLayouts/slideLayout3.xml" Id="R17b87609fe044cb1" /><Relationship Type="http://schemas.openxmlformats.org/officeDocument/2006/relationships/slideLayout" Target="/ppt/slideLayouts/slideLayout4.xml" Id="Ra73f6892da814cb9" /><Relationship Type="http://schemas.openxmlformats.org/officeDocument/2006/relationships/slideLayout" Target="/ppt/slideLayouts/slideLayout5.xml" Id="R80c6d4cf0a114834" /><Relationship Type="http://schemas.openxmlformats.org/officeDocument/2006/relationships/slideLayout" Target="/ppt/slideLayouts/slideLayout6.xml" Id="R19b52d7ff37548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ec38e252d24bfa"/>
    <p:sldLayoutId xmlns:r="http://schemas.openxmlformats.org/officeDocument/2006/relationships" id="2147483650" r:id="R54e5acec7a57448c"/>
    <p:sldLayoutId xmlns:r="http://schemas.openxmlformats.org/officeDocument/2006/relationships" id="2147483651" r:id="R17b87609fe044cb1"/>
    <p:sldLayoutId xmlns:r="http://schemas.openxmlformats.org/officeDocument/2006/relationships" id="2147483652" r:id="Ra73f6892da814cb9"/>
    <p:sldLayoutId xmlns:r="http://schemas.openxmlformats.org/officeDocument/2006/relationships" id="2147483653" r:id="R80c6d4cf0a114834"/>
    <p:sldLayoutId xmlns:r="http://schemas.openxmlformats.org/officeDocument/2006/relationships" id="2147483654" r:id="R19b52d7ff37548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4ea164b6c5b41ee" /><Relationship Type="http://schemas.openxmlformats.org/officeDocument/2006/relationships/notesSlide" Target="/ppt/notesSlides/notesSlide1.xml" Id="R35b0c39f95574d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6d27af8a374ab9" /><Relationship Type="http://schemas.openxmlformats.org/officeDocument/2006/relationships/notesSlide" Target="/ppt/notesSlides/notesSlide2.xml" Id="R699d6f35f01a4e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ed4939c3fcd4b43" /><Relationship Type="http://schemas.openxmlformats.org/officeDocument/2006/relationships/chart" Target="/ppt/slides/charts/chart1.xml" Id="Rad397611640c4cf5" /><Relationship Type="http://schemas.openxmlformats.org/officeDocument/2006/relationships/notesSlide" Target="/ppt/notesSlides/notesSlide3.xml" Id="Rb0abf4b098414d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98cdd50c3249f9" /><Relationship Type="http://schemas.openxmlformats.org/officeDocument/2006/relationships/chart" Target="/ppt/slides/charts/chart2.xml" Id="R722b22f7e515452d" /><Relationship Type="http://schemas.openxmlformats.org/officeDocument/2006/relationships/notesSlide" Target="/ppt/notesSlides/notesSlide4.xml" Id="Rd580105ffdf246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0335188cece47c0" /><Relationship Type="http://schemas.openxmlformats.org/officeDocument/2006/relationships/notesSlide" Target="/ppt/notesSlides/notesSlide5.xml" Id="R1eda0a0c58af4d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a27585a84024e63" /><Relationship Type="http://schemas.openxmlformats.org/officeDocument/2006/relationships/chart" Target="/ppt/slides/charts/chart3.xml" Id="R62a036668fb54a1a" /><Relationship Type="http://schemas.openxmlformats.org/officeDocument/2006/relationships/notesSlide" Target="/ppt/notesSlides/notesSlide6.xml" Id="Ref5ffdad6b2448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1905839163a4bfb" /><Relationship Type="http://schemas.openxmlformats.org/officeDocument/2006/relationships/notesSlide" Target="/ppt/notesSlides/notesSlide7.xml" Id="R250057c879ba47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84a47b12104e72" /><Relationship Type="http://schemas.openxmlformats.org/officeDocument/2006/relationships/notesSlide" Target="/ppt/notesSlides/notesSlide8.xml" Id="Ra729664eb635456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처리량</c:v>
          </c:tx>
          <c:spPr>
            <a:solidFill xmlns:a="http://schemas.openxmlformats.org/drawingml/2006/main">
              <a:srgbClr val="126DCA"/>
            </a:solidFill>
          </c:spPr>
          <c:dPt>
            <c:idx val="0"/>
            <c:invertIfNegative val="0"/>
            <c:spPr>
              <a:solidFill xmlns:a="http://schemas.openxmlformats.org/drawingml/2006/main">
                <a:srgbClr val="9AA9B5"/>
              </a:solidFill>
            </c:spPr>
          </c:dPt>
          <c:dPt>
            <c:idx val="1"/>
            <c:invertIfNegative val="0"/>
            <c:spPr>
              <a:solidFill xmlns:a="http://schemas.openxmlformats.org/drawingml/2006/main">
                <a:srgbClr val="126DCA"/>
              </a:solidFill>
            </c:spPr>
          </c:dPt>
          <c:cat>
            <c:strRef>
              <c:f>'Chart Data'!$A$2:$A$3</c:f>
              <c:strCache>
                <c:ptCount val="2"/>
                <c:pt idx="0">
                  <c:v>기존 FIFO</c:v>
                </c:pt>
                <c:pt idx="1">
                  <c:v>연속 주소 우선</c:v>
                </c:pt>
              </c:strCache>
            </c:strRef>
          </c:cat>
          <c:val>
            <c:numRef>
              <c:f>'Chart Data'!$B$2:$B$3</c:f>
              <c:numCache>
                <c:formatCode>General</c:formatCode>
                <c:ptCount val="2"/>
                <c:pt idx="0">
                  <c:v>37.083406</c:v>
                </c:pt>
                <c:pt idx="1">
                  <c:v>118.257423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7273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crossAx val="48672768"/>
      </c:catAx>
      <c:valAx>
        <c:axId val="48672768"/>
        <c:scaling>
          <c:orientation val="minMax"/>
          <c:max val="140"/>
          <c:min val="0"/>
        </c:scaling>
        <c:delete val="0"/>
        <c:axPos val="l"/>
        <c:majorGridlines>
          <c:spPr>
            <a:ln xmlns:a="http://schemas.openxmlformats.org/drawingml/2006/main" w="9525">
              <a:solidFill>
                <a:srgbClr val="DFE6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3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기존 배치</c:v>
          </c:tx>
          <c:spPr>
            <a:solidFill xmlns:a="http://schemas.openxmlformats.org/drawingml/2006/main">
              <a:srgbClr val="9AA9B5"/>
            </a:solidFill>
          </c:spPr>
          <c:cat>
            <c:strRef>
              <c:f>'Chart Data'!$A$2:$A$3</c:f>
              <c:strCache>
                <c:ptCount val="2"/>
                <c:pt idx="0">
                  <c:v>총 32 Plane</c:v>
                </c:pt>
                <c:pt idx="1">
                  <c:v>총 64 Plane</c:v>
                </c:pt>
              </c:strCache>
            </c:strRef>
          </c:cat>
          <c:val>
            <c:numRef>
              <c:f>'Chart Data'!$B$2:$B$3</c:f>
              <c:numCache>
                <c:formatCode>General</c:formatCode>
                <c:ptCount val="2"/>
                <c:pt idx="0">
                  <c:v>137.212171</c:v>
                </c:pt>
                <c:pt idx="1">
                  <c:v>189.323908</c:v>
                </c:pt>
              </c:numCache>
            </c:numRef>
          </c:val>
        </c:ser>
        <c:ser>
          <c:idx val="1"/>
          <c:order val="1"/>
          <c:tx>
            <c:v>영역 배치</c:v>
          </c:tx>
          <c:spPr>
            <a:solidFill xmlns:a="http://schemas.openxmlformats.org/drawingml/2006/main">
              <a:srgbClr val="126DCA"/>
            </a:solidFill>
          </c:spPr>
          <c:cat>
            <c:strRef>
              <c:f>'Chart Data'!$C$2:$C$3</c:f>
              <c:strCache>
                <c:ptCount val="2"/>
                <c:pt idx="0">
                  <c:v>총 32 Plane</c:v>
                </c:pt>
                <c:pt idx="1">
                  <c:v>총 64 Plane</c:v>
                </c:pt>
              </c:strCache>
            </c:strRef>
          </c:cat>
          <c:val>
            <c:numRef>
              <c:f>'Chart Data'!$D$2:$D$3</c:f>
              <c:numCache>
                <c:formatCode>General</c:formatCode>
                <c:ptCount val="2"/>
                <c:pt idx="0">
                  <c:v>174.787859</c:v>
                </c:pt>
                <c:pt idx="1">
                  <c:v>234.987735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72738"/>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crossAx val="48672768"/>
      </c:catAx>
      <c:valAx>
        <c:axId val="48672768"/>
        <c:scaling>
          <c:orientation val="minMax"/>
          <c:max val="280"/>
          <c:min val="0"/>
        </c:scaling>
        <c:delete val="0"/>
        <c:axPos val="l"/>
        <c:majorGridlines>
          <c:spPr>
            <a:ln xmlns:a="http://schemas.openxmlformats.org/drawingml/2006/main" w="9525">
              <a:solidFill>
                <a:srgbClr val="DFE6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7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A1</c:v>
          </c:tx>
          <c:spPr>
            <a:ln xmlns:a="http://schemas.openxmlformats.org/drawingml/2006/main" w="28575">
              <a:solidFill>
                <a:srgbClr val="126DCA"/>
              </a:solidFill>
            </a:ln>
          </c:spPr>
          <c:marker>
            <c:symbol val="circle"/>
            <c:size val="8"/>
            <c:spPr>
              <a:solidFill xmlns:a="http://schemas.openxmlformats.org/drawingml/2006/main">
                <a:srgbClr val="126DCA"/>
              </a:solidFill>
            </c:spPr>
          </c:marker>
          <c:cat>
            <c:numRef>
              <c:f>'Chart Data'!$A$2:$A$6</c:f>
              <c:numCache>
                <c:formatCode>General</c:formatCode>
                <c:ptCount val="5"/>
                <c:pt idx="0">
                  <c:v>128</c:v>
                </c:pt>
                <c:pt idx="1">
                  <c:v>256</c:v>
                </c:pt>
                <c:pt idx="2">
                  <c:v>512</c:v>
                </c:pt>
                <c:pt idx="3">
                  <c:v>1024</c:v>
                </c:pt>
                <c:pt idx="4">
                  <c:v>2048</c:v>
                </c:pt>
              </c:numCache>
            </c:numRef>
          </c:cat>
          <c:val>
            <c:numRef>
              <c:f>'Chart Data'!$B$2:$B$6</c:f>
              <c:numCache>
                <c:formatCode>General</c:formatCode>
                <c:ptCount val="5"/>
                <c:pt idx="0">
                  <c:v>151.702373</c:v>
                </c:pt>
                <c:pt idx="1">
                  <c:v>241.066621</c:v>
                </c:pt>
                <c:pt idx="2">
                  <c:v>255.365922</c:v>
                </c:pt>
                <c:pt idx="3">
                  <c:v>131.223552</c:v>
                </c:pt>
                <c:pt idx="4">
                  <c:v>68.857856</c:v>
                </c:pt>
              </c:numCache>
            </c:numRef>
          </c:val>
          <c:smooth val="0"/>
        </c:ser>
        <c:ser>
          <c:idx val="1"/>
          <c:order val="1"/>
          <c:tx>
            <c:v>A2</c:v>
          </c:tx>
          <c:spPr>
            <a:ln xmlns:a="http://schemas.openxmlformats.org/drawingml/2006/main" w="28575">
              <a:solidFill>
                <a:srgbClr val="008B82"/>
              </a:solidFill>
            </a:ln>
          </c:spPr>
          <c:marker>
            <c:symbol val="diamond"/>
            <c:size val="8"/>
            <c:spPr>
              <a:solidFill xmlns:a="http://schemas.openxmlformats.org/drawingml/2006/main">
                <a:srgbClr val="008B82"/>
              </a:solidFill>
            </c:spPr>
          </c:marker>
          <c:cat>
            <c:numRef>
              <c:f>'Chart Data'!$C$2:$C$6</c:f>
              <c:numCache>
                <c:formatCode>General</c:formatCode>
                <c:ptCount val="5"/>
                <c:pt idx="0">
                  <c:v>128</c:v>
                </c:pt>
                <c:pt idx="1">
                  <c:v>256</c:v>
                </c:pt>
                <c:pt idx="2">
                  <c:v>512</c:v>
                </c:pt>
                <c:pt idx="3">
                  <c:v>1024</c:v>
                </c:pt>
                <c:pt idx="4">
                  <c:v>2048</c:v>
                </c:pt>
              </c:numCache>
            </c:numRef>
          </c:cat>
          <c:val>
            <c:numRef>
              <c:f>'Chart Data'!$D$2:$D$6</c:f>
              <c:numCache>
                <c:formatCode>General</c:formatCode>
                <c:ptCount val="5"/>
                <c:pt idx="0">
                  <c:v>149.688922</c:v>
                </c:pt>
                <c:pt idx="1">
                  <c:v>241.975943</c:v>
                </c:pt>
                <c:pt idx="2">
                  <c:v>255.05833</c:v>
                </c:pt>
                <c:pt idx="3">
                  <c:v>133.259264</c:v>
                </c:pt>
                <c:pt idx="4">
                  <c:v>71.888925</c:v>
                </c:pt>
              </c:numCache>
            </c:numRef>
          </c:val>
          <c:smooth val="0"/>
        </c:ser>
        <c:dLbls>
          <c:txPr>
            <a:bodyPr xmlns:a="http://schemas.openxmlformats.org/drawingml/2006/main" anchorCtr="1"/>
            <a:lstStyle xmlns:a="http://schemas.openxmlformats.org/drawingml/2006/main"/>
            <a:p xmlns:a="http://schemas.openxmlformats.org/drawingml/2006/main">
              <a:pPr>
                <a:defRPr>
                  <a:latin typeface="Apple SD Gothic Neo"/>
                  <a:ea typeface="Apple SD Gothic Neo"/>
                  <a:cs typeface="Apple SD Gothic Neo"/>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solidFill>
                      <a:srgbClr val="586875"/>
                    </a:solidFill>
                    <a:latin typeface="Apple SD Gothic Neo"/>
                    <a:ea typeface="Apple SD Gothic Neo"/>
                    <a:cs typeface="Apple SD Gothic Neo"/>
                  </a:rPr>
                  <a:t>설정 QD / Port</a:t>
                </a:r>
              </a:p>
            </c:rich>
          </c:tx>
          <c:overlay val="0"/>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title>
        <c:numFmt formatCode="General"/>
        <c:majorTickMark val="none"/>
        <c:minorTickMark val="none"/>
        <c:spPr>
          <a:ln xmlns:a="http://schemas.openxmlformats.org/drawingml/2006/main" w="9525">
            <a:solidFill>
              <a:srgbClr val="DFE6EB"/>
            </a:solidFill>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72768"/>
      </c:catAx>
      <c:valAx>
        <c:axId val="48672768"/>
        <c:scaling>
          <c:orientation val="minMax"/>
          <c:max val="275"/>
          <c:min val="0"/>
        </c:scaling>
        <c:delete val="0"/>
        <c:axPos val="l"/>
        <c:majorGridlines>
          <c:spPr>
            <a:ln xmlns:a="http://schemas.openxmlformats.org/drawingml/2006/main" w="9525">
              <a:solidFill>
                <a:srgbClr val="DFE6E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875"/>
                </a:solidFill>
                <a:latin typeface="Apple SD Gothic Neo"/>
                <a:ea typeface="Apple SD Gothic Neo"/>
                <a:cs typeface="Apple SD Gothic Neo"/>
              </a:defRPr>
            </a:pPr>
          </a:p>
        </c:txPr>
        <c:crossAx val="48650112"/>
        <c:crossBetween val="between"/>
        <c:majorUnit val="5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586875"/>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C40"/>
        </a:solidFill>
      </p:bgPr>
    </p:bg>
    <p:spTree>
      <p:nvGrpSpPr>
        <p:cNvPr id="1" name=""/>
        <p:cNvGrpSpPr/>
        <p:nvPr/>
      </p:nvGrpSpPr>
      <p:grpSpPr>
        <a:xfrm xmlns:a="http://schemas.openxmlformats.org/drawingml/2006/main"/>
      </p:grpSpPr>
      <p:sp>
        <p:nvSpPr>
          <p:cNvPr id="5" name="eyebrow">
            <a:extLst xmlns:a="http://schemas.openxmlformats.org/drawingml/2006/main">
              <a:ext uri="{FF2B5EF4-FFF2-40B4-BE49-F238E27FC236}">
                <a16:creationId xmlns:a16="http://schemas.microsoft.com/office/drawing/2014/main" id="{FF9945B9-DC3D-4791-8005-BCBB52793C6D}"/>
              </a:ext>
            </a:extLst>
          </p:cNvPr>
          <p:cNvSpPr>
            <a:spLocks xmlns:a="http://schemas.openxmlformats.org/drawingml/2006/main" noGrp="1"/>
          </p:cNvSpPr>
          <p:nvPr/>
        </p:nvSpPr>
        <p:spPr>
          <a:xfrm xmlns:a="http://schemas.openxmlformats.org/drawingml/2006/main">
            <a:off x="647700" y="7334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FC8DA"/>
                </a:solidFill>
                <a:latin typeface="Apple SD Gothic Neo"/>
                <a:ea typeface="Apple SD Gothic Neo"/>
                <a:cs typeface="Apple SD Gothic Neo"/>
              </a:defRPr>
            </a:defPPr>
          </a:lstStyle>
          <a:p xmlns:a="http://schemas.openxmlformats.org/drawingml/2006/main">
            <a:pPr>
              <a:defRPr sz="1950" b="0">
                <a:solidFill>
                  <a:srgbClr val="AFC8DA"/>
                </a:solidFill>
                <a:latin typeface="Apple SD Gothic Neo"/>
                <a:ea typeface="Apple SD Gothic Neo"/>
                <a:cs typeface="Apple SD Gothic Neo"/>
              </a:defRPr>
            </a:pPr>
            <a:r>
              <a:rPr sz="1950" b="0">
                <a:solidFill>
                  <a:srgbClr val="AFC8DA"/>
                </a:solidFill>
                <a:latin typeface="Apple SD Gothic Neo"/>
                <a:ea typeface="Apple SD Gothic Neo"/>
                <a:cs typeface="Apple SD Gothic Neo"/>
              </a:rPr>
              <a:t>zNAND 성능 모델링</a:t>
            </a:r>
          </a:p>
        </p:txBody>
      </p:sp>
      <p:sp>
        <p:nvSpPr>
          <p:cNvPr id="2" name="cover-title">
            <a:extLst xmlns:a="http://schemas.openxmlformats.org/drawingml/2006/main">
              <a:ext uri="{FF2B5EF4-FFF2-40B4-BE49-F238E27FC236}">
                <a16:creationId xmlns:a16="http://schemas.microsoft.com/office/drawing/2014/main" id="{F3AE9E00-7ED2-452D-8CC9-BF4D223F94A4}"/>
              </a:ext>
            </a:extLst>
          </p:cNvPr>
          <p:cNvSpPr>
            <a:spLocks xmlns:a="http://schemas.openxmlformats.org/drawingml/2006/main" noGrp="1"/>
          </p:cNvSpPr>
          <p:nvPr/>
        </p:nvSpPr>
        <p:spPr>
          <a:xfrm xmlns:a="http://schemas.openxmlformats.org/drawingml/2006/main">
            <a:off x="609600" y="1838325"/>
            <a:ext cx="10477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pple SD Gothic Neo"/>
                <a:ea typeface="Apple SD Gothic Neo"/>
                <a:cs typeface="Apple SD Gothic Neo"/>
              </a:defRPr>
            </a:defPPr>
          </a:lstStyle>
          <a:p xmlns:a="http://schemas.openxmlformats.org/drawingml/2006/main">
            <a:pPr>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성능 개선</a:t>
            </a:r>
          </a:p>
          <a:p xmlns:a="http://schemas.openxmlformats.org/drawingml/2006/main">
            <a:pPr>
              <a:defRPr sz="5400" b="1">
                <a:solidFill>
                  <a:srgbClr val="FFFFFF"/>
                </a:solidFill>
                <a:latin typeface="Apple SD Gothic Neo"/>
                <a:ea typeface="Apple SD Gothic Neo"/>
                <a:cs typeface="Apple SD Gothic Neo"/>
              </a:defRPr>
            </a:pPr>
            <a:r>
              <a:rPr sz="5400" b="1">
                <a:solidFill>
                  <a:srgbClr val="FFFFFF"/>
                </a:solidFill>
                <a:latin typeface="Apple SD Gothic Neo"/>
                <a:ea typeface="Apple SD Gothic Neo"/>
                <a:cs typeface="Apple SD Gothic Neo"/>
              </a:rPr>
              <a:t>핵심 3가지</a:t>
            </a:r>
          </a:p>
        </p:txBody>
      </p:sp>
      <p:sp>
        <p:nvSpPr>
          <p:cNvPr id="3" name="cover-subtitle">
            <a:extLst xmlns:a="http://schemas.openxmlformats.org/drawingml/2006/main">
              <a:ext uri="{FF2B5EF4-FFF2-40B4-BE49-F238E27FC236}">
                <a16:creationId xmlns:a16="http://schemas.microsoft.com/office/drawing/2014/main" id="{17E923B4-902B-4650-B0C4-FFEA34025CE3}"/>
              </a:ext>
            </a:extLst>
          </p:cNvPr>
          <p:cNvSpPr>
            <a:spLocks xmlns:a="http://schemas.openxmlformats.org/drawingml/2006/main" noGrp="1"/>
          </p:cNvSpPr>
          <p:nvPr/>
        </p:nvSpPr>
        <p:spPr>
          <a:xfrm xmlns:a="http://schemas.openxmlformats.org/drawingml/2006/main">
            <a:off x="647700" y="42291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BE7EF"/>
                </a:solidFill>
                <a:latin typeface="Apple SD Gothic Neo"/>
                <a:ea typeface="Apple SD Gothic Neo"/>
                <a:cs typeface="Apple SD Gothic Neo"/>
              </a:defRPr>
            </a:defPPr>
          </a:lstStyle>
          <a:p xmlns:a="http://schemas.openxmlformats.org/drawingml/2006/main">
            <a:pPr>
              <a:defRPr sz="2100" b="0">
                <a:solidFill>
                  <a:srgbClr val="DBE7EF"/>
                </a:solidFill>
                <a:latin typeface="Apple SD Gothic Neo"/>
                <a:ea typeface="Apple SD Gothic Neo"/>
                <a:cs typeface="Apple SD Gothic Neo"/>
              </a:defRPr>
            </a:pPr>
            <a:r>
              <a:rPr sz="2100" b="0">
                <a:solidFill>
                  <a:srgbClr val="DBE7EF"/>
                </a:solidFill>
                <a:latin typeface="Apple SD Gothic Neo"/>
                <a:ea typeface="Apple SD Gothic Neo"/>
                <a:cs typeface="Apple SD Gothic Neo"/>
              </a:rPr>
              <a:t>컨트롤러 스케줄링, 물리 배치, 버퍼와 Outstanding</a:t>
            </a:r>
          </a:p>
        </p:txBody>
      </p:sp>
      <p:sp>
        <p:nvSpPr>
          <p:cNvPr id="4" name="cover-scope">
            <a:extLst xmlns:a="http://schemas.openxmlformats.org/drawingml/2006/main">
              <a:ext uri="{FF2B5EF4-FFF2-40B4-BE49-F238E27FC236}">
                <a16:creationId xmlns:a16="http://schemas.microsoft.com/office/drawing/2014/main" id="{58296B08-080D-4739-B67E-243CB0DE06B1}"/>
              </a:ext>
            </a:extLst>
          </p:cNvPr>
          <p:cNvSpPr>
            <a:spLocks xmlns:a="http://schemas.openxmlformats.org/drawingml/2006/main" noGrp="1"/>
          </p:cNvSpPr>
          <p:nvPr/>
        </p:nvSpPr>
        <p:spPr>
          <a:xfrm xmlns:a="http://schemas.openxmlformats.org/drawingml/2006/main">
            <a:off x="647700" y="53911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FC8DA"/>
                </a:solidFill>
                <a:latin typeface="Apple SD Gothic Neo"/>
                <a:ea typeface="Apple SD Gothic Neo"/>
                <a:cs typeface="Apple SD Gothic Neo"/>
              </a:defRPr>
            </a:defPPr>
          </a:lstStyle>
          <a:p xmlns:a="http://schemas.openxmlformats.org/drawingml/2006/main">
            <a:pPr>
              <a:defRPr sz="1800" b="0">
                <a:solidFill>
                  <a:srgbClr val="AFC8DA"/>
                </a:solidFill>
                <a:latin typeface="Apple SD Gothic Neo"/>
                <a:ea typeface="Apple SD Gothic Neo"/>
                <a:cs typeface="Apple SD Gothic Neo"/>
              </a:defRPr>
            </a:pPr>
            <a:r>
              <a:rPr sz="1800" b="0">
                <a:solidFill>
                  <a:srgbClr val="AFC8DA"/>
                </a:solidFill>
                <a:latin typeface="Apple SD Gothic Neo"/>
                <a:ea typeface="Apple SD Gothic Neo"/>
                <a:cs typeface="Apple SD Gothic Neo"/>
              </a:rPr>
              <a:t>기존 실험 결과와 동작 원리</a:t>
            </a:r>
          </a:p>
          <a:p xmlns:a="http://schemas.openxmlformats.org/drawingml/2006/main">
            <a:pPr>
              <a:defRPr sz="1800" b="0">
                <a:solidFill>
                  <a:srgbClr val="AFC8DA"/>
                </a:solidFill>
                <a:latin typeface="Apple SD Gothic Neo"/>
                <a:ea typeface="Apple SD Gothic Neo"/>
                <a:cs typeface="Apple SD Gothic Neo"/>
              </a:defRPr>
            </a:pPr>
            <a:r>
              <a:rPr sz="1800" b="0">
                <a:solidFill>
                  <a:srgbClr val="AFC8DA"/>
                </a:solidFill>
                <a:latin typeface="Apple SD Gothic Neo"/>
                <a:ea typeface="Apple SD Gothic Neo"/>
                <a:cs typeface="Apple SD Gothic Neo"/>
              </a:rPr>
              <a:t>2026년 10월 11일 기준</a:t>
            </a:r>
          </a:p>
        </p:txBody>
      </p:sp>
    </p:spTree>
    <p:extLst>
      <p:ext uri="{BB962C8B-B14F-4D97-AF65-F5344CB8AC3E}">
        <p14:creationId xmlns:p14="http://schemas.microsoft.com/office/powerpoint/2010/main" val="8692961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EF19B29A-BFDF-403F-8F79-94B887D58EE3}"/>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지금까지 효과를 확인한 3가지</a:t>
            </a:r>
          </a:p>
        </p:txBody>
      </p:sp>
      <p:sp>
        <p:nvSpPr>
          <p:cNvPr id="2" name="subtitle">
            <a:extLst xmlns:a="http://schemas.openxmlformats.org/drawingml/2006/main">
              <a:ext uri="{FF2B5EF4-FFF2-40B4-BE49-F238E27FC236}">
                <a16:creationId xmlns:a16="http://schemas.microsoft.com/office/drawing/2014/main" id="{7D062721-A30B-498E-B982-31C3A0712F4F}"/>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발행 순서, 데이터 위치, 수락 가능한 요청의 분포를 각각 개선했습니다.</a:t>
            </a:r>
          </a:p>
        </p:txBody>
      </p:sp>
      <p:sp>
        <p:nvSpPr>
          <p:cNvPr id="3" name="footer">
            <a:extLst xmlns:a="http://schemas.openxmlformats.org/drawingml/2006/main">
              <a:ext uri="{FF2B5EF4-FFF2-40B4-BE49-F238E27FC236}">
                <a16:creationId xmlns:a16="http://schemas.microsoft.com/office/drawing/2014/main" id="{B51330B4-2C02-4C87-B0D3-42386DFF9E0E}"/>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locality, host_ceiling, saturation 실험 원자료</a:t>
            </a:r>
          </a:p>
        </p:txBody>
      </p:sp>
      <p:sp>
        <p:nvSpPr>
          <p:cNvPr id="4" name="page">
            <a:extLst xmlns:a="http://schemas.openxmlformats.org/drawingml/2006/main">
              <a:ext uri="{FF2B5EF4-FFF2-40B4-BE49-F238E27FC236}">
                <a16:creationId xmlns:a16="http://schemas.microsoft.com/office/drawing/2014/main" id="{6366547B-D9AF-4DA6-8619-1182447022F0}"/>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02</a:t>
            </a:r>
          </a:p>
        </p:txBody>
      </p:sp>
      <p:graphicFrame>
        <p:nvGraphicFramePr>
          <p:cNvPr id="5" name="three-items">
            <a:extLst xmlns:a="http://schemas.openxmlformats.org/drawingml/2006/main">
              <a:ext uri="{FF2B5EF4-FFF2-40B4-BE49-F238E27FC236}">
                <a16:creationId xmlns:a16="http://schemas.microsoft.com/office/drawing/2014/main" id="{779C5E4E-CB33-47A2-A59C-375E400CC495}"/>
              </a:ext>
            </a:extLst>
          </p:cNvPr>
          <p:cNvGraphicFramePr/>
          <p:nvPr/>
        </p:nvGraphicFramePr>
        <p:xfrm>
          <a:off xmlns:a="http://schemas.openxmlformats.org/drawingml/2006/main" x="533400" y="1885950"/>
          <a:ext xmlns:a="http://schemas.openxmlformats.org/drawingml/2006/main" cx="11125200" cy="3295650"/>
        </p:xfrm>
        <a:graphic xmlns:a="http://schemas.openxmlformats.org/drawingml/2006/main">
          <a:graphicData uri="http://schemas.openxmlformats.org/drawingml/2006/table">
            <a:tbl>
              <a:tblPr/>
              <a:tblGrid>
                <a:gridCol w="2914650"/>
                <a:gridCol w="3790950"/>
                <a:gridCol w="4419600"/>
              </a:tblGrid>
              <a:tr h="823913">
                <a:tc>
                  <a:txBody>
                    <a:bodyPr lIns="114300" tIns="114300" rIns="114300" bIns="114300"/>
                    <a:lstStyle/>
                    <a:p>
                      <a:r>
                        <a:rPr sz="1800" b="1">
                          <a:solidFill>
                            <a:srgbClr val="FFFFFF"/>
                          </a:solidFill>
                          <a:latin typeface="Apple SD Gothic Neo"/>
                          <a:ea typeface="Apple SD Gothic Neo"/>
                          <a:cs typeface="Apple SD Gothic Neo"/>
                        </a:rPr>
                        <a:t>핵심 항목</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해결한 병목</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대표 처리량 (GB/s)</a:t>
                      </a:r>
                    </a:p>
                  </a:txBody>
                  <a:tcPr marL="133350" marR="133350" marT="95250" marB="95250" anchor="ctr">
                    <a:solidFill>
                      <a:srgbClr val="122C40"/>
                    </a:solidFill>
                  </a:tcPr>
                </a:tc>
              </a:tr>
              <a:tr h="823913">
                <a:tc>
                  <a:txBody>
                    <a:bodyPr lIns="114300" tIns="114300" rIns="114300" bIns="114300"/>
                    <a:lstStyle/>
                    <a:p>
                      <a:r>
                        <a:rPr sz="1800" b="0">
                          <a:solidFill>
                            <a:srgbClr val="172738"/>
                          </a:solidFill>
                          <a:latin typeface="Apple SD Gothic Neo"/>
                          <a:ea typeface="Apple SD Gothic Neo"/>
                          <a:cs typeface="Apple SD Gothic Neo"/>
                        </a:rPr>
                        <a:t>1. 컨트롤러 스케줄링</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물리 주소 점프로 인한</a:t>
                      </a:r>
                    </a:p>
                    <a:p>
                      <a:r>
                        <a:rPr sz="1800" b="0">
                          <a:solidFill>
                            <a:srgbClr val="172738"/>
                          </a:solidFill>
                          <a:latin typeface="Apple SD Gothic Neo"/>
                          <a:ea typeface="Apple SD Gothic Neo"/>
                          <a:cs typeface="Apple SD Gothic Neo"/>
                        </a:rPr>
                        <a:t>Long tR의 반복</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A2 37.08에서 118.26</a:t>
                      </a:r>
                    </a:p>
                    <a:p>
                      <a:r>
                        <a:rPr sz="1800" b="0">
                          <a:solidFill>
                            <a:srgbClr val="172738"/>
                          </a:solidFill>
                          <a:latin typeface="Apple SD Gothic Neo"/>
                          <a:ea typeface="Apple SD Gothic Neo"/>
                          <a:cs typeface="Apple SD Gothic Neo"/>
                        </a:rPr>
                        <a:t>동일 조건의 CA 정책 비교</a:t>
                      </a:r>
                    </a:p>
                  </a:txBody>
                  <a:tcPr marL="133350" marR="133350" marT="95250" marB="95250" anchor="ctr">
                    <a:solidFill>
                      <a:srgbClr val="FFFFFF"/>
                    </a:solidFill>
                  </a:tcPr>
                </a:tc>
              </a:tr>
              <a:tr h="823913">
                <a:tc>
                  <a:txBody>
                    <a:bodyPr lIns="114300" tIns="114300" rIns="114300" bIns="114300"/>
                    <a:lstStyle/>
                    <a:p>
                      <a:r>
                        <a:rPr sz="1800" b="0">
                          <a:solidFill>
                            <a:srgbClr val="172738"/>
                          </a:solidFill>
                          <a:latin typeface="Apple SD Gothic Neo"/>
                          <a:ea typeface="Apple SD Gothic Neo"/>
                          <a:cs typeface="Apple SD Gothic Neo"/>
                        </a:rPr>
                        <a:t>2. Plane 확장과 배치</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NAND 공급량 부족과</a:t>
                      </a:r>
                    </a:p>
                    <a:p>
                      <a:r>
                        <a:rPr sz="1800" b="0">
                          <a:solidFill>
                            <a:srgbClr val="172738"/>
                          </a:solidFill>
                          <a:latin typeface="Apple SD Gothic Neo"/>
                          <a:ea typeface="Apple SD Gothic Neo"/>
                          <a:cs typeface="Apple SD Gothic Neo"/>
                        </a:rPr>
                        <a:t>같은 Plane의 영역 간 경합</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64 Plane A2 189.32에서 234.99</a:t>
                      </a:r>
                    </a:p>
                    <a:p>
                      <a:r>
                        <a:rPr sz="1800" b="0">
                          <a:solidFill>
                            <a:srgbClr val="172738"/>
                          </a:solidFill>
                          <a:latin typeface="Apple SD Gothic Neo"/>
                          <a:ea typeface="Apple SD Gothic Neo"/>
                          <a:cs typeface="Apple SD Gothic Neo"/>
                        </a:rPr>
                        <a:t>동일 자원에서 배치만 변경</a:t>
                      </a:r>
                    </a:p>
                  </a:txBody>
                  <a:tcPr marL="133350" marR="133350" marT="95250" marB="95250" anchor="ctr">
                    <a:solidFill>
                      <a:srgbClr val="F1F5F8"/>
                    </a:solidFill>
                  </a:tcPr>
                </a:tc>
              </a:tr>
              <a:tr h="823913">
                <a:tc>
                  <a:txBody>
                    <a:bodyPr lIns="114300" tIns="114300" rIns="114300" bIns="114300"/>
                    <a:lstStyle/>
                    <a:p>
                      <a:r>
                        <a:rPr sz="1800" b="0">
                          <a:solidFill>
                            <a:srgbClr val="172738"/>
                          </a:solidFill>
                          <a:latin typeface="Apple SD Gothic Neo"/>
                          <a:ea typeface="Apple SD Gothic Neo"/>
                          <a:cs typeface="Apple SD Gothic Neo"/>
                        </a:rPr>
                        <a:t>3. 버퍼와 QD의 공동 조정</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요청 부족 또는 일부 Port의</a:t>
                      </a:r>
                    </a:p>
                    <a:p>
                      <a:r>
                        <a:rPr sz="1800" b="0">
                          <a:solidFill>
                            <a:srgbClr val="172738"/>
                          </a:solidFill>
                          <a:latin typeface="Apple SD Gothic Neo"/>
                          <a:ea typeface="Apple SD Gothic Neo"/>
                          <a:cs typeface="Apple SD Gothic Neo"/>
                        </a:rPr>
                        <a:t>공유 버퍼 예약 편중</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8MiB A1 68.86에서 255.37</a:t>
                      </a:r>
                    </a:p>
                    <a:p>
                      <a:r>
                        <a:rPr sz="1800" b="0">
                          <a:solidFill>
                            <a:srgbClr val="172738"/>
                          </a:solidFill>
                          <a:latin typeface="Apple SD Gothic Neo"/>
                          <a:ea typeface="Apple SD Gothic Neo"/>
                          <a:cs typeface="Apple SD Gothic Neo"/>
                        </a:rPr>
                        <a:t>QD 2,048과 512/Port 비교</a:t>
                      </a:r>
                    </a:p>
                  </a:txBody>
                  <a:tcPr marL="133350" marR="133350" marT="95250" marB="95250" anchor="ctr">
                    <a:solidFill>
                      <a:srgbClr val="FFFFFF"/>
                    </a:solidFill>
                  </a:tcPr>
                </a:tc>
              </a:tr>
            </a:tbl>
          </a:graphicData>
        </a:graphic>
      </p:graphicFrame>
      <p:sp>
        <p:nvSpPr>
          <p:cNvPr id="6" name="measurement-caution">
            <a:extLst xmlns:a="http://schemas.openxmlformats.org/drawingml/2006/main">
              <a:ext uri="{FF2B5EF4-FFF2-40B4-BE49-F238E27FC236}">
                <a16:creationId xmlns:a16="http://schemas.microsoft.com/office/drawing/2014/main" id="{3371E4DF-DB4F-4344-B4D9-9D206EB19775}"/>
              </a:ext>
            </a:extLst>
          </p:cNvPr>
          <p:cNvSpPr>
            <a:spLocks xmlns:a="http://schemas.openxmlformats.org/drawingml/2006/main" noGrp="1"/>
          </p:cNvSpPr>
          <p:nvPr/>
        </p:nvSpPr>
        <p:spPr>
          <a:xfrm xmlns:a="http://schemas.openxmlformats.org/drawingml/2006/main">
            <a:off x="571500" y="549592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1·2번 수치는 유한 요청열의 전체 평균입니다.</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3번은 초기 구간을 제외한 지속 부하 평균이므로 개선율을 합산하지 않습니다.</a:t>
            </a:r>
          </a:p>
        </p:txBody>
      </p:sp>
    </p:spTree>
    <p:extLst>
      <p:ext uri="{BB962C8B-B14F-4D97-AF65-F5344CB8AC3E}">
        <p14:creationId xmlns:p14="http://schemas.microsoft.com/office/powerpoint/2010/main" val="21086354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3412C9A-9128-4F8A-BD6F-E0B4F756B59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1. 연속 물리 주소를 우선하는 스케줄링</a:t>
            </a:r>
          </a:p>
        </p:txBody>
      </p:sp>
      <p:sp>
        <p:nvSpPr>
          <p:cNvPr id="2" name="subtitle">
            <a:extLst xmlns:a="http://schemas.openxmlformats.org/drawingml/2006/main">
              <a:ext uri="{FF2B5EF4-FFF2-40B4-BE49-F238E27FC236}">
                <a16:creationId xmlns:a16="http://schemas.microsoft.com/office/drawing/2014/main" id="{6145FD1F-BD06-423B-B4D1-AAAA64D331CA}"/>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tR 상수는 그대로 두고, Long tR이 발생하는 접근의 비율을 낮췄습니다.</a:t>
            </a:r>
          </a:p>
        </p:txBody>
      </p:sp>
      <p:sp>
        <p:nvSpPr>
          <p:cNvPr id="3" name="footer">
            <a:extLst xmlns:a="http://schemas.openxmlformats.org/drawingml/2006/main">
              <a:ext uri="{FF2B5EF4-FFF2-40B4-BE49-F238E27FC236}">
                <a16:creationId xmlns:a16="http://schemas.microsoft.com/office/drawing/2014/main" id="{D7CBB0FF-ACBE-4B11-BAF5-5081140FE989}"/>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32 Plane, 32MiB, QD 2,048/Port, PF ON, 8,192요청/Port의 전체 평균</a:t>
            </a:r>
          </a:p>
        </p:txBody>
      </p:sp>
      <p:sp>
        <p:nvSpPr>
          <p:cNvPr id="4" name="page">
            <a:extLst xmlns:a="http://schemas.openxmlformats.org/drawingml/2006/main">
              <a:ext uri="{FF2B5EF4-FFF2-40B4-BE49-F238E27FC236}">
                <a16:creationId xmlns:a16="http://schemas.microsoft.com/office/drawing/2014/main" id="{8B63CAD1-359F-405B-9058-C7956C30C98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03</a:t>
            </a:r>
          </a:p>
        </p:txBody>
      </p:sp>
      <p:sp>
        <p:nvSpPr>
          <p:cNvPr id="5" name="chart-unit">
            <a:extLst xmlns:a="http://schemas.openxmlformats.org/drawingml/2006/main">
              <a:ext uri="{FF2B5EF4-FFF2-40B4-BE49-F238E27FC236}">
                <a16:creationId xmlns:a16="http://schemas.microsoft.com/office/drawing/2014/main" id="{3C6F4D25-C8A2-4460-91F8-B4881B0F804E}"/>
              </a:ext>
            </a:extLst>
          </p:cNvPr>
          <p:cNvSpPr>
            <a:spLocks xmlns:a="http://schemas.openxmlformats.org/drawingml/2006/main" noGrp="1"/>
          </p:cNvSpPr>
          <p:nvPr/>
        </p:nvSpPr>
        <p:spPr>
          <a:xfrm xmlns:a="http://schemas.openxmlformats.org/drawingml/2006/main">
            <a:off x="590550" y="1762125"/>
            <a:ext cx="5905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xmlns:a="http://schemas.openxmlformats.org/drawingml/2006/main">
              <a:ext uri="{FF2B5EF4-FFF2-40B4-BE49-F238E27FC236}">
                <a16:creationId xmlns:a16="http://schemas.microsoft.com/office/drawing/2014/main" id="{98A6E3B0-DCDE-4C6E-8C94-31E73349368C}"/>
              </a:ext>
            </a:extLst>
          </p:cNvPr>
          <p:cNvGraphicFramePr/>
          <p:nvPr/>
        </p:nvGraphicFramePr>
        <p:xfrm>
          <a:off xmlns:a="http://schemas.openxmlformats.org/drawingml/2006/main" x="533400" y="2124075"/>
          <a:ext xmlns:a="http://schemas.openxmlformats.org/drawingml/2006/main" cx="5905500" cy="2667000"/>
        </p:xfrm>
        <a:graphic xmlns:a="http://schemas.openxmlformats.org/drawingml/2006/main">
          <a:graphicData uri="http://schemas.openxmlformats.org/drawingml/2006/chart">
            <c:chart xmlns:r="http://schemas.openxmlformats.org/officeDocument/2006/relationships" xmlns:c="http://schemas.openxmlformats.org/drawingml/2006/chart" r:id="Rad397611640c4cf5"/>
          </a:graphicData>
        </a:graphic>
      </p:graphicFrame>
      <p:graphicFrame>
        <p:nvGraphicFramePr>
          <p:cNvPr id="7" name="tr-mix">
            <a:extLst xmlns:a="http://schemas.openxmlformats.org/drawingml/2006/main">
              <a:ext uri="{FF2B5EF4-FFF2-40B4-BE49-F238E27FC236}">
                <a16:creationId xmlns:a16="http://schemas.microsoft.com/office/drawing/2014/main" id="{1F847281-51C9-4E93-9FCA-F0B67F4801B8}"/>
              </a:ext>
            </a:extLst>
          </p:cNvPr>
          <p:cNvGraphicFramePr/>
          <p:nvPr/>
        </p:nvGraphicFramePr>
        <p:xfrm>
          <a:off xmlns:a="http://schemas.openxmlformats.org/drawingml/2006/main" x="571500" y="5067300"/>
          <a:ext xmlns:a="http://schemas.openxmlformats.org/drawingml/2006/main" cx="5791200" cy="981075"/>
        </p:xfrm>
        <a:graphic xmlns:a="http://schemas.openxmlformats.org/drawingml/2006/main">
          <a:graphicData uri="http://schemas.openxmlformats.org/drawingml/2006/table">
            <a:tbl>
              <a:tblPr/>
              <a:tblGrid>
                <a:gridCol w="2171700"/>
                <a:gridCol w="1809750"/>
                <a:gridCol w="1809750"/>
              </a:tblGrid>
              <a:tr h="490538">
                <a:tc>
                  <a:txBody>
                    <a:bodyPr lIns="114300" tIns="114300" rIns="114300" bIns="114300"/>
                    <a:lstStyle/>
                    <a:p>
                      <a:r>
                        <a:rPr sz="1725" b="1">
                          <a:solidFill>
                            <a:srgbClr val="FFFFFF"/>
                          </a:solidFill>
                          <a:latin typeface="Apple SD Gothic Neo"/>
                          <a:ea typeface="Apple SD Gothic Neo"/>
                          <a:cs typeface="Apple SD Gothic Neo"/>
                        </a:rPr>
                        <a:t>Long tR 비율</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FIFO</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연속 우선</a:t>
                      </a:r>
                    </a:p>
                  </a:txBody>
                  <a:tcPr marL="133350" marR="133350" marT="95250" marB="95250" anchor="ctr">
                    <a:solidFill>
                      <a:srgbClr val="122C40"/>
                    </a:solidFill>
                  </a:tcPr>
                </a:tc>
              </a:tr>
              <a:tr h="490538">
                <a:tc>
                  <a:txBody>
                    <a:bodyPr lIns="114300" tIns="114300" rIns="114300" bIns="114300"/>
                    <a:lstStyle/>
                    <a:p>
                      <a:r>
                        <a:rPr sz="1725" b="0">
                          <a:solidFill>
                            <a:srgbClr val="172738"/>
                          </a:solidFill>
                          <a:latin typeface="Apple SD Gothic Neo"/>
                          <a:ea typeface="Apple SD Gothic Neo"/>
                          <a:cs typeface="Apple SD Gothic Neo"/>
                        </a:rPr>
                        <a:t>전체 sensing 중</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91.81%</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10.57%</a:t>
                      </a:r>
                    </a:p>
                  </a:txBody>
                  <a:tcPr marL="133350" marR="133350" marT="95250" marB="95250" anchor="ctr">
                    <a:solidFill>
                      <a:srgbClr val="FFFFFF"/>
                    </a:solidFill>
                  </a:tcPr>
                </a:tc>
              </a:tr>
            </a:tbl>
          </a:graphicData>
        </a:graphic>
      </p:graphicFrame>
      <p:sp>
        <p:nvSpPr>
          <p:cNvPr id="8" name="mechanism1">
            <a:extLst xmlns:a="http://schemas.openxmlformats.org/drawingml/2006/main">
              <a:ext uri="{FF2B5EF4-FFF2-40B4-BE49-F238E27FC236}">
                <a16:creationId xmlns:a16="http://schemas.microsoft.com/office/drawing/2014/main" id="{9F88E885-2C5D-4033-B458-2EB31D5083B1}"/>
              </a:ext>
            </a:extLst>
          </p:cNvPr>
          <p:cNvSpPr>
            <a:spLocks xmlns:a="http://schemas.openxmlformats.org/drawingml/2006/main" noGrp="1"/>
          </p:cNvSpPr>
          <p:nvPr/>
        </p:nvSpPr>
        <p:spPr>
          <a:xfrm xmlns:a="http://schemas.openxmlformats.org/drawingml/2006/main">
            <a:off x="6877050" y="18288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컨트롤러 CA 발행 단계에서 선택</a:t>
            </a:r>
          </a:p>
        </p:txBody>
      </p:sp>
      <p:sp>
        <p:nvSpPr>
          <p:cNvPr id="9" name="mechanism1-detail">
            <a:extLst xmlns:a="http://schemas.openxmlformats.org/drawingml/2006/main">
              <a:ext uri="{FF2B5EF4-FFF2-40B4-BE49-F238E27FC236}">
                <a16:creationId xmlns:a16="http://schemas.microsoft.com/office/drawing/2014/main" id="{E64A84B6-7021-4876-98B8-CA1AEB0FD141}"/>
              </a:ext>
            </a:extLst>
          </p:cNvPr>
          <p:cNvSpPr>
            <a:spLocks xmlns:a="http://schemas.openxmlformats.org/drawingml/2006/main" noGrp="1"/>
          </p:cNvSpPr>
          <p:nvPr/>
        </p:nvSpPr>
        <p:spPr>
          <a:xfrm xmlns:a="http://schemas.openxmlformats.org/drawingml/2006/main">
            <a:off x="6877050" y="2400300"/>
            <a:ext cx="4762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이미 발행 가능한 요청 중 같은 Plane의</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다음 물리 페이지를 먼저 읽습니다.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또는 Mid 2.08µs의</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접근을 더 많이 사용합니다.</a:t>
            </a:r>
          </a:p>
        </p:txBody>
      </p:sp>
      <p:sp>
        <p:nvSpPr>
          <p:cNvPr id="10" name="ordering">
            <a:extLst xmlns:a="http://schemas.openxmlformats.org/drawingml/2006/main">
              <a:ext uri="{FF2B5EF4-FFF2-40B4-BE49-F238E27FC236}">
                <a16:creationId xmlns:a16="http://schemas.microsoft.com/office/drawing/2014/main" id="{C367FC6C-F225-4A57-BF3B-772C1B3EF6D8}"/>
              </a:ext>
            </a:extLst>
          </p:cNvPr>
          <p:cNvSpPr>
            <a:spLocks xmlns:a="http://schemas.openxmlformats.org/drawingml/2006/main" noGrp="1"/>
          </p:cNvSpPr>
          <p:nvPr/>
        </p:nvSpPr>
        <p:spPr>
          <a:xfrm xmlns:a="http://schemas.openxmlformats.org/drawingml/2006/main">
            <a:off x="6877050" y="4086225"/>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Host의 주소 발행 순서와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 반환은 유지합니다.</a:t>
            </a:r>
          </a:p>
        </p:txBody>
      </p:sp>
      <p:sp>
        <p:nvSpPr>
          <p:cNvPr id="11" name="bounded">
            <a:extLst xmlns:a="http://schemas.openxmlformats.org/drawingml/2006/main">
              <a:ext uri="{FF2B5EF4-FFF2-40B4-BE49-F238E27FC236}">
                <a16:creationId xmlns:a16="http://schemas.microsoft.com/office/drawing/2014/main" id="{D3C90FDE-B2E3-421F-99C2-77F56F2B8FF7}"/>
              </a:ext>
            </a:extLst>
          </p:cNvPr>
          <p:cNvSpPr>
            <a:spLocks xmlns:a="http://schemas.openxmlformats.org/drawingml/2006/main" noGrp="1"/>
          </p:cNvSpPr>
          <p:nvPr/>
        </p:nvSpPr>
        <p:spPr>
          <a:xfrm xmlns:a="http://schemas.openxmlformats.org/drawingml/2006/main">
            <a:off x="6877050" y="5162550"/>
            <a:ext cx="4762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우회 한도로 오래된 요청을 보호합니다.</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A1에는 오래 기다린 선두 요청의</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우선 처리도 적용했습니다.</a:t>
            </a:r>
          </a:p>
        </p:txBody>
      </p:sp>
    </p:spTree>
    <p:extLst>
      <p:ext uri="{BB962C8B-B14F-4D97-AF65-F5344CB8AC3E}">
        <p14:creationId xmlns:p14="http://schemas.microsoft.com/office/powerpoint/2010/main" val="21034125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A97DD071-E417-468E-B5F2-E5ACD09690BF}"/>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64 Plane과 영역별 데이터 배치</a:t>
            </a:r>
          </a:p>
        </p:txBody>
      </p:sp>
      <p:sp>
        <p:nvSpPr>
          <p:cNvPr id="2" name="subtitle">
            <a:extLst xmlns:a="http://schemas.openxmlformats.org/drawingml/2006/main">
              <a:ext uri="{FF2B5EF4-FFF2-40B4-BE49-F238E27FC236}">
                <a16:creationId xmlns:a16="http://schemas.microsoft.com/office/drawing/2014/main" id="{6F63C770-9E9B-425C-8E72-AA827FF2CCE1}"/>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Plane 확장으로 공급 여력을 확보하고, 배치 개선으로 그 여력을 활용했습니다.</a:t>
            </a:r>
          </a:p>
        </p:txBody>
      </p:sp>
      <p:sp>
        <p:nvSpPr>
          <p:cNvPr id="3" name="footer">
            <a:extLst xmlns:a="http://schemas.openxmlformats.org/drawingml/2006/main">
              <a:ext uri="{FF2B5EF4-FFF2-40B4-BE49-F238E27FC236}">
                <a16:creationId xmlns:a16="http://schemas.microsoft.com/office/drawing/2014/main" id="{DF18D896-33BD-4E92-A132-BE7C34E299D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A2, 4 Port, 32MiB, QD 2,048/Port, PF OFF, 8,192요청/Port의 전체 평균</a:t>
            </a:r>
          </a:p>
        </p:txBody>
      </p:sp>
      <p:sp>
        <p:nvSpPr>
          <p:cNvPr id="4" name="page">
            <a:extLst xmlns:a="http://schemas.openxmlformats.org/drawingml/2006/main">
              <a:ext uri="{FF2B5EF4-FFF2-40B4-BE49-F238E27FC236}">
                <a16:creationId xmlns:a16="http://schemas.microsoft.com/office/drawing/2014/main" id="{2DE856A8-BDEA-4AE7-9329-0BCA63884533}"/>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04</a:t>
            </a:r>
          </a:p>
        </p:txBody>
      </p:sp>
      <p:sp>
        <p:nvSpPr>
          <p:cNvPr id="5" name="chart-unit">
            <a:extLst xmlns:a="http://schemas.openxmlformats.org/drawingml/2006/main">
              <a:ext uri="{FF2B5EF4-FFF2-40B4-BE49-F238E27FC236}">
                <a16:creationId xmlns:a16="http://schemas.microsoft.com/office/drawing/2014/main" id="{51F02156-43C4-44CA-B764-C12FB644A050}"/>
              </a:ext>
            </a:extLst>
          </p:cNvPr>
          <p:cNvSpPr>
            <a:spLocks xmlns:a="http://schemas.openxmlformats.org/drawingml/2006/main" noGrp="1"/>
          </p:cNvSpPr>
          <p:nvPr/>
        </p:nvSpPr>
        <p:spPr>
          <a:xfrm xmlns:a="http://schemas.openxmlformats.org/drawingml/2006/main">
            <a:off x="590550" y="1762125"/>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Host 처리량 (GB/s)</a:t>
            </a:r>
          </a:p>
        </p:txBody>
      </p:sp>
      <p:graphicFrame>
        <p:nvGraphicFramePr>
          <p:cNvPr id="6" name="Chart">
            <a:extLst xmlns:a="http://schemas.openxmlformats.org/drawingml/2006/main">
              <a:ext uri="{FF2B5EF4-FFF2-40B4-BE49-F238E27FC236}">
                <a16:creationId xmlns:a16="http://schemas.microsoft.com/office/drawing/2014/main" id="{B3F13C59-03A4-4999-BAF5-BDF8BB62F0E4}"/>
              </a:ext>
            </a:extLst>
          </p:cNvPr>
          <p:cNvGraphicFramePr/>
          <p:nvPr/>
        </p:nvGraphicFramePr>
        <p:xfrm>
          <a:off xmlns:a="http://schemas.openxmlformats.org/drawingml/2006/main" x="533400" y="2114550"/>
          <a:ext xmlns:a="http://schemas.openxmlformats.org/drawingml/2006/main" cx="6381750" cy="3429000"/>
        </p:xfrm>
        <a:graphic xmlns:a="http://schemas.openxmlformats.org/drawingml/2006/main">
          <a:graphicData uri="http://schemas.openxmlformats.org/drawingml/2006/chart">
            <c:chart xmlns:r="http://schemas.openxmlformats.org/officeDocument/2006/relationships" xmlns:c="http://schemas.openxmlformats.org/drawingml/2006/chart" r:id="R722b22f7e515452d"/>
          </a:graphicData>
        </a:graphic>
      </p:graphicFrame>
      <p:sp>
        <p:nvSpPr>
          <p:cNvPr id="7" name="geometry">
            <a:extLst xmlns:a="http://schemas.openxmlformats.org/drawingml/2006/main">
              <a:ext uri="{FF2B5EF4-FFF2-40B4-BE49-F238E27FC236}">
                <a16:creationId xmlns:a16="http://schemas.microsoft.com/office/drawing/2014/main" id="{B41960E2-CDF1-4988-8D3C-9C37EA43DF1F}"/>
              </a:ext>
            </a:extLst>
          </p:cNvPr>
          <p:cNvSpPr>
            <a:spLocks xmlns:a="http://schemas.openxmlformats.org/drawingml/2006/main" noGrp="1"/>
          </p:cNvSpPr>
          <p:nvPr/>
        </p:nvSpPr>
        <p:spPr>
          <a:xfrm xmlns:a="http://schemas.openxmlformats.org/drawingml/2006/main">
            <a:off x="7381875" y="1838325"/>
            <a:ext cx="4171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물리 자원 확대</a:t>
            </a:r>
          </a:p>
        </p:txBody>
      </p:sp>
      <p:sp>
        <p:nvSpPr>
          <p:cNvPr id="8" name="geometry-detail">
            <a:extLst xmlns:a="http://schemas.openxmlformats.org/drawingml/2006/main">
              <a:ext uri="{FF2B5EF4-FFF2-40B4-BE49-F238E27FC236}">
                <a16:creationId xmlns:a16="http://schemas.microsoft.com/office/drawing/2014/main" id="{B0C74DFE-B104-4362-827D-ECBEA3E71F73}"/>
              </a:ext>
            </a:extLst>
          </p:cNvPr>
          <p:cNvSpPr>
            <a:spLocks xmlns:a="http://schemas.openxmlformats.org/drawingml/2006/main" noGrp="1"/>
          </p:cNvSpPr>
          <p:nvPr/>
        </p:nvSpPr>
        <p:spPr>
          <a:xfrm xmlns:a="http://schemas.openxmlformats.org/drawingml/2006/main">
            <a:off x="7381875" y="2343150"/>
            <a:ext cx="4191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Plane을 8개에서 16개로</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늘렸습니다. 32 Plane의 공급량은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가용률 100%와 최단 주기를 가정한</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낙관적 상한도 약 222.7GB/s입니다.</a:t>
            </a:r>
          </a:p>
        </p:txBody>
      </p:sp>
      <p:sp>
        <p:nvSpPr>
          <p:cNvPr id="9" name="layout">
            <a:extLst xmlns:a="http://schemas.openxmlformats.org/drawingml/2006/main">
              <a:ext uri="{FF2B5EF4-FFF2-40B4-BE49-F238E27FC236}">
                <a16:creationId xmlns:a16="http://schemas.microsoft.com/office/drawing/2014/main" id="{36ABEF17-FDA8-4092-81D7-E013120FF6CF}"/>
              </a:ext>
            </a:extLst>
          </p:cNvPr>
          <p:cNvSpPr>
            <a:spLocks xmlns:a="http://schemas.openxmlformats.org/drawingml/2006/main" noGrp="1"/>
          </p:cNvSpPr>
          <p:nvPr/>
        </p:nvSpPr>
        <p:spPr>
          <a:xfrm xmlns:a="http://schemas.openxmlformats.org/drawingml/2006/main">
            <a:off x="7381875" y="4010025"/>
            <a:ext cx="41719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같은 64 Plane에서 배치 효과</a:t>
            </a:r>
          </a:p>
        </p:txBody>
      </p:sp>
      <p:sp>
        <p:nvSpPr>
          <p:cNvPr id="10" name="layout-detail">
            <a:extLst xmlns:a="http://schemas.openxmlformats.org/drawingml/2006/main">
              <a:ext uri="{FF2B5EF4-FFF2-40B4-BE49-F238E27FC236}">
                <a16:creationId xmlns:a16="http://schemas.microsoft.com/office/drawing/2014/main" id="{61DFC526-AF6C-4A1B-8D68-72A4FD7DD411}"/>
              </a:ext>
            </a:extLst>
          </p:cNvPr>
          <p:cNvSpPr>
            <a:spLocks xmlns:a="http://schemas.openxmlformats.org/drawingml/2006/main" noGrp="1"/>
          </p:cNvSpPr>
          <p:nvPr/>
        </p:nvSpPr>
        <p:spPr>
          <a:xfrm xmlns:a="http://schemas.openxmlformats.org/drawingml/2006/main">
            <a:off x="7381875" y="4543425"/>
            <a:ext cx="41719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A2 처리량 24.12% 증가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Long sensing 1142회에서 3회</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총 sensing 8196회 기준</a:t>
            </a:r>
          </a:p>
        </p:txBody>
      </p:sp>
      <p:sp>
        <p:nvSpPr>
          <p:cNvPr id="11" name="separate-effects">
            <a:extLst xmlns:a="http://schemas.openxmlformats.org/drawingml/2006/main">
              <a:ext uri="{FF2B5EF4-FFF2-40B4-BE49-F238E27FC236}">
                <a16:creationId xmlns:a16="http://schemas.microsoft.com/office/drawing/2014/main" id="{94903A39-A198-47C2-9992-610D92BC9C55}"/>
              </a:ext>
            </a:extLst>
          </p:cNvPr>
          <p:cNvSpPr>
            <a:spLocks xmlns:a="http://schemas.openxmlformats.org/drawingml/2006/main" noGrp="1"/>
          </p:cNvSpPr>
          <p:nvPr/>
        </p:nvSpPr>
        <p:spPr>
          <a:xfrm xmlns:a="http://schemas.openxmlformats.org/drawingml/2006/main">
            <a:off x="571500" y="58959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Plane 증가는 자원 변경입니다. 같은 Plane 수 안의 두 막대가 배치만 바꾼 비교입니다.</a:t>
            </a:r>
          </a:p>
        </p:txBody>
      </p:sp>
    </p:spTree>
    <p:extLst>
      <p:ext uri="{BB962C8B-B14F-4D97-AF65-F5344CB8AC3E}">
        <p14:creationId xmlns:p14="http://schemas.microsoft.com/office/powerpoint/2010/main" val="11176902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02F1B10-DBF1-4D09-A7A8-2A9FE2E41B1C}"/>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2. 데이터 배치가 Long tR를 줄이는 원리</a:t>
            </a:r>
          </a:p>
        </p:txBody>
      </p:sp>
      <p:sp>
        <p:nvSpPr>
          <p:cNvPr id="2" name="subtitle">
            <a:extLst xmlns:a="http://schemas.openxmlformats.org/drawingml/2006/main">
              <a:ext uri="{FF2B5EF4-FFF2-40B4-BE49-F238E27FC236}">
                <a16:creationId xmlns:a16="http://schemas.microsoft.com/office/drawing/2014/main" id="{97468676-0D3C-4EBF-8CCE-2AD821A191CA}"/>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논리 영역은 4채널을 모두 쓰되, 채널 안에서 서로 다른 Plane 묶음을 사용합니다.</a:t>
            </a:r>
          </a:p>
        </p:txBody>
      </p:sp>
      <p:sp>
        <p:nvSpPr>
          <p:cNvPr id="3" name="footer">
            <a:extLst xmlns:a="http://schemas.openxmlformats.org/drawingml/2006/main">
              <a:ext uri="{FF2B5EF4-FFF2-40B4-BE49-F238E27FC236}">
                <a16:creationId xmlns:a16="http://schemas.microsoft.com/office/drawing/2014/main" id="{0566C511-8CFD-40C5-AC4E-423DCCB0CEC8}"/>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근거: host_ceiling의 영역별 L2P snapshot. 총 64 Plane 구성의 설명용 배치 표</a:t>
            </a:r>
          </a:p>
        </p:txBody>
      </p:sp>
      <p:sp>
        <p:nvSpPr>
          <p:cNvPr id="4" name="page">
            <a:extLst xmlns:a="http://schemas.openxmlformats.org/drawingml/2006/main">
              <a:ext uri="{FF2B5EF4-FFF2-40B4-BE49-F238E27FC236}">
                <a16:creationId xmlns:a16="http://schemas.microsoft.com/office/drawing/2014/main" id="{CBB726D5-09ED-4E23-BE2D-6B76D751B12B}"/>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05</a:t>
            </a:r>
          </a:p>
        </p:txBody>
      </p:sp>
      <p:graphicFrame>
        <p:nvGraphicFramePr>
          <p:cNvPr id="5" name="region-mapping">
            <a:extLst xmlns:a="http://schemas.openxmlformats.org/drawingml/2006/main">
              <a:ext uri="{FF2B5EF4-FFF2-40B4-BE49-F238E27FC236}">
                <a16:creationId xmlns:a16="http://schemas.microsoft.com/office/drawing/2014/main" id="{6B243249-3DCD-4E12-9026-F46DD4833FCD}"/>
              </a:ext>
            </a:extLst>
          </p:cNvPr>
          <p:cNvGraphicFramePr/>
          <p:nvPr/>
        </p:nvGraphicFramePr>
        <p:xfrm>
          <a:off xmlns:a="http://schemas.openxmlformats.org/drawingml/2006/main" x="533400" y="1905000"/>
          <a:ext xmlns:a="http://schemas.openxmlformats.org/drawingml/2006/main" cx="11125200" cy="2476500"/>
        </p:xfrm>
        <a:graphic xmlns:a="http://schemas.openxmlformats.org/drawingml/2006/main">
          <a:graphicData uri="http://schemas.openxmlformats.org/drawingml/2006/table">
            <a:tbl>
              <a:tblPr/>
              <a:tblGrid>
                <a:gridCol w="2209800"/>
                <a:gridCol w="2228850"/>
                <a:gridCol w="2228850"/>
                <a:gridCol w="2228850"/>
                <a:gridCol w="2228850"/>
              </a:tblGrid>
              <a:tr h="495300">
                <a:tc>
                  <a:txBody>
                    <a:bodyPr lIns="114300" tIns="114300" rIns="114300" bIns="114300"/>
                    <a:lstStyle/>
                    <a:p>
                      <a:r>
                        <a:rPr sz="1800" b="1">
                          <a:solidFill>
                            <a:srgbClr val="FFFFFF"/>
                          </a:solidFill>
                          <a:latin typeface="Apple SD Gothic Neo"/>
                          <a:ea typeface="Apple SD Gothic Neo"/>
                          <a:cs typeface="Apple SD Gothic Neo"/>
                        </a:rPr>
                        <a:t>논리 영역</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0</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1</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2</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Channel 3</a:t>
                      </a:r>
                    </a:p>
                  </a:txBody>
                  <a:tcPr marL="133350" marR="133350" marT="95250" marB="95250" anchor="ctr">
                    <a:solidFill>
                      <a:srgbClr val="122C40"/>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0</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0–3</a:t>
                      </a:r>
                    </a:p>
                  </a:txBody>
                  <a:tcPr marL="133350" marR="133350" marT="95250" marB="95250" anchor="ctr">
                    <a:solidFill>
                      <a:srgbClr val="FFFFFF"/>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1</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4–7</a:t>
                      </a:r>
                    </a:p>
                  </a:txBody>
                  <a:tcPr marL="133350" marR="133350" marT="95250" marB="95250" anchor="ctr">
                    <a:solidFill>
                      <a:srgbClr val="F1F5F8"/>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2</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Plane 8–11</a:t>
                      </a:r>
                    </a:p>
                  </a:txBody>
                  <a:tcPr marL="133350" marR="133350" marT="95250" marB="95250" anchor="ctr">
                    <a:solidFill>
                      <a:srgbClr val="FFFFFF"/>
                    </a:solidFill>
                  </a:tcPr>
                </a:tc>
              </a:tr>
              <a:tr h="495300">
                <a:tc>
                  <a:txBody>
                    <a:bodyPr lIns="114300" tIns="114300" rIns="114300" bIns="114300"/>
                    <a:lstStyle/>
                    <a:p>
                      <a:r>
                        <a:rPr sz="1800" b="0">
                          <a:solidFill>
                            <a:srgbClr val="172738"/>
                          </a:solidFill>
                          <a:latin typeface="Apple SD Gothic Neo"/>
                          <a:ea typeface="Apple SD Gothic Neo"/>
                          <a:cs typeface="Apple SD Gothic Neo"/>
                        </a:rPr>
                        <a:t>영역 3</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Plane 12–15</a:t>
                      </a:r>
                    </a:p>
                  </a:txBody>
                  <a:tcPr marL="133350" marR="133350" marT="95250" marB="95250" anchor="ctr">
                    <a:solidFill>
                      <a:srgbClr val="F1F5F8"/>
                    </a:solidFill>
                  </a:tcPr>
                </a:tc>
              </a:tr>
            </a:tbl>
          </a:graphicData>
        </a:graphic>
      </p:graphicFrame>
      <p:sp>
        <p:nvSpPr>
          <p:cNvPr id="6" name="placement-why">
            <a:extLst xmlns:a="http://schemas.openxmlformats.org/drawingml/2006/main">
              <a:ext uri="{FF2B5EF4-FFF2-40B4-BE49-F238E27FC236}">
                <a16:creationId xmlns:a16="http://schemas.microsoft.com/office/drawing/2014/main" id="{2E37D340-9F90-42FB-9E69-CC2A6B4C6FCC}"/>
              </a:ext>
            </a:extLst>
          </p:cNvPr>
          <p:cNvSpPr>
            <a:spLocks xmlns:a="http://schemas.openxmlformats.org/drawingml/2006/main" noGrp="1"/>
          </p:cNvSpPr>
          <p:nvPr/>
        </p:nvSpPr>
        <p:spPr>
          <a:xfrm xmlns:a="http://schemas.openxmlformats.org/drawingml/2006/main">
            <a:off x="571500" y="4695825"/>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한 Plane에 서로 먼 영역의 요청이 섞이면 물리 페이지 순서가 자주 끊깁니다.</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영역별 Plane 묶음을 분리하면 각 Plane에서 다음 페이지로 진행하기 쉬워집니다.</a:t>
            </a:r>
          </a:p>
        </p:txBody>
      </p:sp>
      <p:sp>
        <p:nvSpPr>
          <p:cNvPr id="7" name="mapping-not-wiring">
            <a:extLst xmlns:a="http://schemas.openxmlformats.org/drawingml/2006/main">
              <a:ext uri="{FF2B5EF4-FFF2-40B4-BE49-F238E27FC236}">
                <a16:creationId xmlns:a16="http://schemas.microsoft.com/office/drawing/2014/main" id="{8476982E-8EC3-4842-9074-4B11704AF0C4}"/>
              </a:ext>
            </a:extLst>
          </p:cNvPr>
          <p:cNvSpPr>
            <a:spLocks xmlns:a="http://schemas.openxmlformats.org/drawingml/2006/main" noGrp="1"/>
          </p:cNvSpPr>
          <p:nvPr/>
        </p:nvSpPr>
        <p:spPr>
          <a:xfrm xmlns:a="http://schemas.openxmlformats.org/drawingml/2006/main">
            <a:off x="571500" y="5638800"/>
            <a:ext cx="10953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이 실험은 Port별로 다른 논리 영역을 읽습니다. Channel과 Plane 선택은 주소가 결정하며,</a:t>
            </a:r>
          </a:p>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Port를 특정 Channel에 고정하는 구조가 아닙니다.</a:t>
            </a:r>
          </a:p>
        </p:txBody>
      </p:sp>
    </p:spTree>
    <p:extLst>
      <p:ext uri="{BB962C8B-B14F-4D97-AF65-F5344CB8AC3E}">
        <p14:creationId xmlns:p14="http://schemas.microsoft.com/office/powerpoint/2010/main" val="16792083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477BC067-A9B9-4520-821F-6D9E0CF8FE6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3. 버퍼와 Port별 Outstanding의 공동 조정</a:t>
            </a:r>
          </a:p>
        </p:txBody>
      </p:sp>
      <p:sp>
        <p:nvSpPr>
          <p:cNvPr id="2" name="subtitle">
            <a:extLst xmlns:a="http://schemas.openxmlformats.org/drawingml/2006/main">
              <a:ext uri="{FF2B5EF4-FFF2-40B4-BE49-F238E27FC236}">
                <a16:creationId xmlns:a16="http://schemas.microsoft.com/office/drawing/2014/main" id="{6C7ADEED-8E27-468C-85FA-EB0D2F9A8DD4}"/>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8MiB에서는 QD 512/Port가 4개 Port의 동시 진행을 유지했습니다.</a:t>
            </a:r>
          </a:p>
        </p:txBody>
      </p:sp>
      <p:sp>
        <p:nvSpPr>
          <p:cNvPr id="3" name="footer">
            <a:extLst xmlns:a="http://schemas.openxmlformats.org/drawingml/2006/main">
              <a:ext uri="{FF2B5EF4-FFF2-40B4-BE49-F238E27FC236}">
                <a16:creationId xmlns:a16="http://schemas.microsoft.com/office/drawing/2014/main" id="{7E0979DC-8679-48FF-8A46-BA50B3917BB5}"/>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조건: 64 Plane, 영역 배치, PF OFF. 초기 200µs 제외 후 200–2,200µs 고정 평균</a:t>
            </a:r>
          </a:p>
        </p:txBody>
      </p:sp>
      <p:sp>
        <p:nvSpPr>
          <p:cNvPr id="4" name="page">
            <a:extLst xmlns:a="http://schemas.openxmlformats.org/drawingml/2006/main">
              <a:ext uri="{FF2B5EF4-FFF2-40B4-BE49-F238E27FC236}">
                <a16:creationId xmlns:a16="http://schemas.microsoft.com/office/drawing/2014/main" id="{E44018B4-E566-4355-A1F8-876A09731577}"/>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06</a:t>
            </a:r>
          </a:p>
        </p:txBody>
      </p:sp>
      <p:sp>
        <p:nvSpPr>
          <p:cNvPr id="5" name="chart-unit">
            <a:extLst xmlns:a="http://schemas.openxmlformats.org/drawingml/2006/main">
              <a:ext uri="{FF2B5EF4-FFF2-40B4-BE49-F238E27FC236}">
                <a16:creationId xmlns:a16="http://schemas.microsoft.com/office/drawing/2014/main" id="{166D2AF1-6989-4B98-A499-C359700DC8C8}"/>
              </a:ext>
            </a:extLst>
          </p:cNvPr>
          <p:cNvSpPr>
            <a:spLocks xmlns:a="http://schemas.openxmlformats.org/drawingml/2006/main" noGrp="1"/>
          </p:cNvSpPr>
          <p:nvPr/>
        </p:nvSpPr>
        <p:spPr>
          <a:xfrm xmlns:a="http://schemas.openxmlformats.org/drawingml/2006/main">
            <a:off x="571500" y="1724025"/>
            <a:ext cx="657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86875"/>
                </a:solidFill>
                <a:latin typeface="Apple SD Gothic Neo"/>
                <a:ea typeface="Apple SD Gothic Neo"/>
                <a:cs typeface="Apple SD Gothic Neo"/>
              </a:defRPr>
            </a:defPPr>
          </a:lstStyle>
          <a:p xmlns:a="http://schemas.openxmlformats.org/drawingml/2006/main">
            <a:pPr>
              <a:defRPr sz="1650" b="0">
                <a:solidFill>
                  <a:srgbClr val="586875"/>
                </a:solidFill>
                <a:latin typeface="Apple SD Gothic Neo"/>
                <a:ea typeface="Apple SD Gothic Neo"/>
                <a:cs typeface="Apple SD Gothic Neo"/>
              </a:defRPr>
            </a:pPr>
            <a:r>
              <a:rPr sz="1650" b="0">
                <a:solidFill>
                  <a:srgbClr val="586875"/>
                </a:solidFill>
                <a:latin typeface="Apple SD Gothic Neo"/>
                <a:ea typeface="Apple SD Gothic Neo"/>
                <a:cs typeface="Apple SD Gothic Neo"/>
              </a:rPr>
              <a:t>8MiB 버퍼의 처리량 (GB/s)</a:t>
            </a:r>
          </a:p>
        </p:txBody>
      </p:sp>
      <p:graphicFrame>
        <p:nvGraphicFramePr>
          <p:cNvPr id="6" name="Chart">
            <a:extLst xmlns:a="http://schemas.openxmlformats.org/drawingml/2006/main">
              <a:ext uri="{FF2B5EF4-FFF2-40B4-BE49-F238E27FC236}">
                <a16:creationId xmlns:a16="http://schemas.microsoft.com/office/drawing/2014/main" id="{656068C8-D023-4E47-896C-EB4BFDF9E377}"/>
              </a:ext>
            </a:extLst>
          </p:cNvPr>
          <p:cNvGraphicFramePr/>
          <p:nvPr/>
        </p:nvGraphicFramePr>
        <p:xfrm>
          <a:off xmlns:a="http://schemas.openxmlformats.org/drawingml/2006/main" x="533400" y="2047875"/>
          <a:ext xmlns:a="http://schemas.openxmlformats.org/drawingml/2006/main" cx="6629400" cy="2686050"/>
        </p:xfrm>
        <a:graphic xmlns:a="http://schemas.openxmlformats.org/drawingml/2006/main">
          <a:graphicData uri="http://schemas.openxmlformats.org/drawingml/2006/chart">
            <c:chart xmlns:r="http://schemas.openxmlformats.org/officeDocument/2006/relationships" xmlns:c="http://schemas.openxmlformats.org/drawingml/2006/chart" r:id="R62a036668fb54a1a"/>
          </a:graphicData>
        </a:graphic>
      </p:graphicFrame>
      <p:sp>
        <p:nvSpPr>
          <p:cNvPr id="7" name="qd-effect">
            <a:extLst xmlns:a="http://schemas.openxmlformats.org/drawingml/2006/main">
              <a:ext uri="{FF2B5EF4-FFF2-40B4-BE49-F238E27FC236}">
                <a16:creationId xmlns:a16="http://schemas.microsoft.com/office/drawing/2014/main" id="{F897DEB4-D292-4256-8207-F05B6BC5233F}"/>
              </a:ext>
            </a:extLst>
          </p:cNvPr>
          <p:cNvSpPr>
            <a:spLocks xmlns:a="http://schemas.openxmlformats.org/drawingml/2006/main" noGrp="1"/>
          </p:cNvSpPr>
          <p:nvPr/>
        </p:nvSpPr>
        <p:spPr>
          <a:xfrm xmlns:a="http://schemas.openxmlformats.org/drawingml/2006/main">
            <a:off x="7572375" y="1819275"/>
            <a:ext cx="40671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6DCA"/>
                </a:solidFill>
                <a:latin typeface="Apple SD Gothic Neo"/>
                <a:ea typeface="Apple SD Gothic Neo"/>
                <a:cs typeface="Apple SD Gothic Neo"/>
              </a:defRPr>
            </a:defPPr>
          </a:lstStyle>
          <a:p xmlns:a="http://schemas.openxmlformats.org/drawingml/2006/main">
            <a:pPr>
              <a:defRPr sz="1950" b="1">
                <a:solidFill>
                  <a:srgbClr val="126DCA"/>
                </a:solidFill>
                <a:latin typeface="Apple SD Gothic Neo"/>
                <a:ea typeface="Apple SD Gothic Neo"/>
                <a:cs typeface="Apple SD Gothic Neo"/>
              </a:defRPr>
            </a:pPr>
            <a:r>
              <a:rPr sz="1950" b="1">
                <a:solidFill>
                  <a:srgbClr val="126DCA"/>
                </a:solidFill>
                <a:latin typeface="Apple SD Gothic Neo"/>
                <a:ea typeface="Apple SD Gothic Neo"/>
                <a:cs typeface="Apple SD Gothic Neo"/>
              </a:rPr>
              <a:t>QD가 작으면 준비할 요청이 부족합니다.</a:t>
            </a:r>
          </a:p>
        </p:txBody>
      </p:sp>
      <p:sp>
        <p:nvSpPr>
          <p:cNvPr id="8" name="qd-effect-2">
            <a:extLst xmlns:a="http://schemas.openxmlformats.org/drawingml/2006/main">
              <a:ext uri="{FF2B5EF4-FFF2-40B4-BE49-F238E27FC236}">
                <a16:creationId xmlns:a16="http://schemas.microsoft.com/office/drawing/2014/main" id="{F77AE18F-8842-4C78-BE27-9E5FFC22326B}"/>
              </a:ext>
            </a:extLst>
          </p:cNvPr>
          <p:cNvSpPr>
            <a:spLocks xmlns:a="http://schemas.openxmlformats.org/drawingml/2006/main" noGrp="1"/>
          </p:cNvSpPr>
          <p:nvPr/>
        </p:nvSpPr>
        <p:spPr>
          <a:xfrm xmlns:a="http://schemas.openxmlformats.org/drawingml/2006/main">
            <a:off x="7572375" y="2705100"/>
            <a:ext cx="40671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QD가 너무 크면 앞선 Port가</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공유 버퍼를 먼저 예약합니다.</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다른 Port의 실제 outstanding이</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줄면서 병렬성이 무너집니다.</a:t>
            </a:r>
          </a:p>
        </p:txBody>
      </p:sp>
      <p:sp>
        <p:nvSpPr>
          <p:cNvPr id="9" name="actual-qd-caption">
            <a:extLst xmlns:a="http://schemas.openxmlformats.org/drawingml/2006/main">
              <a:ext uri="{FF2B5EF4-FFF2-40B4-BE49-F238E27FC236}">
                <a16:creationId xmlns:a16="http://schemas.microsoft.com/office/drawing/2014/main" id="{354FD11F-094D-4935-A5AD-1F2BFA6791CC}"/>
              </a:ext>
            </a:extLst>
          </p:cNvPr>
          <p:cNvSpPr>
            <a:spLocks xmlns:a="http://schemas.openxmlformats.org/drawingml/2006/main" noGrp="1"/>
          </p:cNvSpPr>
          <p:nvPr/>
        </p:nvSpPr>
        <p:spPr>
          <a:xfrm xmlns:a="http://schemas.openxmlformats.org/drawingml/2006/main">
            <a:off x="7572375" y="4438650"/>
            <a:ext cx="4067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86875"/>
                </a:solidFill>
                <a:latin typeface="Apple SD Gothic Neo"/>
                <a:ea typeface="Apple SD Gothic Neo"/>
                <a:cs typeface="Apple SD Gothic Neo"/>
              </a:defRPr>
            </a:defPPr>
          </a:lstStyle>
          <a:p xmlns:a="http://schemas.openxmlformats.org/drawingml/2006/main">
            <a:pPr>
              <a:defRPr sz="1575" b="0">
                <a:solidFill>
                  <a:srgbClr val="586875"/>
                </a:solidFill>
                <a:latin typeface="Apple SD Gothic Neo"/>
                <a:ea typeface="Apple SD Gothic Neo"/>
                <a:cs typeface="Apple SD Gothic Neo"/>
              </a:defRPr>
            </a:pPr>
            <a:r>
              <a:rPr sz="1575" b="0">
                <a:solidFill>
                  <a:srgbClr val="586875"/>
                </a:solidFill>
                <a:latin typeface="Apple SD Gothic Neo"/>
                <a:ea typeface="Apple SD Gothic Neo"/>
                <a:cs typeface="Apple SD Gothic Neo"/>
              </a:rPr>
              <a:t>아래 표: 실제 outstanding 평균 (개)</a:t>
            </a:r>
          </a:p>
        </p:txBody>
      </p:sp>
      <p:graphicFrame>
        <p:nvGraphicFramePr>
          <p:cNvPr id="10" name="actual-qd">
            <a:extLst xmlns:a="http://schemas.openxmlformats.org/drawingml/2006/main">
              <a:ext uri="{FF2B5EF4-FFF2-40B4-BE49-F238E27FC236}">
                <a16:creationId xmlns:a16="http://schemas.microsoft.com/office/drawing/2014/main" id="{34DD9FBD-0199-4665-9F81-93AF726930D5}"/>
              </a:ext>
            </a:extLst>
          </p:cNvPr>
          <p:cNvGraphicFramePr/>
          <p:nvPr/>
        </p:nvGraphicFramePr>
        <p:xfrm>
          <a:off xmlns:a="http://schemas.openxmlformats.org/drawingml/2006/main" x="533400" y="4867275"/>
          <a:ext xmlns:a="http://schemas.openxmlformats.org/drawingml/2006/main" cx="11125200" cy="1257300"/>
        </p:xfrm>
        <a:graphic xmlns:a="http://schemas.openxmlformats.org/drawingml/2006/main">
          <a:graphicData uri="http://schemas.openxmlformats.org/drawingml/2006/table">
            <a:tbl>
              <a:tblPr/>
              <a:tblGrid>
                <a:gridCol w="2552700"/>
                <a:gridCol w="2143125"/>
                <a:gridCol w="2143125"/>
                <a:gridCol w="2143125"/>
                <a:gridCol w="2143125"/>
              </a:tblGrid>
              <a:tr h="419100">
                <a:tc>
                  <a:txBody>
                    <a:bodyPr lIns="114300" tIns="114300" rIns="114300" bIns="114300"/>
                    <a:lstStyle/>
                    <a:p>
                      <a:r>
                        <a:rPr sz="1650" b="1">
                          <a:solidFill>
                            <a:srgbClr val="FFFFFF"/>
                          </a:solidFill>
                          <a:latin typeface="Apple SD Gothic Neo"/>
                          <a:ea typeface="Apple SD Gothic Neo"/>
                          <a:cs typeface="Apple SD Gothic Neo"/>
                        </a:rPr>
                        <a:t>A1 설정 QD/Port</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0 평균</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1 평균</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2 평균</a:t>
                      </a:r>
                    </a:p>
                  </a:txBody>
                  <a:tcPr marL="133350" marR="133350" marT="95250" marB="95250" anchor="ctr">
                    <a:solidFill>
                      <a:srgbClr val="122C40"/>
                    </a:solidFill>
                  </a:tcPr>
                </a:tc>
                <a:tc>
                  <a:txBody>
                    <a:bodyPr lIns="114300" tIns="114300" rIns="114300" bIns="114300"/>
                    <a:lstStyle/>
                    <a:p>
                      <a:r>
                        <a:rPr sz="1650" b="1">
                          <a:solidFill>
                            <a:srgbClr val="FFFFFF"/>
                          </a:solidFill>
                          <a:latin typeface="Apple SD Gothic Neo"/>
                          <a:ea typeface="Apple SD Gothic Neo"/>
                          <a:cs typeface="Apple SD Gothic Neo"/>
                        </a:rPr>
                        <a:t>Port 3 평균</a:t>
                      </a:r>
                    </a:p>
                  </a:txBody>
                  <a:tcPr marL="133350" marR="133350" marT="95250" marB="95250" anchor="ctr">
                    <a:solidFill>
                      <a:srgbClr val="122C40"/>
                    </a:solidFill>
                  </a:tcPr>
                </a:tc>
              </a:tr>
              <a:tr h="419100">
                <a:tc>
                  <a:txBody>
                    <a:bodyPr lIns="114300" tIns="114300" rIns="114300" bIns="114300"/>
                    <a:lstStyle/>
                    <a:p>
                      <a:r>
                        <a:rPr sz="165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511.4</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510.6</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510.3</a:t>
                      </a:r>
                    </a:p>
                  </a:txBody>
                  <a:tcPr marL="133350" marR="133350" marT="95250" marB="95250" anchor="ctr">
                    <a:solidFill>
                      <a:srgbClr val="FFFFFF"/>
                    </a:solidFill>
                  </a:tcPr>
                </a:tc>
                <a:tc>
                  <a:txBody>
                    <a:bodyPr lIns="114300" tIns="114300" rIns="114300" bIns="114300"/>
                    <a:lstStyle/>
                    <a:p>
                      <a:r>
                        <a:rPr sz="1650" b="0">
                          <a:solidFill>
                            <a:srgbClr val="172738"/>
                          </a:solidFill>
                          <a:latin typeface="Apple SD Gothic Neo"/>
                          <a:ea typeface="Apple SD Gothic Neo"/>
                          <a:cs typeface="Apple SD Gothic Neo"/>
                        </a:rPr>
                        <a:t>474.5</a:t>
                      </a:r>
                    </a:p>
                  </a:txBody>
                  <a:tcPr marL="133350" marR="133350" marT="95250" marB="95250" anchor="ctr">
                    <a:solidFill>
                      <a:srgbClr val="FFFFFF"/>
                    </a:solidFill>
                  </a:tcPr>
                </a:tc>
              </a:tr>
              <a:tr h="419100">
                <a:tc>
                  <a:txBody>
                    <a:bodyPr lIns="114300" tIns="114300" rIns="114300" bIns="114300"/>
                    <a:lstStyle/>
                    <a:p>
                      <a:r>
                        <a:rPr sz="1650" b="0">
                          <a:solidFill>
                            <a:srgbClr val="172738"/>
                          </a:solidFill>
                          <a:latin typeface="Apple SD Gothic Neo"/>
                          <a:ea typeface="Apple SD Gothic Neo"/>
                          <a:cs typeface="Apple SD Gothic Neo"/>
                        </a:rPr>
                        <a:t>2,048</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2026.5</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c>
                  <a:txBody>
                    <a:bodyPr lIns="114300" tIns="114300" rIns="114300" bIns="114300"/>
                    <a:lstStyle/>
                    <a:p>
                      <a:r>
                        <a:rPr sz="1650" b="0">
                          <a:solidFill>
                            <a:srgbClr val="172738"/>
                          </a:solidFill>
                          <a:latin typeface="Apple SD Gothic Neo"/>
                          <a:ea typeface="Apple SD Gothic Neo"/>
                          <a:cs typeface="Apple SD Gothic Neo"/>
                        </a:rPr>
                        <a:t>1.0</a:t>
                      </a:r>
                    </a:p>
                  </a:txBody>
                  <a:tcPr marL="133350" marR="133350" marT="95250" marB="95250" anchor="ctr">
                    <a:solidFill>
                      <a:srgbClr val="F1F5F8"/>
                    </a:solidFill>
                  </a:tcPr>
                </a:tc>
              </a:tr>
            </a:tbl>
          </a:graphicData>
        </a:graphic>
      </p:graphicFrame>
    </p:spTree>
    <p:extLst>
      <p:ext uri="{BB962C8B-B14F-4D97-AF65-F5344CB8AC3E}">
        <p14:creationId xmlns:p14="http://schemas.microsoft.com/office/powerpoint/2010/main" val="44951205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FCD7E5FD-3810-4D6D-9E25-14EDC809A61C}"/>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현재 확인된 실행 기준</a:t>
            </a:r>
          </a:p>
        </p:txBody>
      </p:sp>
      <p:sp>
        <p:nvSpPr>
          <p:cNvPr id="2" name="subtitle">
            <a:extLst xmlns:a="http://schemas.openxmlformats.org/drawingml/2006/main">
              <a:ext uri="{FF2B5EF4-FFF2-40B4-BE49-F238E27FC236}">
                <a16:creationId xmlns:a16="http://schemas.microsoft.com/office/drawing/2014/main" id="{05B03926-9EE7-4FC4-9D1D-894A2C7DF615}"/>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8MiB와 QD 512/Port의 조합으로 A1/A2가 Host IF 256GB/s에 근접했습니다.</a:t>
            </a:r>
          </a:p>
        </p:txBody>
      </p:sp>
      <p:sp>
        <p:nvSpPr>
          <p:cNvPr id="3" name="footer">
            <a:extLst xmlns:a="http://schemas.openxmlformats.org/drawingml/2006/main">
              <a:ext uri="{FF2B5EF4-FFF2-40B4-BE49-F238E27FC236}">
                <a16:creationId xmlns:a16="http://schemas.microsoft.com/office/drawing/2014/main" id="{81DF4C8A-61B8-4F22-83C6-64E770175DB6}"/>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관측 범위: seed 7, 지속 부하 2.2ms. 아래 처리량은 초기 200µs를 제외한 고정 2ms 평균</a:t>
            </a:r>
          </a:p>
        </p:txBody>
      </p:sp>
      <p:sp>
        <p:nvSpPr>
          <p:cNvPr id="4" name="page">
            <a:extLst xmlns:a="http://schemas.openxmlformats.org/drawingml/2006/main">
              <a:ext uri="{FF2B5EF4-FFF2-40B4-BE49-F238E27FC236}">
                <a16:creationId xmlns:a16="http://schemas.microsoft.com/office/drawing/2014/main" id="{6DE95620-421A-40FE-BBAB-15D0262362FB}"/>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07</a:t>
            </a:r>
          </a:p>
        </p:txBody>
      </p:sp>
      <p:graphicFrame>
        <p:nvGraphicFramePr>
          <p:cNvPr id="5" name="buffer-choices">
            <a:extLst xmlns:a="http://schemas.openxmlformats.org/drawingml/2006/main">
              <a:ext uri="{FF2B5EF4-FFF2-40B4-BE49-F238E27FC236}">
                <a16:creationId xmlns:a16="http://schemas.microsoft.com/office/drawing/2014/main" id="{F7A93B15-23DD-4860-95A2-F3EF1C7C55B7}"/>
              </a:ext>
            </a:extLst>
          </p:cNvPr>
          <p:cNvGraphicFramePr/>
          <p:nvPr/>
        </p:nvGraphicFramePr>
        <p:xfrm>
          <a:off xmlns:a="http://schemas.openxmlformats.org/drawingml/2006/main" x="533400" y="1943100"/>
          <a:ext xmlns:a="http://schemas.openxmlformats.org/drawingml/2006/main" cx="7410450" cy="2171700"/>
        </p:xfrm>
        <a:graphic xmlns:a="http://schemas.openxmlformats.org/drawingml/2006/main">
          <a:graphicData uri="http://schemas.openxmlformats.org/drawingml/2006/table">
            <a:tbl>
              <a:tblPr/>
              <a:tblGrid>
                <a:gridCol w="2609850"/>
                <a:gridCol w="1562100"/>
                <a:gridCol w="1619250"/>
                <a:gridCol w="1619250"/>
              </a:tblGrid>
              <a:tr h="542925">
                <a:tc>
                  <a:txBody>
                    <a:bodyPr lIns="114300" tIns="114300" rIns="114300" bIns="114300"/>
                    <a:lstStyle/>
                    <a:p>
                      <a:r>
                        <a:rPr sz="1800" b="1">
                          <a:solidFill>
                            <a:srgbClr val="FFFFFF"/>
                          </a:solidFill>
                          <a:latin typeface="Apple SD Gothic Neo"/>
                          <a:ea typeface="Apple SD Gothic Neo"/>
                          <a:cs typeface="Apple SD Gothic Neo"/>
                        </a:rPr>
                        <a:t>Controller buffer</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QD / Port</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A1 (GB/s)</a:t>
                      </a:r>
                    </a:p>
                  </a:txBody>
                  <a:tcPr marL="133350" marR="133350" marT="95250" marB="95250" anchor="ctr">
                    <a:solidFill>
                      <a:srgbClr val="122C40"/>
                    </a:solidFill>
                  </a:tcPr>
                </a:tc>
                <a:tc>
                  <a:txBody>
                    <a:bodyPr lIns="114300" tIns="114300" rIns="114300" bIns="114300"/>
                    <a:lstStyle/>
                    <a:p>
                      <a:r>
                        <a:rPr sz="1800" b="1">
                          <a:solidFill>
                            <a:srgbClr val="FFFFFF"/>
                          </a:solidFill>
                          <a:latin typeface="Apple SD Gothic Neo"/>
                          <a:ea typeface="Apple SD Gothic Neo"/>
                          <a:cs typeface="Apple SD Gothic Neo"/>
                        </a:rPr>
                        <a:t>A2 (GB/s)</a:t>
                      </a:r>
                    </a:p>
                  </a:txBody>
                  <a:tcPr marL="133350" marR="133350" marT="95250" marB="95250" anchor="ctr">
                    <a:solidFill>
                      <a:srgbClr val="122C40"/>
                    </a:solidFill>
                  </a:tcPr>
                </a:tc>
              </a:tr>
              <a:tr h="542925">
                <a:tc>
                  <a:txBody>
                    <a:bodyPr lIns="114300" tIns="114300" rIns="114300" bIns="114300"/>
                    <a:lstStyle/>
                    <a:p>
                      <a:r>
                        <a:rPr sz="1800" b="0">
                          <a:solidFill>
                            <a:srgbClr val="172738"/>
                          </a:solidFill>
                          <a:latin typeface="Apple SD Gothic Neo"/>
                          <a:ea typeface="Apple SD Gothic Neo"/>
                          <a:cs typeface="Apple SD Gothic Neo"/>
                        </a:rPr>
                        <a:t>4MiB</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256</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234.48</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239.90</a:t>
                      </a:r>
                    </a:p>
                  </a:txBody>
                  <a:tcPr marL="133350" marR="133350" marT="95250" marB="95250" anchor="ctr">
                    <a:solidFill>
                      <a:srgbClr val="FFFFFF"/>
                    </a:solidFill>
                  </a:tcPr>
                </a:tc>
              </a:tr>
              <a:tr h="542925">
                <a:tc>
                  <a:txBody>
                    <a:bodyPr lIns="114300" tIns="114300" rIns="114300" bIns="114300"/>
                    <a:lstStyle/>
                    <a:p>
                      <a:r>
                        <a:rPr sz="1800" b="0">
                          <a:solidFill>
                            <a:srgbClr val="172738"/>
                          </a:solidFill>
                          <a:latin typeface="Apple SD Gothic Neo"/>
                          <a:ea typeface="Apple SD Gothic Neo"/>
                          <a:cs typeface="Apple SD Gothic Neo"/>
                        </a:rPr>
                        <a:t>8MiB</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1F5F8"/>
                    </a:solidFill>
                  </a:tcPr>
                </a:tc>
                <a:tc>
                  <a:txBody>
                    <a:bodyPr lIns="114300" tIns="114300" rIns="114300" bIns="114300"/>
                    <a:lstStyle/>
                    <a:p>
                      <a:r>
                        <a:rPr sz="1800" b="0">
                          <a:solidFill>
                            <a:srgbClr val="172738"/>
                          </a:solidFill>
                          <a:latin typeface="Apple SD Gothic Neo"/>
                          <a:ea typeface="Apple SD Gothic Neo"/>
                          <a:cs typeface="Apple SD Gothic Neo"/>
                        </a:rPr>
                        <a:t>255.06</a:t>
                      </a:r>
                    </a:p>
                  </a:txBody>
                  <a:tcPr marL="133350" marR="133350" marT="95250" marB="95250" anchor="ctr">
                    <a:solidFill>
                      <a:srgbClr val="F1F5F8"/>
                    </a:solidFill>
                  </a:tcPr>
                </a:tc>
              </a:tr>
              <a:tr h="542925">
                <a:tc>
                  <a:txBody>
                    <a:bodyPr lIns="114300" tIns="114300" rIns="114300" bIns="114300"/>
                    <a:lstStyle/>
                    <a:p>
                      <a:r>
                        <a:rPr sz="1800" b="0">
                          <a:solidFill>
                            <a:srgbClr val="172738"/>
                          </a:solidFill>
                          <a:latin typeface="Apple SD Gothic Neo"/>
                          <a:ea typeface="Apple SD Gothic Neo"/>
                          <a:cs typeface="Apple SD Gothic Neo"/>
                        </a:rPr>
                        <a:t>16MiB</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512</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255.37</a:t>
                      </a:r>
                    </a:p>
                  </a:txBody>
                  <a:tcPr marL="133350" marR="133350" marT="95250" marB="95250" anchor="ctr">
                    <a:solidFill>
                      <a:srgbClr val="FFFFFF"/>
                    </a:solidFill>
                  </a:tcPr>
                </a:tc>
                <a:tc>
                  <a:txBody>
                    <a:bodyPr lIns="114300" tIns="114300" rIns="114300" bIns="114300"/>
                    <a:lstStyle/>
                    <a:p>
                      <a:r>
                        <a:rPr sz="1800" b="0">
                          <a:solidFill>
                            <a:srgbClr val="172738"/>
                          </a:solidFill>
                          <a:latin typeface="Apple SD Gothic Neo"/>
                          <a:ea typeface="Apple SD Gothic Neo"/>
                          <a:cs typeface="Apple SD Gothic Neo"/>
                        </a:rPr>
                        <a:t>255.21</a:t>
                      </a:r>
                    </a:p>
                  </a:txBody>
                  <a:tcPr marL="133350" marR="133350" marT="95250" marB="95250" anchor="ctr">
                    <a:solidFill>
                      <a:srgbClr val="FFFFFF"/>
                    </a:solidFill>
                  </a:tcPr>
                </a:tc>
              </a:tr>
            </a:tbl>
          </a:graphicData>
        </a:graphic>
      </p:graphicFrame>
      <p:sp>
        <p:nvSpPr>
          <p:cNvPr id="6" name="current-configuration">
            <a:extLst xmlns:a="http://schemas.openxmlformats.org/drawingml/2006/main">
              <a:ext uri="{FF2B5EF4-FFF2-40B4-BE49-F238E27FC236}">
                <a16:creationId xmlns:a16="http://schemas.microsoft.com/office/drawing/2014/main" id="{D8F545BB-A4FC-456D-9AEA-95A4E54F644C}"/>
              </a:ext>
            </a:extLst>
          </p:cNvPr>
          <p:cNvSpPr>
            <a:spLocks xmlns:a="http://schemas.openxmlformats.org/drawingml/2006/main" noGrp="1"/>
          </p:cNvSpPr>
          <p:nvPr/>
        </p:nvSpPr>
        <p:spPr>
          <a:xfrm xmlns:a="http://schemas.openxmlformats.org/drawingml/2006/main">
            <a:off x="8382000" y="1943100"/>
            <a:ext cx="3228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공통 조건</a:t>
            </a:r>
          </a:p>
        </p:txBody>
      </p:sp>
      <p:sp>
        <p:nvSpPr>
          <p:cNvPr id="7" name="current-configuration-detail">
            <a:extLst xmlns:a="http://schemas.openxmlformats.org/drawingml/2006/main">
              <a:ext uri="{FF2B5EF4-FFF2-40B4-BE49-F238E27FC236}">
                <a16:creationId xmlns:a16="http://schemas.microsoft.com/office/drawing/2014/main" id="{600B73D1-53AC-47EB-B6EE-36F962F510B6}"/>
              </a:ext>
            </a:extLst>
          </p:cNvPr>
          <p:cNvSpPr>
            <a:spLocks xmlns:a="http://schemas.openxmlformats.org/drawingml/2006/main" noGrp="1"/>
          </p:cNvSpPr>
          <p:nvPr/>
        </p:nvSpPr>
        <p:spPr>
          <a:xfrm xmlns:a="http://schemas.openxmlformats.org/drawingml/2006/main">
            <a:off x="8382000" y="2514600"/>
            <a:ext cx="3228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4 Port, 4 Channel</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채널당 16 Plane</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영역별 L2P 배치</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PF OFF</a:t>
            </a:r>
          </a:p>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Port 내부 in-order</a:t>
            </a:r>
          </a:p>
        </p:txBody>
      </p:sp>
      <p:sp>
        <p:nvSpPr>
          <p:cNvPr id="8" name="buffer-choice-explanation">
            <a:extLst xmlns:a="http://schemas.openxmlformats.org/drawingml/2006/main">
              <a:ext uri="{FF2B5EF4-FFF2-40B4-BE49-F238E27FC236}">
                <a16:creationId xmlns:a16="http://schemas.microsoft.com/office/drawing/2014/main" id="{19911F2E-013D-4748-8204-73BB4B4F9392}"/>
              </a:ext>
            </a:extLst>
          </p:cNvPr>
          <p:cNvSpPr>
            <a:spLocks xmlns:a="http://schemas.openxmlformats.org/drawingml/2006/main" noGrp="1"/>
          </p:cNvSpPr>
          <p:nvPr/>
        </p:nvSpPr>
        <p:spPr>
          <a:xfrm xmlns:a="http://schemas.openxmlformats.org/drawingml/2006/main">
            <a:off x="571500" y="4543425"/>
            <a:ext cx="10991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738"/>
                </a:solidFill>
                <a:latin typeface="Apple SD Gothic Neo"/>
                <a:ea typeface="Apple SD Gothic Neo"/>
                <a:cs typeface="Apple SD Gothic Neo"/>
              </a:defRPr>
            </a:defPPr>
          </a:lstStyle>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측정한 조합에서는 4MiB도 200GB/s를 넘었습니다.</a:t>
            </a:r>
          </a:p>
          <a:p xmlns:a="http://schemas.openxmlformats.org/drawingml/2006/main">
            <a:pPr>
              <a:defRPr sz="1875" b="0">
                <a:solidFill>
                  <a:srgbClr val="172738"/>
                </a:solidFill>
                <a:latin typeface="Apple SD Gothic Neo"/>
                <a:ea typeface="Apple SD Gothic Neo"/>
                <a:cs typeface="Apple SD Gothic Neo"/>
              </a:defRPr>
            </a:pPr>
            <a:r>
              <a:rPr sz="1875" b="0">
                <a:solidFill>
                  <a:srgbClr val="172738"/>
                </a:solidFill>
                <a:latin typeface="Apple SD Gothic Neo"/>
                <a:ea typeface="Apple SD Gothic Neo"/>
                <a:cs typeface="Apple SD Gothic Neo"/>
              </a:rPr>
              <a:t>16MiB는 8MiB와 처리량이 비슷하므로, 현재 부하에서는 8MiB가 유효한 기준점입니다.</a:t>
            </a:r>
          </a:p>
        </p:txBody>
      </p:sp>
      <p:sp>
        <p:nvSpPr>
          <p:cNvPr id="9" name="partial-read-limit">
            <a:extLst xmlns:a="http://schemas.openxmlformats.org/drawingml/2006/main">
              <a:ext uri="{FF2B5EF4-FFF2-40B4-BE49-F238E27FC236}">
                <a16:creationId xmlns:a16="http://schemas.microsoft.com/office/drawing/2014/main" id="{B12A930A-8487-482A-8680-5CA8E1FAB55A}"/>
              </a:ext>
            </a:extLst>
          </p:cNvPr>
          <p:cNvSpPr>
            <a:spLocks xmlns:a="http://schemas.openxmlformats.org/drawingml/2006/main" noGrp="1"/>
          </p:cNvSpPr>
          <p:nvPr/>
        </p:nvSpPr>
        <p:spPr>
          <a:xfrm xmlns:a="http://schemas.openxmlformats.org/drawingml/2006/main">
            <a:off x="571500" y="5505450"/>
            <a:ext cx="11001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86875"/>
                </a:solidFill>
                <a:latin typeface="Apple SD Gothic Neo"/>
                <a:ea typeface="Apple SD Gothic Neo"/>
                <a:cs typeface="Apple SD Gothic Neo"/>
              </a:defRPr>
            </a:defPPr>
          </a:lstStyle>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64B 부분 읽기 B1/B2는 같은 8MiB·QD512에서 약 4GB/s입니다.</a:t>
            </a:r>
          </a:p>
          <a:p xmlns:a="http://schemas.openxmlformats.org/drawingml/2006/main">
            <a:pPr>
              <a:defRPr sz="1725" b="0">
                <a:solidFill>
                  <a:srgbClr val="586875"/>
                </a:solidFill>
                <a:latin typeface="Apple SD Gothic Neo"/>
                <a:ea typeface="Apple SD Gothic Neo"/>
                <a:cs typeface="Apple SD Gothic Neo"/>
              </a:defRPr>
            </a:pPr>
            <a:r>
              <a:rPr sz="1725" b="0">
                <a:solidFill>
                  <a:srgbClr val="586875"/>
                </a:solidFill>
                <a:latin typeface="Apple SD Gothic Neo"/>
                <a:ea typeface="Apple SD Gothic Neo"/>
                <a:cs typeface="Apple SD Gothic Neo"/>
              </a:rPr>
              <a:t>현재 모델의 전체 16KiB NAND 전송 중 유효 데이터가 256B여서, A의 수치를 그대로 적용할 수 없습니다.</a:t>
            </a:r>
          </a:p>
        </p:txBody>
      </p:sp>
    </p:spTree>
    <p:extLst>
      <p:ext uri="{BB962C8B-B14F-4D97-AF65-F5344CB8AC3E}">
        <p14:creationId xmlns:p14="http://schemas.microsoft.com/office/powerpoint/2010/main" val="9620322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15CD16D7-8B6F-4F6B-8638-80FF441987E2}"/>
              </a:ext>
            </a:extLst>
          </p:cNvPr>
          <p:cNvSpPr>
            <a:spLocks xmlns:a="http://schemas.openxmlformats.org/drawingml/2006/main" noGrp="1"/>
          </p:cNvSpPr>
          <p:nvPr/>
        </p:nvSpPr>
        <p:spPr>
          <a:xfrm xmlns:a="http://schemas.openxmlformats.org/drawingml/2006/main">
            <a:off x="533400" y="438150"/>
            <a:ext cx="111252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72738"/>
                </a:solidFill>
                <a:latin typeface="Apple SD Gothic Neo"/>
                <a:ea typeface="Apple SD Gothic Neo"/>
                <a:cs typeface="Apple SD Gothic Neo"/>
              </a:defRPr>
            </a:defPPr>
          </a:lstStyle>
          <a:p xmlns:a="http://schemas.openxmlformats.org/drawingml/2006/main">
            <a:pPr>
              <a:defRPr sz="3300" b="1">
                <a:solidFill>
                  <a:srgbClr val="172738"/>
                </a:solidFill>
                <a:latin typeface="Apple SD Gothic Neo"/>
                <a:ea typeface="Apple SD Gothic Neo"/>
                <a:cs typeface="Apple SD Gothic Neo"/>
              </a:defRPr>
            </a:pPr>
            <a:r>
              <a:rPr sz="3300" b="1">
                <a:solidFill>
                  <a:srgbClr val="172738"/>
                </a:solidFill>
                <a:latin typeface="Apple SD Gothic Neo"/>
                <a:ea typeface="Apple SD Gothic Neo"/>
                <a:cs typeface="Apple SD Gothic Neo"/>
              </a:rPr>
              <a:t>비교 조건과 적용 범위</a:t>
            </a:r>
          </a:p>
        </p:txBody>
      </p:sp>
      <p:sp>
        <p:nvSpPr>
          <p:cNvPr id="2" name="subtitle">
            <a:extLst xmlns:a="http://schemas.openxmlformats.org/drawingml/2006/main">
              <a:ext uri="{FF2B5EF4-FFF2-40B4-BE49-F238E27FC236}">
                <a16:creationId xmlns:a16="http://schemas.microsoft.com/office/drawing/2014/main" id="{304E4617-B0D3-401D-923F-DAD43B3BBA9E}"/>
              </a:ext>
            </a:extLst>
          </p:cNvPr>
          <p:cNvSpPr>
            <a:spLocks xmlns:a="http://schemas.openxmlformats.org/drawingml/2006/main" noGrp="1"/>
          </p:cNvSpPr>
          <p:nvPr/>
        </p:nvSpPr>
        <p:spPr>
          <a:xfrm xmlns:a="http://schemas.openxmlformats.org/drawingml/2006/main">
            <a:off x="552450" y="110490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각 실험 안의 전후 비교로 효과를 판단하고, 서로 다른 실험의 증가율은 합산하지 않습니다.</a:t>
            </a:r>
          </a:p>
        </p:txBody>
      </p:sp>
      <p:sp>
        <p:nvSpPr>
          <p:cNvPr id="3" name="footer">
            <a:extLst xmlns:a="http://schemas.openxmlformats.org/drawingml/2006/main">
              <a:ext uri="{FF2B5EF4-FFF2-40B4-BE49-F238E27FC236}">
                <a16:creationId xmlns:a16="http://schemas.microsoft.com/office/drawing/2014/main" id="{2AB2869C-5D9C-416D-88BC-ED232D5883C7}"/>
              </a:ext>
            </a:extLst>
          </p:cNvPr>
          <p:cNvSpPr>
            <a:spLocks xmlns:a="http://schemas.openxmlformats.org/drawingml/2006/main" noGrp="1"/>
          </p:cNvSpPr>
          <p:nvPr/>
        </p:nvSpPr>
        <p:spPr>
          <a:xfrm xmlns:a="http://schemas.openxmlformats.org/drawingml/2006/main">
            <a:off x="533400" y="64198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원자료 기준 커밋: 22d9b33    상세 경로와 설명은 슬라이드 노트 및 동봉 문서 참조</a:t>
            </a:r>
          </a:p>
        </p:txBody>
      </p:sp>
      <p:sp>
        <p:nvSpPr>
          <p:cNvPr id="4" name="page">
            <a:extLst xmlns:a="http://schemas.openxmlformats.org/drawingml/2006/main">
              <a:ext uri="{FF2B5EF4-FFF2-40B4-BE49-F238E27FC236}">
                <a16:creationId xmlns:a16="http://schemas.microsoft.com/office/drawing/2014/main" id="{0531BC2D-3928-473A-AE75-C3A20DFD6013}"/>
              </a:ext>
            </a:extLst>
          </p:cNvPr>
          <p:cNvSpPr>
            <a:spLocks xmlns:a="http://schemas.openxmlformats.org/drawingml/2006/main" noGrp="1"/>
          </p:cNvSpPr>
          <p:nvPr/>
        </p:nvSpPr>
        <p:spPr>
          <a:xfrm xmlns:a="http://schemas.openxmlformats.org/drawingml/2006/main">
            <a:off x="11144250" y="6419850"/>
            <a:ext cx="49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86875"/>
                </a:solidFill>
                <a:latin typeface="Apple SD Gothic Neo"/>
                <a:ea typeface="Apple SD Gothic Neo"/>
                <a:cs typeface="Apple SD Gothic Neo"/>
              </a:defRPr>
            </a:defPPr>
          </a:lstStyle>
          <a:p xmlns:a="http://schemas.openxmlformats.org/drawingml/2006/main">
            <a:pPr>
              <a:defRPr sz="1200" b="0">
                <a:solidFill>
                  <a:srgbClr val="586875"/>
                </a:solidFill>
                <a:latin typeface="Apple SD Gothic Neo"/>
                <a:ea typeface="Apple SD Gothic Neo"/>
                <a:cs typeface="Apple SD Gothic Neo"/>
              </a:defRPr>
            </a:pPr>
            <a:r>
              <a:rPr sz="1200" b="0">
                <a:solidFill>
                  <a:srgbClr val="586875"/>
                </a:solidFill>
                <a:latin typeface="Apple SD Gothic Neo"/>
                <a:ea typeface="Apple SD Gothic Neo"/>
                <a:cs typeface="Apple SD Gothic Neo"/>
              </a:rPr>
              <a:t>08</a:t>
            </a:r>
          </a:p>
        </p:txBody>
      </p:sp>
      <p:graphicFrame>
        <p:nvGraphicFramePr>
          <p:cNvPr id="5" name="comparison-contract">
            <a:extLst xmlns:a="http://schemas.openxmlformats.org/drawingml/2006/main">
              <a:ext uri="{FF2B5EF4-FFF2-40B4-BE49-F238E27FC236}">
                <a16:creationId xmlns:a16="http://schemas.microsoft.com/office/drawing/2014/main" id="{66098466-40BC-4C18-A3F0-7C69F6143752}"/>
              </a:ext>
            </a:extLst>
          </p:cNvPr>
          <p:cNvGraphicFramePr/>
          <p:nvPr/>
        </p:nvGraphicFramePr>
        <p:xfrm>
          <a:off xmlns:a="http://schemas.openxmlformats.org/drawingml/2006/main" x="533400" y="1866900"/>
          <a:ext xmlns:a="http://schemas.openxmlformats.org/drawingml/2006/main" cx="11125200" cy="2171700"/>
        </p:xfrm>
        <a:graphic xmlns:a="http://schemas.openxmlformats.org/drawingml/2006/main">
          <a:graphicData uri="http://schemas.openxmlformats.org/drawingml/2006/table">
            <a:tbl>
              <a:tblPr/>
              <a:tblGrid>
                <a:gridCol w="2590800"/>
                <a:gridCol w="4457700"/>
                <a:gridCol w="4076700"/>
              </a:tblGrid>
              <a:tr h="542925">
                <a:tc>
                  <a:txBody>
                    <a:bodyPr lIns="114300" tIns="114300" rIns="114300" bIns="114300"/>
                    <a:lstStyle/>
                    <a:p>
                      <a:r>
                        <a:rPr sz="1725" b="1">
                          <a:solidFill>
                            <a:srgbClr val="FFFFFF"/>
                          </a:solidFill>
                          <a:latin typeface="Apple SD Gothic Neo"/>
                          <a:ea typeface="Apple SD Gothic Neo"/>
                          <a:cs typeface="Apple SD Gothic Neo"/>
                        </a:rPr>
                        <a:t>자료의 비교</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측정 방식</a:t>
                      </a:r>
                    </a:p>
                  </a:txBody>
                  <a:tcPr marL="133350" marR="133350" marT="95250" marB="95250" anchor="ctr">
                    <a:solidFill>
                      <a:srgbClr val="122C40"/>
                    </a:solidFill>
                  </a:tcPr>
                </a:tc>
                <a:tc>
                  <a:txBody>
                    <a:bodyPr lIns="114300" tIns="114300" rIns="114300" bIns="114300"/>
                    <a:lstStyle/>
                    <a:p>
                      <a:r>
                        <a:rPr sz="1725" b="1">
                          <a:solidFill>
                            <a:srgbClr val="FFFFFF"/>
                          </a:solidFill>
                          <a:latin typeface="Apple SD Gothic Neo"/>
                          <a:ea typeface="Apple SD Gothic Neo"/>
                          <a:cs typeface="Apple SD Gothic Neo"/>
                        </a:rPr>
                        <a:t>구분할 조건</a:t>
                      </a:r>
                    </a:p>
                  </a:txBody>
                  <a:tcPr marL="133350" marR="133350" marT="95250" marB="95250" anchor="ctr">
                    <a:solidFill>
                      <a:srgbClr val="122C40"/>
                    </a:solidFill>
                  </a:tcPr>
                </a:tc>
              </a:tr>
              <a:tr h="542925">
                <a:tc>
                  <a:txBody>
                    <a:bodyPr lIns="114300" tIns="114300" rIns="114300" bIns="114300"/>
                    <a:lstStyle/>
                    <a:p>
                      <a:r>
                        <a:rPr sz="1725" b="0">
                          <a:solidFill>
                            <a:srgbClr val="172738"/>
                          </a:solidFill>
                          <a:latin typeface="Apple SD Gothic Neo"/>
                          <a:ea typeface="Apple SD Gothic Neo"/>
                          <a:cs typeface="Apple SD Gothic Neo"/>
                        </a:rPr>
                        <a:t>1. CA 스케줄링</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32 Plane, PF ON</a:t>
                      </a:r>
                    </a:p>
                  </a:txBody>
                  <a:tcPr marL="133350" marR="133350" marT="95250" marB="95250" anchor="ctr">
                    <a:solidFill>
                      <a:srgbClr val="FFFFFF"/>
                    </a:solidFill>
                  </a:tcPr>
                </a:tc>
              </a:tr>
              <a:tr h="542925">
                <a:tc>
                  <a:txBody>
                    <a:bodyPr lIns="114300" tIns="114300" rIns="114300" bIns="114300"/>
                    <a:lstStyle/>
                    <a:p>
                      <a:r>
                        <a:rPr sz="1725" b="0">
                          <a:solidFill>
                            <a:srgbClr val="172738"/>
                          </a:solidFill>
                          <a:latin typeface="Apple SD Gothic Neo"/>
                          <a:ea typeface="Apple SD Gothic Neo"/>
                          <a:cs typeface="Apple SD Gothic Neo"/>
                        </a:rPr>
                        <a:t>2. Plane과 배치</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8,192요청/Port의 전체 완료 평균</a:t>
                      </a:r>
                    </a:p>
                  </a:txBody>
                  <a:tcPr marL="133350" marR="133350" marT="95250" marB="95250" anchor="ctr">
                    <a:solidFill>
                      <a:srgbClr val="F1F5F8"/>
                    </a:solidFill>
                  </a:tcPr>
                </a:tc>
                <a:tc>
                  <a:txBody>
                    <a:bodyPr lIns="114300" tIns="114300" rIns="114300" bIns="114300"/>
                    <a:lstStyle/>
                    <a:p>
                      <a:r>
                        <a:rPr sz="1725" b="0">
                          <a:solidFill>
                            <a:srgbClr val="172738"/>
                          </a:solidFill>
                          <a:latin typeface="Apple SD Gothic Neo"/>
                          <a:ea typeface="Apple SD Gothic Neo"/>
                          <a:cs typeface="Apple SD Gothic Neo"/>
                        </a:rPr>
                        <a:t>32/64 Plane, PF OFF</a:t>
                      </a:r>
                    </a:p>
                  </a:txBody>
                  <a:tcPr marL="133350" marR="133350" marT="95250" marB="95250" anchor="ctr">
                    <a:solidFill>
                      <a:srgbClr val="F1F5F8"/>
                    </a:solidFill>
                  </a:tcPr>
                </a:tc>
              </a:tr>
              <a:tr h="542925">
                <a:tc>
                  <a:txBody>
                    <a:bodyPr lIns="114300" tIns="114300" rIns="114300" bIns="114300"/>
                    <a:lstStyle/>
                    <a:p>
                      <a:r>
                        <a:rPr sz="1725" b="0">
                          <a:solidFill>
                            <a:srgbClr val="172738"/>
                          </a:solidFill>
                          <a:latin typeface="Apple SD Gothic Neo"/>
                          <a:ea typeface="Apple SD Gothic Neo"/>
                          <a:cs typeface="Apple SD Gothic Neo"/>
                        </a:rPr>
                        <a:t>3. 버퍼와 QD</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지속 공급 중 고정 2ms 평균</a:t>
                      </a:r>
                    </a:p>
                  </a:txBody>
                  <a:tcPr marL="133350" marR="133350" marT="95250" marB="95250" anchor="ctr">
                    <a:solidFill>
                      <a:srgbClr val="FFFFFF"/>
                    </a:solidFill>
                  </a:tcPr>
                </a:tc>
                <a:tc>
                  <a:txBody>
                    <a:bodyPr lIns="114300" tIns="114300" rIns="114300" bIns="114300"/>
                    <a:lstStyle/>
                    <a:p>
                      <a:r>
                        <a:rPr sz="1725" b="0">
                          <a:solidFill>
                            <a:srgbClr val="172738"/>
                          </a:solidFill>
                          <a:latin typeface="Apple SD Gothic Neo"/>
                          <a:ea typeface="Apple SD Gothic Neo"/>
                          <a:cs typeface="Apple SD Gothic Neo"/>
                        </a:rPr>
                        <a:t>64 Plane, PF OFF, 종료 drain 제외</a:t>
                      </a:r>
                    </a:p>
                  </a:txBody>
                  <a:tcPr marL="133350" marR="133350" marT="95250" marB="95250" anchor="ctr">
                    <a:solidFill>
                      <a:srgbClr val="FFFFFF"/>
                    </a:solidFill>
                  </a:tcPr>
                </a:tc>
              </a:tr>
            </a:tbl>
          </a:graphicData>
        </a:graphic>
      </p:graphicFrame>
      <p:sp>
        <p:nvSpPr>
          <p:cNvPr id="6" name="tr-preserved">
            <a:extLst xmlns:a="http://schemas.openxmlformats.org/drawingml/2006/main">
              <a:ext uri="{FF2B5EF4-FFF2-40B4-BE49-F238E27FC236}">
                <a16:creationId xmlns:a16="http://schemas.microsoft.com/office/drawing/2014/main" id="{B1D40A1F-2900-491D-9302-C81FA23E39C6}"/>
              </a:ext>
            </a:extLst>
          </p:cNvPr>
          <p:cNvSpPr>
            <a:spLocks xmlns:a="http://schemas.openxmlformats.org/drawingml/2006/main" noGrp="1"/>
          </p:cNvSpPr>
          <p:nvPr/>
        </p:nvSpPr>
        <p:spPr>
          <a:xfrm xmlns:a="http://schemas.openxmlformats.org/drawingml/2006/main">
            <a:off x="571500" y="43815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6DCA"/>
                </a:solidFill>
                <a:latin typeface="Apple SD Gothic Neo"/>
                <a:ea typeface="Apple SD Gothic Neo"/>
                <a:cs typeface="Apple SD Gothic Neo"/>
              </a:defRPr>
            </a:defPPr>
          </a:lstStyle>
          <a:p xmlns:a="http://schemas.openxmlformats.org/drawingml/2006/main">
            <a:pPr>
              <a:defRPr sz="2100" b="1">
                <a:solidFill>
                  <a:srgbClr val="126DCA"/>
                </a:solidFill>
                <a:latin typeface="Apple SD Gothic Neo"/>
                <a:ea typeface="Apple SD Gothic Neo"/>
                <a:cs typeface="Apple SD Gothic Neo"/>
              </a:defRPr>
            </a:pPr>
            <a:r>
              <a:rPr sz="2100" b="1">
                <a:solidFill>
                  <a:srgbClr val="126DCA"/>
                </a:solidFill>
                <a:latin typeface="Apple SD Gothic Neo"/>
                <a:ea typeface="Apple SD Gothic Neo"/>
                <a:cs typeface="Apple SD Gothic Neo"/>
              </a:rPr>
              <a:t>유지한 tR 입력값</a:t>
            </a:r>
          </a:p>
        </p:txBody>
      </p:sp>
      <p:sp>
        <p:nvSpPr>
          <p:cNvPr id="7" name="tr-values">
            <a:extLst xmlns:a="http://schemas.openxmlformats.org/drawingml/2006/main">
              <a:ext uri="{FF2B5EF4-FFF2-40B4-BE49-F238E27FC236}">
                <a16:creationId xmlns:a16="http://schemas.microsoft.com/office/drawing/2014/main" id="{4E63B78C-F286-42EB-908F-5640C596BBB1}"/>
              </a:ext>
            </a:extLst>
          </p:cNvPr>
          <p:cNvSpPr>
            <a:spLocks xmlns:a="http://schemas.openxmlformats.org/drawingml/2006/main" noGrp="1"/>
          </p:cNvSpPr>
          <p:nvPr/>
        </p:nvSpPr>
        <p:spPr>
          <a:xfrm xmlns:a="http://schemas.openxmlformats.org/drawingml/2006/main">
            <a:off x="571500" y="48768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72738"/>
                </a:solidFill>
                <a:latin typeface="Apple SD Gothic Neo"/>
                <a:ea typeface="Apple SD Gothic Neo"/>
                <a:cs typeface="Apple SD Gothic Neo"/>
              </a:defRPr>
            </a:defPPr>
          </a:lstStyle>
          <a:p xmlns:a="http://schemas.openxmlformats.org/drawingml/2006/main">
            <a:pPr>
              <a:defRPr sz="1800" b="0">
                <a:solidFill>
                  <a:srgbClr val="172738"/>
                </a:solidFill>
                <a:latin typeface="Apple SD Gothic Neo"/>
                <a:ea typeface="Apple SD Gothic Neo"/>
                <a:cs typeface="Apple SD Gothic Neo"/>
              </a:defRPr>
            </a:pPr>
            <a:r>
              <a:rPr sz="1800" b="0">
                <a:solidFill>
                  <a:srgbClr val="172738"/>
                </a:solidFill>
                <a:latin typeface="Apple SD Gothic Neo"/>
                <a:ea typeface="Apple SD Gothic Neo"/>
                <a:cs typeface="Apple SD Gothic Neo"/>
              </a:rPr>
              <a:t>Short 2.00µs    Mid 2.08µs    Long 12.16µs    First / Group 20.69µs</a:t>
            </a:r>
          </a:p>
        </p:txBody>
      </p:sp>
      <p:sp>
        <p:nvSpPr>
          <p:cNvPr id="8" name="limits">
            <a:extLst xmlns:a="http://schemas.openxmlformats.org/drawingml/2006/main">
              <a:ext uri="{FF2B5EF4-FFF2-40B4-BE49-F238E27FC236}">
                <a16:creationId xmlns:a16="http://schemas.microsoft.com/office/drawing/2014/main" id="{C82548F4-A5DB-4B0B-B6AA-5873527619CF}"/>
              </a:ext>
            </a:extLst>
          </p:cNvPr>
          <p:cNvSpPr>
            <a:spLocks xmlns:a="http://schemas.openxmlformats.org/drawingml/2006/main" noGrp="1"/>
          </p:cNvSpPr>
          <p:nvPr/>
        </p:nvSpPr>
        <p:spPr>
          <a:xfrm xmlns:a="http://schemas.openxmlformats.org/drawingml/2006/main">
            <a:off x="571500" y="55149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86875"/>
                </a:solidFill>
                <a:latin typeface="Apple SD Gothic Neo"/>
                <a:ea typeface="Apple SD Gothic Neo"/>
                <a:cs typeface="Apple SD Gothic Neo"/>
              </a:defRPr>
            </a:defPPr>
          </a:lstStyle>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가용률 85%와 Port 내부 순서 제약을 유지한 모델 결과입니다.</a:t>
            </a:r>
          </a:p>
          <a:p xmlns:a="http://schemas.openxmlformats.org/drawingml/2006/main">
            <a:pPr>
              <a:defRPr sz="1800" b="0">
                <a:solidFill>
                  <a:srgbClr val="586875"/>
                </a:solidFill>
                <a:latin typeface="Apple SD Gothic Neo"/>
                <a:ea typeface="Apple SD Gothic Neo"/>
                <a:cs typeface="Apple SD Gothic Neo"/>
              </a:defRPr>
            </a:pPr>
            <a:r>
              <a:rPr sz="1800" b="0">
                <a:solidFill>
                  <a:srgbClr val="586875"/>
                </a:solidFill>
                <a:latin typeface="Apple SD Gothic Neo"/>
                <a:ea typeface="Apple SD Gothic Neo"/>
                <a:cs typeface="Apple SD Gothic Neo"/>
              </a:rPr>
              <a:t>다른 주소 편향, 동적 L2P, 실제 GC 및 Die/LUN 공유 자원은 별도 검증이 필요합니다.</a:t>
            </a:r>
          </a:p>
        </p:txBody>
      </p:sp>
    </p:spTree>
    <p:extLst>
      <p:ext uri="{BB962C8B-B14F-4D97-AF65-F5344CB8AC3E}">
        <p14:creationId xmlns:p14="http://schemas.microsoft.com/office/powerpoint/2010/main" val="18977847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2026-10-11T00:25:17.3340000Z</dcterms:created>
  <dcterms:modified xsi:type="dcterms:W3CDTF">2026-10-11T00:25:17.3340000Z</dcterms:modified>
</coreProperties>
</file>