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Masters/slideMaster2.xml" ContentType="application/vnd.openxmlformats-officedocument.presentationml.slideMaster+xml"/>
  <Override PartName="/ppt/slideMasters/theme/theme3.xml" ContentType="application/vnd.openxmlformats-officedocument.theme+xml"/>
  <Override PartName="/ppt/slideMasters/slideMaster3.xml" ContentType="application/vnd.openxmlformats-officedocument.presentationml.slideMaster+xml"/>
  <Override PartName="/ppt/slideMasters/theme/theme4.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notesMasters/notesMaster1.xml" ContentType="application/vnd.openxmlformats-officedocument.presentationml.notesMaster+xml"/>
  <Override PartName="/ppt/notesMasters/theme/theme5.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2.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slides/charts/chart3.xml" ContentType="application/vnd.openxmlformats-officedocument.drawingml.chart+xml"/>
  <Override PartName="/ppt/slides/charts/chart4.xml" ContentType="application/vnd.openxmlformats-officedocument.drawingml.chart+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143bd5b5aeb74390" /><Relationship Type="http://schemas.openxmlformats.org/officeDocument/2006/relationships/extended-properties" Target="/docProps/app.xml" Id="R37248fc0138c4da6" /><Relationship Type="http://schemas.openxmlformats.org/officeDocument/2006/relationships/officeDocument" Target="/ppt/presentation.xml" Id="Rfd8990bf0ee645de" /></Relationships>
</file>

<file path=ppt/presentation.xml><?xml version="1.0" encoding="utf-8"?>
<p:presentation xmlns:p="http://schemas.openxmlformats.org/presentationml/2006/main">
  <p:sldMasterIdLst>
    <p:sldMasterId xmlns:r="http://schemas.openxmlformats.org/officeDocument/2006/relationships" id="2147483648" r:id="R756ef67b64d7420d"/>
    <p:sldMasterId xmlns:r="http://schemas.openxmlformats.org/officeDocument/2006/relationships" id="2147483655" r:id="R3274f96b58b34d9b"/>
    <p:sldMasterId xmlns:r="http://schemas.openxmlformats.org/officeDocument/2006/relationships" id="2147483662" r:id="Rf048b92753704cee"/>
  </p:sldMasterIdLst>
  <p:notesMasterIdLst>
    <p:notesMasterId xmlns:r="http://schemas.openxmlformats.org/officeDocument/2006/relationships" r:id="Rd227f6bdad7740d2"/>
  </p:notesMasterIdLst>
  <p:sldIdLst>
    <p:sldId xmlns:r="http://schemas.openxmlformats.org/officeDocument/2006/relationships" id="256" r:id="Raebbc3e1df0e4b9b"/>
    <p:sldId xmlns:r="http://schemas.openxmlformats.org/officeDocument/2006/relationships" id="257" r:id="R47e4ec2e9f534524"/>
    <p:sldId xmlns:r="http://schemas.openxmlformats.org/officeDocument/2006/relationships" id="258" r:id="R3ea949502c0e4bff"/>
    <p:sldId xmlns:r="http://schemas.openxmlformats.org/officeDocument/2006/relationships" id="259" r:id="Rb199b287be674082"/>
    <p:sldId xmlns:r="http://schemas.openxmlformats.org/officeDocument/2006/relationships" id="260" r:id="R203e0a42316049ec"/>
    <p:sldId xmlns:r="http://schemas.openxmlformats.org/officeDocument/2006/relationships" id="261" r:id="R96f6a52be38a4c69"/>
    <p:sldId xmlns:r="http://schemas.openxmlformats.org/officeDocument/2006/relationships" id="262" r:id="Rf1f33a9bce3f4f4e"/>
    <p:sldId xmlns:r="http://schemas.openxmlformats.org/officeDocument/2006/relationships" id="263" r:id="Rac79490774cc43a1"/>
    <p:sldId xmlns:r="http://schemas.openxmlformats.org/officeDocument/2006/relationships" id="264" r:id="R457a29a41f324c26"/>
    <p:sldId xmlns:r="http://schemas.openxmlformats.org/officeDocument/2006/relationships" id="265" r:id="R3ab2e22a11f4493b"/>
    <p:sldId xmlns:r="http://schemas.openxmlformats.org/officeDocument/2006/relationships" id="266" r:id="R55b69e96e4444337"/>
    <p:sldId xmlns:r="http://schemas.openxmlformats.org/officeDocument/2006/relationships" id="267" r:id="Rfdb6a5e1822948bc"/>
    <p:sldId xmlns:r="http://schemas.openxmlformats.org/officeDocument/2006/relationships" id="268" r:id="R98d28590ba0c42cb"/>
    <p:sldId xmlns:r="http://schemas.openxmlformats.org/officeDocument/2006/relationships" id="269" r:id="R9a41aa74c49c4a62"/>
    <p:sldId xmlns:r="http://schemas.openxmlformats.org/officeDocument/2006/relationships" id="270" r:id="Rbe1085b952ed47fd"/>
    <p:sldId xmlns:r="http://schemas.openxmlformats.org/officeDocument/2006/relationships" id="271" r:id="R23897350fcd04097"/>
    <p:sldId xmlns:r="http://schemas.openxmlformats.org/officeDocument/2006/relationships" id="272" r:id="R408f168139214777"/>
  </p:sldIdLst>
  <p:sldSz cx="12192000" cy="6858000"/>
  <p:notesSz cx="6858000" cy="9144000"/>
  <p:defaultTextStyle>
    <a:defPPr xmlns:a="http://schemas.openxmlformats.org/drawingml/2006/main">
      <a:buNone/>
    </a:defPPr>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169a8ea91907430d" /><Relationship Type="http://schemas.openxmlformats.org/officeDocument/2006/relationships/slideMaster" Target="/ppt/slideMasters/slideMaster1.xml" Id="R756ef67b64d7420d" /><Relationship Type="http://schemas.openxmlformats.org/officeDocument/2006/relationships/slideMaster" Target="/ppt/slideMasters/slideMaster2.xml" Id="R3274f96b58b34d9b" /><Relationship Type="http://schemas.openxmlformats.org/officeDocument/2006/relationships/slideMaster" Target="/ppt/slideMasters/slideMaster3.xml" Id="Rf048b92753704cee" /><Relationship Type="http://schemas.openxmlformats.org/officeDocument/2006/relationships/notesMaster" Target="/ppt/notesMasters/notesMaster1.xml" Id="Rd227f6bdad7740d2" /><Relationship Type="http://schemas.openxmlformats.org/officeDocument/2006/relationships/presProps" Target="/ppt/presProps.xml" Id="Rb8cb8787affe4bb8" /><Relationship Type="http://schemas.openxmlformats.org/officeDocument/2006/relationships/viewProps" Target="/ppt/viewProps.xml" Id="Rf5c0cd7794054316" /><Relationship Type="http://schemas.openxmlformats.org/officeDocument/2006/relationships/tableStyles" Target="/ppt/tableStyles.xml" Id="R5ebd7e14c6eb4861" /><Relationship Type="http://schemas.openxmlformats.org/officeDocument/2006/relationships/slide" Target="/ppt/slides/slide1.xml" Id="Raebbc3e1df0e4b9b" /><Relationship Type="http://schemas.openxmlformats.org/officeDocument/2006/relationships/slide" Target="/ppt/slides/slide2.xml" Id="R47e4ec2e9f534524" /><Relationship Type="http://schemas.openxmlformats.org/officeDocument/2006/relationships/slide" Target="/ppt/slides/slide3.xml" Id="R3ea949502c0e4bff" /><Relationship Type="http://schemas.openxmlformats.org/officeDocument/2006/relationships/slide" Target="/ppt/slides/slide4.xml" Id="Rb199b287be674082" /><Relationship Type="http://schemas.openxmlformats.org/officeDocument/2006/relationships/slide" Target="/ppt/slides/slide5.xml" Id="R203e0a42316049ec" /><Relationship Type="http://schemas.openxmlformats.org/officeDocument/2006/relationships/slide" Target="/ppt/slides/slide6.xml" Id="R96f6a52be38a4c69" /><Relationship Type="http://schemas.openxmlformats.org/officeDocument/2006/relationships/slide" Target="/ppt/slides/slide7.xml" Id="Rf1f33a9bce3f4f4e" /><Relationship Type="http://schemas.openxmlformats.org/officeDocument/2006/relationships/slide" Target="/ppt/slides/slide8.xml" Id="Rac79490774cc43a1" /><Relationship Type="http://schemas.openxmlformats.org/officeDocument/2006/relationships/slide" Target="/ppt/slides/slide9.xml" Id="R457a29a41f324c26" /><Relationship Type="http://schemas.openxmlformats.org/officeDocument/2006/relationships/slide" Target="/ppt/slides/slide10.xml" Id="R3ab2e22a11f4493b" /><Relationship Type="http://schemas.openxmlformats.org/officeDocument/2006/relationships/slide" Target="/ppt/slides/slide11.xml" Id="R55b69e96e4444337" /><Relationship Type="http://schemas.openxmlformats.org/officeDocument/2006/relationships/slide" Target="/ppt/slides/slide12.xml" Id="Rfdb6a5e1822948bc" /><Relationship Type="http://schemas.openxmlformats.org/officeDocument/2006/relationships/slide" Target="/ppt/slides/slide13.xml" Id="R98d28590ba0c42cb" /><Relationship Type="http://schemas.openxmlformats.org/officeDocument/2006/relationships/slide" Target="/ppt/slides/slide14.xml" Id="R9a41aa74c49c4a62" /><Relationship Type="http://schemas.openxmlformats.org/officeDocument/2006/relationships/slide" Target="/ppt/slides/slide15.xml" Id="Rbe1085b952ed47fd" /><Relationship Type="http://schemas.openxmlformats.org/officeDocument/2006/relationships/slide" Target="/ppt/slides/slide16.xml" Id="R23897350fcd04097" /><Relationship Type="http://schemas.openxmlformats.org/officeDocument/2006/relationships/slide" Target="/ppt/slides/slide17.xml" Id="R408f16813921477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5.xml" Id="R71239b3be90b4a0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5.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922f99ba3dc476d" /><Relationship Type="http://schemas.openxmlformats.org/officeDocument/2006/relationships/notesMaster" Target="/ppt/notesMasters/notesMaster1.xml" Id="R833ef4c0d0e946cc" /></Relationships>
</file>

<file path=ppt/notesSlides/_rels/notesSlide2.xml.rels>&#65279;<?xml version="1.0" encoding="utf-8"?><Relationships xmlns="http://schemas.openxmlformats.org/package/2006/relationships"><Relationship Type="http://schemas.openxmlformats.org/officeDocument/2006/relationships/slide" Target="/ppt/slides/slide2.xml" Id="R8499d55c728047fc" /><Relationship Type="http://schemas.openxmlformats.org/officeDocument/2006/relationships/notesMaster" Target="/ppt/notesMasters/notesMaster1.xml" Id="Rb0ffb475bcaa4fcd" /></Relationships>
</file>

<file path=ppt/notesSlides/_rels/notesSlide3.xml.rels>&#65279;<?xml version="1.0" encoding="utf-8"?><Relationships xmlns="http://schemas.openxmlformats.org/package/2006/relationships"><Relationship Type="http://schemas.openxmlformats.org/officeDocument/2006/relationships/slide" Target="/ppt/slides/slide3.xml" Id="Rb0b23e75a1a44ae4" /><Relationship Type="http://schemas.openxmlformats.org/officeDocument/2006/relationships/notesMaster" Target="/ppt/notesMasters/notesMaster1.xml" Id="Rf0cf8f02dcca42c3" /></Relationships>
</file>

<file path=ppt/notesSlides/_rels/notesSlide4.xml.rels>&#65279;<?xml version="1.0" encoding="utf-8"?><Relationships xmlns="http://schemas.openxmlformats.org/package/2006/relationships"><Relationship Type="http://schemas.openxmlformats.org/officeDocument/2006/relationships/slide" Target="/ppt/slides/slide4.xml" Id="R3a299a7dec5146c5" /><Relationship Type="http://schemas.openxmlformats.org/officeDocument/2006/relationships/notesMaster" Target="/ppt/notesMasters/notesMaster1.xml" Id="R5eb2b754366a40b8" /></Relationships>
</file>

<file path=ppt/notesSlides/_rels/notesSlide5.xml.rels>&#65279;<?xml version="1.0" encoding="utf-8"?><Relationships xmlns="http://schemas.openxmlformats.org/package/2006/relationships"><Relationship Type="http://schemas.openxmlformats.org/officeDocument/2006/relationships/slide" Target="/ppt/slides/slide5.xml" Id="Rb72109dbdf844476" /><Relationship Type="http://schemas.openxmlformats.org/officeDocument/2006/relationships/notesMaster" Target="/ppt/notesMasters/notesMaster1.xml" Id="R7de95dee1dd24dd2" /></Relationships>
</file>

<file path=ppt/notesSlides/_rels/notesSlide6.xml.rels>&#65279;<?xml version="1.0" encoding="utf-8"?><Relationships xmlns="http://schemas.openxmlformats.org/package/2006/relationships"><Relationship Type="http://schemas.openxmlformats.org/officeDocument/2006/relationships/slide" Target="/ppt/slides/slide6.xml" Id="Rde424831aba6446d" /><Relationship Type="http://schemas.openxmlformats.org/officeDocument/2006/relationships/notesMaster" Target="/ppt/notesMasters/notesMaster1.xml" Id="R3b681783da564b7f" /></Relationships>
</file>

<file path=ppt/notesSlides/_rels/notesSlide7.xml.rels>&#65279;<?xml version="1.0" encoding="utf-8"?><Relationships xmlns="http://schemas.openxmlformats.org/package/2006/relationships"><Relationship Type="http://schemas.openxmlformats.org/officeDocument/2006/relationships/slide" Target="/ppt/slides/slide7.xml" Id="R24820e0e61784642" /><Relationship Type="http://schemas.openxmlformats.org/officeDocument/2006/relationships/notesMaster" Target="/ppt/notesMasters/notesMaster1.xml" Id="R1577c3e9e8a745b4" /></Relationships>
</file>

<file path=ppt/notesSlides/_rels/notesSlide8.xml.rels>&#65279;<?xml version="1.0" encoding="utf-8"?><Relationships xmlns="http://schemas.openxmlformats.org/package/2006/relationships"><Relationship Type="http://schemas.openxmlformats.org/officeDocument/2006/relationships/slide" Target="/ppt/slides/slide8.xml" Id="Re083ec2d6e7644f5" /><Relationship Type="http://schemas.openxmlformats.org/officeDocument/2006/relationships/notesMaster" Target="/ppt/notesMasters/notesMaster1.xml" Id="Rcd1bc9d937f34291" /></Relationships>
</file>

<file path=ppt/notesSlides/_rels/notesSlide9.xml.rels>&#65279;<?xml version="1.0" encoding="utf-8"?><Relationships xmlns="http://schemas.openxmlformats.org/package/2006/relationships"><Relationship Type="http://schemas.openxmlformats.org/officeDocument/2006/relationships/slide" Target="/ppt/slides/slide9.xml" Id="R26455efa28664bf8" /><Relationship Type="http://schemas.openxmlformats.org/officeDocument/2006/relationships/notesMaster" Target="/ppt/notesMasters/notesMaster1.xml" Id="Rff8dea51f5ca480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487a7c6af234376" /><Relationship Type="http://schemas.openxmlformats.org/officeDocument/2006/relationships/notesMaster" Target="/ppt/notesMasters/notesMaster1.xml" Id="R13f16a91cb82470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7c75ed650914f1a" /><Relationship Type="http://schemas.openxmlformats.org/officeDocument/2006/relationships/notesMaster" Target="/ppt/notesMasters/notesMaster1.xml" Id="Rcdc8b56303dd4e3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aeacbdcd896478c" /><Relationship Type="http://schemas.openxmlformats.org/officeDocument/2006/relationships/notesMaster" Target="/ppt/notesMasters/notesMaster1.xml" Id="R36b6ab5d7bd24bab"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6d6418ca1a2b42ad" /><Relationship Type="http://schemas.openxmlformats.org/officeDocument/2006/relationships/notesMaster" Target="/ppt/notesMasters/notesMaster1.xml" Id="R2d673e445a514213"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879c0c4937a04af0" /><Relationship Type="http://schemas.openxmlformats.org/officeDocument/2006/relationships/notesMaster" Target="/ppt/notesMasters/notesMaster1.xml" Id="R7b3e0b35b4044ed8"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54ac11bfa7f54ff5" /><Relationship Type="http://schemas.openxmlformats.org/officeDocument/2006/relationships/notesMaster" Target="/ppt/notesMasters/notesMaster1.xml" Id="R2854f5304f894fd6"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9ce4345b8fb74513" /><Relationship Type="http://schemas.openxmlformats.org/officeDocument/2006/relationships/notesMaster" Target="/ppt/notesMasters/notesMaster1.xml" Id="Re3d628a306654a92"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65d1432ec64e4433" /><Relationship Type="http://schemas.openxmlformats.org/officeDocument/2006/relationships/notesMaster" Target="/ppt/notesMasters/notesMaster1.xml" Id="Rbe9682bdb21b413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FIFO는 locality 및 head 우선 CA 재정렬을 끈 기존 모델 옵션이다. 물리 주소 매핑, QD, tR와 Data 중재는 유지했다. B의 QD는 32768/Port이다.</a:t>
            </a:r>
          </a:p>
          <a:p xmlns:a="http://schemas.openxmlformats.org/drawingml/2006/main">
            <a:r>
              <a:t/>
            </a:r>
            <a:endParaRPr/>
          </a:p>
          <a:p xmlns:a="http://schemas.openxmlformats.org/drawingml/2006/main">
            <a:r>
              <a:t>Sources</a:t>
            </a:r>
          </a:p>
          <a:p xmlns:a="http://schemas.openxmlformats.org/drawingml/2006/main">
            <a:r>
              <a:t>/Users/bagjunbeom/Downloads/CVDP/outputs/ca_bypass_off_20261011/comparison.json</a:t>
            </a:r>
          </a:p>
          <a:p xmlns:a="http://schemas.openxmlformats.org/drawingml/2006/main">
            <a:r>
              <a:t>/Users/bagjunbeom/Downloads/CVDP/outputs/ca_bypass_off_20261011/crosscheck/summary.json</a:t>
            </a:r>
          </a:p>
          <a:p xmlns:a="http://schemas.openxmlformats.org/drawingml/2006/main">
            <a:r>
              <a:t>/Users/bagjunbeom/Downloads/CVDP/outputs/ca_bypass_off_20261011/crosscheck.py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tR은 현재 시뮬레이터의 NAND sensing 구간이며 Host의 end-to-end 읽기 지연 전체가 아니다. 이 페이지의 수치는 제품 보증치가 아니라 지금까지 승인·사용한 모델 입력값이다.</a:t>
            </a:r>
          </a:p>
          <a:p xmlns:a="http://schemas.openxmlformats.org/drawingml/2006/main">
            <a:endParaRPr/>
          </a:p>
          <a:p xmlns:a="http://schemas.openxmlformats.org/drawingml/2006/main">
            <a:r>
              <a:t>판정 단위는 (Channel, Plane)이다. q는 해당 Plane 내부의 물리 페이지 순번이며, 고객 A/C 패턴의 4KiB 논리 Page 번호나 Host 주소가 아니다. 다른 Plane에서 Read를 해도 이 Plane의 직전 sensing 이력은 바뀌지 않는다.</a:t>
            </a:r>
          </a:p>
          <a:p xmlns:a="http://schemas.openxmlformats.org/drawingml/2006/main">
            <a:endParaRPr/>
          </a:p>
          <a:p xmlns:a="http://schemas.openxmlformats.org/drawingml/2006/main">
            <a:r>
              <a:t>판정 순서: 기존 Controller buffer 작업이 있으면 연결해서 사용한다. 새 NAND 작업이 필요하지만 해당 Plane의 page buffer에 같은 q가 남아 있으면 sensing을 생략한다. 이때 출력 CA, 16KiB NAND Data 전송, ECC와 응답 대기는 여전히 필요하다. page buffer miss이면 First → Group → q+1의 Short/Mid → Long 순서로 분류한다.</a:t>
            </a:r>
          </a:p>
          <a:p xmlns:a="http://schemas.openxmlformats.org/drawingml/2006/main">
            <a:endParaRPr/>
          </a:p>
          <a:p xmlns:a="http://schemas.openxmlformats.org/drawingml/2006/main">
            <a:r>
              <a:t>First: 해당 Plane에서 이전 sensing 이력이 없을 때 20.69µs. 현재 모델은 최초 sensing에 1st Long 17.52µs + tRRC 3.17µs를 적용한다. Group: 이전/다음 q가 서로 다른 Group이면 20.69µs이며, q가 정확히 +1이더라도 Group 판정이 우선한다.</a:t>
            </a:r>
          </a:p>
          <a:p xmlns:a="http://schemas.openxmlformats.org/drawingml/2006/main">
            <a:endParaRPr/>
          </a:p>
          <a:p xmlns:a="http://schemas.openxmlformats.org/drawingml/2006/main">
            <a:r>
              <a:t>같은 Group의 q+1에서 목적지 q가 홀수이면 Short 2.00µs, 짝수이면 Mid 2.08µs다. 물리 순회는 E/O 0→1, SSL 0→5, Block 0→1, WL 420→0, 다음 Group이다. q0→1은 동일 SSL의 E/O 0→1이라 Short, q1→2는 다음 SSL로 이동해 Mid, q11→12는 다음 Block으로 자연 순환해 Mid, q23→24는 다음 WL로 자연 순환해 Mid다. Group당 421×2×6×2=10,104개의 16KiB 물리 페이지이며 q10103→10104는 Group 전환이다.</a:t>
            </a:r>
          </a:p>
          <a:p xmlns:a="http://schemas.openxmlformats.org/drawingml/2006/main">
            <a:endParaRPr/>
          </a:p>
          <a:p xmlns:a="http://schemas.openxmlformats.org/drawingml/2006/main">
            <a:r>
              <a:t>Long: 같은 Group에서 직전 q의 바로 다음 페이지가 아닌 곳으로 이동하면 12.16µs다. 예를 들어 q0→2는 목적지가 짝수여도 q+1이 아니므로 Mid가 아니라 Long이다. q3→1의 역방향 재방문도 page buffer에 해당 페이지가 없으면 Long이다. 논리 A2 순서만 보고 Long 여부를 판단하지 않고 L2P와 CA 발행 후의 물리 순서를 사용한다.</a:t>
            </a:r>
          </a:p>
          <a:p xmlns:a="http://schemas.openxmlformats.org/drawingml/2006/main">
            <a:endParaRPr/>
          </a:p>
          <a:p xmlns:a="http://schemas.openxmlformats.org/drawingml/2006/main">
            <a:r>
              <a:t>평균 tR은 실제 sensing 횟수의 가중 평균이다. (20.69×(N_First+N_Group)+2.00×N_Short+2.08×N_Mid+12.16×N_Long) / N_sensing. page buffer hit와 Controller buffer 재사용은 sensing 횟수에 넣지 않는다. 연속 구간은 Short/Mid가 번갈아 발생하며 둘만 같은 횟수로 섞인 평균은2.04µs다. 성능 개선은 tR 상수를 줄인 것이 아니라 Long의 빈도를 줄인 결과다.</a:t>
            </a:r>
          </a:p>
          <a:p xmlns:a="http://schemas.openxmlformats.org/drawingml/2006/main">
            <a:endParaRPr/>
          </a:p>
          <a:p xmlns:a="http://schemas.openxmlformats.org/drawingml/2006/main">
            <a:r>
              <a:t>Host 읽기에는 버퍼 수락 대기, lookup 0.5µs, CA 0.1µs, tR, 채널 Data 대기/전송, ECC 0.2µs, Port 내부 in-order 대기와 Host 반환 시간이 더해진다. NAND Data는16KiB/80.1125GB/s + turnaround0.05µs ≈0.254512µs이며, 자원 대기는 별도다. 64B와4KiB Host 요청 크기 자체로 tR을1/64로 줄이지 않는다. 물리 페이지가 같으면 sensing을 공유할 수 있는지는 버퍼와 진행 중 작업의 상태가 결정한다.</a:t>
            </a:r>
          </a:p>
          <a:p xmlns:a="http://schemas.openxmlformats.org/drawingml/2006/main">
            <a:endParaRPr/>
          </a:p>
          <a:p xmlns:a="http://schemas.openxmlformats.org/drawingml/2006/main">
            <a:r>
              <a:t>출처</a:t>
            </a:r>
          </a:p>
          <a:p xmlns:a="http://schemas.openxmlformats.org/drawingml/2006/main">
            <a:r>
              <a:t>https://github.com/JBRARAPARK/HBF_zNAND_Research/blob/22d9b33f085991f33d5273fdd9ce5688fb429fa4/znand/model.py</a:t>
            </a:r>
          </a:p>
          <a:p xmlns:a="http://schemas.openxmlformats.org/drawingml/2006/main">
            <a:r>
              <a:t>https://github.com/JBRARAPARK/HBF_zNAND_Research/blob/22d9b33f085991f33d5273fdd9ce5688fb429fa4/docs/07_prefetch_tuning_ko.md</a:t>
            </a:r>
          </a:p>
          <a:p xmlns:a="http://schemas.openxmlformats.org/drawingml/2006/main">
            <a:r>
              <a:t>https://github.com/JBRARAPARK/HBF_zNAND_Research/blob/22d9b33f085991f33d5273fdd9ce5688fb429fa4/docs/12_controller_scheduling_ko.md</a:t>
            </a:r>
          </a:p>
          <a:p xmlns:a="http://schemas.openxmlformats.org/drawingml/2006/main">
            <a:r>
              <a:t>https://github.com/JBRARAPARK/HBF_zNAND_Research/blob/22d9b33f085991f33d5273fdd9ce5688fb429fa4/results/znand/host_ceiling/timing_validation.json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현재 64 Plane 영역 배치의 구조를 설명한 도식이다. 위쪽은 논리 영역을 정적 L2P snapshot으로 Channel·Plane·Plane 내부 페이지 q에 연결하는 과정이다. 화살표는 주소 매핑 관계이며 실제 전기 배선이나 CA/Data 버스 개수를 뜻하지 않는다.</a:t>
            </a:r>
          </a:p>
          <a:p xmlns:a="http://schemas.openxmlformats.org/drawingml/2006/main">
            <a:endParaRPr/>
          </a:p>
          <a:p xmlns:a="http://schemas.openxmlformats.org/drawingml/2006/main">
            <a:r>
              <a:t>4개 Channel은 각각 16개의 Plane을 가진다. 영역 0은 모든 Channel의 PL0~3, 영역 1은 PL4~7, 영역 2는 PL8~11, 영역 3은 PL12~15를 사용한다. 색은 논리 영역을 나타내며 Port ID가 아니다. 어느 Port든 같은 주소를 읽으면 같은 물리 위치로 간다. 이 실험에서는 각 Port가 주로 서로 다른 영역을 읽어 네 영역의 부하가 균형을 이루도록 했다. 동일 번호의 Plane도 Channel이 다르면 서로 다른 자원이다.</a:t>
            </a:r>
          </a:p>
          <a:p xmlns:a="http://schemas.openxmlformats.org/drawingml/2006/main">
            <a:endParaRPr/>
          </a:p>
          <a:p xmlns:a="http://schemas.openxmlformats.org/drawingml/2006/main">
            <a:r>
              <a:t>L2P snapshot은 16KiB 물리 페이지 단위의 1:1 배치다. 기존 Channel과 페이지 내 offset, 16KiB 패킹은 유지하고 Plane과 q를 다시 배정한다. 각 영역·채널의 물리 페이지를 순서대로 네 Plane에 분산한 뒤 각 Plane의 q를 증가시키므로 영역 간 주소 점프를 줄인다. 4KiB 논리 조각 자체를 64B 단위로 재분산하지 않는다. 유한 A2 trace의 영역 경계 공유 페이지는 한 물리 위치를 유지하는 예외가 있으며 그 검증은 snapshot_validation.json에 있다.</a:t>
            </a:r>
          </a:p>
          <a:p xmlns:a="http://schemas.openxmlformats.org/drawingml/2006/main">
            <a:endParaRPr/>
          </a:p>
          <a:p xmlns:a="http://schemas.openxmlformats.org/drawingml/2006/main">
            <a:r>
              <a:t>왼쪽 아래 L0, L1 등은 각 논리 영역 시작을 0으로 놓은 4KiB 논리 조각이다. 영역 시작이 64KiB 배치 주기에 정렬되고 CH0에서 시작하는 예시다. A1/C1/C2의 4KiB stripe에서는 Channel을 4KiB마다 순환시킨다. 첫 16KiB 물리 페이지는 CH0=[L0,L4,L8,L12], CH1=[L1,L5,L9,L13], CH2=[L2,L6,L10,L14], CH3=[L3,L7,L11,L15]다. A2의 16KiB stripe에서는 먼저 연속 4KiB 조각 4개를 묶고 16KiB마다 Channel을 순환시킨다. CH0=[L0,L1,L2,L3], CH1=[L4,L5,L6,L7], CH2=[L8,L9,L10,L11], CH3=[L12,L13,L14,L15]다. 이는 저장 배치의 단위다. C1/C2는 각 L에서 64B만 요청하지만 NAND 물리 페이지는 16KiB 전체를 출력한다.</a:t>
            </a:r>
          </a:p>
          <a:p xmlns:a="http://schemas.openxmlformats.org/drawingml/2006/main">
            <a:endParaRPr/>
          </a:p>
          <a:p xmlns:a="http://schemas.openxmlformats.org/drawingml/2006/main">
            <a:r>
              <a:t>오른쪽 아래는 하나의 Plane 내 주소 계층이다. Group 하나에 Block 2개, Block마다 WL 421개, WL마다 SSL 6개, SSL마다 E/O 2개의 16KiB Page를 두는 현재 모델이다. 따라서 Group당 421×2×6×2=10,104페이지다. Group 총개수나 전체 NAND 용량을 이 슬라이드로 고정하지 않는다. 구조 계층과 q의 실제 순회 순서는 구분한다. q는 E/O→SSL→Block→WL→Group 순으로 진행하고 WL은 420에서 0으로 감소한다. 각 Plane의 page buffer는 1개이며 선택한 16KiB 페이지를 sensing한다. Controller buffer는 별도 자원이다.</a:t>
            </a:r>
          </a:p>
          <a:p xmlns:a="http://schemas.openxmlformats.org/drawingml/2006/main">
            <a:endParaRPr/>
          </a:p>
          <a:p xmlns:a="http://schemas.openxmlformats.org/drawingml/2006/main">
            <a:r>
              <a:t>배치가 좋아지는 이유는 각 영역이 4채널 병렬성을 유지하면서 한 Plane에서 서로 먼 영역의 요청이 섞이는 일을 줄이기 때문이다. CA 스케줄러가 q+1을 선택할 기회가 늘어나 Short/Mid 비율이 높아진다. 실제 동적 L2P 변화나 영역 편향에서 같은 효과를 보장하지 않으며 해당 내용은 튜닝 후보다. 이 모델에는 Die/LUN의 추가 공유 자원을 구체적으로 배정하지 않았다.</a:t>
            </a:r>
          </a:p>
          <a:p xmlns:a="http://schemas.openxmlformats.org/drawingml/2006/main">
            <a:endParaRPr/>
          </a:p>
          <a:p xmlns:a="http://schemas.openxmlformats.org/drawingml/2006/main">
            <a:r>
              <a:t>출처</a:t>
            </a:r>
          </a:p>
          <a:p xmlns:a="http://schemas.openxmlformats.org/drawingml/2006/main">
            <a:r>
              <a:t>https://github.com/JBRARAPARK/HBF_zNAND_Research/blob/22d9b33f085991f33d5273fdd9ce5688fb429fa4/znand/model.py</a:t>
            </a:r>
          </a:p>
          <a:p xmlns:a="http://schemas.openxmlformats.org/drawingml/2006/main">
            <a:r>
              <a:t>https://github.com/JBRARAPARK/HBF_zNAND_Research/blob/22d9b33f085991f33d5273fdd9ce5688fb429fa4/znand/host_ceiling.py</a:t>
            </a:r>
          </a:p>
          <a:p xmlns:a="http://schemas.openxmlformats.org/drawingml/2006/main">
            <a:r>
              <a:t>https://github.com/JBRARAPARK/HBF_zNAND_Research/blob/22d9b33f085991f33d5273fdd9ce5688fb429fa4/docs/07_prefetch_tuning_ko.md</a:t>
            </a:r>
          </a:p>
          <a:p xmlns:a="http://schemas.openxmlformats.org/drawingml/2006/main">
            <a:r>
              <a:t>https://github.com/JBRARAPARK/HBF_zNAND_Research/blob/22d9b33f085991f33d5273fdd9ce5688fb429fa4/results/znand/host_ceiling/RESULTS_KO.md</a:t>
            </a:r>
          </a:p>
          <a:p xmlns:a="http://schemas.openxmlformats.org/drawingml/2006/main">
            <a:r>
              <a:t>https://github.com/JBRARAPARK/HBF_zNAND_Research/blob/22d9b33f085991f33d5273fdd9ce5688fb429fa4/results/znand/host_ceiling/snapshot_validation.json</a:t>
            </a:r>
          </a:p>
          <a:p xmlns:a="http://schemas.openxmlformats.org/drawingml/2006/main">
            <a:r>
              <a:t>https://github.com/JBRARAPARK/HBF_zNAND_Research/blob/22d9b33f085991f33d5273fdd9ce5688fb429fa4/results/znand/partial_saturation/RESULTS_KO.md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구조는 현재 시뮬레이터 기준이다. 4개 Port는 독립적인 요청/응답 주체로, 한 Port도 주소에 따라 모든 Channel을 사용할 수 있다. Port와 Channel을 고정 1:1로 연결하지 않는다. Host IF는 Port당 512bit, 1GHz로 64GB/s이며 합계256GB/s다. 요청 수락 시 QD와 버퍼 용량을 확인하고, 신규16KiB 물리 페이지 작업에 대한 공유 버퍼 공간을 예약한다. 동일 물리 페이지 요청은 기존 작업에 연결할 수 있다. Lookup 이후 물리 주소의 연속성과 Port 선두 대기를 고려해 CA를 발행한다. NAND는4채널, 채널당16Plane, Plane당page buffer1개다. NAND출력은16KiB 전체 페이지이며 ECC 후 Controller buffer의 데이터가 반환 가능해진다. Port별 FIFO 선두만 응답하며 연결된 마지막 응답이 끝나면 Controller buffer를 해제한다. 영구cache나LRU 정책은 적용하지 않았다. UCIe의 모든 프로토콜 계층을 상세 구현한 회로도가 아니라 본 평가 모델의 동작 구조다.</a:t>
            </a:r>
          </a:p>
          <a:p xmlns:a="http://schemas.openxmlformats.org/drawingml/2006/main">
            <a:endParaRPr/>
          </a:p>
          <a:p xmlns:a="http://schemas.openxmlformats.org/drawingml/2006/main">
            <a:r>
              <a:t>출처</a:t>
            </a:r>
          </a:p>
          <a:p xmlns:a="http://schemas.openxmlformats.org/drawingml/2006/main">
            <a:r>
              <a:t>https://github.com/JBRARAPARK/HBF_zNAND_Research/blob/22d9b33f085991f33d5273fdd9ce5688fb429fa4/znand/model.py</a:t>
            </a:r>
          </a:p>
          <a:p xmlns:a="http://schemas.openxmlformats.org/drawingml/2006/main">
            <a:r>
              <a:t>https://github.com/JBRARAPARK/HBF_zNAND_Research/blob/22d9b33f085991f33d5273fdd9ce5688fb429fa4/docs/12_controller_scheduling_ko.md</a:t>
            </a:r>
          </a:p>
          <a:p xmlns:a="http://schemas.openxmlformats.org/drawingml/2006/main">
            <a:r>
              <a:t>https://github.com/JBRARAPARK/HBF_zNAND_Research/blob/22d9b33f085991f33d5273fdd9ce5688fb429fa4/results/znand/saturation/RESULTS_KO.md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데이터 배치 단독 대조는 snapshot 제거 이외의 Config를 유지한다. QD2,048 순환 수락은 별도 진단 정책이며 제품 기능으로 검증한 것이 아니다. 물리 자원과 전체 페이지 활용도 역시 전제 조건이다.</a:t>
            </a:r>
          </a:p>
          <a:p xmlns:a="http://schemas.openxmlformats.org/drawingml/2006/main">
            <a:r>
              <a:t/>
            </a:r>
            <a:endParaRPr/>
          </a:p>
          <a:p xmlns:a="http://schemas.openxmlformats.org/drawingml/2006/main">
            <a:r>
              <a:t>Sources</a:t>
            </a:r>
          </a:p>
          <a:p xmlns:a="http://schemas.openxmlformats.org/drawingml/2006/main">
            <a:r>
              <a:t>/Users/bagjunbeom/Downloads/CVDP/outputs/ca_bypass_off_20261011/comparison.json</a:t>
            </a:r>
          </a:p>
          <a:p xmlns:a="http://schemas.openxmlformats.org/drawingml/2006/main">
            <a:r>
              <a:t>/Users/bagjunbeom/Downloads/CVDP/outputs/ca_bypass_off_20261011/crosscheck/summary.json</a:t>
            </a:r>
          </a:p>
          <a:p xmlns:a="http://schemas.openxmlformats.org/drawingml/2006/main">
            <a:r>
              <a:t>/Users/bagjunbeom/Downloads/CVDP/outputs/ca_bypass_off_20261011/crosscheck.py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기존 배치는 model.Mapper의 기본 매핑(snapshot 없음)이다. 영역별 배치는 기존 saturation snapshot이다. 같은 주소 스트림/기간/요청 크기/채널 수/Plane 수/버퍼/QD/FIFO/tR를 사용했다. 동적 FTL 최적화나 임의 부하의 보편적 최적값이 아니다.</a:t>
            </a:r>
          </a:p>
          <a:p xmlns:a="http://schemas.openxmlformats.org/drawingml/2006/main">
            <a:r>
              <a:t/>
            </a:r>
            <a:endParaRPr/>
          </a:p>
          <a:p xmlns:a="http://schemas.openxmlformats.org/drawingml/2006/main">
            <a:r>
              <a:t>Sources</a:t>
            </a:r>
          </a:p>
          <a:p xmlns:a="http://schemas.openxmlformats.org/drawingml/2006/main">
            <a:r>
              <a:t>/Users/bagjunbeom/Downloads/CVDP/outputs/ca_bypass_off_20261011/comparison.json</a:t>
            </a:r>
          </a:p>
          <a:p xmlns:a="http://schemas.openxmlformats.org/drawingml/2006/main">
            <a:r>
              <a:t>/Users/bagjunbeom/Downloads/CVDP/outputs/ca_bypass_off_20261011/crosscheck/summary.json</a:t>
            </a:r>
          </a:p>
          <a:p xmlns:a="http://schemas.openxmlformats.org/drawingml/2006/main">
            <a:r>
              <a:t>/Users/bagjunbeom/Downloads/CVDP/outputs/ca_bypass_off_20261011/crosscheck.py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FIFO는 연속 주소 및 urgent-head CA 재정렬을 끈다. Busy Plane 회피와 발행 가능한 요청 중 선택은 유지한다. 원본 core 변경 없음. 6개 실행으로 기존 세 baseline 재현 및 FIFO 대조를 완료했다. p99는 측정창 안에서 완료한 요청의 accepted-to-last-data 지연이다. 과거 32Plane 혼합 배치에서의 locality 이득을 부정하는 결과는 아니다.</a:t>
            </a:r>
          </a:p>
          <a:p xmlns:a="http://schemas.openxmlformats.org/drawingml/2006/main">
            <a:r>
              <a:t/>
            </a:r>
            <a:endParaRPr/>
          </a:p>
          <a:p xmlns:a="http://schemas.openxmlformats.org/drawingml/2006/main">
            <a:r>
              <a:t>Sources</a:t>
            </a:r>
          </a:p>
          <a:p xmlns:a="http://schemas.openxmlformats.org/drawingml/2006/main">
            <a:r>
              <a:t>/Users/bagjunbeom/Downloads/CVDP/outputs/ca_bypass_off_20261011/comparison.json</a:t>
            </a:r>
          </a:p>
          <a:p xmlns:a="http://schemas.openxmlformats.org/drawingml/2006/main">
            <a:r>
              <a:t>/Users/bagjunbeom/Downloads/CVDP/outputs/ca_bypass_off_20261011/crosscheck/summary.json</a:t>
            </a:r>
          </a:p>
          <a:p xmlns:a="http://schemas.openxmlformats.org/drawingml/2006/main">
            <a:r>
              <a:t>/Users/bagjunbeom/Downloads/CVDP/outputs/ca_bypass_off_20261011/crosscheck.py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표의 Plane 번호는 각 채널 내부 번호다. 동일하게 표시된 Plane 0은 채널별로 서로 다른 물리 자원이다. 영역 0은 채널당 Plane 0~3 등 4개 Plane을 사용하며, 4채널을 모두 활용한다. 비중첩 논리 영역을 각 Port가 읽는 합성 요청열에 맞춘 정적 L2P snapshot이다. 같은 물리 페이지의 offset 및 Channel 배치를 보존하고 Plane을 재배치한다. 64B 단위의 물리 분산이나 64B 단위 매핑을 추가하지 않았다. 동적 L2P와 편향 workload는 후속 검증이 필요하다.</a:t>
            </a:r>
          </a:p>
          <a:p xmlns:a="http://schemas.openxmlformats.org/drawingml/2006/main">
            <a:endParaRPr/>
          </a:p>
          <a:p xmlns:a="http://schemas.openxmlformats.org/drawingml/2006/main">
            <a:r>
              <a:t>출처</a:t>
            </a:r>
          </a:p>
          <a:p xmlns:a="http://schemas.openxmlformats.org/drawingml/2006/main">
            <a:r>
              <a:t>https://github.com/JBRARAPARK/HBF_zNAND_Research/blob/22d9b33f085991f33d5273fdd9ce5688fb429fa4/results/znand/host_ceiling/RESULTS_KO.md</a:t>
            </a:r>
          </a:p>
          <a:p xmlns:a="http://schemas.openxmlformats.org/drawingml/2006/main">
            <a:r>
              <a:t>https://github.com/JBRARAPARK/HBF_zNAND_Research/blob/22d9b33f085991f33d5273fdd9ce5688fb429fa4/results/znand/host_ceiling/snapshots/A2_64Plane.json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그래프는 기존 saturation 전체 sweep이다. QD 증가의 보편적 성능 저하를 뜻하지 않는다. 고정 수락 순서와 공유 버퍼 예약 정책의 상호작용이다. 본 추가 실험에서 QD2,048 FIFO 성능을 재현했고 순환 수락을 별도 대조했다.</a:t>
            </a:r>
          </a:p>
          <a:p xmlns:a="http://schemas.openxmlformats.org/drawingml/2006/main">
            <a:r>
              <a:t/>
            </a:r>
            <a:endParaRPr/>
          </a:p>
          <a:p xmlns:a="http://schemas.openxmlformats.org/drawingml/2006/main">
            <a:r>
              <a:t>Sources</a:t>
            </a:r>
          </a:p>
          <a:p xmlns:a="http://schemas.openxmlformats.org/drawingml/2006/main">
            <a:r>
              <a:t>/Users/bagjunbeom/Downloads/CVDP/outputs/ca_bypass_off_20261011/comparison.json</a:t>
            </a:r>
          </a:p>
          <a:p xmlns:a="http://schemas.openxmlformats.org/drawingml/2006/main">
            <a:r>
              <a:t>/Users/bagjunbeom/Downloads/CVDP/outputs/ca_bypass_off_20261011/crosscheck/summary.json</a:t>
            </a:r>
          </a:p>
          <a:p xmlns:a="http://schemas.openxmlformats.org/drawingml/2006/main">
            <a:r>
              <a:t>/Users/bagjunbeom/Downloads/CVDP/outputs/ca_bypass_off_20261011/crosscheck.py</a:t>
            </a:r>
          </a:p>
          <a:p xmlns:a="http://schemas.openxmlformats.org/drawingml/2006/main">
            <a:r>
              <a:t>/Users/bagjunbeom/Documents/Codex/2026-10-07/notion-plugin-notion-openai-curated-remote/outputs/HBF_zNAND_Research/results/znand/saturation/sweep.csv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표는 버퍼별 QD를 함께 선택한 결과다. 4MiB는 측정 조합 중 A1/A2가 모두 200GB/s를 넘긴 최소 용량이며, 모든 슬롯 수와 QD를 전수 탐색한 절대 하한은 아니다. 8MiB와 16MiB의 QD512 쌍은 같은 QD에서 버퍼를 비교할 수 있다. A1은 255.365922/255.371651, A2는 255.058330/255.211219GB/s다. 최고 500µs 값과 고정 2ms 값을 혼용하지 않는다. PF OFF이므로 Host 요청만으로 이 수치를 관측했다. Controller buffer는 16KiB 작업 단위로 예약하며 마지막 연결 응답 후 해제하는 임시 버퍼다. 지속적인 demand cache나 LRU를 새로 도입한 결과가 아니다. C1/C2는 연속된 64B 모두를 읽는 패턴이 아니고, 각 4KiB 논리 페이지의 64B만 읽는다. 16KiB 물리 페이지당 4개 64B, 즉 256B를 사용하므로 명목 효율은 1/64이다. 모델 내 NAND 부분 전송은 없다.</a:t>
            </a:r>
          </a:p>
          <a:p xmlns:a="http://schemas.openxmlformats.org/drawingml/2006/main">
            <a:endParaRPr/>
          </a:p>
          <a:p xmlns:a="http://schemas.openxmlformats.org/drawingml/2006/main">
            <a:r>
              <a:t>출처</a:t>
            </a:r>
          </a:p>
          <a:p xmlns:a="http://schemas.openxmlformats.org/drawingml/2006/main">
            <a:r>
              <a:t>https://github.com/JBRARAPARK/HBF_zNAND_Research/blob/22d9b33f085991f33d5273fdd9ce5688fb429fa4/results/znand/saturation/sweep.csv</a:t>
            </a:r>
          </a:p>
          <a:p xmlns:a="http://schemas.openxmlformats.org/drawingml/2006/main">
            <a:r>
              <a:t>https://github.com/JBRARAPARK/HBF_zNAND_Research/blob/22d9b33f085991f33d5273fdd9ce5688fb429fa4/results/znand/saturation/RESULTS_KO.md</a:t>
            </a:r>
          </a:p>
          <a:p xmlns:a="http://schemas.openxmlformats.org/drawingml/2006/main">
            <a:r>
              <a:t>https://github.com/JBRARAPARK/HBF_zNAND_Research/blob/22d9b33f085991f33d5273fdd9ce5688fb429fa4/results/znand/partial_saturation/RESULTS_KO.md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추가 실험은 2.2ms 중 초기 200us를 제외한 고정 2ms 평균이다. QD와 요청 메타데이터의 RTL 비용은 여전히 추상화되어 있다. 순환 수락은 인과 확인용 진단 구현이다.</a:t>
            </a:r>
          </a:p>
          <a:p xmlns:a="http://schemas.openxmlformats.org/drawingml/2006/main">
            <a:r>
              <a:t/>
            </a:r>
            <a:endParaRPr/>
          </a:p>
          <a:p xmlns:a="http://schemas.openxmlformats.org/drawingml/2006/main">
            <a:r>
              <a:t>Sources</a:t>
            </a:r>
          </a:p>
          <a:p xmlns:a="http://schemas.openxmlformats.org/drawingml/2006/main">
            <a:r>
              <a:t>/Users/bagjunbeom/Downloads/CVDP/outputs/ca_bypass_off_20261011/comparison.json</a:t>
            </a:r>
          </a:p>
          <a:p xmlns:a="http://schemas.openxmlformats.org/drawingml/2006/main">
            <a:r>
              <a:t>/Users/bagjunbeom/Downloads/CVDP/outputs/ca_bypass_off_20261011/crosscheck/summary.json</a:t>
            </a:r>
          </a:p>
          <a:p xmlns:a="http://schemas.openxmlformats.org/drawingml/2006/main">
            <a:r>
              <a:t>/Users/bagjunbeom/Downloads/CVDP/outputs/ca_bypass_off_20261011/crosscheck.py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2026-10-11 사용자 결정으로 새64B 페이지내 연속읽기를 B, 기존B1/B2/B3를C1/C2/C3로 정의했다. B는하나의패턴이며 새로운B1/B2분류는추가하지않았다. 요청마다64B이며4KiB논리페이지의offset0부터4032까지64개요청후다음페이지로이동한다. C1/C2는offset0만읽고 C3는P1재방문시offset64를읽는다. A2/C2는3개단위국소순열이다. NAND물리페이지는16KiB다. 기존모델의버퍼수명,tR,출력량과in-order를유지한다.</a:t>
            </a:r>
          </a:p>
          <a:p xmlns:a="http://schemas.openxmlformats.org/drawingml/2006/main">
            <a:endParaRPr/>
          </a:p>
          <a:p xmlns:a="http://schemas.openxmlformats.org/drawingml/2006/main">
            <a:r>
              <a:t>출처: docs/15_workload_naming_ko.md, znand/workloads.py. 고객 원문의B식별자는문서전사와과거원자료에보존했다.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B의 QD512와 QD32768 결과를 업데이트했다. QD는 요청 수이고 AXI ID 수가 아니다. 2MiB는 요청 payload 상한이며 물리 버퍼 점유량/메타데이터와 동일하지 않다.</a:t>
            </a:r>
          </a:p>
          <a:p xmlns:a="http://schemas.openxmlformats.org/drawingml/2006/main">
            <a:r>
              <a:t/>
            </a:r>
            <a:endParaRPr/>
          </a:p>
          <a:p xmlns:a="http://schemas.openxmlformats.org/drawingml/2006/main">
            <a:r>
              <a:t>Sources</a:t>
            </a:r>
          </a:p>
          <a:p xmlns:a="http://schemas.openxmlformats.org/drawingml/2006/main">
            <a:r>
              <a:t>/Users/bagjunbeom/Downloads/CVDP/outputs/ca_bypass_off_20261011/comparison.json</a:t>
            </a:r>
          </a:p>
          <a:p xmlns:a="http://schemas.openxmlformats.org/drawingml/2006/main">
            <a:r>
              <a:t>/Users/bagjunbeom/Downloads/CVDP/outputs/ca_bypass_off_20261011/crosscheck/summary.json</a:t>
            </a:r>
          </a:p>
          <a:p xmlns:a="http://schemas.openxmlformats.org/drawingml/2006/main">
            <a:r>
              <a:t>/Users/bagjunbeom/Downloads/CVDP/outputs/ca_bypass_off_20261011/crosscheck.py</a:t>
            </a:r>
          </a:p>
          <a:p xmlns:a="http://schemas.openxmlformats.org/drawingml/2006/main">
            <a:r>
              <a:t>/Users/bagjunbeom/Documents/Codex/2026-10-07/notion-plugin-notion-openai-curated-remote/outputs/HBF_zNAND_Research/results/znand/b_sequential/rows.json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저장된 원시 CSV 4개에서 200–2200µs의 80개 25µs bin을 사용했다. 각 점은 bin 중심 시각이고 y값은 실제 Host payload bytes/time이다. 2ms 평균과 완료 요청 수는 sweep.csv와 재계산으로 검증했다. 선은 점을 이어 보여주며 추가 평활화는 하지 않았다. 시간별 그래프는 초기 200µs와 종료 drain을 제외한 지속 입력 조건이다. 최고 구간 선택이 아니라 고정 2ms 전체를 보여준다. GB/s는 decimal GB/s다. 좌우 Y축은 각각 0–280, 0–6이다.</a:t>
            </a:r>
          </a:p>
          <a:p xmlns:a="http://schemas.openxmlformats.org/drawingml/2006/main">
            <a:endParaRPr/>
          </a:p>
          <a:p xmlns:a="http://schemas.openxmlformats.org/drawingml/2006/main">
            <a:r>
              <a:t>표시 순서 A1/A2, C1/C2. Device outstanding은 수락된 요청 중 최종 응답이 끝나지 않은 요청 수의 시간 평균이며 Host 대기열을 포함하지 않는다. 완료 건수와 outstanding은 모두 4 Port 합계다. QD512는 Port별 상한이다. A 평균/Host IF 256GB/s 비율은 A1 99.7523%, A2 99.6322%이다.</a:t>
            </a:r>
          </a:p>
          <a:p xmlns:a="http://schemas.openxmlformats.org/drawingml/2006/main">
            <a:endParaRPr/>
          </a:p>
          <a:p xmlns:a="http://schemas.openxmlformats.org/drawingml/2006/main">
            <a:r>
              <a:t>C1/C2는 각 4KiB 논리 페이지 시작 64B를 요청한다. 한 16KiB 물리 페이지의 4개 영역에서 총256B만 사용해 명목 유효 비율이1/64이다. 실제 내부 NAND 전송은 약257GB/s, Long tR 비율은0%로 관측했다. A1/C1은 동일 매핑과 장치 설정이고 A2/C2는 stripe와CA정책이 달라 완전히 크기만 비교한 쌍은 아니다. C의 약4GB/s는 이 전체16KiB 출력 모델의 결과이며 모든64B workload의 상한이 아니다.</a:t>
            </a:r>
          </a:p>
          <a:p xmlns:a="http://schemas.openxmlformats.org/drawingml/2006/main">
            <a:endParaRPr/>
          </a:p>
          <a:p xmlns:a="http://schemas.openxmlformats.org/drawingml/2006/main">
            <a:r>
              <a:t>주기적 하락의 원인은 별도 partial_dips 대조실험에서 확인했다. 가용률85%를 100µs 주기의Plane off로 모델링했고 in-order 선두가 늦어지면 준비된 후속응답도 대기한다. maintenance OFF 대조에서 큰 주기적 하락이 사라졌다. 이는 실제 NAND GC의 고유 주기를 주장하지 않는다. A의 데이터는4KiB 단위로 반환해 Host IF를 거의 계속 채우므로 동일한 지연 요인이 그래프에 덜 드러난다. C 곡선이 단기 약4GB/s 공급량 위로 오르는 구간은 준비된 버퍼 데이터를 몰아서 반환하는 현상이다.</a:t>
            </a:r>
          </a:p>
          <a:p xmlns:a="http://schemas.openxmlformats.org/drawingml/2006/main">
            <a:endParaRPr/>
          </a:p>
          <a:p xmlns:a="http://schemas.openxmlformats.org/drawingml/2006/main">
            <a:r>
              <a:t>출처</a:t>
            </a:r>
          </a:p>
          <a:p xmlns:a="http://schemas.openxmlformats.org/drawingml/2006/main">
            <a:r>
              <a:t>https://github.com/JBRARAPARK/HBF_zNAND_Research/blob/d29c1bc2d4d5fca269295b53864d90ec402e0cf4/results/znand/saturation/timelines/A1_b8_q512.csv</a:t>
            </a:r>
          </a:p>
          <a:p xmlns:a="http://schemas.openxmlformats.org/drawingml/2006/main">
            <a:r>
              <a:t>https://github.com/JBRARAPARK/HBF_zNAND_Research/blob/d29c1bc2d4d5fca269295b53864d90ec402e0cf4/results/znand/saturation/timelines/A2_b8_q512.csv</a:t>
            </a:r>
          </a:p>
          <a:p xmlns:a="http://schemas.openxmlformats.org/drawingml/2006/main">
            <a:r>
              <a:t>https://github.com/JBRARAPARK/HBF_zNAND_Research/blob/d29c1bc2d4d5fca269295b53864d90ec402e0cf4/results/znand/partial_saturation/timelines/B1_b8_q512.csv</a:t>
            </a:r>
          </a:p>
          <a:p xmlns:a="http://schemas.openxmlformats.org/drawingml/2006/main">
            <a:r>
              <a:t>https://github.com/JBRARAPARK/HBF_zNAND_Research/blob/d29c1bc2d4d5fca269295b53864d90ec402e0cf4/results/znand/partial_saturation/timelines/B2_b8_q512.csv</a:t>
            </a:r>
          </a:p>
          <a:p xmlns:a="http://schemas.openxmlformats.org/drawingml/2006/main">
            <a:r>
              <a:t>https://github.com/JBRARAPARK/HBF_zNAND_Research/blob/d29c1bc2d4d5fca269295b53864d90ec402e0cf4/results/znand/partial_dips/RESULTS_KO.md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새 round-robin 진단은 수락 성공 이후 시작 Port를 갱신한다. 용량 검사, 병합, QD 상한, 조회, NAND 스케줄링, 응답 순서를 유지한다. QD512에서도 round-robin 대조를 실행했다. 실제 제품/혼합 부하의 공정성 보장으로 일반화하지 않는다.</a:t>
            </a:r>
          </a:p>
          <a:p xmlns:a="http://schemas.openxmlformats.org/drawingml/2006/main">
            <a:r>
              <a:t/>
            </a:r>
          </a:p>
          <a:p xmlns:a="http://schemas.openxmlformats.org/drawingml/2006/main">
            <a:r>
              <a:t>Sources</a:t>
            </a:r>
          </a:p>
          <a:p xmlns:a="http://schemas.openxmlformats.org/drawingml/2006/main">
            <a:r>
              <a:t>/Users/bagjunbeom/Downloads/CVDP/outputs/ca_bypass_off_20261011/comparison.json</a:t>
            </a:r>
          </a:p>
          <a:p xmlns:a="http://schemas.openxmlformats.org/drawingml/2006/main">
            <a:r>
              <a:t>/Users/bagjunbeom/Downloads/CVDP/outputs/ca_bypass_off_20261011/crosscheck/summary.json</a:t>
            </a:r>
          </a:p>
          <a:p xmlns:a="http://schemas.openxmlformats.org/drawingml/2006/main">
            <a:r>
              <a:t>/Users/bagjunbeom/Downloads/CVDP/outputs/ca_bypass_off_20261011/crosscheck.py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B는 페이지 내부 64B 연속 읽기이며 C1/C2 희소 부분 읽기와 구분한다. 하이픈 표시는 미측정이다. QD65536 fixed/RR 비교에서는 CA가 FIFO로 동일하다.</a:t>
            </a:r>
          </a:p>
          <a:p xmlns:a="http://schemas.openxmlformats.org/drawingml/2006/main">
            <a:r>
              <a:t/>
            </a:r>
          </a:p>
          <a:p xmlns:a="http://schemas.openxmlformats.org/drawingml/2006/main">
            <a:r>
              <a:t>Sources</a:t>
            </a:r>
          </a:p>
          <a:p xmlns:a="http://schemas.openxmlformats.org/drawingml/2006/main">
            <a:r>
              <a:t>/Users/bagjunbeom/Downloads/CVDP/outputs/ca_bypass_off_20261011/comparison.json</a:t>
            </a:r>
          </a:p>
          <a:p xmlns:a="http://schemas.openxmlformats.org/drawingml/2006/main">
            <a:r>
              <a:t>/Users/bagjunbeom/Downloads/CVDP/outputs/ca_bypass_off_20261011/crosscheck/summary.json</a:t>
            </a:r>
          </a:p>
          <a:p xmlns:a="http://schemas.openxmlformats.org/drawingml/2006/main">
            <a:r>
              <a:t>/Users/bagjunbeom/Downloads/CVDP/outputs/ca_bypass_off_20261011/crosscheck.py</a:t>
            </a:r>
          </a:p>
          <a:p xmlns:a="http://schemas.openxmlformats.org/drawingml/2006/main">
            <a:r>
              <a:t>/Users/bagjunbeom/Documents/Codex/2026-10-07/notion-plugin-notion-openai-curated-remote/outputs/HBF_zNAND_Research/results/znand/b_sequential/rows.json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적정 QD는 모델/부하/버퍼/수락 정책에 종속된다. 정확한 Port별 동일 QD 또는 동일 실제 점유가 필수는 아니다. 고정 수락 기준점은 측정한 범위 중 조건부 권장이다. 데이터 활용률, 물리 Plane 공급량, Host와 NAND 전송 상한 역시 전제다.</a:t>
            </a:r>
          </a:p>
          <a:p xmlns:a="http://schemas.openxmlformats.org/drawingml/2006/main">
            <a:r>
              <a:t/>
            </a:r>
          </a:p>
          <a:p xmlns:a="http://schemas.openxmlformats.org/drawingml/2006/main">
            <a:r>
              <a:t>Sources</a:t>
            </a:r>
          </a:p>
          <a:p xmlns:a="http://schemas.openxmlformats.org/drawingml/2006/main">
            <a:r>
              <a:t>/Users/bagjunbeom/Downloads/CVDP/outputs/ca_bypass_off_20261011/comparison.json</a:t>
            </a:r>
          </a:p>
          <a:p xmlns:a="http://schemas.openxmlformats.org/drawingml/2006/main">
            <a:r>
              <a:t>/Users/bagjunbeom/Downloads/CVDP/outputs/ca_bypass_off_20261011/crosscheck/summary.json</a:t>
            </a:r>
          </a:p>
          <a:p xmlns:a="http://schemas.openxmlformats.org/drawingml/2006/main">
            <a:r>
              <a:t>/Users/bagjunbeom/Downloads/CVDP/outputs/ca_bypass_off_20261011/crosscheck.py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d8a631de1d448d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e46838646b5c4ae0"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c31db3fd8d14047"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af513bc37b4d450a"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7111e4e2abcd4ced"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eb354937ed8b4c1c"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2.xml" Id="R79fbe076d2584502"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2.xml" Id="R34eb8fa1d8464bee"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2.xml" Id="R5203d47005a64d78"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2.xml" Id="R97392a789c294a22"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2.xml" Id="R5cbbfc4b43644abc" /></Relationships>
</file>

<file path=ppt/slideLayouts/_rels/slideLayout12.xml.rels>&#65279;<?xml version="1.0" encoding="utf-8"?><Relationships xmlns="http://schemas.openxmlformats.org/package/2006/relationships"><Relationship Type="http://schemas.openxmlformats.org/officeDocument/2006/relationships/slideMaster" Target="/ppt/slideMasters/slideMaster2.xml" Id="R5ae646cb0bc94598" /></Relationships>
</file>

<file path=ppt/slideLayouts/_rels/slideLayout13.xml.rels>&#65279;<?xml version="1.0" encoding="utf-8"?><Relationships xmlns="http://schemas.openxmlformats.org/package/2006/relationships"><Relationship Type="http://schemas.openxmlformats.org/officeDocument/2006/relationships/slideMaster" Target="/ppt/slideMasters/slideMaster3.xml" Id="R485e286eb4e746e1" /></Relationships>
</file>

<file path=ppt/slideLayouts/_rels/slideLayout14.xml.rels>&#65279;<?xml version="1.0" encoding="utf-8"?><Relationships xmlns="http://schemas.openxmlformats.org/package/2006/relationships"><Relationship Type="http://schemas.openxmlformats.org/officeDocument/2006/relationships/slideMaster" Target="/ppt/slideMasters/slideMaster3.xml" Id="R6afdd29cce024e21" /></Relationships>
</file>

<file path=ppt/slideLayouts/_rels/slideLayout15.xml.rels>&#65279;<?xml version="1.0" encoding="utf-8"?><Relationships xmlns="http://schemas.openxmlformats.org/package/2006/relationships"><Relationship Type="http://schemas.openxmlformats.org/officeDocument/2006/relationships/slideMaster" Target="/ppt/slideMasters/slideMaster3.xml" Id="R5ff4e33c4e8d44b2" /></Relationships>
</file>

<file path=ppt/slideLayouts/_rels/slideLayout16.xml.rels>&#65279;<?xml version="1.0" encoding="utf-8"?><Relationships xmlns="http://schemas.openxmlformats.org/package/2006/relationships"><Relationship Type="http://schemas.openxmlformats.org/officeDocument/2006/relationships/slideMaster" Target="/ppt/slideMasters/slideMaster3.xml" Id="R3b8139e619304a72" /></Relationships>
</file>

<file path=ppt/slideLayouts/_rels/slideLayout17.xml.rels>&#65279;<?xml version="1.0" encoding="utf-8"?><Relationships xmlns="http://schemas.openxmlformats.org/package/2006/relationships"><Relationship Type="http://schemas.openxmlformats.org/officeDocument/2006/relationships/slideMaster" Target="/ppt/slideMasters/slideMaster3.xml" Id="R6718ec54dfd343af" /></Relationships>
</file>

<file path=ppt/slideLayouts/_rels/slideLayout18.xml.rels>&#65279;<?xml version="1.0" encoding="utf-8"?><Relationships xmlns="http://schemas.openxmlformats.org/package/2006/relationships"><Relationship Type="http://schemas.openxmlformats.org/officeDocument/2006/relationships/slideMaster" Target="/ppt/slideMasters/slideMaster3.xml" Id="R7c73e6ab04624b7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F636BB1-F513-4C1D-9B4F-76792A14354D}"/>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a:endParaRPr/>
          </a:p>
        </p:txBody>
      </p:sp>
      <p:sp>
        <p:nvSpPr>
          <p:cNvPr id="2" name="Subtitle">
            <a:extLst xmlns:a="http://schemas.openxmlformats.org/drawingml/2006/main">
              <a:ext uri="{FF2B5EF4-FFF2-40B4-BE49-F238E27FC236}">
                <a16:creationId xmlns:a16="http://schemas.microsoft.com/office/drawing/2014/main" id="{B31BE40B-9F8B-4610-9912-E8DCD63F3443}"/>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a:endParaRPr/>
          </a:p>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ECAC9C61-DFDA-449B-A218-A36CC80C24A9}"/>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a:endParaRPr/>
          </a:p>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A606A4E-04F2-436F-9AEF-2D5BF841F9C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a:endParaRPr/>
          </a:p>
        </p:txBody>
      </p:sp>
      <p:sp>
        <p:nvSpPr>
          <p:cNvPr id="2" name="Body">
            <a:extLst xmlns:a="http://schemas.openxmlformats.org/drawingml/2006/main">
              <a:ext uri="{FF2B5EF4-FFF2-40B4-BE49-F238E27FC236}">
                <a16:creationId xmlns:a16="http://schemas.microsoft.com/office/drawing/2014/main" id="{B0D9746F-9049-400E-8ED5-F761DD836826}"/>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a:endParaRPr/>
          </a:p>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3E9C0AA8-0690-4147-B4B8-A2A65900931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a:endParaRPr/>
          </a:p>
        </p:txBody>
      </p:sp>
      <p:sp>
        <p:nvSpPr>
          <p:cNvPr id="2" name="Left column">
            <a:extLst xmlns:a="http://schemas.openxmlformats.org/drawingml/2006/main">
              <a:ext uri="{FF2B5EF4-FFF2-40B4-BE49-F238E27FC236}">
                <a16:creationId xmlns:a16="http://schemas.microsoft.com/office/drawing/2014/main" id="{3F060553-C356-402C-BB73-51CA83DE01D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a:endParaRPr/>
          </a:p>
        </p:txBody>
      </p:sp>
      <p:sp>
        <p:nvSpPr>
          <p:cNvPr id="3" name="Right column">
            <a:extLst xmlns:a="http://schemas.openxmlformats.org/drawingml/2006/main">
              <a:ext uri="{FF2B5EF4-FFF2-40B4-BE49-F238E27FC236}">
                <a16:creationId xmlns:a16="http://schemas.microsoft.com/office/drawing/2014/main" id="{133BF784-B6A1-443E-8B58-47723F1E48FA}"/>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a:endParaRPr/>
          </a:p>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C90B573-02F1-4B9B-AD6A-04192FB9B4A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a:endParaRPr/>
          </a:p>
        </p:txBody>
      </p:sp>
      <p:sp>
        <p:nvSpPr>
          <p:cNvPr id="2" name="Left column">
            <a:extLst xmlns:a="http://schemas.openxmlformats.org/drawingml/2006/main">
              <a:ext uri="{FF2B5EF4-FFF2-40B4-BE49-F238E27FC236}">
                <a16:creationId xmlns:a16="http://schemas.microsoft.com/office/drawing/2014/main" id="{7DC6D2A6-123F-482A-9D4F-139226D974C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a:endParaRPr/>
          </a:p>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Layouts/slideLayout7.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5DDFE56-5BDD-423D-AC7F-23D4BAC8DC5C}"/>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a:endParaRPr/>
          </a:p>
        </p:txBody>
      </p:sp>
      <p:sp>
        <p:nvSpPr>
          <p:cNvPr id="2" name="Subtitle">
            <a:extLst xmlns:a="http://schemas.openxmlformats.org/drawingml/2006/main">
              <a:ext uri="{FF2B5EF4-FFF2-40B4-BE49-F238E27FC236}">
                <a16:creationId xmlns:a16="http://schemas.microsoft.com/office/drawing/2014/main" id="{3D6D617D-359B-45D7-98A0-CA02731C72F7}"/>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a:endParaRPr/>
          </a:p>
        </p:txBody>
      </p:sp>
    </p:spTree>
  </p:cSld>
</p:sldLayout>
</file>

<file path=ppt/slideLayouts/slideLayout8.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43CF19C0-471C-4A84-9A8B-1E8CEA6F6E4A}"/>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a:endParaRPr/>
          </a:p>
        </p:txBody>
      </p:sp>
    </p:spTree>
  </p:cSld>
</p:sldLayout>
</file>

<file path=ppt/slideLayouts/slideLayout9.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6FA18D6-D277-46B6-BE42-17594D4D3D8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a:endParaRPr/>
          </a:p>
        </p:txBody>
      </p:sp>
      <p:sp>
        <p:nvSpPr>
          <p:cNvPr id="2" name="Body">
            <a:extLst xmlns:a="http://schemas.openxmlformats.org/drawingml/2006/main">
              <a:ext uri="{FF2B5EF4-FFF2-40B4-BE49-F238E27FC236}">
                <a16:creationId xmlns:a16="http://schemas.microsoft.com/office/drawing/2014/main" id="{D6B3FDD8-0F9A-4C06-A901-BFAB2043FFAE}"/>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a:endParaRPr/>
          </a:p>
        </p:txBody>
      </p:sp>
    </p:spTree>
  </p:cSld>
</p:sldLayout>
</file>

<file path=ppt/slideLayouts/slideLayout10.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BCFF2C4E-8DD4-45EB-B08E-4BB31748699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a:endParaRPr/>
          </a:p>
        </p:txBody>
      </p:sp>
      <p:sp>
        <p:nvSpPr>
          <p:cNvPr id="2" name="Left column">
            <a:extLst xmlns:a="http://schemas.openxmlformats.org/drawingml/2006/main">
              <a:ext uri="{FF2B5EF4-FFF2-40B4-BE49-F238E27FC236}">
                <a16:creationId xmlns:a16="http://schemas.microsoft.com/office/drawing/2014/main" id="{7C69EC79-F02C-45D5-9B11-B9EE1BAEF26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a:endParaRPr/>
          </a:p>
        </p:txBody>
      </p:sp>
      <p:sp>
        <p:nvSpPr>
          <p:cNvPr id="3" name="Right column">
            <a:extLst xmlns:a="http://schemas.openxmlformats.org/drawingml/2006/main">
              <a:ext uri="{FF2B5EF4-FFF2-40B4-BE49-F238E27FC236}">
                <a16:creationId xmlns:a16="http://schemas.microsoft.com/office/drawing/2014/main" id="{299873E9-96C8-4C32-AD8F-79D83593ABAB}"/>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a:endParaRPr/>
          </a:p>
        </p:txBody>
      </p:sp>
    </p:spTree>
  </p:cSld>
</p:sldLayout>
</file>

<file path=ppt/slideLayouts/slideLayout11.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1F97F04-5D5D-4C21-825B-7202B6C6E16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a:endParaRPr/>
          </a:p>
        </p:txBody>
      </p:sp>
      <p:sp>
        <p:nvSpPr>
          <p:cNvPr id="2" name="Left column">
            <a:extLst xmlns:a="http://schemas.openxmlformats.org/drawingml/2006/main">
              <a:ext uri="{FF2B5EF4-FFF2-40B4-BE49-F238E27FC236}">
                <a16:creationId xmlns:a16="http://schemas.microsoft.com/office/drawing/2014/main" id="{4A94EA82-3A37-4348-BEFD-67CFF7CE012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a:endParaRPr/>
          </a:p>
        </p:txBody>
      </p:sp>
    </p:spTree>
  </p:cSld>
</p:sldLayout>
</file>

<file path=ppt/slideLayouts/slideLayout12.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Layouts/slideLayout13.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EA2AC8E-4FCA-4C7B-8681-5ECD6CBA983C}"/>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a:endParaRPr/>
          </a:p>
        </p:txBody>
      </p:sp>
      <p:sp>
        <p:nvSpPr>
          <p:cNvPr id="2" name="Subtitle">
            <a:extLst xmlns:a="http://schemas.openxmlformats.org/drawingml/2006/main">
              <a:ext uri="{FF2B5EF4-FFF2-40B4-BE49-F238E27FC236}">
                <a16:creationId xmlns:a16="http://schemas.microsoft.com/office/drawing/2014/main" id="{D8355CED-5156-47B9-858A-90B53D6679AB}"/>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a:endParaRPr/>
          </a:p>
        </p:txBody>
      </p:sp>
    </p:spTree>
  </p:cSld>
</p:sldLayout>
</file>

<file path=ppt/slideLayouts/slideLayout14.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32B063E7-C175-4B89-A36E-D6DC904962A1}"/>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a:endParaRPr/>
          </a:p>
        </p:txBody>
      </p:sp>
    </p:spTree>
  </p:cSld>
</p:sldLayout>
</file>

<file path=ppt/slideLayouts/slideLayout15.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7B4BB26-D6D6-4E5F-B71E-1FB621E2017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a:endParaRPr/>
          </a:p>
        </p:txBody>
      </p:sp>
      <p:sp>
        <p:nvSpPr>
          <p:cNvPr id="2" name="Body">
            <a:extLst xmlns:a="http://schemas.openxmlformats.org/drawingml/2006/main">
              <a:ext uri="{FF2B5EF4-FFF2-40B4-BE49-F238E27FC236}">
                <a16:creationId xmlns:a16="http://schemas.microsoft.com/office/drawing/2014/main" id="{B63647B3-589C-4286-BB06-612FF3871F76}"/>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a:endParaRPr/>
          </a:p>
        </p:txBody>
      </p:sp>
    </p:spTree>
  </p:cSld>
</p:sldLayout>
</file>

<file path=ppt/slideLayouts/slideLayout16.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40EBBF2B-1066-47EC-AC7B-ED96582029F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a:endParaRPr/>
          </a:p>
        </p:txBody>
      </p:sp>
      <p:sp>
        <p:nvSpPr>
          <p:cNvPr id="2" name="Left column">
            <a:extLst xmlns:a="http://schemas.openxmlformats.org/drawingml/2006/main">
              <a:ext uri="{FF2B5EF4-FFF2-40B4-BE49-F238E27FC236}">
                <a16:creationId xmlns:a16="http://schemas.microsoft.com/office/drawing/2014/main" id="{13B57A50-EABF-49D1-AB17-813D830E21C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a:endParaRPr/>
          </a:p>
        </p:txBody>
      </p:sp>
      <p:sp>
        <p:nvSpPr>
          <p:cNvPr id="3" name="Right column">
            <a:extLst xmlns:a="http://schemas.openxmlformats.org/drawingml/2006/main">
              <a:ext uri="{FF2B5EF4-FFF2-40B4-BE49-F238E27FC236}">
                <a16:creationId xmlns:a16="http://schemas.microsoft.com/office/drawing/2014/main" id="{D87D9803-6D6D-4A88-A9DB-6F53A7E99FEB}"/>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a:endParaRPr/>
          </a:p>
        </p:txBody>
      </p:sp>
    </p:spTree>
  </p:cSld>
</p:sldLayout>
</file>

<file path=ppt/slideLayouts/slideLayout17.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652FE76-E18D-40DF-B1AA-F5EDC905423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a:endParaRPr/>
          </a:p>
        </p:txBody>
      </p:sp>
      <p:sp>
        <p:nvSpPr>
          <p:cNvPr id="2" name="Left column">
            <a:extLst xmlns:a="http://schemas.openxmlformats.org/drawingml/2006/main">
              <a:ext uri="{FF2B5EF4-FFF2-40B4-BE49-F238E27FC236}">
                <a16:creationId xmlns:a16="http://schemas.microsoft.com/office/drawing/2014/main" id="{483D6C26-DD94-4AD2-B94D-CA7A1FDACBF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a:endParaRPr/>
          </a:p>
        </p:txBody>
      </p:sp>
    </p:spTree>
  </p:cSld>
</p:sldLayout>
</file>

<file path=ppt/slideLayouts/slideLayout18.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3429bca598c4f5d" /><Relationship Type="http://schemas.openxmlformats.org/officeDocument/2006/relationships/slideLayout" Target="/ppt/slideLayouts/slideLayout1.xml" Id="R3deabe4027924c4c" /><Relationship Type="http://schemas.openxmlformats.org/officeDocument/2006/relationships/slideLayout" Target="/ppt/slideLayouts/slideLayout2.xml" Id="R03f69315005a4e16" /><Relationship Type="http://schemas.openxmlformats.org/officeDocument/2006/relationships/slideLayout" Target="/ppt/slideLayouts/slideLayout3.xml" Id="R5b72943fd69444e5" /><Relationship Type="http://schemas.openxmlformats.org/officeDocument/2006/relationships/slideLayout" Target="/ppt/slideLayouts/slideLayout4.xml" Id="R857800d993494c6c" /><Relationship Type="http://schemas.openxmlformats.org/officeDocument/2006/relationships/slideLayout" Target="/ppt/slideLayouts/slideLayout5.xml" Id="R0659ce9d0db24d65" /><Relationship Type="http://schemas.openxmlformats.org/officeDocument/2006/relationships/slideLayout" Target="/ppt/slideLayouts/slideLayout6.xml" Id="Re7c5bbbd757d4f9c" /></Relationships>
</file>

<file path=ppt/slideMasters/_rels/slideMaster2.xml.rels>&#65279;<?xml version="1.0" encoding="utf-8"?><Relationships xmlns="http://schemas.openxmlformats.org/package/2006/relationships"><Relationship Type="http://schemas.openxmlformats.org/officeDocument/2006/relationships/theme" Target="/ppt/slideMasters/theme/theme3.xml" Id="R32b9b22000104f8e" /><Relationship Type="http://schemas.openxmlformats.org/officeDocument/2006/relationships/slideLayout" Target="/ppt/slideLayouts/slideLayout7.xml" Id="R42e3c6b31b9a43e9" /><Relationship Type="http://schemas.openxmlformats.org/officeDocument/2006/relationships/slideLayout" Target="/ppt/slideLayouts/slideLayout8.xml" Id="R51f42d78db9846df" /><Relationship Type="http://schemas.openxmlformats.org/officeDocument/2006/relationships/slideLayout" Target="/ppt/slideLayouts/slideLayout9.xml" Id="R790626735a8a499a" /><Relationship Type="http://schemas.openxmlformats.org/officeDocument/2006/relationships/slideLayout" Target="/ppt/slideLayouts/slideLayout10.xml" Id="R842a9a8030e148cc" /><Relationship Type="http://schemas.openxmlformats.org/officeDocument/2006/relationships/slideLayout" Target="/ppt/slideLayouts/slideLayout11.xml" Id="Ra1eba9c03d554633" /><Relationship Type="http://schemas.openxmlformats.org/officeDocument/2006/relationships/slideLayout" Target="/ppt/slideLayouts/slideLayout12.xml" Id="R3856ac1592364b1b" /></Relationships>
</file>

<file path=ppt/slideMasters/_rels/slideMaster3.xml.rels>&#65279;<?xml version="1.0" encoding="utf-8"?><Relationships xmlns="http://schemas.openxmlformats.org/package/2006/relationships"><Relationship Type="http://schemas.openxmlformats.org/officeDocument/2006/relationships/theme" Target="/ppt/slideMasters/theme/theme4.xml" Id="R09cd1e0c64b04dbb" /><Relationship Type="http://schemas.openxmlformats.org/officeDocument/2006/relationships/slideLayout" Target="/ppt/slideLayouts/slideLayout13.xml" Id="R0708b92343ad4ec2" /><Relationship Type="http://schemas.openxmlformats.org/officeDocument/2006/relationships/slideLayout" Target="/ppt/slideLayouts/slideLayout14.xml" Id="R587362df9f47464b" /><Relationship Type="http://schemas.openxmlformats.org/officeDocument/2006/relationships/slideLayout" Target="/ppt/slideLayouts/slideLayout15.xml" Id="Red61ed9d4fdc4315" /><Relationship Type="http://schemas.openxmlformats.org/officeDocument/2006/relationships/slideLayout" Target="/ppt/slideLayouts/slideLayout16.xml" Id="Re8f85849d07c48ee" /><Relationship Type="http://schemas.openxmlformats.org/officeDocument/2006/relationships/slideLayout" Target="/ppt/slideLayouts/slideLayout17.xml" Id="Rc30e713791e645a3" /><Relationship Type="http://schemas.openxmlformats.org/officeDocument/2006/relationships/slideLayout" Target="/ppt/slideLayouts/slideLayout18.xml" Id="Rc054fb40a9d84b7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deabe4027924c4c"/>
    <p:sldLayoutId xmlns:r="http://schemas.openxmlformats.org/officeDocument/2006/relationships" id="2147483650" r:id="R03f69315005a4e16"/>
    <p:sldLayoutId xmlns:r="http://schemas.openxmlformats.org/officeDocument/2006/relationships" id="2147483651" r:id="R5b72943fd69444e5"/>
    <p:sldLayoutId xmlns:r="http://schemas.openxmlformats.org/officeDocument/2006/relationships" id="2147483652" r:id="R857800d993494c6c"/>
    <p:sldLayoutId xmlns:r="http://schemas.openxmlformats.org/officeDocument/2006/relationships" id="2147483653" r:id="R0659ce9d0db24d65"/>
    <p:sldLayoutId xmlns:r="http://schemas.openxmlformats.org/officeDocument/2006/relationships" id="2147483654" r:id="Re7c5bbbd757d4f9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slideMaster2.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56" r:id="R42e3c6b31b9a43e9"/>
    <p:sldLayoutId xmlns:r="http://schemas.openxmlformats.org/officeDocument/2006/relationships" id="2147483657" r:id="R51f42d78db9846df"/>
    <p:sldLayoutId xmlns:r="http://schemas.openxmlformats.org/officeDocument/2006/relationships" id="2147483658" r:id="R790626735a8a499a"/>
    <p:sldLayoutId xmlns:r="http://schemas.openxmlformats.org/officeDocument/2006/relationships" id="2147483659" r:id="R842a9a8030e148cc"/>
    <p:sldLayoutId xmlns:r="http://schemas.openxmlformats.org/officeDocument/2006/relationships" id="2147483660" r:id="Ra1eba9c03d554633"/>
    <p:sldLayoutId xmlns:r="http://schemas.openxmlformats.org/officeDocument/2006/relationships" id="2147483661" r:id="R3856ac1592364b1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slideMaster3.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63" r:id="R0708b92343ad4ec2"/>
    <p:sldLayoutId xmlns:r="http://schemas.openxmlformats.org/officeDocument/2006/relationships" id="2147483664" r:id="R587362df9f47464b"/>
    <p:sldLayoutId xmlns:r="http://schemas.openxmlformats.org/officeDocument/2006/relationships" id="2147483665" r:id="Red61ed9d4fdc4315"/>
    <p:sldLayoutId xmlns:r="http://schemas.openxmlformats.org/officeDocument/2006/relationships" id="2147483666" r:id="Re8f85849d07c48ee"/>
    <p:sldLayoutId xmlns:r="http://schemas.openxmlformats.org/officeDocument/2006/relationships" id="2147483667" r:id="Rc30e713791e645a3"/>
    <p:sldLayoutId xmlns:r="http://schemas.openxmlformats.org/officeDocument/2006/relationships" id="2147483668" r:id="Rc054fb40a9d84b7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4.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6b0f994175a04533" /><Relationship Type="http://schemas.openxmlformats.org/officeDocument/2006/relationships/notesSlide" Target="/ppt/notesSlides/notesSlide1.xml" Id="Rc3ba066f7ac64b6e"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28caddd5487f45c7" /><Relationship Type="http://schemas.openxmlformats.org/officeDocument/2006/relationships/notesSlide" Target="/ppt/notesSlides/notesSlide2.xml" Id="Rb8ef76733527414f"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4082fbdabf6d45ab" /><Relationship Type="http://schemas.openxmlformats.org/officeDocument/2006/relationships/notesSlide" Target="/ppt/notesSlides/notesSlide3.xml" Id="R66f1d036617e4634"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24feb692cda04e2b" /><Relationship Type="http://schemas.openxmlformats.org/officeDocument/2006/relationships/notesSlide" Target="/ppt/notesSlides/notesSlide4.xml" Id="Rffacadfbe98840bc"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1d23196173014bdb" /><Relationship Type="http://schemas.openxmlformats.org/officeDocument/2006/relationships/notesSlide" Target="/ppt/notesSlides/notesSlide5.xml" Id="Rd4627fdd64214bca"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d47906998c824933" /><Relationship Type="http://schemas.openxmlformats.org/officeDocument/2006/relationships/chart" Target="/ppt/slides/charts/chart1.xml" Id="R5cd10e92721d4d21" /><Relationship Type="http://schemas.openxmlformats.org/officeDocument/2006/relationships/notesSlide" Target="/ppt/notesSlides/notesSlide6.xml" Id="Rc6eb3ef8ac15490e"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7bfb49ca14d944c4" /><Relationship Type="http://schemas.openxmlformats.org/officeDocument/2006/relationships/notesSlide" Target="/ppt/notesSlides/notesSlide7.xml" Id="Rc7fd6bc33cde4b9d"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a7c95865a70a4189" /><Relationship Type="http://schemas.openxmlformats.org/officeDocument/2006/relationships/notesSlide" Target="/ppt/notesSlides/notesSlide8.xml" Id="Ra420e5ba2c2a4a7b"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811c244e04f8499b" /><Relationship Type="http://schemas.openxmlformats.org/officeDocument/2006/relationships/chart" Target="/ppt/slides/charts/chart2.xml" Id="Rcf55b71ff0384d96" /><Relationship Type="http://schemas.openxmlformats.org/officeDocument/2006/relationships/notesSlide" Target="/ppt/notesSlides/notesSlide9.xml" Id="Rcb96962b665e461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deb47a8943de46ee" /><Relationship Type="http://schemas.openxmlformats.org/officeDocument/2006/relationships/notesSlide" Target="/ppt/notesSlides/notesSlide10.xml" Id="R08e78fe7a7ce440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620b01a31f094804" /><Relationship Type="http://schemas.openxmlformats.org/officeDocument/2006/relationships/notesSlide" Target="/ppt/notesSlides/notesSlide11.xml" Id="R2bca366b7dea4d9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8.xml" Id="R5ba3558148f44e2a" /><Relationship Type="http://schemas.openxmlformats.org/officeDocument/2006/relationships/notesSlide" Target="/ppt/notesSlides/notesSlide12.xml" Id="R34400617267847d9"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8.xml" Id="Rcbb1b119855a4728" /><Relationship Type="http://schemas.openxmlformats.org/officeDocument/2006/relationships/notesSlide" Target="/ppt/notesSlides/notesSlide13.xml" Id="Rfb22eb43244e4239"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2.xml" Id="R5b2f173ef74249bc" /><Relationship Type="http://schemas.openxmlformats.org/officeDocument/2006/relationships/chart" Target="/ppt/slides/charts/chart3.xml" Id="R3cd7dfb64c904eec" /><Relationship Type="http://schemas.openxmlformats.org/officeDocument/2006/relationships/chart" Target="/ppt/slides/charts/chart4.xml" Id="Rb80713da4ad64a2f" /><Relationship Type="http://schemas.openxmlformats.org/officeDocument/2006/relationships/notesSlide" Target="/ppt/notesSlides/notesSlide14.xml" Id="R3c4ca9303ff44107"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d41e669611d54a07" /><Relationship Type="http://schemas.openxmlformats.org/officeDocument/2006/relationships/notesSlide" Target="/ppt/notesSlides/notesSlide15.xml" Id="R9db629a4a8c54880"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76cb520f33494e45" /><Relationship Type="http://schemas.openxmlformats.org/officeDocument/2006/relationships/notesSlide" Target="/ppt/notesSlides/notesSlide16.xml" Id="R34f1830ab75142ba"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428408428b664536" /><Relationship Type="http://schemas.openxmlformats.org/officeDocument/2006/relationships/notesSlide" Target="/ppt/notesSlides/notesSlide17.xml" Id="R37a455526a4b4e57"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xml version='1.0' encoding='UTF-8' standalone='yes'?>
<Relationships xmlns="http://schemas.openxmlformats.org/package/2006/relationships"><Relationship Id="rId1" Type="http://schemas.openxmlformats.org/officeDocument/2006/relationships/package" Target="workbooks/source-slide9-chart1.xlsx"/></Relationships>
</file>

<file path=ppt/slides/charts/_rels/chart3.xml.rels><?xml version='1.0' encoding='UTF-8' standalone='yes'?>
<Relationships xmlns="http://schemas.openxmlformats.org/package/2006/relationships"><Relationship Id="rId1" Type="http://schemas.openxmlformats.org/officeDocument/2006/relationships/package" Target="workbooks/source-slide14-chart1.xlsx"/></Relationships>
</file>

<file path=ppt/slides/charts/_rels/chart4.xml.rels><?xml version='1.0' encoding='UTF-8' standalone='yes'?>
<Relationships xmlns="http://schemas.openxmlformats.org/package/2006/relationships"><Relationship Id="rId1" Type="http://schemas.openxmlformats.org/officeDocument/2006/relationships/package" Target="workbooks/source-slide14-chart2.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기존 배치</c:v>
          </c:tx>
          <c:spPr>
            <a:solidFill xmlns:a="http://schemas.openxmlformats.org/drawingml/2006/main">
              <a:srgbClr val="9AA9B5"/>
            </a:solidFill>
          </c:spPr>
          <c:invertIfNegative val="0"/>
          <c:cat>
            <c:strRef>
              <c:f>'Chart Data'!$A$2:$A$3</c:f>
              <c:strCache>
                <c:ptCount val="2"/>
                <c:pt idx="0">
                  <c:v>A1 순차</c:v>
                </c:pt>
                <c:pt idx="1">
                  <c:v>A2 국소 순열</c:v>
                </c:pt>
              </c:strCache>
            </c:strRef>
          </c:cat>
          <c:val>
            <c:numRef>
              <c:f>'Chart Data'!$B$2:$B$3</c:f>
              <c:numCache>
                <c:formatCode>0</c:formatCode>
                <c:ptCount val="2"/>
                <c:pt idx="0">
                  <c:v>71.201843</c:v>
                </c:pt>
                <c:pt idx="1">
                  <c:v>71.357144</c:v>
                </c:pt>
              </c:numCache>
            </c:numRef>
          </c:val>
        </c:ser>
        <c:ser>
          <c:idx val="1"/>
          <c:order val="1"/>
          <c:tx>
            <c:v>영역별 Plane 배치</c:v>
          </c:tx>
          <c:spPr>
            <a:solidFill xmlns:a="http://schemas.openxmlformats.org/drawingml/2006/main">
              <a:srgbClr val="126DCA"/>
            </a:solidFill>
          </c:spPr>
          <c:invertIfNegative val="0"/>
          <c:cat>
            <c:strRef>
              <c:f>'Chart Data'!$C$2:$C$3</c:f>
              <c:strCache>
                <c:ptCount val="2"/>
                <c:pt idx="0">
                  <c:v>A1 순차</c:v>
                </c:pt>
                <c:pt idx="1">
                  <c:v>A2 국소 순열</c:v>
                </c:pt>
              </c:strCache>
            </c:strRef>
          </c:cat>
          <c:val>
            <c:numRef>
              <c:f>'Chart Data'!$D$2:$D$3</c:f>
              <c:numCache>
                <c:formatCode>0</c:formatCode>
                <c:ptCount val="2"/>
                <c:pt idx="0">
                  <c:v>255.365922</c:v>
                </c:pt>
                <c:pt idx="1">
                  <c:v>255.05833</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725" b="1">
                  <a:solidFill>
                    <a:srgbClr val="172738"/>
                  </a:solidFill>
                  <a:latin typeface="Apple SD Gothic Neo"/>
                  <a:ea typeface="Apple SD Gothic Neo"/>
                  <a:cs typeface="Apple SD Gothic Neo"/>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FE6EB"/>
            </a:solidFill>
          </a:ln>
        </c:spPr>
        <c:txPr>
          <a:bodyPr xmlns:a="http://schemas.openxmlformats.org/drawingml/2006/main" anchorCtr="1"/>
          <a:lstStyle xmlns:a="http://schemas.openxmlformats.org/drawingml/2006/main"/>
          <a:p xmlns:a="http://schemas.openxmlformats.org/drawingml/2006/main">
            <a:pPr>
              <a:defRPr sz="1650">
                <a:solidFill>
                  <a:srgbClr val="586875"/>
                </a:solidFill>
                <a:latin typeface="Apple SD Gothic Neo"/>
                <a:ea typeface="Apple SD Gothic Neo"/>
                <a:cs typeface="Apple SD Gothic Neo"/>
              </a:defRPr>
            </a:pPr>
          </a:p>
        </c:txPr>
        <c:crossAx val="48672768"/>
      </c:catAx>
      <c:valAx>
        <c:axId val="48672768"/>
        <c:scaling>
          <c:orientation val="minMax"/>
          <c:max val="280"/>
          <c:min val="0"/>
        </c:scaling>
        <c:delete val="0"/>
        <c:axPos val="l"/>
        <c:majorGridlines>
          <c:spPr>
            <a:ln xmlns:a="http://schemas.openxmlformats.org/drawingml/2006/main" w="9525">
              <a:solidFill>
                <a:srgbClr val="DFE6EB"/>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86875"/>
                </a:solidFill>
                <a:latin typeface="Apple SD Gothic Neo"/>
                <a:ea typeface="Apple SD Gothic Neo"/>
                <a:cs typeface="Apple SD Gothic Neo"/>
              </a:defRPr>
            </a:pPr>
          </a:p>
        </c:txPr>
        <c:crossAx val="48650112"/>
        <c:crossBetween val="between"/>
        <c:majorUnit val="70"/>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575">
              <a:solidFill>
                <a:srgbClr val="586875"/>
              </a:solidFill>
              <a:latin typeface="Apple SD Gothic Neo"/>
              <a:ea typeface="Apple SD Gothic Neo"/>
              <a:cs typeface="Apple SD Gothic Neo"/>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ko-KR"/>
  <c:roundedCorners val="1"/>
  <c:style val="2"/>
  <c:chart>
    <c:autoTitleDeleted val="1"/>
    <c:plotArea>
      <c:layout/>
      <c:lineChart>
        <c:grouping val="standard"/>
        <c:varyColors val="0"/>
        <c:ser>
          <c:idx val="0"/>
          <c:order val="0"/>
          <c:tx>
            <c:v>A1</c:v>
          </c:tx>
          <c:spPr>
            <a:ln w="28575">
              <a:solidFill>
                <a:srgbClr val="126DCA"/>
              </a:solidFill>
            </a:ln>
          </c:spPr>
          <c:marker>
            <c:symbol val="circle"/>
            <c:size val="8"/>
            <c:spPr>
              <a:solidFill>
                <a:srgbClr val="126DCA"/>
              </a:solidFill>
            </c:spPr>
          </c:marker>
          <c:cat>
            <c:numRef>
              <c:f>'Chart Data'!$A$2:$A$6</c:f>
              <c:numCache>
                <c:formatCode>General</c:formatCode>
                <c:ptCount val="5"/>
                <c:pt idx="0">
                  <c:v>128</c:v>
                </c:pt>
                <c:pt idx="1">
                  <c:v>256</c:v>
                </c:pt>
                <c:pt idx="2">
                  <c:v>512</c:v>
                </c:pt>
                <c:pt idx="3">
                  <c:v>1024</c:v>
                </c:pt>
                <c:pt idx="4">
                  <c:v>2048</c:v>
                </c:pt>
              </c:numCache>
            </c:numRef>
          </c:cat>
          <c:val>
            <c:numRef>
              <c:f>'Chart Data'!$B$2:$B$6</c:f>
              <c:numCache>
                <c:formatCode>General</c:formatCode>
                <c:ptCount val="5"/>
                <c:pt idx="0">
                  <c:v>151.702373</c:v>
                </c:pt>
                <c:pt idx="1">
                  <c:v>241.066621</c:v>
                </c:pt>
                <c:pt idx="2">
                  <c:v>255.365922</c:v>
                </c:pt>
                <c:pt idx="3">
                  <c:v>131.223552</c:v>
                </c:pt>
                <c:pt idx="4">
                  <c:v>68.857856</c:v>
                </c:pt>
              </c:numCache>
            </c:numRef>
          </c:val>
          <c:smooth val="0"/>
          <c:extLst>
            <c:ext xmlns:c16="http://schemas.microsoft.com/office/drawing/2014/chart" uri="{C3380CC4-5D6E-409C-BE32-E72D297353CC}">
              <c16:uniqueId val="{00000000-B5E4-B84D-9A63-A8A332556188}"/>
            </c:ext>
          </c:extLst>
        </c:ser>
        <c:ser>
          <c:idx val="1"/>
          <c:order val="1"/>
          <c:tx>
            <c:v>A2</c:v>
          </c:tx>
          <c:spPr>
            <a:ln w="28575">
              <a:solidFill>
                <a:srgbClr val="008B82"/>
              </a:solidFill>
            </a:ln>
          </c:spPr>
          <c:marker>
            <c:symbol val="diamond"/>
            <c:size val="8"/>
            <c:spPr>
              <a:solidFill>
                <a:srgbClr val="008B82"/>
              </a:solidFill>
            </c:spPr>
          </c:marker>
          <c:cat>
            <c:numRef>
              <c:f>'Chart Data'!$C$2:$C$6</c:f>
              <c:numCache>
                <c:formatCode>General</c:formatCode>
                <c:ptCount val="5"/>
                <c:pt idx="0">
                  <c:v>128</c:v>
                </c:pt>
                <c:pt idx="1">
                  <c:v>256</c:v>
                </c:pt>
                <c:pt idx="2">
                  <c:v>512</c:v>
                </c:pt>
                <c:pt idx="3">
                  <c:v>1024</c:v>
                </c:pt>
                <c:pt idx="4">
                  <c:v>2048</c:v>
                </c:pt>
              </c:numCache>
            </c:numRef>
          </c:cat>
          <c:val>
            <c:numRef>
              <c:f>'Chart Data'!$D$2:$D$6</c:f>
              <c:numCache>
                <c:formatCode>General</c:formatCode>
                <c:ptCount val="5"/>
                <c:pt idx="0">
                  <c:v>149.688922</c:v>
                </c:pt>
                <c:pt idx="1">
                  <c:v>241.975943</c:v>
                </c:pt>
                <c:pt idx="2">
                  <c:v>255.05833</c:v>
                </c:pt>
                <c:pt idx="3">
                  <c:v>133.259264</c:v>
                </c:pt>
                <c:pt idx="4">
                  <c:v>71.888925</c:v>
                </c:pt>
              </c:numCache>
            </c:numRef>
          </c:val>
          <c:smooth val="0"/>
          <c:extLst>
            <c:ext xmlns:c16="http://schemas.microsoft.com/office/drawing/2014/chart" uri="{C3380CC4-5D6E-409C-BE32-E72D297353CC}">
              <c16:uniqueId val="{00000001-B5E4-B84D-9A63-A8A332556188}"/>
            </c:ext>
          </c:extLst>
        </c:ser>
        <c:dLbls>
          <c:showLegendKey val="0"/>
          <c:showVal val="0"/>
          <c:showCatName val="0"/>
          <c:showSerName val="0"/>
          <c:showPercent val="0"/>
          <c:showBubbleSize val="0"/>
        </c:dLbls>
        <c:marker val="1"/>
        <c:smooth val="0"/>
        <c:axId val="48650112"/>
        <c:axId val="48672768"/>
      </c:lineChart>
      <c:catAx>
        <c:axId val="48650112"/>
        <c:scaling>
          <c:orientation val="minMax"/>
        </c:scaling>
        <c:delete val="0"/>
        <c:axPos val="b"/>
        <c:title>
          <c:tx>
            <c:rich>
              <a:bodyPr/>
              <a:lstStyle/>
              <a:p>
                <a:r>
                  <a:rPr lang="ko-KR" altLang="en-US" sz="1500">
                    <a:solidFill>
                      <a:srgbClr val="586875"/>
                    </a:solidFill>
                    <a:latin typeface="Apple SD Gothic Neo"/>
                    <a:ea typeface="Apple SD Gothic Neo"/>
                    <a:cs typeface="Apple SD Gothic Neo"/>
                  </a:rPr>
                  <a:t>설정 </a:t>
                </a:r>
                <a:r>
                  <a:rPr lang="en" sz="1500">
                    <a:solidFill>
                      <a:srgbClr val="586875"/>
                    </a:solidFill>
                    <a:latin typeface="Apple SD Gothic Neo"/>
                    <a:ea typeface="Apple SD Gothic Neo"/>
                    <a:cs typeface="Apple SD Gothic Neo"/>
                  </a:rPr>
                  <a:t>QD / Port</a:t>
                </a:r>
              </a:p>
            </c:rich>
          </c:tx>
          <c:overlay val="0"/>
        </c:title>
        <c:numFmt formatCode="General" sourceLinked="1"/>
        <c:majorTickMark val="none"/>
        <c:minorTickMark val="none"/>
        <c:tickLblPos val="nextTo"/>
        <c:spPr>
          <a:ln w="9525">
            <a:solidFill>
              <a:srgbClr val="DFE6EB"/>
            </a:solidFill>
          </a:ln>
        </c:spPr>
        <c:txPr>
          <a:bodyPr anchorCtr="1"/>
          <a:lstStyle/>
          <a:p>
            <a:pPr>
              <a:defRPr sz="1500">
                <a:solidFill>
                  <a:srgbClr val="586875"/>
                </a:solidFill>
                <a:latin typeface="Apple SD Gothic Neo"/>
                <a:ea typeface="Apple SD Gothic Neo"/>
                <a:cs typeface="Apple SD Gothic Neo"/>
              </a:defRPr>
            </a:pPr>
            <a:endParaRPr lang="ko-KR"/>
          </a:p>
        </c:txPr>
        <c:crossAx val="48672768"/>
        <c:crosses val="autoZero"/>
        <c:auto val="1"/>
        <c:lblAlgn val="ctr"/>
        <c:lblOffset val="100"/>
        <c:noMultiLvlLbl val="1"/>
      </c:catAx>
      <c:valAx>
        <c:axId val="48672768"/>
        <c:scaling>
          <c:orientation val="minMax"/>
          <c:max val="275"/>
          <c:min val="0"/>
        </c:scaling>
        <c:delete val="0"/>
        <c:axPos val="l"/>
        <c:majorGridlines>
          <c:spPr>
            <a:ln w="9525">
              <a:solidFill>
                <a:srgbClr val="DFE6EB"/>
              </a:solidFill>
            </a:ln>
          </c:spPr>
        </c:majorGridlines>
        <c:numFmt formatCode="General" sourceLinked="1"/>
        <c:majorTickMark val="none"/>
        <c:minorTickMark val="none"/>
        <c:tickLblPos val="nextTo"/>
        <c:spPr>
          <a:ln w="9525">
            <a:solidFill>
              <a:srgbClr val="D4D4D4"/>
            </a:solidFill>
            <a:prstDash val="solid"/>
          </a:ln>
        </c:spPr>
        <c:txPr>
          <a:bodyPr anchorCtr="1"/>
          <a:lstStyle/>
          <a:p>
            <a:pPr>
              <a:defRPr sz="1500">
                <a:solidFill>
                  <a:srgbClr val="586875"/>
                </a:solidFill>
                <a:latin typeface="Apple SD Gothic Neo"/>
                <a:ea typeface="Apple SD Gothic Neo"/>
                <a:cs typeface="Apple SD Gothic Neo"/>
              </a:defRPr>
            </a:pPr>
            <a:endParaRPr lang="ko-KR"/>
          </a:p>
        </c:txPr>
        <c:crossAx val="48650112"/>
        <c:crosses val="autoZero"/>
        <c:crossBetween val="between"/>
        <c:majorUnit val="55"/>
      </c:valAx>
      <c:spPr>
        <a:solidFill>
          <a:srgbClr val="FFFFFF"/>
        </a:solidFill>
        <a:ln w="0">
          <a:noFill/>
        </a:ln>
      </c:spPr>
    </c:plotArea>
    <c:legend>
      <c:legendPos val="b"/>
      <c:overlay val="0"/>
      <c:txPr>
        <a:bodyPr anchorCtr="1"/>
        <a:lstStyle/>
        <a:p>
          <a:pPr>
            <a:defRPr sz="1650">
              <a:solidFill>
                <a:srgbClr val="586875"/>
              </a:solidFill>
              <a:latin typeface="Apple SD Gothic Neo"/>
              <a:ea typeface="Apple SD Gothic Neo"/>
              <a:cs typeface="Apple SD Gothic Neo"/>
            </a:defRPr>
          </a:pPr>
          <a:endParaRPr lang="ko-KR"/>
        </a:p>
      </c:txPr>
    </c:legend>
    <c:plotVisOnly val="1"/>
    <c:dispBlanksAs val="zero"/>
    <c:showDLblsOverMax val="1"/>
  </c:chart>
  <c:spPr>
    <a:solidFill>
      <a:srgbClr val="FFFFFF"/>
    </a:solidFill>
    <a:ln w="0">
      <a:noFill/>
    </a:ln>
  </c:spPr>
  <c:externalData r:id="rId1">
    <c:autoUpdate val="0"/>
  </c:externalData>
</c:chartSpace>
</file>

<file path=ppt/slides/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ko-KR"/>
  <c:roundedCorners val="1"/>
  <c:style val="2"/>
  <c:chart>
    <c:autoTitleDeleted val="1"/>
    <c:plotArea>
      <c:layout/>
      <c:scatterChart>
        <c:scatterStyle val="lineMarker"/>
        <c:varyColors val="0"/>
        <c:ser>
          <c:idx val="0"/>
          <c:order val="0"/>
          <c:tx>
            <c:v>A1</c:v>
          </c:tx>
          <c:spPr>
            <a:ln w="21908">
              <a:solidFill>
                <a:srgbClr val="126DCA"/>
              </a:solidFill>
            </a:ln>
          </c:spPr>
          <c:marker>
            <c:symbol val="none"/>
          </c:marker>
          <c:xVal>
            <c:numRef>
              <c:f>'Chart Data'!$A$2:$A$81</c:f>
              <c:numCache>
                <c:formatCode>General</c:formatCode>
                <c:ptCount val="80"/>
                <c:pt idx="0">
                  <c:v>0.2125</c:v>
                </c:pt>
                <c:pt idx="1">
                  <c:v>0.2375</c:v>
                </c:pt>
                <c:pt idx="2">
                  <c:v>0.2625</c:v>
                </c:pt>
                <c:pt idx="3">
                  <c:v>0.2875</c:v>
                </c:pt>
                <c:pt idx="4">
                  <c:v>0.3125</c:v>
                </c:pt>
                <c:pt idx="5">
                  <c:v>0.3375</c:v>
                </c:pt>
                <c:pt idx="6">
                  <c:v>0.3625</c:v>
                </c:pt>
                <c:pt idx="7">
                  <c:v>0.3875</c:v>
                </c:pt>
                <c:pt idx="8">
                  <c:v>0.4125</c:v>
                </c:pt>
                <c:pt idx="9">
                  <c:v>0.4375</c:v>
                </c:pt>
                <c:pt idx="10">
                  <c:v>0.4625</c:v>
                </c:pt>
                <c:pt idx="11">
                  <c:v>0.4875</c:v>
                </c:pt>
                <c:pt idx="12">
                  <c:v>0.5125</c:v>
                </c:pt>
                <c:pt idx="13">
                  <c:v>0.5375</c:v>
                </c:pt>
                <c:pt idx="14">
                  <c:v>0.5625</c:v>
                </c:pt>
                <c:pt idx="15">
                  <c:v>0.5875</c:v>
                </c:pt>
                <c:pt idx="16">
                  <c:v>0.6125</c:v>
                </c:pt>
                <c:pt idx="17">
                  <c:v>0.6375</c:v>
                </c:pt>
                <c:pt idx="18">
                  <c:v>0.6625</c:v>
                </c:pt>
                <c:pt idx="19">
                  <c:v>0.6875</c:v>
                </c:pt>
                <c:pt idx="20">
                  <c:v>0.7125</c:v>
                </c:pt>
                <c:pt idx="21">
                  <c:v>0.7375</c:v>
                </c:pt>
                <c:pt idx="22">
                  <c:v>0.7625</c:v>
                </c:pt>
                <c:pt idx="23">
                  <c:v>0.7875</c:v>
                </c:pt>
                <c:pt idx="24">
                  <c:v>0.8125</c:v>
                </c:pt>
                <c:pt idx="25">
                  <c:v>0.8375</c:v>
                </c:pt>
                <c:pt idx="26">
                  <c:v>0.8625</c:v>
                </c:pt>
                <c:pt idx="27">
                  <c:v>0.8875</c:v>
                </c:pt>
                <c:pt idx="28">
                  <c:v>0.9125</c:v>
                </c:pt>
                <c:pt idx="29">
                  <c:v>0.9375</c:v>
                </c:pt>
                <c:pt idx="30">
                  <c:v>0.9625</c:v>
                </c:pt>
                <c:pt idx="31">
                  <c:v>0.9875</c:v>
                </c:pt>
                <c:pt idx="32">
                  <c:v>1.0125</c:v>
                </c:pt>
                <c:pt idx="33">
                  <c:v>1.0375</c:v>
                </c:pt>
                <c:pt idx="34">
                  <c:v>1.0625</c:v>
                </c:pt>
                <c:pt idx="35">
                  <c:v>1.0875</c:v>
                </c:pt>
                <c:pt idx="36">
                  <c:v>1.1125</c:v>
                </c:pt>
                <c:pt idx="37">
                  <c:v>1.1375</c:v>
                </c:pt>
                <c:pt idx="38">
                  <c:v>1.1625</c:v>
                </c:pt>
                <c:pt idx="39">
                  <c:v>1.1875</c:v>
                </c:pt>
                <c:pt idx="40">
                  <c:v>1.2125</c:v>
                </c:pt>
                <c:pt idx="41">
                  <c:v>1.2375</c:v>
                </c:pt>
                <c:pt idx="42">
                  <c:v>1.2625</c:v>
                </c:pt>
                <c:pt idx="43">
                  <c:v>1.2875</c:v>
                </c:pt>
                <c:pt idx="44">
                  <c:v>1.3125</c:v>
                </c:pt>
                <c:pt idx="45">
                  <c:v>1.3375</c:v>
                </c:pt>
                <c:pt idx="46">
                  <c:v>1.3625</c:v>
                </c:pt>
                <c:pt idx="47">
                  <c:v>1.3875</c:v>
                </c:pt>
                <c:pt idx="48">
                  <c:v>1.4125</c:v>
                </c:pt>
                <c:pt idx="49">
                  <c:v>1.4375</c:v>
                </c:pt>
                <c:pt idx="50">
                  <c:v>1.4625</c:v>
                </c:pt>
                <c:pt idx="51">
                  <c:v>1.4875</c:v>
                </c:pt>
                <c:pt idx="52">
                  <c:v>1.5125</c:v>
                </c:pt>
                <c:pt idx="53">
                  <c:v>1.5375</c:v>
                </c:pt>
                <c:pt idx="54">
                  <c:v>1.5625</c:v>
                </c:pt>
                <c:pt idx="55">
                  <c:v>1.5875</c:v>
                </c:pt>
                <c:pt idx="56">
                  <c:v>1.6125</c:v>
                </c:pt>
                <c:pt idx="57">
                  <c:v>1.6375</c:v>
                </c:pt>
                <c:pt idx="58">
                  <c:v>1.6625</c:v>
                </c:pt>
                <c:pt idx="59">
                  <c:v>1.6875</c:v>
                </c:pt>
                <c:pt idx="60">
                  <c:v>1.7125</c:v>
                </c:pt>
                <c:pt idx="61">
                  <c:v>1.7375</c:v>
                </c:pt>
                <c:pt idx="62">
                  <c:v>1.7625</c:v>
                </c:pt>
                <c:pt idx="63">
                  <c:v>1.7875</c:v>
                </c:pt>
                <c:pt idx="64">
                  <c:v>1.8125</c:v>
                </c:pt>
                <c:pt idx="65">
                  <c:v>1.8375</c:v>
                </c:pt>
                <c:pt idx="66">
                  <c:v>1.8625</c:v>
                </c:pt>
                <c:pt idx="67">
                  <c:v>1.8875</c:v>
                </c:pt>
                <c:pt idx="68">
                  <c:v>1.9125</c:v>
                </c:pt>
                <c:pt idx="69">
                  <c:v>1.9375</c:v>
                </c:pt>
                <c:pt idx="70">
                  <c:v>1.9625</c:v>
                </c:pt>
                <c:pt idx="71">
                  <c:v>1.9875</c:v>
                </c:pt>
                <c:pt idx="72">
                  <c:v>2.0125</c:v>
                </c:pt>
                <c:pt idx="73">
                  <c:v>2.0375</c:v>
                </c:pt>
                <c:pt idx="74">
                  <c:v>2.0625</c:v>
                </c:pt>
                <c:pt idx="75">
                  <c:v>2.0875</c:v>
                </c:pt>
                <c:pt idx="76">
                  <c:v>2.1125</c:v>
                </c:pt>
                <c:pt idx="77">
                  <c:v>2.1375</c:v>
                </c:pt>
                <c:pt idx="78">
                  <c:v>2.1625</c:v>
                </c:pt>
                <c:pt idx="79">
                  <c:v>2.1875</c:v>
                </c:pt>
              </c:numCache>
            </c:numRef>
          </c:xVal>
          <c:yVal>
            <c:numRef>
              <c:f>'Chart Data'!$B$2:$B$81</c:f>
              <c:numCache>
                <c:formatCode>0</c:formatCode>
                <c:ptCount val="80"/>
                <c:pt idx="0">
                  <c:v>253.660245</c:v>
                </c:pt>
                <c:pt idx="1">
                  <c:v>256</c:v>
                </c:pt>
                <c:pt idx="2">
                  <c:v>256</c:v>
                </c:pt>
                <c:pt idx="3">
                  <c:v>256</c:v>
                </c:pt>
                <c:pt idx="4">
                  <c:v>250.367226</c:v>
                </c:pt>
                <c:pt idx="5">
                  <c:v>256</c:v>
                </c:pt>
                <c:pt idx="6">
                  <c:v>256</c:v>
                </c:pt>
                <c:pt idx="7">
                  <c:v>256</c:v>
                </c:pt>
                <c:pt idx="8">
                  <c:v>252.857498</c:v>
                </c:pt>
                <c:pt idx="9">
                  <c:v>256</c:v>
                </c:pt>
                <c:pt idx="10">
                  <c:v>256</c:v>
                </c:pt>
                <c:pt idx="11">
                  <c:v>256</c:v>
                </c:pt>
                <c:pt idx="12">
                  <c:v>253.075239</c:v>
                </c:pt>
                <c:pt idx="13">
                  <c:v>256</c:v>
                </c:pt>
                <c:pt idx="14">
                  <c:v>256</c:v>
                </c:pt>
                <c:pt idx="15">
                  <c:v>256</c:v>
                </c:pt>
                <c:pt idx="16">
                  <c:v>253.844839</c:v>
                </c:pt>
                <c:pt idx="17">
                  <c:v>256</c:v>
                </c:pt>
                <c:pt idx="18">
                  <c:v>256</c:v>
                </c:pt>
                <c:pt idx="19">
                  <c:v>256</c:v>
                </c:pt>
                <c:pt idx="20">
                  <c:v>252.750605</c:v>
                </c:pt>
                <c:pt idx="21">
                  <c:v>256</c:v>
                </c:pt>
                <c:pt idx="22">
                  <c:v>256</c:v>
                </c:pt>
                <c:pt idx="23">
                  <c:v>256</c:v>
                </c:pt>
                <c:pt idx="24">
                  <c:v>252.800777</c:v>
                </c:pt>
                <c:pt idx="25">
                  <c:v>256</c:v>
                </c:pt>
                <c:pt idx="26">
                  <c:v>256</c:v>
                </c:pt>
                <c:pt idx="27">
                  <c:v>256</c:v>
                </c:pt>
                <c:pt idx="28">
                  <c:v>256</c:v>
                </c:pt>
                <c:pt idx="29">
                  <c:v>256</c:v>
                </c:pt>
                <c:pt idx="30">
                  <c:v>256</c:v>
                </c:pt>
                <c:pt idx="31">
                  <c:v>256</c:v>
                </c:pt>
                <c:pt idx="32">
                  <c:v>252.759478</c:v>
                </c:pt>
                <c:pt idx="33">
                  <c:v>256</c:v>
                </c:pt>
                <c:pt idx="34">
                  <c:v>256</c:v>
                </c:pt>
                <c:pt idx="35">
                  <c:v>256</c:v>
                </c:pt>
                <c:pt idx="36">
                  <c:v>254.396318</c:v>
                </c:pt>
                <c:pt idx="37">
                  <c:v>256</c:v>
                </c:pt>
                <c:pt idx="38">
                  <c:v>256</c:v>
                </c:pt>
                <c:pt idx="39">
                  <c:v>256</c:v>
                </c:pt>
                <c:pt idx="40">
                  <c:v>254.021796</c:v>
                </c:pt>
                <c:pt idx="41">
                  <c:v>256</c:v>
                </c:pt>
                <c:pt idx="42">
                  <c:v>256</c:v>
                </c:pt>
                <c:pt idx="43">
                  <c:v>256</c:v>
                </c:pt>
                <c:pt idx="44">
                  <c:v>256</c:v>
                </c:pt>
                <c:pt idx="45">
                  <c:v>256</c:v>
                </c:pt>
                <c:pt idx="46">
                  <c:v>256</c:v>
                </c:pt>
                <c:pt idx="47">
                  <c:v>256</c:v>
                </c:pt>
                <c:pt idx="48">
                  <c:v>248.907105</c:v>
                </c:pt>
                <c:pt idx="49">
                  <c:v>256</c:v>
                </c:pt>
                <c:pt idx="50">
                  <c:v>256</c:v>
                </c:pt>
                <c:pt idx="51">
                  <c:v>256</c:v>
                </c:pt>
                <c:pt idx="52">
                  <c:v>251.08961</c:v>
                </c:pt>
                <c:pt idx="53">
                  <c:v>256</c:v>
                </c:pt>
                <c:pt idx="54">
                  <c:v>256</c:v>
                </c:pt>
                <c:pt idx="55">
                  <c:v>256</c:v>
                </c:pt>
                <c:pt idx="56">
                  <c:v>254.4225</c:v>
                </c:pt>
                <c:pt idx="57">
                  <c:v>256</c:v>
                </c:pt>
                <c:pt idx="58">
                  <c:v>256</c:v>
                </c:pt>
                <c:pt idx="59">
                  <c:v>256</c:v>
                </c:pt>
                <c:pt idx="60">
                  <c:v>250.351568</c:v>
                </c:pt>
                <c:pt idx="61">
                  <c:v>256</c:v>
                </c:pt>
                <c:pt idx="62">
                  <c:v>256</c:v>
                </c:pt>
                <c:pt idx="63">
                  <c:v>256</c:v>
                </c:pt>
                <c:pt idx="64">
                  <c:v>255.311819</c:v>
                </c:pt>
                <c:pt idx="65">
                  <c:v>256</c:v>
                </c:pt>
                <c:pt idx="66">
                  <c:v>256</c:v>
                </c:pt>
                <c:pt idx="67">
                  <c:v>256</c:v>
                </c:pt>
                <c:pt idx="68">
                  <c:v>256</c:v>
                </c:pt>
                <c:pt idx="69">
                  <c:v>256</c:v>
                </c:pt>
                <c:pt idx="70">
                  <c:v>256</c:v>
                </c:pt>
                <c:pt idx="71">
                  <c:v>256</c:v>
                </c:pt>
                <c:pt idx="72">
                  <c:v>254.657107</c:v>
                </c:pt>
                <c:pt idx="73">
                  <c:v>256</c:v>
                </c:pt>
                <c:pt idx="74">
                  <c:v>256</c:v>
                </c:pt>
                <c:pt idx="75">
                  <c:v>256</c:v>
                </c:pt>
                <c:pt idx="76">
                  <c:v>256</c:v>
                </c:pt>
                <c:pt idx="77">
                  <c:v>256</c:v>
                </c:pt>
                <c:pt idx="78">
                  <c:v>256</c:v>
                </c:pt>
                <c:pt idx="79">
                  <c:v>256</c:v>
                </c:pt>
              </c:numCache>
            </c:numRef>
          </c:yVal>
          <c:smooth val="0"/>
          <c:extLst>
            <c:ext xmlns:c16="http://schemas.microsoft.com/office/drawing/2014/chart" uri="{C3380CC4-5D6E-409C-BE32-E72D297353CC}">
              <c16:uniqueId val="{00000000-9AD6-9842-A5BC-241EEEEB19FE}"/>
            </c:ext>
          </c:extLst>
        </c:ser>
        <c:ser>
          <c:idx val="1"/>
          <c:order val="1"/>
          <c:tx>
            <c:v>A2</c:v>
          </c:tx>
          <c:spPr>
            <a:ln w="21908">
              <a:solidFill>
                <a:srgbClr val="008B82"/>
              </a:solidFill>
            </a:ln>
          </c:spPr>
          <c:marker>
            <c:symbol val="none"/>
          </c:marker>
          <c:xVal>
            <c:numRef>
              <c:f>'Chart Data'!$C$2:$C$81</c:f>
              <c:numCache>
                <c:formatCode>General</c:formatCode>
                <c:ptCount val="80"/>
                <c:pt idx="0">
                  <c:v>0.2125</c:v>
                </c:pt>
                <c:pt idx="1">
                  <c:v>0.2375</c:v>
                </c:pt>
                <c:pt idx="2">
                  <c:v>0.2625</c:v>
                </c:pt>
                <c:pt idx="3">
                  <c:v>0.2875</c:v>
                </c:pt>
                <c:pt idx="4">
                  <c:v>0.3125</c:v>
                </c:pt>
                <c:pt idx="5">
                  <c:v>0.3375</c:v>
                </c:pt>
                <c:pt idx="6">
                  <c:v>0.3625</c:v>
                </c:pt>
                <c:pt idx="7">
                  <c:v>0.3875</c:v>
                </c:pt>
                <c:pt idx="8">
                  <c:v>0.4125</c:v>
                </c:pt>
                <c:pt idx="9">
                  <c:v>0.4375</c:v>
                </c:pt>
                <c:pt idx="10">
                  <c:v>0.4625</c:v>
                </c:pt>
                <c:pt idx="11">
                  <c:v>0.4875</c:v>
                </c:pt>
                <c:pt idx="12">
                  <c:v>0.5125</c:v>
                </c:pt>
                <c:pt idx="13">
                  <c:v>0.5375</c:v>
                </c:pt>
                <c:pt idx="14">
                  <c:v>0.5625</c:v>
                </c:pt>
                <c:pt idx="15">
                  <c:v>0.5875</c:v>
                </c:pt>
                <c:pt idx="16">
                  <c:v>0.6125</c:v>
                </c:pt>
                <c:pt idx="17">
                  <c:v>0.6375</c:v>
                </c:pt>
                <c:pt idx="18">
                  <c:v>0.6625</c:v>
                </c:pt>
                <c:pt idx="19">
                  <c:v>0.6875</c:v>
                </c:pt>
                <c:pt idx="20">
                  <c:v>0.7125</c:v>
                </c:pt>
                <c:pt idx="21">
                  <c:v>0.7375</c:v>
                </c:pt>
                <c:pt idx="22">
                  <c:v>0.7625</c:v>
                </c:pt>
                <c:pt idx="23">
                  <c:v>0.7875</c:v>
                </c:pt>
                <c:pt idx="24">
                  <c:v>0.8125</c:v>
                </c:pt>
                <c:pt idx="25">
                  <c:v>0.8375</c:v>
                </c:pt>
                <c:pt idx="26">
                  <c:v>0.8625</c:v>
                </c:pt>
                <c:pt idx="27">
                  <c:v>0.8875</c:v>
                </c:pt>
                <c:pt idx="28">
                  <c:v>0.9125</c:v>
                </c:pt>
                <c:pt idx="29">
                  <c:v>0.9375</c:v>
                </c:pt>
                <c:pt idx="30">
                  <c:v>0.9625</c:v>
                </c:pt>
                <c:pt idx="31">
                  <c:v>0.9875</c:v>
                </c:pt>
                <c:pt idx="32">
                  <c:v>1.0125</c:v>
                </c:pt>
                <c:pt idx="33">
                  <c:v>1.0375</c:v>
                </c:pt>
                <c:pt idx="34">
                  <c:v>1.0625</c:v>
                </c:pt>
                <c:pt idx="35">
                  <c:v>1.0875</c:v>
                </c:pt>
                <c:pt idx="36">
                  <c:v>1.1125</c:v>
                </c:pt>
                <c:pt idx="37">
                  <c:v>1.1375</c:v>
                </c:pt>
                <c:pt idx="38">
                  <c:v>1.1625</c:v>
                </c:pt>
                <c:pt idx="39">
                  <c:v>1.1875</c:v>
                </c:pt>
                <c:pt idx="40">
                  <c:v>1.2125</c:v>
                </c:pt>
                <c:pt idx="41">
                  <c:v>1.2375</c:v>
                </c:pt>
                <c:pt idx="42">
                  <c:v>1.2625</c:v>
                </c:pt>
                <c:pt idx="43">
                  <c:v>1.2875</c:v>
                </c:pt>
                <c:pt idx="44">
                  <c:v>1.3125</c:v>
                </c:pt>
                <c:pt idx="45">
                  <c:v>1.3375</c:v>
                </c:pt>
                <c:pt idx="46">
                  <c:v>1.3625</c:v>
                </c:pt>
                <c:pt idx="47">
                  <c:v>1.3875</c:v>
                </c:pt>
                <c:pt idx="48">
                  <c:v>1.4125</c:v>
                </c:pt>
                <c:pt idx="49">
                  <c:v>1.4375</c:v>
                </c:pt>
                <c:pt idx="50">
                  <c:v>1.4625</c:v>
                </c:pt>
                <c:pt idx="51">
                  <c:v>1.4875</c:v>
                </c:pt>
                <c:pt idx="52">
                  <c:v>1.5125</c:v>
                </c:pt>
                <c:pt idx="53">
                  <c:v>1.5375</c:v>
                </c:pt>
                <c:pt idx="54">
                  <c:v>1.5625</c:v>
                </c:pt>
                <c:pt idx="55">
                  <c:v>1.5875</c:v>
                </c:pt>
                <c:pt idx="56">
                  <c:v>1.6125</c:v>
                </c:pt>
                <c:pt idx="57">
                  <c:v>1.6375</c:v>
                </c:pt>
                <c:pt idx="58">
                  <c:v>1.6625</c:v>
                </c:pt>
                <c:pt idx="59">
                  <c:v>1.6875</c:v>
                </c:pt>
                <c:pt idx="60">
                  <c:v>1.7125</c:v>
                </c:pt>
                <c:pt idx="61">
                  <c:v>1.7375</c:v>
                </c:pt>
                <c:pt idx="62">
                  <c:v>1.7625</c:v>
                </c:pt>
                <c:pt idx="63">
                  <c:v>1.7875</c:v>
                </c:pt>
                <c:pt idx="64">
                  <c:v>1.8125</c:v>
                </c:pt>
                <c:pt idx="65">
                  <c:v>1.8375</c:v>
                </c:pt>
                <c:pt idx="66">
                  <c:v>1.8625</c:v>
                </c:pt>
                <c:pt idx="67">
                  <c:v>1.8875</c:v>
                </c:pt>
                <c:pt idx="68">
                  <c:v>1.9125</c:v>
                </c:pt>
                <c:pt idx="69">
                  <c:v>1.9375</c:v>
                </c:pt>
                <c:pt idx="70">
                  <c:v>1.9625</c:v>
                </c:pt>
                <c:pt idx="71">
                  <c:v>1.9875</c:v>
                </c:pt>
                <c:pt idx="72">
                  <c:v>2.0125</c:v>
                </c:pt>
                <c:pt idx="73">
                  <c:v>2.0375</c:v>
                </c:pt>
                <c:pt idx="74">
                  <c:v>2.0625</c:v>
                </c:pt>
                <c:pt idx="75">
                  <c:v>2.0875</c:v>
                </c:pt>
                <c:pt idx="76">
                  <c:v>2.1125</c:v>
                </c:pt>
                <c:pt idx="77">
                  <c:v>2.1375</c:v>
                </c:pt>
                <c:pt idx="78">
                  <c:v>2.1625</c:v>
                </c:pt>
                <c:pt idx="79">
                  <c:v>2.1875</c:v>
                </c:pt>
              </c:numCache>
            </c:numRef>
          </c:xVal>
          <c:yVal>
            <c:numRef>
              <c:f>'Chart Data'!$D$2:$D$81</c:f>
              <c:numCache>
                <c:formatCode>0</c:formatCode>
                <c:ptCount val="80"/>
                <c:pt idx="0">
                  <c:v>253.776555</c:v>
                </c:pt>
                <c:pt idx="1">
                  <c:v>256</c:v>
                </c:pt>
                <c:pt idx="2">
                  <c:v>256</c:v>
                </c:pt>
                <c:pt idx="3">
                  <c:v>256</c:v>
                </c:pt>
                <c:pt idx="4">
                  <c:v>249.717787</c:v>
                </c:pt>
                <c:pt idx="5">
                  <c:v>256</c:v>
                </c:pt>
                <c:pt idx="6">
                  <c:v>256</c:v>
                </c:pt>
                <c:pt idx="7">
                  <c:v>256</c:v>
                </c:pt>
                <c:pt idx="8">
                  <c:v>251.450928</c:v>
                </c:pt>
                <c:pt idx="9">
                  <c:v>256</c:v>
                </c:pt>
                <c:pt idx="10">
                  <c:v>256</c:v>
                </c:pt>
                <c:pt idx="11">
                  <c:v>256</c:v>
                </c:pt>
                <c:pt idx="12">
                  <c:v>252.208137</c:v>
                </c:pt>
                <c:pt idx="13">
                  <c:v>256</c:v>
                </c:pt>
                <c:pt idx="14">
                  <c:v>256</c:v>
                </c:pt>
                <c:pt idx="15">
                  <c:v>256</c:v>
                </c:pt>
                <c:pt idx="16">
                  <c:v>252.816284</c:v>
                </c:pt>
                <c:pt idx="17">
                  <c:v>256</c:v>
                </c:pt>
                <c:pt idx="18">
                  <c:v>256</c:v>
                </c:pt>
                <c:pt idx="19">
                  <c:v>256</c:v>
                </c:pt>
                <c:pt idx="20">
                  <c:v>256</c:v>
                </c:pt>
                <c:pt idx="21">
                  <c:v>256</c:v>
                </c:pt>
                <c:pt idx="22">
                  <c:v>256</c:v>
                </c:pt>
                <c:pt idx="23">
                  <c:v>256</c:v>
                </c:pt>
                <c:pt idx="24">
                  <c:v>252.905974</c:v>
                </c:pt>
                <c:pt idx="25">
                  <c:v>256</c:v>
                </c:pt>
                <c:pt idx="26">
                  <c:v>256</c:v>
                </c:pt>
                <c:pt idx="27">
                  <c:v>256</c:v>
                </c:pt>
                <c:pt idx="28">
                  <c:v>254.447729</c:v>
                </c:pt>
                <c:pt idx="29">
                  <c:v>256</c:v>
                </c:pt>
                <c:pt idx="30">
                  <c:v>256</c:v>
                </c:pt>
                <c:pt idx="31">
                  <c:v>256</c:v>
                </c:pt>
                <c:pt idx="32">
                  <c:v>255.960103</c:v>
                </c:pt>
                <c:pt idx="33">
                  <c:v>256</c:v>
                </c:pt>
                <c:pt idx="34">
                  <c:v>256</c:v>
                </c:pt>
                <c:pt idx="35">
                  <c:v>256</c:v>
                </c:pt>
                <c:pt idx="36">
                  <c:v>250.775187</c:v>
                </c:pt>
                <c:pt idx="37">
                  <c:v>256</c:v>
                </c:pt>
                <c:pt idx="38">
                  <c:v>256</c:v>
                </c:pt>
                <c:pt idx="39">
                  <c:v>256</c:v>
                </c:pt>
                <c:pt idx="40">
                  <c:v>251.953185</c:v>
                </c:pt>
                <c:pt idx="41">
                  <c:v>256</c:v>
                </c:pt>
                <c:pt idx="42">
                  <c:v>256</c:v>
                </c:pt>
                <c:pt idx="43">
                  <c:v>256</c:v>
                </c:pt>
                <c:pt idx="44">
                  <c:v>250.271393</c:v>
                </c:pt>
                <c:pt idx="45">
                  <c:v>256</c:v>
                </c:pt>
                <c:pt idx="46">
                  <c:v>256</c:v>
                </c:pt>
                <c:pt idx="47">
                  <c:v>256</c:v>
                </c:pt>
                <c:pt idx="48">
                  <c:v>249.859865</c:v>
                </c:pt>
                <c:pt idx="49">
                  <c:v>256</c:v>
                </c:pt>
                <c:pt idx="50">
                  <c:v>256</c:v>
                </c:pt>
                <c:pt idx="51">
                  <c:v>256</c:v>
                </c:pt>
                <c:pt idx="52">
                  <c:v>250.395033</c:v>
                </c:pt>
                <c:pt idx="53">
                  <c:v>256</c:v>
                </c:pt>
                <c:pt idx="54">
                  <c:v>256</c:v>
                </c:pt>
                <c:pt idx="55">
                  <c:v>256</c:v>
                </c:pt>
                <c:pt idx="56">
                  <c:v>249.134955</c:v>
                </c:pt>
                <c:pt idx="57">
                  <c:v>256</c:v>
                </c:pt>
                <c:pt idx="58">
                  <c:v>256</c:v>
                </c:pt>
                <c:pt idx="59">
                  <c:v>256</c:v>
                </c:pt>
                <c:pt idx="60">
                  <c:v>254.522133</c:v>
                </c:pt>
                <c:pt idx="61">
                  <c:v>256</c:v>
                </c:pt>
                <c:pt idx="62">
                  <c:v>256</c:v>
                </c:pt>
                <c:pt idx="63">
                  <c:v>256</c:v>
                </c:pt>
                <c:pt idx="64">
                  <c:v>255.988822</c:v>
                </c:pt>
                <c:pt idx="65">
                  <c:v>256</c:v>
                </c:pt>
                <c:pt idx="66">
                  <c:v>256</c:v>
                </c:pt>
                <c:pt idx="67">
                  <c:v>256</c:v>
                </c:pt>
                <c:pt idx="68">
                  <c:v>250.86948</c:v>
                </c:pt>
                <c:pt idx="69">
                  <c:v>256</c:v>
                </c:pt>
                <c:pt idx="70">
                  <c:v>256</c:v>
                </c:pt>
                <c:pt idx="71">
                  <c:v>256</c:v>
                </c:pt>
                <c:pt idx="72">
                  <c:v>250.932878</c:v>
                </c:pt>
                <c:pt idx="73">
                  <c:v>256</c:v>
                </c:pt>
                <c:pt idx="74">
                  <c:v>256</c:v>
                </c:pt>
                <c:pt idx="75">
                  <c:v>256</c:v>
                </c:pt>
                <c:pt idx="76">
                  <c:v>250.68001</c:v>
                </c:pt>
                <c:pt idx="77">
                  <c:v>256</c:v>
                </c:pt>
                <c:pt idx="78">
                  <c:v>256</c:v>
                </c:pt>
                <c:pt idx="79">
                  <c:v>256</c:v>
                </c:pt>
              </c:numCache>
            </c:numRef>
          </c:yVal>
          <c:smooth val="0"/>
          <c:extLst>
            <c:ext xmlns:c16="http://schemas.microsoft.com/office/drawing/2014/chart" uri="{C3380CC4-5D6E-409C-BE32-E72D297353CC}">
              <c16:uniqueId val="{00000001-9AD6-9842-A5BC-241EEEEB19FE}"/>
            </c:ext>
          </c:extLst>
        </c:ser>
        <c:dLbls>
          <c:showLegendKey val="0"/>
          <c:showVal val="0"/>
          <c:showCatName val="0"/>
          <c:showSerName val="0"/>
          <c:showPercent val="0"/>
          <c:showBubbleSize val="0"/>
        </c:dLbls>
        <c:axId val="48650112"/>
        <c:axId val="48672768"/>
      </c:scatterChart>
      <c:valAx>
        <c:axId val="48672768"/>
        <c:scaling>
          <c:orientation val="minMax"/>
          <c:max val="280"/>
          <c:min val="0"/>
        </c:scaling>
        <c:delete val="0"/>
        <c:axPos val="l"/>
        <c:majorGridlines>
          <c:spPr>
            <a:ln w="9525">
              <a:solidFill>
                <a:srgbClr val="DFE6EB"/>
              </a:solidFill>
            </a:ln>
          </c:spPr>
        </c:majorGridlines>
        <c:title>
          <c:tx>
            <c:rich>
              <a:bodyPr/>
              <a:lstStyle/>
              <a:p>
                <a:r>
                  <a:rPr sz="1350">
                    <a:solidFill>
                      <a:srgbClr val="586875"/>
                    </a:solidFill>
                    <a:latin typeface="Apple SD Gothic Neo"/>
                    <a:ea typeface="Apple SD Gothic Neo"/>
                    <a:cs typeface="Apple SD Gothic Neo"/>
                  </a:rPr>
                  <a:t>Host GB/s</a:t>
                </a:r>
              </a:p>
            </c:rich>
          </c:tx>
          <c:overlay val="0"/>
        </c:title>
        <c:numFmt formatCode="0" sourceLinked="1"/>
        <c:majorTickMark val="none"/>
        <c:minorTickMark val="none"/>
        <c:tickLblPos val="nextTo"/>
        <c:spPr>
          <a:ln w="9525">
            <a:solidFill>
              <a:srgbClr val="DFE6EB"/>
            </a:solidFill>
          </a:ln>
        </c:spPr>
        <c:txPr>
          <a:bodyPr anchorCtr="1"/>
          <a:lstStyle/>
          <a:p>
            <a:pPr>
              <a:defRPr sz="1350">
                <a:solidFill>
                  <a:srgbClr val="586875"/>
                </a:solidFill>
                <a:latin typeface="Apple SD Gothic Neo"/>
                <a:ea typeface="Apple SD Gothic Neo"/>
                <a:cs typeface="Apple SD Gothic Neo"/>
              </a:defRPr>
            </a:pPr>
            <a:endParaRPr lang="ko-KR"/>
          </a:p>
        </c:txPr>
        <c:crossAx val="48650112"/>
        <c:crosses val="autoZero"/>
        <c:crossBetween val="midCat"/>
        <c:majorUnit val="70"/>
      </c:valAx>
      <c:valAx>
        <c:axId val="48650112"/>
        <c:scaling>
          <c:orientation val="minMax"/>
          <c:max val="2.2000000000000002"/>
          <c:min val="0.2"/>
        </c:scaling>
        <c:delete val="0"/>
        <c:axPos val="b"/>
        <c:title>
          <c:tx>
            <c:rich>
              <a:bodyPr/>
              <a:lstStyle/>
              <a:p>
                <a:r>
                  <a:rPr sz="1350">
                    <a:solidFill>
                      <a:srgbClr val="586875"/>
                    </a:solidFill>
                    <a:latin typeface="Apple SD Gothic Neo"/>
                    <a:ea typeface="Apple SD Gothic Neo"/>
                    <a:cs typeface="Apple SD Gothic Neo"/>
                  </a:rPr>
                  <a:t>시간 (ms)</a:t>
                </a:r>
              </a:p>
            </c:rich>
          </c:tx>
          <c:overlay val="0"/>
        </c:title>
        <c:numFmt formatCode="General" sourceLinked="1"/>
        <c:majorTickMark val="none"/>
        <c:minorTickMark val="none"/>
        <c:tickLblPos val="nextTo"/>
        <c:spPr>
          <a:ln w="9525">
            <a:solidFill>
              <a:srgbClr val="DFE6EB"/>
            </a:solidFill>
          </a:ln>
        </c:spPr>
        <c:txPr>
          <a:bodyPr anchorCtr="1"/>
          <a:lstStyle/>
          <a:p>
            <a:pPr>
              <a:defRPr sz="1350">
                <a:solidFill>
                  <a:srgbClr val="586875"/>
                </a:solidFill>
                <a:latin typeface="Apple SD Gothic Neo"/>
                <a:ea typeface="Apple SD Gothic Neo"/>
                <a:cs typeface="Apple SD Gothic Neo"/>
              </a:defRPr>
            </a:pPr>
            <a:endParaRPr lang="ko-KR"/>
          </a:p>
        </c:txPr>
        <c:crossAx val="48672768"/>
        <c:crosses val="autoZero"/>
        <c:crossBetween val="midCat"/>
        <c:majorUnit val="0.5"/>
      </c:valAx>
      <c:spPr>
        <a:solidFill>
          <a:srgbClr val="FFFFFF"/>
        </a:solidFill>
        <a:ln w="0">
          <a:noFill/>
        </a:ln>
      </c:spPr>
    </c:plotArea>
    <c:legend>
      <c:legendPos val="b"/>
      <c:overlay val="0"/>
      <c:txPr>
        <a:bodyPr anchorCtr="1"/>
        <a:lstStyle/>
        <a:p>
          <a:pPr>
            <a:defRPr sz="1500">
              <a:solidFill>
                <a:srgbClr val="172738"/>
              </a:solidFill>
              <a:latin typeface="Apple SD Gothic Neo"/>
              <a:ea typeface="Apple SD Gothic Neo"/>
              <a:cs typeface="Apple SD Gothic Neo"/>
            </a:defRPr>
          </a:pPr>
          <a:endParaRPr lang="ko-KR"/>
        </a:p>
      </c:txPr>
    </c:legend>
    <c:plotVisOnly val="1"/>
    <c:dispBlanksAs val="zero"/>
    <c:showDLblsOverMax val="1"/>
  </c:chart>
  <c:spPr>
    <a:solidFill>
      <a:srgbClr val="FFFFFF"/>
    </a:solidFill>
    <a:ln w="0">
      <a:noFill/>
    </a:ln>
  </c:spPr>
  <c:externalData r:id="rId1">
    <c:autoUpdate val="0"/>
  </c:externalData>
</c:chartSpace>
</file>

<file path=ppt/slides/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ko-KR"/>
  <c:roundedCorners val="1"/>
  <c:style val="2"/>
  <c:chart>
    <c:autoTitleDeleted val="1"/>
    <c:plotArea>
      <c:layout/>
      <c:scatterChart>
        <c:scatterStyle val="lineMarker"/>
        <c:varyColors val="0"/>
        <c:ser>
          <c:idx val="0"/>
          <c:order val="0"/>
          <c:tx>
            <c:v>C1</c:v>
          </c:tx>
          <c:spPr>
            <a:ln w="21908">
              <a:solidFill>
                <a:srgbClr val="126DCA"/>
              </a:solidFill>
            </a:ln>
          </c:spPr>
          <c:marker>
            <c:symbol val="none"/>
          </c:marker>
          <c:xVal>
            <c:numRef>
              <c:f>'Chart Data'!$A$2:$A$81</c:f>
              <c:numCache>
                <c:formatCode>General</c:formatCode>
                <c:ptCount val="80"/>
                <c:pt idx="0">
                  <c:v>0.2125</c:v>
                </c:pt>
                <c:pt idx="1">
                  <c:v>0.2375</c:v>
                </c:pt>
                <c:pt idx="2">
                  <c:v>0.2625</c:v>
                </c:pt>
                <c:pt idx="3">
                  <c:v>0.2875</c:v>
                </c:pt>
                <c:pt idx="4">
                  <c:v>0.3125</c:v>
                </c:pt>
                <c:pt idx="5">
                  <c:v>0.3375</c:v>
                </c:pt>
                <c:pt idx="6">
                  <c:v>0.3625</c:v>
                </c:pt>
                <c:pt idx="7">
                  <c:v>0.3875</c:v>
                </c:pt>
                <c:pt idx="8">
                  <c:v>0.4125</c:v>
                </c:pt>
                <c:pt idx="9">
                  <c:v>0.4375</c:v>
                </c:pt>
                <c:pt idx="10">
                  <c:v>0.4625</c:v>
                </c:pt>
                <c:pt idx="11">
                  <c:v>0.4875</c:v>
                </c:pt>
                <c:pt idx="12">
                  <c:v>0.5125</c:v>
                </c:pt>
                <c:pt idx="13">
                  <c:v>0.5375</c:v>
                </c:pt>
                <c:pt idx="14">
                  <c:v>0.5625</c:v>
                </c:pt>
                <c:pt idx="15">
                  <c:v>0.5875</c:v>
                </c:pt>
                <c:pt idx="16">
                  <c:v>0.6125</c:v>
                </c:pt>
                <c:pt idx="17">
                  <c:v>0.6375</c:v>
                </c:pt>
                <c:pt idx="18">
                  <c:v>0.6625</c:v>
                </c:pt>
                <c:pt idx="19">
                  <c:v>0.6875</c:v>
                </c:pt>
                <c:pt idx="20">
                  <c:v>0.7125</c:v>
                </c:pt>
                <c:pt idx="21">
                  <c:v>0.7375</c:v>
                </c:pt>
                <c:pt idx="22">
                  <c:v>0.7625</c:v>
                </c:pt>
                <c:pt idx="23">
                  <c:v>0.7875</c:v>
                </c:pt>
                <c:pt idx="24">
                  <c:v>0.8125</c:v>
                </c:pt>
                <c:pt idx="25">
                  <c:v>0.8375</c:v>
                </c:pt>
                <c:pt idx="26">
                  <c:v>0.8625</c:v>
                </c:pt>
                <c:pt idx="27">
                  <c:v>0.8875</c:v>
                </c:pt>
                <c:pt idx="28">
                  <c:v>0.9125</c:v>
                </c:pt>
                <c:pt idx="29">
                  <c:v>0.9375</c:v>
                </c:pt>
                <c:pt idx="30">
                  <c:v>0.9625</c:v>
                </c:pt>
                <c:pt idx="31">
                  <c:v>0.9875</c:v>
                </c:pt>
                <c:pt idx="32">
                  <c:v>1.0125</c:v>
                </c:pt>
                <c:pt idx="33">
                  <c:v>1.0375</c:v>
                </c:pt>
                <c:pt idx="34">
                  <c:v>1.0625</c:v>
                </c:pt>
                <c:pt idx="35">
                  <c:v>1.0875</c:v>
                </c:pt>
                <c:pt idx="36">
                  <c:v>1.1125</c:v>
                </c:pt>
                <c:pt idx="37">
                  <c:v>1.1375</c:v>
                </c:pt>
                <c:pt idx="38">
                  <c:v>1.1625</c:v>
                </c:pt>
                <c:pt idx="39">
                  <c:v>1.1875</c:v>
                </c:pt>
                <c:pt idx="40">
                  <c:v>1.2125</c:v>
                </c:pt>
                <c:pt idx="41">
                  <c:v>1.2375</c:v>
                </c:pt>
                <c:pt idx="42">
                  <c:v>1.2625</c:v>
                </c:pt>
                <c:pt idx="43">
                  <c:v>1.2875</c:v>
                </c:pt>
                <c:pt idx="44">
                  <c:v>1.3125</c:v>
                </c:pt>
                <c:pt idx="45">
                  <c:v>1.3375</c:v>
                </c:pt>
                <c:pt idx="46">
                  <c:v>1.3625</c:v>
                </c:pt>
                <c:pt idx="47">
                  <c:v>1.3875</c:v>
                </c:pt>
                <c:pt idx="48">
                  <c:v>1.4125</c:v>
                </c:pt>
                <c:pt idx="49">
                  <c:v>1.4375</c:v>
                </c:pt>
                <c:pt idx="50">
                  <c:v>1.4625</c:v>
                </c:pt>
                <c:pt idx="51">
                  <c:v>1.4875</c:v>
                </c:pt>
                <c:pt idx="52">
                  <c:v>1.5125</c:v>
                </c:pt>
                <c:pt idx="53">
                  <c:v>1.5375</c:v>
                </c:pt>
                <c:pt idx="54">
                  <c:v>1.5625</c:v>
                </c:pt>
                <c:pt idx="55">
                  <c:v>1.5875</c:v>
                </c:pt>
                <c:pt idx="56">
                  <c:v>1.6125</c:v>
                </c:pt>
                <c:pt idx="57">
                  <c:v>1.6375</c:v>
                </c:pt>
                <c:pt idx="58">
                  <c:v>1.6625</c:v>
                </c:pt>
                <c:pt idx="59">
                  <c:v>1.6875</c:v>
                </c:pt>
                <c:pt idx="60">
                  <c:v>1.7125</c:v>
                </c:pt>
                <c:pt idx="61">
                  <c:v>1.7375</c:v>
                </c:pt>
                <c:pt idx="62">
                  <c:v>1.7625</c:v>
                </c:pt>
                <c:pt idx="63">
                  <c:v>1.7875</c:v>
                </c:pt>
                <c:pt idx="64">
                  <c:v>1.8125</c:v>
                </c:pt>
                <c:pt idx="65">
                  <c:v>1.8375</c:v>
                </c:pt>
                <c:pt idx="66">
                  <c:v>1.8625</c:v>
                </c:pt>
                <c:pt idx="67">
                  <c:v>1.8875</c:v>
                </c:pt>
                <c:pt idx="68">
                  <c:v>1.9125</c:v>
                </c:pt>
                <c:pt idx="69">
                  <c:v>1.9375</c:v>
                </c:pt>
                <c:pt idx="70">
                  <c:v>1.9625</c:v>
                </c:pt>
                <c:pt idx="71">
                  <c:v>1.9875</c:v>
                </c:pt>
                <c:pt idx="72">
                  <c:v>2.0125</c:v>
                </c:pt>
                <c:pt idx="73">
                  <c:v>2.0375</c:v>
                </c:pt>
                <c:pt idx="74">
                  <c:v>2.0625</c:v>
                </c:pt>
                <c:pt idx="75">
                  <c:v>2.0875</c:v>
                </c:pt>
                <c:pt idx="76">
                  <c:v>2.1125</c:v>
                </c:pt>
                <c:pt idx="77">
                  <c:v>2.1375</c:v>
                </c:pt>
                <c:pt idx="78">
                  <c:v>2.1625</c:v>
                </c:pt>
                <c:pt idx="79">
                  <c:v>2.1875</c:v>
                </c:pt>
              </c:numCache>
            </c:numRef>
          </c:xVal>
          <c:yVal>
            <c:numRef>
              <c:f>'Chart Data'!$B$2:$B$81</c:f>
              <c:numCache>
                <c:formatCode>0</c:formatCode>
                <c:ptCount val="80"/>
                <c:pt idx="0">
                  <c:v>2.61888</c:v>
                </c:pt>
                <c:pt idx="1">
                  <c:v>4.4672</c:v>
                </c:pt>
                <c:pt idx="2">
                  <c:v>4.38272</c:v>
                </c:pt>
                <c:pt idx="3">
                  <c:v>4.3008</c:v>
                </c:pt>
                <c:pt idx="4">
                  <c:v>2.98752</c:v>
                </c:pt>
                <c:pt idx="5">
                  <c:v>4.51072</c:v>
                </c:pt>
                <c:pt idx="6">
                  <c:v>4.259985</c:v>
                </c:pt>
                <c:pt idx="7">
                  <c:v>4.298095</c:v>
                </c:pt>
                <c:pt idx="8">
                  <c:v>2.98752</c:v>
                </c:pt>
                <c:pt idx="9">
                  <c:v>4.47232</c:v>
                </c:pt>
                <c:pt idx="10">
                  <c:v>4.21376</c:v>
                </c:pt>
                <c:pt idx="11">
                  <c:v>4.42368</c:v>
                </c:pt>
                <c:pt idx="12">
                  <c:v>2.94656</c:v>
                </c:pt>
                <c:pt idx="13">
                  <c:v>4.22656</c:v>
                </c:pt>
                <c:pt idx="14">
                  <c:v>4.58496</c:v>
                </c:pt>
                <c:pt idx="15">
                  <c:v>4.25984</c:v>
                </c:pt>
                <c:pt idx="16">
                  <c:v>2.8672</c:v>
                </c:pt>
                <c:pt idx="17">
                  <c:v>4.4288</c:v>
                </c:pt>
                <c:pt idx="18">
                  <c:v>4.33664</c:v>
                </c:pt>
                <c:pt idx="19">
                  <c:v>4.59008</c:v>
                </c:pt>
                <c:pt idx="20">
                  <c:v>2.74432</c:v>
                </c:pt>
                <c:pt idx="21">
                  <c:v>4.300263</c:v>
                </c:pt>
                <c:pt idx="22">
                  <c:v>4.421657</c:v>
                </c:pt>
                <c:pt idx="23">
                  <c:v>4.25472</c:v>
                </c:pt>
                <c:pt idx="24">
                  <c:v>2.947181</c:v>
                </c:pt>
                <c:pt idx="25">
                  <c:v>4.353939</c:v>
                </c:pt>
                <c:pt idx="26">
                  <c:v>4.41344</c:v>
                </c:pt>
                <c:pt idx="27">
                  <c:v>4.21888</c:v>
                </c:pt>
                <c:pt idx="28">
                  <c:v>2.99264</c:v>
                </c:pt>
                <c:pt idx="29">
                  <c:v>4.54656</c:v>
                </c:pt>
                <c:pt idx="30">
                  <c:v>4.17536</c:v>
                </c:pt>
                <c:pt idx="31">
                  <c:v>4.25984</c:v>
                </c:pt>
                <c:pt idx="32">
                  <c:v>2.74688</c:v>
                </c:pt>
                <c:pt idx="33">
                  <c:v>4.71296</c:v>
                </c:pt>
                <c:pt idx="34">
                  <c:v>4.00896</c:v>
                </c:pt>
                <c:pt idx="35">
                  <c:v>4.5056</c:v>
                </c:pt>
                <c:pt idx="36">
                  <c:v>2.685687</c:v>
                </c:pt>
                <c:pt idx="37">
                  <c:v>4.853513</c:v>
                </c:pt>
                <c:pt idx="38">
                  <c:v>4.01152</c:v>
                </c:pt>
                <c:pt idx="39">
                  <c:v>4.34432</c:v>
                </c:pt>
                <c:pt idx="40">
                  <c:v>2.82624</c:v>
                </c:pt>
                <c:pt idx="41">
                  <c:v>4.87424</c:v>
                </c:pt>
                <c:pt idx="42">
                  <c:v>4.17536</c:v>
                </c:pt>
                <c:pt idx="43">
                  <c:v>4.18048</c:v>
                </c:pt>
                <c:pt idx="44">
                  <c:v>2.82624</c:v>
                </c:pt>
                <c:pt idx="45">
                  <c:v>4.87424</c:v>
                </c:pt>
                <c:pt idx="46">
                  <c:v>4.17536</c:v>
                </c:pt>
                <c:pt idx="47">
                  <c:v>4.17792</c:v>
                </c:pt>
                <c:pt idx="48">
                  <c:v>2.50112</c:v>
                </c:pt>
                <c:pt idx="49">
                  <c:v>5.20192</c:v>
                </c:pt>
                <c:pt idx="50">
                  <c:v>3.93216</c:v>
                </c:pt>
                <c:pt idx="51">
                  <c:v>4.25984</c:v>
                </c:pt>
                <c:pt idx="52">
                  <c:v>2.49856</c:v>
                </c:pt>
                <c:pt idx="53">
                  <c:v>5.20192</c:v>
                </c:pt>
                <c:pt idx="54">
                  <c:v>4.096</c:v>
                </c:pt>
                <c:pt idx="55">
                  <c:v>4.25984</c:v>
                </c:pt>
                <c:pt idx="56">
                  <c:v>2.82624</c:v>
                </c:pt>
                <c:pt idx="57">
                  <c:v>4.58752</c:v>
                </c:pt>
                <c:pt idx="58">
                  <c:v>4.25984</c:v>
                </c:pt>
                <c:pt idx="59">
                  <c:v>4.25984</c:v>
                </c:pt>
                <c:pt idx="60">
                  <c:v>2.62144</c:v>
                </c:pt>
                <c:pt idx="61">
                  <c:v>5.03808</c:v>
                </c:pt>
                <c:pt idx="62">
                  <c:v>4.096</c:v>
                </c:pt>
                <c:pt idx="63">
                  <c:v>4.25984</c:v>
                </c:pt>
                <c:pt idx="64">
                  <c:v>2.49856</c:v>
                </c:pt>
                <c:pt idx="65">
                  <c:v>5.212948</c:v>
                </c:pt>
                <c:pt idx="66">
                  <c:v>4.084972</c:v>
                </c:pt>
                <c:pt idx="67">
                  <c:v>4.3008</c:v>
                </c:pt>
                <c:pt idx="68">
                  <c:v>2.62144</c:v>
                </c:pt>
                <c:pt idx="69">
                  <c:v>4.7104</c:v>
                </c:pt>
                <c:pt idx="70">
                  <c:v>4.25984</c:v>
                </c:pt>
                <c:pt idx="71">
                  <c:v>4.42368</c:v>
                </c:pt>
                <c:pt idx="72">
                  <c:v>2.33472</c:v>
                </c:pt>
                <c:pt idx="73">
                  <c:v>5.07904</c:v>
                </c:pt>
                <c:pt idx="74">
                  <c:v>4.096</c:v>
                </c:pt>
                <c:pt idx="75">
                  <c:v>4.25984</c:v>
                </c:pt>
                <c:pt idx="76">
                  <c:v>2.62144</c:v>
                </c:pt>
                <c:pt idx="77">
                  <c:v>5.03808</c:v>
                </c:pt>
                <c:pt idx="78">
                  <c:v>4.096</c:v>
                </c:pt>
                <c:pt idx="79">
                  <c:v>4.25984</c:v>
                </c:pt>
              </c:numCache>
            </c:numRef>
          </c:yVal>
          <c:smooth val="0"/>
          <c:extLst>
            <c:ext xmlns:c16="http://schemas.microsoft.com/office/drawing/2014/chart" uri="{C3380CC4-5D6E-409C-BE32-E72D297353CC}">
              <c16:uniqueId val="{00000000-2F8E-6444-9EBB-FA8B66DBF10A}"/>
            </c:ext>
          </c:extLst>
        </c:ser>
        <c:ser>
          <c:idx val="1"/>
          <c:order val="1"/>
          <c:tx>
            <c:v>C2</c:v>
          </c:tx>
          <c:spPr>
            <a:ln w="21908">
              <a:solidFill>
                <a:srgbClr val="008B82"/>
              </a:solidFill>
            </a:ln>
          </c:spPr>
          <c:marker>
            <c:symbol val="none"/>
          </c:marker>
          <c:xVal>
            <c:numRef>
              <c:f>'Chart Data'!$C$2:$C$81</c:f>
              <c:numCache>
                <c:formatCode>General</c:formatCode>
                <c:ptCount val="80"/>
                <c:pt idx="0">
                  <c:v>0.2125</c:v>
                </c:pt>
                <c:pt idx="1">
                  <c:v>0.2375</c:v>
                </c:pt>
                <c:pt idx="2">
                  <c:v>0.2625</c:v>
                </c:pt>
                <c:pt idx="3">
                  <c:v>0.2875</c:v>
                </c:pt>
                <c:pt idx="4">
                  <c:v>0.3125</c:v>
                </c:pt>
                <c:pt idx="5">
                  <c:v>0.3375</c:v>
                </c:pt>
                <c:pt idx="6">
                  <c:v>0.3625</c:v>
                </c:pt>
                <c:pt idx="7">
                  <c:v>0.3875</c:v>
                </c:pt>
                <c:pt idx="8">
                  <c:v>0.4125</c:v>
                </c:pt>
                <c:pt idx="9">
                  <c:v>0.4375</c:v>
                </c:pt>
                <c:pt idx="10">
                  <c:v>0.4625</c:v>
                </c:pt>
                <c:pt idx="11">
                  <c:v>0.4875</c:v>
                </c:pt>
                <c:pt idx="12">
                  <c:v>0.5125</c:v>
                </c:pt>
                <c:pt idx="13">
                  <c:v>0.5375</c:v>
                </c:pt>
                <c:pt idx="14">
                  <c:v>0.5625</c:v>
                </c:pt>
                <c:pt idx="15">
                  <c:v>0.5875</c:v>
                </c:pt>
                <c:pt idx="16">
                  <c:v>0.6125</c:v>
                </c:pt>
                <c:pt idx="17">
                  <c:v>0.6375</c:v>
                </c:pt>
                <c:pt idx="18">
                  <c:v>0.6625</c:v>
                </c:pt>
                <c:pt idx="19">
                  <c:v>0.6875</c:v>
                </c:pt>
                <c:pt idx="20">
                  <c:v>0.7125</c:v>
                </c:pt>
                <c:pt idx="21">
                  <c:v>0.7375</c:v>
                </c:pt>
                <c:pt idx="22">
                  <c:v>0.7625</c:v>
                </c:pt>
                <c:pt idx="23">
                  <c:v>0.7875</c:v>
                </c:pt>
                <c:pt idx="24">
                  <c:v>0.8125</c:v>
                </c:pt>
                <c:pt idx="25">
                  <c:v>0.8375</c:v>
                </c:pt>
                <c:pt idx="26">
                  <c:v>0.8625</c:v>
                </c:pt>
                <c:pt idx="27">
                  <c:v>0.8875</c:v>
                </c:pt>
                <c:pt idx="28">
                  <c:v>0.9125</c:v>
                </c:pt>
                <c:pt idx="29">
                  <c:v>0.9375</c:v>
                </c:pt>
                <c:pt idx="30">
                  <c:v>0.9625</c:v>
                </c:pt>
                <c:pt idx="31">
                  <c:v>0.9875</c:v>
                </c:pt>
                <c:pt idx="32">
                  <c:v>1.0125</c:v>
                </c:pt>
                <c:pt idx="33">
                  <c:v>1.0375</c:v>
                </c:pt>
                <c:pt idx="34">
                  <c:v>1.0625</c:v>
                </c:pt>
                <c:pt idx="35">
                  <c:v>1.0875</c:v>
                </c:pt>
                <c:pt idx="36">
                  <c:v>1.1125</c:v>
                </c:pt>
                <c:pt idx="37">
                  <c:v>1.1375</c:v>
                </c:pt>
                <c:pt idx="38">
                  <c:v>1.1625</c:v>
                </c:pt>
                <c:pt idx="39">
                  <c:v>1.1875</c:v>
                </c:pt>
                <c:pt idx="40">
                  <c:v>1.2125</c:v>
                </c:pt>
                <c:pt idx="41">
                  <c:v>1.2375</c:v>
                </c:pt>
                <c:pt idx="42">
                  <c:v>1.2625</c:v>
                </c:pt>
                <c:pt idx="43">
                  <c:v>1.2875</c:v>
                </c:pt>
                <c:pt idx="44">
                  <c:v>1.3125</c:v>
                </c:pt>
                <c:pt idx="45">
                  <c:v>1.3375</c:v>
                </c:pt>
                <c:pt idx="46">
                  <c:v>1.3625</c:v>
                </c:pt>
                <c:pt idx="47">
                  <c:v>1.3875</c:v>
                </c:pt>
                <c:pt idx="48">
                  <c:v>1.4125</c:v>
                </c:pt>
                <c:pt idx="49">
                  <c:v>1.4375</c:v>
                </c:pt>
                <c:pt idx="50">
                  <c:v>1.4625</c:v>
                </c:pt>
                <c:pt idx="51">
                  <c:v>1.4875</c:v>
                </c:pt>
                <c:pt idx="52">
                  <c:v>1.5125</c:v>
                </c:pt>
                <c:pt idx="53">
                  <c:v>1.5375</c:v>
                </c:pt>
                <c:pt idx="54">
                  <c:v>1.5625</c:v>
                </c:pt>
                <c:pt idx="55">
                  <c:v>1.5875</c:v>
                </c:pt>
                <c:pt idx="56">
                  <c:v>1.6125</c:v>
                </c:pt>
                <c:pt idx="57">
                  <c:v>1.6375</c:v>
                </c:pt>
                <c:pt idx="58">
                  <c:v>1.6625</c:v>
                </c:pt>
                <c:pt idx="59">
                  <c:v>1.6875</c:v>
                </c:pt>
                <c:pt idx="60">
                  <c:v>1.7125</c:v>
                </c:pt>
                <c:pt idx="61">
                  <c:v>1.7375</c:v>
                </c:pt>
                <c:pt idx="62">
                  <c:v>1.7625</c:v>
                </c:pt>
                <c:pt idx="63">
                  <c:v>1.7875</c:v>
                </c:pt>
                <c:pt idx="64">
                  <c:v>1.8125</c:v>
                </c:pt>
                <c:pt idx="65">
                  <c:v>1.8375</c:v>
                </c:pt>
                <c:pt idx="66">
                  <c:v>1.8625</c:v>
                </c:pt>
                <c:pt idx="67">
                  <c:v>1.8875</c:v>
                </c:pt>
                <c:pt idx="68">
                  <c:v>1.9125</c:v>
                </c:pt>
                <c:pt idx="69">
                  <c:v>1.9375</c:v>
                </c:pt>
                <c:pt idx="70">
                  <c:v>1.9625</c:v>
                </c:pt>
                <c:pt idx="71">
                  <c:v>1.9875</c:v>
                </c:pt>
                <c:pt idx="72">
                  <c:v>2.0125</c:v>
                </c:pt>
                <c:pt idx="73">
                  <c:v>2.0375</c:v>
                </c:pt>
                <c:pt idx="74">
                  <c:v>2.0625</c:v>
                </c:pt>
                <c:pt idx="75">
                  <c:v>2.0875</c:v>
                </c:pt>
                <c:pt idx="76">
                  <c:v>2.1125</c:v>
                </c:pt>
                <c:pt idx="77">
                  <c:v>2.1375</c:v>
                </c:pt>
                <c:pt idx="78">
                  <c:v>2.1625</c:v>
                </c:pt>
                <c:pt idx="79">
                  <c:v>2.1875</c:v>
                </c:pt>
              </c:numCache>
            </c:numRef>
          </c:xVal>
          <c:yVal>
            <c:numRef>
              <c:f>'Chart Data'!$D$2:$D$81</c:f>
              <c:numCache>
                <c:formatCode>0</c:formatCode>
                <c:ptCount val="80"/>
                <c:pt idx="0">
                  <c:v>2.62656</c:v>
                </c:pt>
                <c:pt idx="1">
                  <c:v>4.4544</c:v>
                </c:pt>
                <c:pt idx="2">
                  <c:v>4.38272</c:v>
                </c:pt>
                <c:pt idx="3">
                  <c:v>4.30848</c:v>
                </c:pt>
                <c:pt idx="4">
                  <c:v>3.14624</c:v>
                </c:pt>
                <c:pt idx="5">
                  <c:v>4.34688</c:v>
                </c:pt>
                <c:pt idx="6">
                  <c:v>4.30592</c:v>
                </c:pt>
                <c:pt idx="7">
                  <c:v>4.2624</c:v>
                </c:pt>
                <c:pt idx="8">
                  <c:v>3.02592</c:v>
                </c:pt>
                <c:pt idx="9">
                  <c:v>4.43392</c:v>
                </c:pt>
                <c:pt idx="10">
                  <c:v>4.21376</c:v>
                </c:pt>
                <c:pt idx="11">
                  <c:v>4.416</c:v>
                </c:pt>
                <c:pt idx="12">
                  <c:v>2.875317</c:v>
                </c:pt>
                <c:pt idx="13">
                  <c:v>4.302923</c:v>
                </c:pt>
                <c:pt idx="14">
                  <c:v>4.5824</c:v>
                </c:pt>
                <c:pt idx="15">
                  <c:v>4.258875</c:v>
                </c:pt>
                <c:pt idx="16">
                  <c:v>2.868165</c:v>
                </c:pt>
                <c:pt idx="17">
                  <c:v>4.43904</c:v>
                </c:pt>
                <c:pt idx="18">
                  <c:v>4.20352</c:v>
                </c:pt>
                <c:pt idx="19">
                  <c:v>4.544</c:v>
                </c:pt>
                <c:pt idx="20">
                  <c:v>2.950948</c:v>
                </c:pt>
                <c:pt idx="21">
                  <c:v>4.263132</c:v>
                </c:pt>
                <c:pt idx="22">
                  <c:v>4.25984</c:v>
                </c:pt>
                <c:pt idx="23">
                  <c:v>4.3264</c:v>
                </c:pt>
                <c:pt idx="24">
                  <c:v>2.95424</c:v>
                </c:pt>
                <c:pt idx="25">
                  <c:v>4.3904</c:v>
                </c:pt>
                <c:pt idx="26">
                  <c:v>4.29312</c:v>
                </c:pt>
                <c:pt idx="27">
                  <c:v>4.4672</c:v>
                </c:pt>
                <c:pt idx="28">
                  <c:v>2.90304</c:v>
                </c:pt>
                <c:pt idx="29">
                  <c:v>4.51584</c:v>
                </c:pt>
                <c:pt idx="30">
                  <c:v>4.05248</c:v>
                </c:pt>
                <c:pt idx="31">
                  <c:v>4.416</c:v>
                </c:pt>
                <c:pt idx="32">
                  <c:v>2.7904</c:v>
                </c:pt>
                <c:pt idx="33">
                  <c:v>4.67968</c:v>
                </c:pt>
                <c:pt idx="34">
                  <c:v>4.16768</c:v>
                </c:pt>
                <c:pt idx="35">
                  <c:v>4.42368</c:v>
                </c:pt>
                <c:pt idx="36">
                  <c:v>3.07712</c:v>
                </c:pt>
                <c:pt idx="37">
                  <c:v>4.38528</c:v>
                </c:pt>
                <c:pt idx="38">
                  <c:v>4.00896</c:v>
                </c:pt>
                <c:pt idx="39">
                  <c:v>4.42368</c:v>
                </c:pt>
                <c:pt idx="40">
                  <c:v>3.06944</c:v>
                </c:pt>
                <c:pt idx="41">
                  <c:v>4.54912</c:v>
                </c:pt>
                <c:pt idx="42">
                  <c:v>4.01152</c:v>
                </c:pt>
                <c:pt idx="43">
                  <c:v>4.416</c:v>
                </c:pt>
                <c:pt idx="44">
                  <c:v>3.0848</c:v>
                </c:pt>
                <c:pt idx="45">
                  <c:v>4.70272</c:v>
                </c:pt>
                <c:pt idx="46">
                  <c:v>3.68384</c:v>
                </c:pt>
                <c:pt idx="47">
                  <c:v>4.42368</c:v>
                </c:pt>
                <c:pt idx="48">
                  <c:v>3.2512</c:v>
                </c:pt>
                <c:pt idx="49">
                  <c:v>4.36992</c:v>
                </c:pt>
                <c:pt idx="50">
                  <c:v>4.34176</c:v>
                </c:pt>
                <c:pt idx="51">
                  <c:v>4.26496</c:v>
                </c:pt>
                <c:pt idx="52">
                  <c:v>2.9184</c:v>
                </c:pt>
                <c:pt idx="53">
                  <c:v>4.6976</c:v>
                </c:pt>
                <c:pt idx="54">
                  <c:v>4.01408</c:v>
                </c:pt>
                <c:pt idx="55">
                  <c:v>4.26496</c:v>
                </c:pt>
                <c:pt idx="56">
                  <c:v>3.06944</c:v>
                </c:pt>
                <c:pt idx="57">
                  <c:v>4.7104</c:v>
                </c:pt>
                <c:pt idx="58">
                  <c:v>4.01664</c:v>
                </c:pt>
                <c:pt idx="59">
                  <c:v>4.25728</c:v>
                </c:pt>
                <c:pt idx="60">
                  <c:v>2.74432</c:v>
                </c:pt>
                <c:pt idx="61">
                  <c:v>5.03808</c:v>
                </c:pt>
                <c:pt idx="62">
                  <c:v>4.09856</c:v>
                </c:pt>
                <c:pt idx="63">
                  <c:v>4.26496</c:v>
                </c:pt>
                <c:pt idx="64">
                  <c:v>2.97728</c:v>
                </c:pt>
                <c:pt idx="65">
                  <c:v>4.87936</c:v>
                </c:pt>
                <c:pt idx="66">
                  <c:v>4.01408</c:v>
                </c:pt>
                <c:pt idx="67">
                  <c:v>4.34176</c:v>
                </c:pt>
                <c:pt idx="68">
                  <c:v>2.49344</c:v>
                </c:pt>
                <c:pt idx="69">
                  <c:v>5.04576</c:v>
                </c:pt>
                <c:pt idx="70">
                  <c:v>4.09856</c:v>
                </c:pt>
                <c:pt idx="71">
                  <c:v>4.09088</c:v>
                </c:pt>
                <c:pt idx="72">
                  <c:v>2.65984</c:v>
                </c:pt>
                <c:pt idx="73">
                  <c:v>5.04576</c:v>
                </c:pt>
                <c:pt idx="74">
                  <c:v>4.09856</c:v>
                </c:pt>
                <c:pt idx="75">
                  <c:v>4.2496</c:v>
                </c:pt>
                <c:pt idx="76">
                  <c:v>2.50112</c:v>
                </c:pt>
                <c:pt idx="77">
                  <c:v>5.20448</c:v>
                </c:pt>
                <c:pt idx="78">
                  <c:v>3.983187</c:v>
                </c:pt>
                <c:pt idx="79">
                  <c:v>4.364973</c:v>
                </c:pt>
              </c:numCache>
            </c:numRef>
          </c:yVal>
          <c:smooth val="0"/>
          <c:extLst>
            <c:ext xmlns:c16="http://schemas.microsoft.com/office/drawing/2014/chart" uri="{C3380CC4-5D6E-409C-BE32-E72D297353CC}">
              <c16:uniqueId val="{00000001-2F8E-6444-9EBB-FA8B66DBF10A}"/>
            </c:ext>
          </c:extLst>
        </c:ser>
        <c:dLbls>
          <c:showLegendKey val="0"/>
          <c:showVal val="0"/>
          <c:showCatName val="0"/>
          <c:showSerName val="0"/>
          <c:showPercent val="0"/>
          <c:showBubbleSize val="0"/>
        </c:dLbls>
        <c:axId val="48650112"/>
        <c:axId val="48672768"/>
      </c:scatterChart>
      <c:valAx>
        <c:axId val="48672768"/>
        <c:scaling>
          <c:orientation val="minMax"/>
          <c:max val="6"/>
          <c:min val="0"/>
        </c:scaling>
        <c:delete val="0"/>
        <c:axPos val="l"/>
        <c:majorGridlines>
          <c:spPr>
            <a:ln w="9525">
              <a:solidFill>
                <a:srgbClr val="DFE6EB"/>
              </a:solidFill>
            </a:ln>
          </c:spPr>
        </c:majorGridlines>
        <c:title>
          <c:tx>
            <c:rich>
              <a:bodyPr/>
              <a:lstStyle/>
              <a:p>
                <a:r>
                  <a:rPr sz="1350">
                    <a:solidFill>
                      <a:srgbClr val="586875"/>
                    </a:solidFill>
                    <a:latin typeface="Apple SD Gothic Neo"/>
                    <a:ea typeface="Apple SD Gothic Neo"/>
                    <a:cs typeface="Apple SD Gothic Neo"/>
                  </a:rPr>
                  <a:t>Host GB/s</a:t>
                </a:r>
              </a:p>
            </c:rich>
          </c:tx>
          <c:overlay val="0"/>
        </c:title>
        <c:numFmt formatCode="0" sourceLinked="1"/>
        <c:majorTickMark val="none"/>
        <c:minorTickMark val="none"/>
        <c:tickLblPos val="nextTo"/>
        <c:spPr>
          <a:ln w="9525">
            <a:solidFill>
              <a:srgbClr val="DFE6EB"/>
            </a:solidFill>
          </a:ln>
        </c:spPr>
        <c:txPr>
          <a:bodyPr anchorCtr="1"/>
          <a:lstStyle/>
          <a:p>
            <a:pPr>
              <a:defRPr sz="1350">
                <a:solidFill>
                  <a:srgbClr val="586875"/>
                </a:solidFill>
                <a:latin typeface="Apple SD Gothic Neo"/>
                <a:ea typeface="Apple SD Gothic Neo"/>
                <a:cs typeface="Apple SD Gothic Neo"/>
              </a:defRPr>
            </a:pPr>
            <a:endParaRPr lang="ko-KR"/>
          </a:p>
        </c:txPr>
        <c:crossAx val="48650112"/>
        <c:crosses val="autoZero"/>
        <c:crossBetween val="midCat"/>
        <c:majorUnit val="2"/>
      </c:valAx>
      <c:valAx>
        <c:axId val="48650112"/>
        <c:scaling>
          <c:orientation val="minMax"/>
          <c:max val="2.2000000000000002"/>
          <c:min val="0.2"/>
        </c:scaling>
        <c:delete val="0"/>
        <c:axPos val="b"/>
        <c:title>
          <c:tx>
            <c:rich>
              <a:bodyPr/>
              <a:lstStyle/>
              <a:p>
                <a:r>
                  <a:rPr sz="1350">
                    <a:solidFill>
                      <a:srgbClr val="586875"/>
                    </a:solidFill>
                    <a:latin typeface="Apple SD Gothic Neo"/>
                    <a:ea typeface="Apple SD Gothic Neo"/>
                    <a:cs typeface="Apple SD Gothic Neo"/>
                  </a:rPr>
                  <a:t>시간 (ms)</a:t>
                </a:r>
              </a:p>
            </c:rich>
          </c:tx>
          <c:overlay val="0"/>
        </c:title>
        <c:numFmt formatCode="General" sourceLinked="1"/>
        <c:majorTickMark val="none"/>
        <c:minorTickMark val="none"/>
        <c:tickLblPos val="nextTo"/>
        <c:spPr>
          <a:ln w="9525">
            <a:solidFill>
              <a:srgbClr val="DFE6EB"/>
            </a:solidFill>
          </a:ln>
        </c:spPr>
        <c:txPr>
          <a:bodyPr anchorCtr="1"/>
          <a:lstStyle/>
          <a:p>
            <a:pPr>
              <a:defRPr sz="1350">
                <a:solidFill>
                  <a:srgbClr val="586875"/>
                </a:solidFill>
                <a:latin typeface="Apple SD Gothic Neo"/>
                <a:ea typeface="Apple SD Gothic Neo"/>
                <a:cs typeface="Apple SD Gothic Neo"/>
              </a:defRPr>
            </a:pPr>
            <a:endParaRPr lang="ko-KR"/>
          </a:p>
        </c:txPr>
        <c:crossAx val="48672768"/>
        <c:crosses val="autoZero"/>
        <c:crossBetween val="midCat"/>
        <c:majorUnit val="0.5"/>
      </c:valAx>
      <c:spPr>
        <a:solidFill>
          <a:srgbClr val="FFFFFF"/>
        </a:solidFill>
        <a:ln w="0">
          <a:noFill/>
        </a:ln>
      </c:spPr>
    </c:plotArea>
    <c:legend>
      <c:legendPos val="b"/>
      <c:overlay val="0"/>
      <c:txPr>
        <a:bodyPr anchorCtr="1"/>
        <a:lstStyle/>
        <a:p>
          <a:pPr>
            <a:defRPr sz="1500">
              <a:solidFill>
                <a:srgbClr val="172738"/>
              </a:solidFill>
              <a:latin typeface="Apple SD Gothic Neo"/>
              <a:ea typeface="Apple SD Gothic Neo"/>
              <a:cs typeface="Apple SD Gothic Neo"/>
            </a:defRPr>
          </a:pPr>
          <a:endParaRPr lang="ko-KR"/>
        </a:p>
      </c:txPr>
    </c:legend>
    <c:plotVisOnly val="1"/>
    <c:dispBlanksAs val="zero"/>
    <c:showDLblsOverMax val="1"/>
  </c:chart>
  <c:spPr>
    <a:solidFill>
      <a:srgbClr val="FFFFFF"/>
    </a:solidFill>
    <a:ln w="0">
      <a:noFill/>
    </a:ln>
  </c:spPr>
  <c:externalData r:id="rId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8" name="title">
            <a:extLst xmlns:a="http://schemas.openxmlformats.org/drawingml/2006/main">
              <a:ext uri="{FF2B5EF4-FFF2-40B4-BE49-F238E27FC236}">
                <a16:creationId xmlns:a16="http://schemas.microsoft.com/office/drawing/2014/main" id="{24AE0245-A0E3-4B8E-B323-E15FE5128825}"/>
              </a:ext>
            </a:extLst>
          </p:cNvPr>
          <p:cNvSpPr>
            <a:spLocks xmlns:a="http://schemas.openxmlformats.org/drawingml/2006/main" noGrp="1"/>
          </p:cNvSpPr>
          <p:nvPr/>
        </p:nvSpPr>
        <p:spPr>
          <a:xfrm xmlns:a="http://schemas.openxmlformats.org/drawingml/2006/main">
            <a:off x="533400" y="438150"/>
            <a:ext cx="11125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2738"/>
                </a:solidFill>
                <a:latin typeface="Apple SD Gothic Neo"/>
                <a:ea typeface="Apple SD Gothic Neo"/>
                <a:cs typeface="Apple SD Gothic Neo"/>
              </a:defRPr>
            </a:defPPr>
          </a:lstStyle>
          <a:p xmlns:a="http://schemas.openxmlformats.org/drawingml/2006/main">
            <a:pPr>
              <a:buNone/>
              <a:defRPr sz="3300" b="1">
                <a:solidFill>
                  <a:srgbClr val="172738"/>
                </a:solidFill>
                <a:latin typeface="Apple SD Gothic Neo"/>
                <a:ea typeface="Apple SD Gothic Neo"/>
                <a:cs typeface="Apple SD Gothic Neo"/>
              </a:defRPr>
            </a:pPr>
            <a:r>
              <a:rPr sz="3300" b="1">
                <a:solidFill>
                  <a:srgbClr val="172738"/>
                </a:solidFill>
                <a:latin typeface="Apple SD Gothic Neo"/>
                <a:ea typeface="Apple SD Gothic Neo"/>
                <a:cs typeface="Apple SD Gothic Neo"/>
              </a:rPr>
              <a:t>모델 구조와 주요 가변 요소</a:t>
            </a:r>
          </a:p>
        </p:txBody>
      </p:sp>
      <p:sp>
        <p:nvSpPr>
          <p:cNvPr id="2" name="subtitle">
            <a:extLst xmlns:a="http://schemas.openxmlformats.org/drawingml/2006/main">
              <a:ext uri="{FF2B5EF4-FFF2-40B4-BE49-F238E27FC236}">
                <a16:creationId xmlns:a16="http://schemas.microsoft.com/office/drawing/2014/main" id="{A858E7BB-EA75-4999-9E92-3C75B0CBE0AD}"/>
              </a:ext>
            </a:extLst>
          </p:cNvPr>
          <p:cNvSpPr>
            <a:spLocks xmlns:a="http://schemas.openxmlformats.org/drawingml/2006/main" noGrp="1"/>
          </p:cNvSpPr>
          <p:nvPr/>
        </p:nvSpPr>
        <p:spPr>
          <a:xfrm xmlns:a="http://schemas.openxmlformats.org/drawingml/2006/main">
            <a:off x="552450" y="1104900"/>
            <a:ext cx="110871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586875"/>
                </a:solidFill>
                <a:latin typeface="Apple SD Gothic Neo"/>
                <a:ea typeface="Apple SD Gothic Neo"/>
                <a:cs typeface="Apple SD Gothic Neo"/>
              </a:defRPr>
            </a:defPPr>
          </a:lstStyle>
          <a:p xmlns:a="http://schemas.openxmlformats.org/drawingml/2006/main">
            <a:pPr>
              <a:buNone/>
              <a:defRPr sz="1800" b="0">
                <a:solidFill>
                  <a:srgbClr val="586875"/>
                </a:solidFill>
                <a:latin typeface="Apple SD Gothic Neo"/>
                <a:ea typeface="Apple SD Gothic Neo"/>
                <a:cs typeface="Apple SD Gothic Neo"/>
              </a:defRPr>
            </a:pPr>
            <a:r>
              <a:rPr sz="1800" b="0">
                <a:solidFill>
                  <a:srgbClr val="586875"/>
                </a:solidFill>
                <a:latin typeface="Apple SD Gothic Neo"/>
                <a:ea typeface="Apple SD Gothic Neo"/>
                <a:cs typeface="Apple SD Gothic Neo"/>
              </a:rPr>
              <a:t>주황색은 조정 가능한 항목입니다. 현재 대표 설정을 각 블록에 함께 표시했습니다.</a:t>
            </a:r>
          </a:p>
        </p:txBody>
      </p:sp>
      <p:sp>
        <p:nvSpPr>
          <p:cNvPr id="3" name="footer">
            <a:extLst xmlns:a="http://schemas.openxmlformats.org/drawingml/2006/main">
              <a:ext uri="{FF2B5EF4-FFF2-40B4-BE49-F238E27FC236}">
                <a16:creationId xmlns:a16="http://schemas.microsoft.com/office/drawing/2014/main" id="{B19B494E-C19B-4FE5-82FD-E9CD492ACB86}"/>
              </a:ext>
            </a:extLst>
          </p:cNvPr>
          <p:cNvSpPr>
            <a:spLocks xmlns:a="http://schemas.openxmlformats.org/drawingml/2006/main" noGrp="1"/>
          </p:cNvSpPr>
          <p:nvPr/>
        </p:nvSpPr>
        <p:spPr>
          <a:xfrm xmlns:a="http://schemas.openxmlformats.org/drawingml/2006/main">
            <a:off x="533400" y="6419850"/>
            <a:ext cx="10477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86875"/>
                </a:solidFill>
                <a:latin typeface="Apple SD Gothic Neo"/>
                <a:ea typeface="Apple SD Gothic Neo"/>
                <a:cs typeface="Apple SD Gothic Neo"/>
              </a:defRPr>
            </a:defPPr>
          </a:lstStyle>
          <a:p xmlns:a="http://schemas.openxmlformats.org/drawingml/2006/main">
            <a:pPr>
              <a:buNone/>
              <a:defRPr sz="1200" b="0">
                <a:solidFill>
                  <a:srgbClr val="586875"/>
                </a:solidFill>
                <a:latin typeface="Apple SD Gothic Neo"/>
                <a:ea typeface="Apple SD Gothic Neo"/>
                <a:cs typeface="Apple SD Gothic Neo"/>
              </a:defRPr>
            </a:pPr>
            <a:r>
              <a:rPr sz="1200" b="0">
                <a:solidFill>
                  <a:srgbClr val="586875"/>
                </a:solidFill>
                <a:latin typeface="Apple SD Gothic Neo"/>
                <a:ea typeface="Apple SD Gothic Neo"/>
                <a:cs typeface="Apple SD Gothic Neo"/>
              </a:rPr>
              <a:t>교차 검증 기준: 총 64 Plane, 8MiB, PF OFF. A의 QD512, B의 QD32,768/Port</a:t>
            </a:r>
          </a:p>
        </p:txBody>
      </p:sp>
      <p:sp>
        <p:nvSpPr>
          <p:cNvPr id="4" name="page">
            <a:extLst xmlns:a="http://schemas.openxmlformats.org/drawingml/2006/main">
              <a:ext uri="{FF2B5EF4-FFF2-40B4-BE49-F238E27FC236}">
                <a16:creationId xmlns:a16="http://schemas.microsoft.com/office/drawing/2014/main" id="{098C21F6-27E6-45F1-B7BC-6DB9D80DAE48}"/>
              </a:ext>
            </a:extLst>
          </p:cNvPr>
          <p:cNvSpPr>
            <a:spLocks xmlns:a="http://schemas.openxmlformats.org/drawingml/2006/main" noGrp="1"/>
          </p:cNvSpPr>
          <p:nvPr/>
        </p:nvSpPr>
        <p:spPr>
          <a:xfrm xmlns:a="http://schemas.openxmlformats.org/drawingml/2006/main">
            <a:off x="11144250" y="6419850"/>
            <a:ext cx="4953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86875"/>
                </a:solidFill>
                <a:latin typeface="Apple SD Gothic Neo"/>
                <a:ea typeface="Apple SD Gothic Neo"/>
                <a:cs typeface="Apple SD Gothic Neo"/>
              </a:defRPr>
            </a:defPPr>
          </a:lstStyle>
          <a:p xmlns:a="http://schemas.openxmlformats.org/drawingml/2006/main">
            <a:pPr>
              <a:buNone/>
              <a:defRPr sz="1200" b="0">
                <a:solidFill>
                  <a:srgbClr val="586875"/>
                </a:solidFill>
                <a:latin typeface="Apple SD Gothic Neo"/>
                <a:ea typeface="Apple SD Gothic Neo"/>
                <a:cs typeface="Apple SD Gothic Neo"/>
              </a:defRPr>
            </a:pPr>
            <a:r>
              <a:rPr sz="1200" b="0">
                <a:solidFill>
                  <a:srgbClr val="586875"/>
                </a:solidFill>
                <a:latin typeface="Apple SD Gothic Neo"/>
                <a:ea typeface="Apple SD Gothic Neo"/>
                <a:cs typeface="Apple SD Gothic Neo"/>
              </a:rPr>
              <a:t>01</a:t>
            </a:r>
          </a:p>
        </p:txBody>
      </p:sp>
      <p:sp>
        <p:nvSpPr>
          <p:cNvPr id="5" name="host-container">
            <a:extLst xmlns:a="http://schemas.openxmlformats.org/drawingml/2006/main">
              <a:ext uri="{FF2B5EF4-FFF2-40B4-BE49-F238E27FC236}">
                <a16:creationId xmlns:a16="http://schemas.microsoft.com/office/drawing/2014/main" id="{AEDA70EF-9CC5-439C-A056-D571372ECBC0}"/>
              </a:ext>
            </a:extLst>
          </p:cNvPr>
          <p:cNvSpPr>
            <a:spLocks xmlns:a="http://schemas.openxmlformats.org/drawingml/2006/main" noGrp="1"/>
          </p:cNvSpPr>
          <p:nvPr/>
        </p:nvSpPr>
        <p:spPr>
          <a:xfrm xmlns:a="http://schemas.openxmlformats.org/drawingml/2006/main">
            <a:off x="533400" y="1952625"/>
            <a:ext cx="1638300" cy="3286125"/>
          </a:xfrm>
          <a:prstGeom xmlns:a="http://schemas.openxmlformats.org/drawingml/2006/main" prst="rect">
            <a:avLst/>
          </a:prstGeom>
          <a:solidFill xmlns:a="http://schemas.openxmlformats.org/drawingml/2006/main">
            <a:srgbClr val="F1F5F8"/>
          </a:solidFill>
          <a:ln xmlns:a="http://schemas.openxmlformats.org/drawingml/2006/main" w="14288">
            <a:solidFill>
              <a:srgbClr val="DFE6EB"/>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controller-container">
            <a:extLst xmlns:a="http://schemas.openxmlformats.org/drawingml/2006/main">
              <a:ext uri="{FF2B5EF4-FFF2-40B4-BE49-F238E27FC236}">
                <a16:creationId xmlns:a16="http://schemas.microsoft.com/office/drawing/2014/main" id="{A81E2DDA-435A-48FD-8660-2C8D024703D8}"/>
              </a:ext>
            </a:extLst>
          </p:cNvPr>
          <p:cNvSpPr>
            <a:spLocks xmlns:a="http://schemas.openxmlformats.org/drawingml/2006/main" noGrp="1"/>
          </p:cNvSpPr>
          <p:nvPr/>
        </p:nvSpPr>
        <p:spPr>
          <a:xfrm xmlns:a="http://schemas.openxmlformats.org/drawingml/2006/main">
            <a:off x="2628900" y="1952625"/>
            <a:ext cx="5391150" cy="3286125"/>
          </a:xfrm>
          <a:prstGeom xmlns:a="http://schemas.openxmlformats.org/drawingml/2006/main" prst="rect">
            <a:avLst/>
          </a:prstGeom>
          <a:solidFill xmlns:a="http://schemas.openxmlformats.org/drawingml/2006/main">
            <a:srgbClr val="F8FAFC"/>
          </a:solidFill>
          <a:ln xmlns:a="http://schemas.openxmlformats.org/drawingml/2006/main" w="14288">
            <a:solidFill>
              <a:srgbClr val="DFE6EB"/>
            </a:solidFill>
            <a:prstDash val="solid"/>
          </a:ln>
        </p:spPr>
        <p:txBody>
          <a:bodyPr xmlns:a="http://schemas.openxmlformats.org/drawingml/2006/main"/>
          <a:lstStyle xmlns:a="http://schemas.openxmlformats.org/drawingml/2006/main"/>
          <a:p xmlns:a="http://schemas.openxmlformats.org/drawingml/2006/main">
            <a:endParaRPr/>
          </a:p>
        </p:txBody>
      </p:sp>
      <p:sp>
        <p:nvSpPr>
          <p:cNvPr id="7" name="nand-container">
            <a:extLst xmlns:a="http://schemas.openxmlformats.org/drawingml/2006/main">
              <a:ext uri="{FF2B5EF4-FFF2-40B4-BE49-F238E27FC236}">
                <a16:creationId xmlns:a16="http://schemas.microsoft.com/office/drawing/2014/main" id="{888543F1-FD7B-48B4-B3EC-290C5FEFABC0}"/>
              </a:ext>
            </a:extLst>
          </p:cNvPr>
          <p:cNvSpPr>
            <a:spLocks xmlns:a="http://schemas.openxmlformats.org/drawingml/2006/main" noGrp="1"/>
          </p:cNvSpPr>
          <p:nvPr/>
        </p:nvSpPr>
        <p:spPr>
          <a:xfrm xmlns:a="http://schemas.openxmlformats.org/drawingml/2006/main">
            <a:off x="8467725" y="1952625"/>
            <a:ext cx="3190875" cy="3286125"/>
          </a:xfrm>
          <a:prstGeom xmlns:a="http://schemas.openxmlformats.org/drawingml/2006/main" prst="rect">
            <a:avLst/>
          </a:prstGeom>
          <a:solidFill xmlns:a="http://schemas.openxmlformats.org/drawingml/2006/main">
            <a:srgbClr val="F8FAFC"/>
          </a:solidFill>
          <a:ln xmlns:a="http://schemas.openxmlformats.org/drawingml/2006/main" w="14288">
            <a:solidFill>
              <a:srgbClr val="DFE6EB"/>
            </a:solidFill>
            <a:prstDash val="solid"/>
          </a:ln>
        </p:spPr>
        <p:txBody>
          <a:bodyPr xmlns:a="http://schemas.openxmlformats.org/drawingml/2006/main"/>
          <a:lstStyle xmlns:a="http://schemas.openxmlformats.org/drawingml/2006/main"/>
          <a:p xmlns:a="http://schemas.openxmlformats.org/drawingml/2006/main">
            <a:endParaRPr/>
          </a:p>
        </p:txBody>
      </p:sp>
      <p:sp>
        <p:nvSpPr>
          <p:cNvPr id="8" name="host-heading">
            <a:extLst xmlns:a="http://schemas.openxmlformats.org/drawingml/2006/main">
              <a:ext uri="{FF2B5EF4-FFF2-40B4-BE49-F238E27FC236}">
                <a16:creationId xmlns:a16="http://schemas.microsoft.com/office/drawing/2014/main" id="{9170059D-FDFE-48A5-9BA6-C22C723B164A}"/>
              </a:ext>
            </a:extLst>
          </p:cNvPr>
          <p:cNvSpPr>
            <a:spLocks xmlns:a="http://schemas.openxmlformats.org/drawingml/2006/main" noGrp="1"/>
          </p:cNvSpPr>
          <p:nvPr/>
        </p:nvSpPr>
        <p:spPr>
          <a:xfrm xmlns:a="http://schemas.openxmlformats.org/drawingml/2006/main">
            <a:off x="685800" y="2076450"/>
            <a:ext cx="13525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172738"/>
                </a:solidFill>
                <a:latin typeface="Apple SD Gothic Neo"/>
                <a:ea typeface="Apple SD Gothic Neo"/>
                <a:cs typeface="Apple SD Gothic Neo"/>
              </a:defRPr>
            </a:defPPr>
          </a:lstStyle>
          <a:p xmlns:a="http://schemas.openxmlformats.org/drawingml/2006/main">
            <a:pPr>
              <a:buNone/>
              <a:defRPr sz="2025" b="1">
                <a:solidFill>
                  <a:srgbClr val="172738"/>
                </a:solidFill>
                <a:latin typeface="Apple SD Gothic Neo"/>
                <a:ea typeface="Apple SD Gothic Neo"/>
                <a:cs typeface="Apple SD Gothic Neo"/>
              </a:defRPr>
            </a:pPr>
            <a:r>
              <a:rPr sz="2025" b="1">
                <a:solidFill>
                  <a:srgbClr val="172738"/>
                </a:solidFill>
                <a:latin typeface="Apple SD Gothic Neo"/>
                <a:ea typeface="Apple SD Gothic Neo"/>
                <a:cs typeface="Apple SD Gothic Neo"/>
              </a:rPr>
              <a:t>Host</a:t>
            </a:r>
          </a:p>
        </p:txBody>
      </p:sp>
      <p:sp>
        <p:nvSpPr>
          <p:cNvPr id="9" name="host-ports-setting">
            <a:extLst xmlns:a="http://schemas.openxmlformats.org/drawingml/2006/main">
              <a:ext uri="{FF2B5EF4-FFF2-40B4-BE49-F238E27FC236}">
                <a16:creationId xmlns:a16="http://schemas.microsoft.com/office/drawing/2014/main" id="{68AEAB9D-8FDB-47A6-8631-2898D4259ADF}"/>
              </a:ext>
            </a:extLst>
          </p:cNvPr>
          <p:cNvSpPr>
            <a:spLocks xmlns:a="http://schemas.openxmlformats.org/drawingml/2006/main" noGrp="1"/>
          </p:cNvSpPr>
          <p:nvPr/>
        </p:nvSpPr>
        <p:spPr>
          <a:xfrm xmlns:a="http://schemas.openxmlformats.org/drawingml/2006/main">
            <a:off x="685800" y="2447925"/>
            <a:ext cx="14097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B65D13"/>
                </a:solidFill>
                <a:latin typeface="Apple SD Gothic Neo"/>
                <a:ea typeface="Apple SD Gothic Neo"/>
                <a:cs typeface="Apple SD Gothic Neo"/>
              </a:defRPr>
            </a:defPPr>
          </a:lstStyle>
          <a:p xmlns:a="http://schemas.openxmlformats.org/drawingml/2006/main">
            <a:pPr>
              <a:buNone/>
              <a:defRPr sz="1650" b="1">
                <a:solidFill>
                  <a:srgbClr val="B65D13"/>
                </a:solidFill>
                <a:latin typeface="Apple SD Gothic Neo"/>
                <a:ea typeface="Apple SD Gothic Neo"/>
                <a:cs typeface="Apple SD Gothic Neo"/>
              </a:defRPr>
            </a:pPr>
            <a:r>
              <a:rPr sz="1650" b="1">
                <a:solidFill>
                  <a:srgbClr val="B65D13"/>
                </a:solidFill>
                <a:latin typeface="Apple SD Gothic Neo"/>
                <a:ea typeface="Apple SD Gothic Neo"/>
                <a:cs typeface="Apple SD Gothic Neo"/>
              </a:rPr>
              <a:t>Port 1–4개</a:t>
            </a:r>
          </a:p>
          <a:p xmlns:a="http://schemas.openxmlformats.org/drawingml/2006/main">
            <a:pPr>
              <a:buNone/>
              <a:defRPr sz="1650" b="1">
                <a:solidFill>
                  <a:srgbClr val="B65D13"/>
                </a:solidFill>
                <a:latin typeface="Apple SD Gothic Neo"/>
                <a:ea typeface="Apple SD Gothic Neo"/>
                <a:cs typeface="Apple SD Gothic Neo"/>
              </a:defRPr>
            </a:pPr>
            <a:r>
              <a:rPr sz="1650" b="1">
                <a:solidFill>
                  <a:srgbClr val="B65D13"/>
                </a:solidFill>
                <a:latin typeface="Apple SD Gothic Neo"/>
                <a:ea typeface="Apple SD Gothic Neo"/>
                <a:cs typeface="Apple SD Gothic Neo"/>
              </a:rPr>
              <a:t>현재 4개</a:t>
            </a:r>
          </a:p>
        </p:txBody>
      </p:sp>
      <p:sp>
        <p:nvSpPr>
          <p:cNvPr id="10" name="host-port-0">
            <a:extLst xmlns:a="http://schemas.openxmlformats.org/drawingml/2006/main">
              <a:ext uri="{FF2B5EF4-FFF2-40B4-BE49-F238E27FC236}">
                <a16:creationId xmlns:a16="http://schemas.microsoft.com/office/drawing/2014/main" id="{1F48A198-CD93-4269-8964-44322A1EF8D4}"/>
              </a:ext>
            </a:extLst>
          </p:cNvPr>
          <p:cNvSpPr>
            <a:spLocks xmlns:a="http://schemas.openxmlformats.org/drawingml/2006/main" noGrp="1"/>
          </p:cNvSpPr>
          <p:nvPr/>
        </p:nvSpPr>
        <p:spPr>
          <a:xfrm xmlns:a="http://schemas.openxmlformats.org/drawingml/2006/main">
            <a:off x="685800" y="3143250"/>
            <a:ext cx="628650" cy="323850"/>
          </a:xfrm>
          <a:prstGeom xmlns:a="http://schemas.openxmlformats.org/drawingml/2006/main" prst="rect">
            <a:avLst/>
          </a:prstGeom>
          <a:solidFill xmlns:a="http://schemas.openxmlformats.org/drawingml/2006/main">
            <a:srgbClr val="FFFFFF"/>
          </a:solidFill>
          <a:ln xmlns:a="http://schemas.openxmlformats.org/drawingml/2006/main" w="14288">
            <a:solidFill>
              <a:srgbClr val="126DCA"/>
            </a:solidFill>
            <a:prstDash val="solid"/>
          </a:ln>
        </p:spPr>
        <p:txBody>
          <a:bodyPr xmlns:a="http://schemas.openxmlformats.org/drawingml/2006/main"/>
          <a:lstStyle xmlns:a="http://schemas.openxmlformats.org/drawingml/2006/main"/>
          <a:p xmlns:a="http://schemas.openxmlformats.org/drawingml/2006/main">
            <a:endParaRPr/>
          </a:p>
        </p:txBody>
      </p:sp>
      <p:sp>
        <p:nvSpPr>
          <p:cNvPr id="11" name="host-port-label-0">
            <a:extLst xmlns:a="http://schemas.openxmlformats.org/drawingml/2006/main">
              <a:ext uri="{FF2B5EF4-FFF2-40B4-BE49-F238E27FC236}">
                <a16:creationId xmlns:a16="http://schemas.microsoft.com/office/drawing/2014/main" id="{4D743113-BA42-486E-A369-B46AAE65D04A}"/>
              </a:ext>
            </a:extLst>
          </p:cNvPr>
          <p:cNvSpPr>
            <a:spLocks xmlns:a="http://schemas.openxmlformats.org/drawingml/2006/main" noGrp="1"/>
          </p:cNvSpPr>
          <p:nvPr/>
        </p:nvSpPr>
        <p:spPr>
          <a:xfrm xmlns:a="http://schemas.openxmlformats.org/drawingml/2006/main">
            <a:off x="857250" y="3181350"/>
            <a:ext cx="4476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1">
                <a:solidFill>
                  <a:srgbClr val="126DCA"/>
                </a:solidFill>
                <a:latin typeface="Apple SD Gothic Neo"/>
                <a:ea typeface="Apple SD Gothic Neo"/>
                <a:cs typeface="Apple SD Gothic Neo"/>
              </a:defRPr>
            </a:defPPr>
          </a:lstStyle>
          <a:p xmlns:a="http://schemas.openxmlformats.org/drawingml/2006/main">
            <a:pPr>
              <a:buNone/>
              <a:defRPr sz="1725" b="1">
                <a:solidFill>
                  <a:srgbClr val="126DCA"/>
                </a:solidFill>
                <a:latin typeface="Apple SD Gothic Neo"/>
                <a:ea typeface="Apple SD Gothic Neo"/>
                <a:cs typeface="Apple SD Gothic Neo"/>
              </a:defRPr>
            </a:pPr>
            <a:r>
              <a:rPr sz="1725" b="1">
                <a:solidFill>
                  <a:srgbClr val="126DCA"/>
                </a:solidFill>
                <a:latin typeface="Apple SD Gothic Neo"/>
                <a:ea typeface="Apple SD Gothic Neo"/>
                <a:cs typeface="Apple SD Gothic Neo"/>
              </a:rPr>
              <a:t>P0</a:t>
            </a:r>
          </a:p>
        </p:txBody>
      </p:sp>
      <p:sp>
        <p:nvSpPr>
          <p:cNvPr id="12" name="host-port-1">
            <a:extLst xmlns:a="http://schemas.openxmlformats.org/drawingml/2006/main">
              <a:ext uri="{FF2B5EF4-FFF2-40B4-BE49-F238E27FC236}">
                <a16:creationId xmlns:a16="http://schemas.microsoft.com/office/drawing/2014/main" id="{0B8A00C4-7E3E-4391-979C-FF2DB6AD854F}"/>
              </a:ext>
            </a:extLst>
          </p:cNvPr>
          <p:cNvSpPr>
            <a:spLocks xmlns:a="http://schemas.openxmlformats.org/drawingml/2006/main" noGrp="1"/>
          </p:cNvSpPr>
          <p:nvPr/>
        </p:nvSpPr>
        <p:spPr>
          <a:xfrm xmlns:a="http://schemas.openxmlformats.org/drawingml/2006/main">
            <a:off x="1400175" y="3143250"/>
            <a:ext cx="628650" cy="323850"/>
          </a:xfrm>
          <a:prstGeom xmlns:a="http://schemas.openxmlformats.org/drawingml/2006/main" prst="rect">
            <a:avLst/>
          </a:prstGeom>
          <a:solidFill xmlns:a="http://schemas.openxmlformats.org/drawingml/2006/main">
            <a:srgbClr val="FFFFFF"/>
          </a:solidFill>
          <a:ln xmlns:a="http://schemas.openxmlformats.org/drawingml/2006/main" w="14288">
            <a:solidFill>
              <a:srgbClr val="126DCA"/>
            </a:solidFill>
            <a:prstDash val="solid"/>
          </a:ln>
        </p:spPr>
        <p:txBody>
          <a:bodyPr xmlns:a="http://schemas.openxmlformats.org/drawingml/2006/main"/>
          <a:lstStyle xmlns:a="http://schemas.openxmlformats.org/drawingml/2006/main"/>
          <a:p xmlns:a="http://schemas.openxmlformats.org/drawingml/2006/main">
            <a:endParaRPr/>
          </a:p>
        </p:txBody>
      </p:sp>
      <p:sp>
        <p:nvSpPr>
          <p:cNvPr id="13" name="host-port-label-1">
            <a:extLst xmlns:a="http://schemas.openxmlformats.org/drawingml/2006/main">
              <a:ext uri="{FF2B5EF4-FFF2-40B4-BE49-F238E27FC236}">
                <a16:creationId xmlns:a16="http://schemas.microsoft.com/office/drawing/2014/main" id="{6DBFA301-1FB7-4821-9498-02B11554626E}"/>
              </a:ext>
            </a:extLst>
          </p:cNvPr>
          <p:cNvSpPr>
            <a:spLocks xmlns:a="http://schemas.openxmlformats.org/drawingml/2006/main" noGrp="1"/>
          </p:cNvSpPr>
          <p:nvPr/>
        </p:nvSpPr>
        <p:spPr>
          <a:xfrm xmlns:a="http://schemas.openxmlformats.org/drawingml/2006/main">
            <a:off x="1571625" y="3181350"/>
            <a:ext cx="4476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1">
                <a:solidFill>
                  <a:srgbClr val="126DCA"/>
                </a:solidFill>
                <a:latin typeface="Apple SD Gothic Neo"/>
                <a:ea typeface="Apple SD Gothic Neo"/>
                <a:cs typeface="Apple SD Gothic Neo"/>
              </a:defRPr>
            </a:defPPr>
          </a:lstStyle>
          <a:p xmlns:a="http://schemas.openxmlformats.org/drawingml/2006/main">
            <a:pPr>
              <a:buNone/>
              <a:defRPr sz="1725" b="1">
                <a:solidFill>
                  <a:srgbClr val="126DCA"/>
                </a:solidFill>
                <a:latin typeface="Apple SD Gothic Neo"/>
                <a:ea typeface="Apple SD Gothic Neo"/>
                <a:cs typeface="Apple SD Gothic Neo"/>
              </a:defRPr>
            </a:pPr>
            <a:r>
              <a:rPr sz="1725" b="1">
                <a:solidFill>
                  <a:srgbClr val="126DCA"/>
                </a:solidFill>
                <a:latin typeface="Apple SD Gothic Neo"/>
                <a:ea typeface="Apple SD Gothic Neo"/>
                <a:cs typeface="Apple SD Gothic Neo"/>
              </a:rPr>
              <a:t>P1</a:t>
            </a:r>
          </a:p>
        </p:txBody>
      </p:sp>
      <p:sp>
        <p:nvSpPr>
          <p:cNvPr id="14" name="host-port-2">
            <a:extLst xmlns:a="http://schemas.openxmlformats.org/drawingml/2006/main">
              <a:ext uri="{FF2B5EF4-FFF2-40B4-BE49-F238E27FC236}">
                <a16:creationId xmlns:a16="http://schemas.microsoft.com/office/drawing/2014/main" id="{95181FD4-ECB1-4011-AB95-CC087AB27C20}"/>
              </a:ext>
            </a:extLst>
          </p:cNvPr>
          <p:cNvSpPr>
            <a:spLocks xmlns:a="http://schemas.openxmlformats.org/drawingml/2006/main" noGrp="1"/>
          </p:cNvSpPr>
          <p:nvPr/>
        </p:nvSpPr>
        <p:spPr>
          <a:xfrm xmlns:a="http://schemas.openxmlformats.org/drawingml/2006/main">
            <a:off x="685800" y="3600450"/>
            <a:ext cx="628650" cy="323850"/>
          </a:xfrm>
          <a:prstGeom xmlns:a="http://schemas.openxmlformats.org/drawingml/2006/main" prst="rect">
            <a:avLst/>
          </a:prstGeom>
          <a:solidFill xmlns:a="http://schemas.openxmlformats.org/drawingml/2006/main">
            <a:srgbClr val="FFFFFF"/>
          </a:solidFill>
          <a:ln xmlns:a="http://schemas.openxmlformats.org/drawingml/2006/main" w="14288">
            <a:solidFill>
              <a:srgbClr val="126DCA"/>
            </a:solidFill>
            <a:prstDash val="solid"/>
          </a:ln>
        </p:spPr>
        <p:txBody>
          <a:bodyPr xmlns:a="http://schemas.openxmlformats.org/drawingml/2006/main"/>
          <a:lstStyle xmlns:a="http://schemas.openxmlformats.org/drawingml/2006/main"/>
          <a:p xmlns:a="http://schemas.openxmlformats.org/drawingml/2006/main">
            <a:endParaRPr/>
          </a:p>
        </p:txBody>
      </p:sp>
      <p:sp>
        <p:nvSpPr>
          <p:cNvPr id="15" name="host-port-label-2">
            <a:extLst xmlns:a="http://schemas.openxmlformats.org/drawingml/2006/main">
              <a:ext uri="{FF2B5EF4-FFF2-40B4-BE49-F238E27FC236}">
                <a16:creationId xmlns:a16="http://schemas.microsoft.com/office/drawing/2014/main" id="{D08185CA-D69A-41E3-B358-B94159042D96}"/>
              </a:ext>
            </a:extLst>
          </p:cNvPr>
          <p:cNvSpPr>
            <a:spLocks xmlns:a="http://schemas.openxmlformats.org/drawingml/2006/main" noGrp="1"/>
          </p:cNvSpPr>
          <p:nvPr/>
        </p:nvSpPr>
        <p:spPr>
          <a:xfrm xmlns:a="http://schemas.openxmlformats.org/drawingml/2006/main">
            <a:off x="857250" y="3638550"/>
            <a:ext cx="4476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1">
                <a:solidFill>
                  <a:srgbClr val="126DCA"/>
                </a:solidFill>
                <a:latin typeface="Apple SD Gothic Neo"/>
                <a:ea typeface="Apple SD Gothic Neo"/>
                <a:cs typeface="Apple SD Gothic Neo"/>
              </a:defRPr>
            </a:defPPr>
          </a:lstStyle>
          <a:p xmlns:a="http://schemas.openxmlformats.org/drawingml/2006/main">
            <a:pPr>
              <a:buNone/>
              <a:defRPr sz="1725" b="1">
                <a:solidFill>
                  <a:srgbClr val="126DCA"/>
                </a:solidFill>
                <a:latin typeface="Apple SD Gothic Neo"/>
                <a:ea typeface="Apple SD Gothic Neo"/>
                <a:cs typeface="Apple SD Gothic Neo"/>
              </a:defRPr>
            </a:pPr>
            <a:r>
              <a:rPr sz="1725" b="1">
                <a:solidFill>
                  <a:srgbClr val="126DCA"/>
                </a:solidFill>
                <a:latin typeface="Apple SD Gothic Neo"/>
                <a:ea typeface="Apple SD Gothic Neo"/>
                <a:cs typeface="Apple SD Gothic Neo"/>
              </a:rPr>
              <a:t>P2</a:t>
            </a:r>
          </a:p>
        </p:txBody>
      </p:sp>
      <p:sp>
        <p:nvSpPr>
          <p:cNvPr id="16" name="host-port-3">
            <a:extLst xmlns:a="http://schemas.openxmlformats.org/drawingml/2006/main">
              <a:ext uri="{FF2B5EF4-FFF2-40B4-BE49-F238E27FC236}">
                <a16:creationId xmlns:a16="http://schemas.microsoft.com/office/drawing/2014/main" id="{BFE87B95-9CBA-4A8F-AE61-247467A38E77}"/>
              </a:ext>
            </a:extLst>
          </p:cNvPr>
          <p:cNvSpPr>
            <a:spLocks xmlns:a="http://schemas.openxmlformats.org/drawingml/2006/main" noGrp="1"/>
          </p:cNvSpPr>
          <p:nvPr/>
        </p:nvSpPr>
        <p:spPr>
          <a:xfrm xmlns:a="http://schemas.openxmlformats.org/drawingml/2006/main">
            <a:off x="1400175" y="3600450"/>
            <a:ext cx="628650" cy="323850"/>
          </a:xfrm>
          <a:prstGeom xmlns:a="http://schemas.openxmlformats.org/drawingml/2006/main" prst="rect">
            <a:avLst/>
          </a:prstGeom>
          <a:solidFill xmlns:a="http://schemas.openxmlformats.org/drawingml/2006/main">
            <a:srgbClr val="FFFFFF"/>
          </a:solidFill>
          <a:ln xmlns:a="http://schemas.openxmlformats.org/drawingml/2006/main" w="14288">
            <a:solidFill>
              <a:srgbClr val="126DCA"/>
            </a:solidFill>
            <a:prstDash val="solid"/>
          </a:ln>
        </p:spPr>
        <p:txBody>
          <a:bodyPr xmlns:a="http://schemas.openxmlformats.org/drawingml/2006/main"/>
          <a:lstStyle xmlns:a="http://schemas.openxmlformats.org/drawingml/2006/main"/>
          <a:p xmlns:a="http://schemas.openxmlformats.org/drawingml/2006/main">
            <a:endParaRPr/>
          </a:p>
        </p:txBody>
      </p:sp>
      <p:sp>
        <p:nvSpPr>
          <p:cNvPr id="17" name="host-port-label-3">
            <a:extLst xmlns:a="http://schemas.openxmlformats.org/drawingml/2006/main">
              <a:ext uri="{FF2B5EF4-FFF2-40B4-BE49-F238E27FC236}">
                <a16:creationId xmlns:a16="http://schemas.microsoft.com/office/drawing/2014/main" id="{99D47163-EF7C-449D-B5B8-A2CD22ED38C6}"/>
              </a:ext>
            </a:extLst>
          </p:cNvPr>
          <p:cNvSpPr>
            <a:spLocks xmlns:a="http://schemas.openxmlformats.org/drawingml/2006/main" noGrp="1"/>
          </p:cNvSpPr>
          <p:nvPr/>
        </p:nvSpPr>
        <p:spPr>
          <a:xfrm xmlns:a="http://schemas.openxmlformats.org/drawingml/2006/main">
            <a:off x="1571625" y="3638550"/>
            <a:ext cx="4476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1">
                <a:solidFill>
                  <a:srgbClr val="126DCA"/>
                </a:solidFill>
                <a:latin typeface="Apple SD Gothic Neo"/>
                <a:ea typeface="Apple SD Gothic Neo"/>
                <a:cs typeface="Apple SD Gothic Neo"/>
              </a:defRPr>
            </a:defPPr>
          </a:lstStyle>
          <a:p xmlns:a="http://schemas.openxmlformats.org/drawingml/2006/main">
            <a:pPr>
              <a:buNone/>
              <a:defRPr sz="1725" b="1">
                <a:solidFill>
                  <a:srgbClr val="126DCA"/>
                </a:solidFill>
                <a:latin typeface="Apple SD Gothic Neo"/>
                <a:ea typeface="Apple SD Gothic Neo"/>
                <a:cs typeface="Apple SD Gothic Neo"/>
              </a:defRPr>
            </a:pPr>
            <a:r>
              <a:rPr sz="1725" b="1">
                <a:solidFill>
                  <a:srgbClr val="126DCA"/>
                </a:solidFill>
                <a:latin typeface="Apple SD Gothic Neo"/>
                <a:ea typeface="Apple SD Gothic Neo"/>
                <a:cs typeface="Apple SD Gothic Neo"/>
              </a:rPr>
              <a:t>P3</a:t>
            </a:r>
          </a:p>
        </p:txBody>
      </p:sp>
      <p:sp>
        <p:nvSpPr>
          <p:cNvPr id="18" name="host-workload">
            <a:extLst xmlns:a="http://schemas.openxmlformats.org/drawingml/2006/main">
              <a:ext uri="{FF2B5EF4-FFF2-40B4-BE49-F238E27FC236}">
                <a16:creationId xmlns:a16="http://schemas.microsoft.com/office/drawing/2014/main" id="{70FB63A6-8B06-40C6-AE60-D8512598FC3A}"/>
              </a:ext>
            </a:extLst>
          </p:cNvPr>
          <p:cNvSpPr>
            <a:spLocks xmlns:a="http://schemas.openxmlformats.org/drawingml/2006/main" noGrp="1"/>
          </p:cNvSpPr>
          <p:nvPr/>
        </p:nvSpPr>
        <p:spPr>
          <a:xfrm xmlns:a="http://schemas.openxmlformats.org/drawingml/2006/main">
            <a:off x="685800" y="4124325"/>
            <a:ext cx="1447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B65D13"/>
                </a:solidFill>
                <a:latin typeface="Apple SD Gothic Neo"/>
                <a:ea typeface="Apple SD Gothic Neo"/>
                <a:cs typeface="Apple SD Gothic Neo"/>
              </a:defRPr>
            </a:defPPr>
          </a:lstStyle>
          <a:p xmlns:a="http://schemas.openxmlformats.org/drawingml/2006/main">
            <a:pPr>
              <a:buNone/>
              <a:defRPr sz="1650" b="0">
                <a:solidFill>
                  <a:srgbClr val="B65D13"/>
                </a:solidFill>
                <a:latin typeface="Apple SD Gothic Neo"/>
                <a:ea typeface="Apple SD Gothic Neo"/>
                <a:cs typeface="Apple SD Gothic Neo"/>
              </a:defRPr>
            </a:pPr>
            <a:r>
              <a:rPr sz="1650" b="0">
                <a:solidFill>
                  <a:srgbClr val="B65D13"/>
                </a:solidFill>
                <a:latin typeface="Apple SD Gothic Neo"/>
                <a:ea typeface="Apple SD Gothic Neo"/>
                <a:cs typeface="Apple SD Gothic Neo"/>
              </a:rPr>
              <a:t>A / B / C</a:t>
            </a:r>
          </a:p>
          <a:p xmlns:a="http://schemas.openxmlformats.org/drawingml/2006/main">
            <a:pPr>
              <a:buNone/>
              <a:defRPr sz="1650" b="0">
                <a:solidFill>
                  <a:srgbClr val="B65D13"/>
                </a:solidFill>
                <a:latin typeface="Apple SD Gothic Neo"/>
                <a:ea typeface="Apple SD Gothic Neo"/>
                <a:cs typeface="Apple SD Gothic Neo"/>
              </a:defRPr>
            </a:pPr>
            <a:r>
              <a:rPr sz="1650" b="0">
                <a:solidFill>
                  <a:srgbClr val="B65D13"/>
                </a:solidFill>
                <a:latin typeface="Apple SD Gothic Neo"/>
                <a:ea typeface="Apple SD Gothic Neo"/>
                <a:cs typeface="Apple SD Gothic Neo"/>
              </a:rPr>
              <a:t>4KiB / 64B</a:t>
            </a:r>
          </a:p>
        </p:txBody>
      </p:sp>
      <p:sp>
        <p:nvSpPr>
          <p:cNvPr id="19" name="host-return-order">
            <a:extLst xmlns:a="http://schemas.openxmlformats.org/drawingml/2006/main">
              <a:ext uri="{FF2B5EF4-FFF2-40B4-BE49-F238E27FC236}">
                <a16:creationId xmlns:a16="http://schemas.microsoft.com/office/drawing/2014/main" id="{CA5619B4-AE08-46CF-9F6C-C21E9BE5DAC1}"/>
              </a:ext>
            </a:extLst>
          </p:cNvPr>
          <p:cNvSpPr>
            <a:spLocks xmlns:a="http://schemas.openxmlformats.org/drawingml/2006/main" noGrp="1"/>
          </p:cNvSpPr>
          <p:nvPr/>
        </p:nvSpPr>
        <p:spPr>
          <a:xfrm xmlns:a="http://schemas.openxmlformats.org/drawingml/2006/main">
            <a:off x="685800" y="4876800"/>
            <a:ext cx="14382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1">
                <a:solidFill>
                  <a:srgbClr val="008B82"/>
                </a:solidFill>
                <a:latin typeface="Apple SD Gothic Neo"/>
                <a:ea typeface="Apple SD Gothic Neo"/>
                <a:cs typeface="Apple SD Gothic Neo"/>
              </a:defRPr>
            </a:defPPr>
          </a:lstStyle>
          <a:p xmlns:a="http://schemas.openxmlformats.org/drawingml/2006/main">
            <a:pPr>
              <a:buNone/>
              <a:defRPr sz="1500" b="1">
                <a:solidFill>
                  <a:srgbClr val="008B82"/>
                </a:solidFill>
                <a:latin typeface="Apple SD Gothic Neo"/>
                <a:ea typeface="Apple SD Gothic Neo"/>
                <a:cs typeface="Apple SD Gothic Neo"/>
              </a:defRPr>
            </a:pPr>
            <a:r>
              <a:rPr sz="1500" b="1">
                <a:solidFill>
                  <a:srgbClr val="008B82"/>
                </a:solidFill>
                <a:latin typeface="Apple SD Gothic Neo"/>
                <a:ea typeface="Apple SD Gothic Neo"/>
                <a:cs typeface="Apple SD Gothic Neo"/>
              </a:rPr>
              <a:t>Port별 in-order</a:t>
            </a:r>
          </a:p>
        </p:txBody>
      </p:sp>
      <p:sp>
        <p:nvSpPr>
          <p:cNvPr id="20" name="controller-heading">
            <a:extLst xmlns:a="http://schemas.openxmlformats.org/drawingml/2006/main">
              <a:ext uri="{FF2B5EF4-FFF2-40B4-BE49-F238E27FC236}">
                <a16:creationId xmlns:a16="http://schemas.microsoft.com/office/drawing/2014/main" id="{7EC80C5D-275A-46AF-ABCA-2CCA1B62D336}"/>
              </a:ext>
            </a:extLst>
          </p:cNvPr>
          <p:cNvSpPr>
            <a:spLocks xmlns:a="http://schemas.openxmlformats.org/drawingml/2006/main" noGrp="1"/>
          </p:cNvSpPr>
          <p:nvPr/>
        </p:nvSpPr>
        <p:spPr>
          <a:xfrm xmlns:a="http://schemas.openxmlformats.org/drawingml/2006/main">
            <a:off x="2781300" y="2076450"/>
            <a:ext cx="22383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172738"/>
                </a:solidFill>
                <a:latin typeface="Apple SD Gothic Neo"/>
                <a:ea typeface="Apple SD Gothic Neo"/>
                <a:cs typeface="Apple SD Gothic Neo"/>
              </a:defRPr>
            </a:defPPr>
          </a:lstStyle>
          <a:p xmlns:a="http://schemas.openxmlformats.org/drawingml/2006/main">
            <a:pPr>
              <a:buNone/>
              <a:defRPr sz="2025" b="1">
                <a:solidFill>
                  <a:srgbClr val="172738"/>
                </a:solidFill>
                <a:latin typeface="Apple SD Gothic Neo"/>
                <a:ea typeface="Apple SD Gothic Neo"/>
                <a:cs typeface="Apple SD Gothic Neo"/>
              </a:defRPr>
            </a:pPr>
            <a:r>
              <a:rPr sz="2025" b="1">
                <a:solidFill>
                  <a:srgbClr val="172738"/>
                </a:solidFill>
                <a:latin typeface="Apple SD Gothic Neo"/>
                <a:ea typeface="Apple SD Gothic Neo"/>
                <a:cs typeface="Apple SD Gothic Neo"/>
              </a:rPr>
              <a:t>Controller</a:t>
            </a:r>
          </a:p>
        </p:txBody>
      </p:sp>
      <p:sp>
        <p:nvSpPr>
          <p:cNvPr id="21" name="request-legend">
            <a:extLst xmlns:a="http://schemas.openxmlformats.org/drawingml/2006/main">
              <a:ext uri="{FF2B5EF4-FFF2-40B4-BE49-F238E27FC236}">
                <a16:creationId xmlns:a16="http://schemas.microsoft.com/office/drawing/2014/main" id="{47F080C5-804D-4AFF-BDA7-BBF7C585989C}"/>
              </a:ext>
            </a:extLst>
          </p:cNvPr>
          <p:cNvSpPr>
            <a:spLocks xmlns:a="http://schemas.openxmlformats.org/drawingml/2006/main" noGrp="1"/>
          </p:cNvSpPr>
          <p:nvPr/>
        </p:nvSpPr>
        <p:spPr>
          <a:xfrm xmlns:a="http://schemas.openxmlformats.org/drawingml/2006/main">
            <a:off x="6057900" y="2105025"/>
            <a:ext cx="838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126DCA"/>
                </a:solidFill>
                <a:latin typeface="Apple SD Gothic Neo"/>
                <a:ea typeface="Apple SD Gothic Neo"/>
                <a:cs typeface="Apple SD Gothic Neo"/>
              </a:defRPr>
            </a:defPPr>
          </a:lstStyle>
          <a:p xmlns:a="http://schemas.openxmlformats.org/drawingml/2006/main">
            <a:pPr>
              <a:buNone/>
              <a:defRPr sz="1650" b="1">
                <a:solidFill>
                  <a:srgbClr val="126DCA"/>
                </a:solidFill>
                <a:latin typeface="Apple SD Gothic Neo"/>
                <a:ea typeface="Apple SD Gothic Neo"/>
                <a:cs typeface="Apple SD Gothic Neo"/>
              </a:defRPr>
            </a:pPr>
            <a:r>
              <a:rPr sz="1650" b="1">
                <a:solidFill>
                  <a:srgbClr val="126DCA"/>
                </a:solidFill>
                <a:latin typeface="Apple SD Gothic Neo"/>
                <a:ea typeface="Apple SD Gothic Neo"/>
                <a:cs typeface="Apple SD Gothic Neo"/>
              </a:rPr>
              <a:t>요청 →</a:t>
            </a:r>
          </a:p>
        </p:txBody>
      </p:sp>
      <p:sp>
        <p:nvSpPr>
          <p:cNvPr id="22" name="data-legend">
            <a:extLst xmlns:a="http://schemas.openxmlformats.org/drawingml/2006/main">
              <a:ext uri="{FF2B5EF4-FFF2-40B4-BE49-F238E27FC236}">
                <a16:creationId xmlns:a16="http://schemas.microsoft.com/office/drawing/2014/main" id="{5E750683-D141-42C6-B582-D4A13C5F8B64}"/>
              </a:ext>
            </a:extLst>
          </p:cNvPr>
          <p:cNvSpPr>
            <a:spLocks xmlns:a="http://schemas.openxmlformats.org/drawingml/2006/main" noGrp="1"/>
          </p:cNvSpPr>
          <p:nvPr/>
        </p:nvSpPr>
        <p:spPr>
          <a:xfrm xmlns:a="http://schemas.openxmlformats.org/drawingml/2006/main">
            <a:off x="6981825" y="2105025"/>
            <a:ext cx="9810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008B82"/>
                </a:solidFill>
                <a:latin typeface="Apple SD Gothic Neo"/>
                <a:ea typeface="Apple SD Gothic Neo"/>
                <a:cs typeface="Apple SD Gothic Neo"/>
              </a:defRPr>
            </a:defPPr>
          </a:lstStyle>
          <a:p xmlns:a="http://schemas.openxmlformats.org/drawingml/2006/main">
            <a:pPr>
              <a:buNone/>
              <a:defRPr sz="1650" b="1">
                <a:solidFill>
                  <a:srgbClr val="008B82"/>
                </a:solidFill>
                <a:latin typeface="Apple SD Gothic Neo"/>
                <a:ea typeface="Apple SD Gothic Neo"/>
                <a:cs typeface="Apple SD Gothic Neo"/>
              </a:defRPr>
            </a:pPr>
            <a:r>
              <a:rPr sz="1650" b="1">
                <a:solidFill>
                  <a:srgbClr val="008B82"/>
                </a:solidFill>
                <a:latin typeface="Apple SD Gothic Neo"/>
                <a:ea typeface="Apple SD Gothic Neo"/>
                <a:cs typeface="Apple SD Gothic Neo"/>
              </a:rPr>
              <a:t>← 데이터</a:t>
            </a:r>
          </a:p>
        </p:txBody>
      </p:sp>
      <p:sp>
        <p:nvSpPr>
          <p:cNvPr id="23" name="admission">
            <a:extLst xmlns:a="http://schemas.openxmlformats.org/drawingml/2006/main">
              <a:ext uri="{FF2B5EF4-FFF2-40B4-BE49-F238E27FC236}">
                <a16:creationId xmlns:a16="http://schemas.microsoft.com/office/drawing/2014/main" id="{AE232DF6-A91A-41A4-87D6-B7D981B39C29}"/>
              </a:ext>
            </a:extLst>
          </p:cNvPr>
          <p:cNvSpPr>
            <a:spLocks xmlns:a="http://schemas.openxmlformats.org/drawingml/2006/main" noGrp="1"/>
          </p:cNvSpPr>
          <p:nvPr/>
        </p:nvSpPr>
        <p:spPr>
          <a:xfrm xmlns:a="http://schemas.openxmlformats.org/drawingml/2006/main">
            <a:off x="2781300" y="2609850"/>
            <a:ext cx="1314450" cy="1019175"/>
          </a:xfrm>
          <a:prstGeom xmlns:a="http://schemas.openxmlformats.org/drawingml/2006/main" prst="rect">
            <a:avLst/>
          </a:prstGeom>
          <a:solidFill xmlns:a="http://schemas.openxmlformats.org/drawingml/2006/main">
            <a:srgbClr val="FFFFFF"/>
          </a:solidFill>
          <a:ln xmlns:a="http://schemas.openxmlformats.org/drawingml/2006/main" w="14288">
            <a:solidFill>
              <a:srgbClr val="126DCA"/>
            </a:solidFill>
            <a:prstDash val="solid"/>
          </a:ln>
        </p:spPr>
        <p:txBody>
          <a:bodyPr xmlns:a="http://schemas.openxmlformats.org/drawingml/2006/main"/>
          <a:lstStyle xmlns:a="http://schemas.openxmlformats.org/drawingml/2006/main"/>
          <a:p xmlns:a="http://schemas.openxmlformats.org/drawingml/2006/main">
            <a:endParaRPr/>
          </a:p>
        </p:txBody>
      </p:sp>
      <p:sp>
        <p:nvSpPr>
          <p:cNvPr id="24" name="l2p-mapping">
            <a:extLst xmlns:a="http://schemas.openxmlformats.org/drawingml/2006/main">
              <a:ext uri="{FF2B5EF4-FFF2-40B4-BE49-F238E27FC236}">
                <a16:creationId xmlns:a16="http://schemas.microsoft.com/office/drawing/2014/main" id="{7A329361-6C97-4DD9-8036-AA123B06987C}"/>
              </a:ext>
            </a:extLst>
          </p:cNvPr>
          <p:cNvSpPr>
            <a:spLocks xmlns:a="http://schemas.openxmlformats.org/drawingml/2006/main" noGrp="1"/>
          </p:cNvSpPr>
          <p:nvPr/>
        </p:nvSpPr>
        <p:spPr>
          <a:xfrm xmlns:a="http://schemas.openxmlformats.org/drawingml/2006/main">
            <a:off x="4314825" y="2609850"/>
            <a:ext cx="1514475" cy="1019175"/>
          </a:xfrm>
          <a:prstGeom xmlns:a="http://schemas.openxmlformats.org/drawingml/2006/main" prst="rect">
            <a:avLst/>
          </a:prstGeom>
          <a:solidFill xmlns:a="http://schemas.openxmlformats.org/drawingml/2006/main">
            <a:srgbClr val="FFFFFF"/>
          </a:solidFill>
          <a:ln xmlns:a="http://schemas.openxmlformats.org/drawingml/2006/main" w="14288">
            <a:solidFill>
              <a:srgbClr val="126DCA"/>
            </a:solidFill>
            <a:prstDash val="solid"/>
          </a:ln>
        </p:spPr>
        <p:txBody>
          <a:bodyPr xmlns:a="http://schemas.openxmlformats.org/drawingml/2006/main"/>
          <a:lstStyle xmlns:a="http://schemas.openxmlformats.org/drawingml/2006/main"/>
          <a:p xmlns:a="http://schemas.openxmlformats.org/drawingml/2006/main">
            <a:endParaRPr/>
          </a:p>
        </p:txBody>
      </p:sp>
      <p:sp>
        <p:nvSpPr>
          <p:cNvPr id="25" name="ca-scheduler">
            <a:extLst xmlns:a="http://schemas.openxmlformats.org/drawingml/2006/main">
              <a:ext uri="{FF2B5EF4-FFF2-40B4-BE49-F238E27FC236}">
                <a16:creationId xmlns:a16="http://schemas.microsoft.com/office/drawing/2014/main" id="{CE93AC21-BFA5-4A1E-A34E-63607766349D}"/>
              </a:ext>
            </a:extLst>
          </p:cNvPr>
          <p:cNvSpPr>
            <a:spLocks xmlns:a="http://schemas.openxmlformats.org/drawingml/2006/main" noGrp="1"/>
          </p:cNvSpPr>
          <p:nvPr/>
        </p:nvSpPr>
        <p:spPr>
          <a:xfrm xmlns:a="http://schemas.openxmlformats.org/drawingml/2006/main">
            <a:off x="6048375" y="2609850"/>
            <a:ext cx="1819275" cy="1019175"/>
          </a:xfrm>
          <a:prstGeom xmlns:a="http://schemas.openxmlformats.org/drawingml/2006/main" prst="rect">
            <a:avLst/>
          </a:prstGeom>
          <a:solidFill xmlns:a="http://schemas.openxmlformats.org/drawingml/2006/main">
            <a:srgbClr val="FFFFFF"/>
          </a:solidFill>
          <a:ln xmlns:a="http://schemas.openxmlformats.org/drawingml/2006/main" w="14288">
            <a:solidFill>
              <a:srgbClr val="126DCA"/>
            </a:solidFill>
            <a:prstDash val="solid"/>
          </a:ln>
        </p:spPr>
        <p:txBody>
          <a:bodyPr xmlns:a="http://schemas.openxmlformats.org/drawingml/2006/main"/>
          <a:lstStyle xmlns:a="http://schemas.openxmlformats.org/drawingml/2006/main"/>
          <a:p xmlns:a="http://schemas.openxmlformats.org/drawingml/2006/main">
            <a:endParaRPr/>
          </a:p>
        </p:txBody>
      </p:sp>
      <p:sp>
        <p:nvSpPr>
          <p:cNvPr id="26" name="admission-heading">
            <a:extLst xmlns:a="http://schemas.openxmlformats.org/drawingml/2006/main">
              <a:ext uri="{FF2B5EF4-FFF2-40B4-BE49-F238E27FC236}">
                <a16:creationId xmlns:a16="http://schemas.microsoft.com/office/drawing/2014/main" id="{9D4EF7C3-B1D8-4552-9656-4F21444D20AD}"/>
              </a:ext>
            </a:extLst>
          </p:cNvPr>
          <p:cNvSpPr>
            <a:spLocks xmlns:a="http://schemas.openxmlformats.org/drawingml/2006/main" noGrp="1"/>
          </p:cNvSpPr>
          <p:nvPr/>
        </p:nvSpPr>
        <p:spPr>
          <a:xfrm xmlns:a="http://schemas.openxmlformats.org/drawingml/2006/main">
            <a:off x="2857500" y="2695575"/>
            <a:ext cx="1238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1">
                <a:solidFill>
                  <a:srgbClr val="172738"/>
                </a:solidFill>
                <a:latin typeface="Apple SD Gothic Neo"/>
                <a:ea typeface="Apple SD Gothic Neo"/>
                <a:cs typeface="Apple SD Gothic Neo"/>
              </a:defRPr>
            </a:defPPr>
          </a:lstStyle>
          <a:p xmlns:a="http://schemas.openxmlformats.org/drawingml/2006/main">
            <a:pPr>
              <a:buNone/>
              <a:defRPr sz="1500" b="1">
                <a:solidFill>
                  <a:srgbClr val="172738"/>
                </a:solidFill>
                <a:latin typeface="Apple SD Gothic Neo"/>
                <a:ea typeface="Apple SD Gothic Neo"/>
                <a:cs typeface="Apple SD Gothic Neo"/>
              </a:defRPr>
            </a:pPr>
            <a:r>
              <a:rPr sz="1500" b="1">
                <a:solidFill>
                  <a:srgbClr val="172738"/>
                </a:solidFill>
                <a:latin typeface="Apple SD Gothic Neo"/>
                <a:ea typeface="Apple SD Gothic Neo"/>
                <a:cs typeface="Apple SD Gothic Neo"/>
              </a:rPr>
              <a:t>수락·버퍼 예약</a:t>
            </a:r>
          </a:p>
        </p:txBody>
      </p:sp>
      <p:sp>
        <p:nvSpPr>
          <p:cNvPr id="27" name="admission-parameters">
            <a:extLst xmlns:a="http://schemas.openxmlformats.org/drawingml/2006/main">
              <a:ext uri="{FF2B5EF4-FFF2-40B4-BE49-F238E27FC236}">
                <a16:creationId xmlns:a16="http://schemas.microsoft.com/office/drawing/2014/main" id="{4F757FAE-BF16-4AE2-A144-A389A73BA17A}"/>
              </a:ext>
            </a:extLst>
          </p:cNvPr>
          <p:cNvSpPr>
            <a:spLocks xmlns:a="http://schemas.openxmlformats.org/drawingml/2006/main" noGrp="1"/>
          </p:cNvSpPr>
          <p:nvPr/>
        </p:nvSpPr>
        <p:spPr>
          <a:xfrm xmlns:a="http://schemas.openxmlformats.org/drawingml/2006/main">
            <a:off x="2895600" y="3067050"/>
            <a:ext cx="11811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B65D13"/>
                </a:solidFill>
                <a:latin typeface="Apple SD Gothic Neo"/>
                <a:ea typeface="Apple SD Gothic Neo"/>
                <a:cs typeface="Apple SD Gothic Neo"/>
              </a:defRPr>
            </a:defPPr>
          </a:lstStyle>
          <a:p xmlns:a="http://schemas.openxmlformats.org/drawingml/2006/main">
            <a:pPr>
              <a:buNone/>
              <a:defRPr sz="1650" b="1">
                <a:solidFill>
                  <a:srgbClr val="B65D13"/>
                </a:solidFill>
                <a:latin typeface="Apple SD Gothic Neo"/>
                <a:ea typeface="Apple SD Gothic Neo"/>
                <a:cs typeface="Apple SD Gothic Neo"/>
              </a:defRPr>
            </a:pPr>
            <a:r>
              <a:rPr sz="1650" b="1">
                <a:solidFill>
                  <a:srgbClr val="B65D13"/>
                </a:solidFill>
                <a:latin typeface="Apple SD Gothic Neo"/>
                <a:ea typeface="Apple SD Gothic Neo"/>
                <a:cs typeface="Apple SD Gothic Neo"/>
              </a:rPr>
              <a:t>QD / Port</a:t>
            </a:r>
          </a:p>
          <a:p xmlns:a="http://schemas.openxmlformats.org/drawingml/2006/main">
            <a:pPr>
              <a:buNone/>
              <a:defRPr sz="1650" b="1">
                <a:solidFill>
                  <a:srgbClr val="B65D13"/>
                </a:solidFill>
                <a:latin typeface="Apple SD Gothic Neo"/>
                <a:ea typeface="Apple SD Gothic Neo"/>
                <a:cs typeface="Apple SD Gothic Neo"/>
              </a:defRPr>
            </a:pPr>
            <a:r>
              <a:rPr sz="1650" b="1">
                <a:solidFill>
                  <a:srgbClr val="B65D13"/>
                </a:solidFill>
                <a:latin typeface="Apple SD Gothic Neo"/>
                <a:ea typeface="Apple SD Gothic Neo"/>
                <a:cs typeface="Apple SD Gothic Neo"/>
              </a:rPr>
              <a:t>A: 512</a:t>
            </a:r>
          </a:p>
        </p:txBody>
      </p:sp>
      <p:sp>
        <p:nvSpPr>
          <p:cNvPr id="28" name="mapping-heading">
            <a:extLst xmlns:a="http://schemas.openxmlformats.org/drawingml/2006/main">
              <a:ext uri="{FF2B5EF4-FFF2-40B4-BE49-F238E27FC236}">
                <a16:creationId xmlns:a16="http://schemas.microsoft.com/office/drawing/2014/main" id="{E5799A00-A9CD-47B1-8389-A82145734A11}"/>
              </a:ext>
            </a:extLst>
          </p:cNvPr>
          <p:cNvSpPr>
            <a:spLocks xmlns:a="http://schemas.openxmlformats.org/drawingml/2006/main" noGrp="1"/>
          </p:cNvSpPr>
          <p:nvPr/>
        </p:nvSpPr>
        <p:spPr>
          <a:xfrm xmlns:a="http://schemas.openxmlformats.org/drawingml/2006/main">
            <a:off x="4438650" y="2695575"/>
            <a:ext cx="13906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172738"/>
                </a:solidFill>
                <a:latin typeface="Apple SD Gothic Neo"/>
                <a:ea typeface="Apple SD Gothic Neo"/>
                <a:cs typeface="Apple SD Gothic Neo"/>
              </a:defRPr>
            </a:defPPr>
          </a:lstStyle>
          <a:p xmlns:a="http://schemas.openxmlformats.org/drawingml/2006/main">
            <a:pPr>
              <a:buNone/>
              <a:defRPr sz="1650" b="1">
                <a:solidFill>
                  <a:srgbClr val="172738"/>
                </a:solidFill>
                <a:latin typeface="Apple SD Gothic Neo"/>
                <a:ea typeface="Apple SD Gothic Neo"/>
                <a:cs typeface="Apple SD Gothic Neo"/>
              </a:defRPr>
            </a:pPr>
            <a:r>
              <a:rPr sz="1650" b="1">
                <a:solidFill>
                  <a:srgbClr val="172738"/>
                </a:solidFill>
                <a:latin typeface="Apple SD Gothic Neo"/>
                <a:ea typeface="Apple SD Gothic Neo"/>
                <a:cs typeface="Apple SD Gothic Neo"/>
              </a:rPr>
              <a:t>L2P / 배치</a:t>
            </a:r>
          </a:p>
        </p:txBody>
      </p:sp>
      <p:sp>
        <p:nvSpPr>
          <p:cNvPr id="29" name="mapping-parameters">
            <a:extLst xmlns:a="http://schemas.openxmlformats.org/drawingml/2006/main">
              <a:ext uri="{FF2B5EF4-FFF2-40B4-BE49-F238E27FC236}">
                <a16:creationId xmlns:a16="http://schemas.microsoft.com/office/drawing/2014/main" id="{9256BE22-8F54-4359-8202-95CE6130AE77}"/>
              </a:ext>
            </a:extLst>
          </p:cNvPr>
          <p:cNvSpPr>
            <a:spLocks xmlns:a="http://schemas.openxmlformats.org/drawingml/2006/main" noGrp="1"/>
          </p:cNvSpPr>
          <p:nvPr/>
        </p:nvSpPr>
        <p:spPr>
          <a:xfrm xmlns:a="http://schemas.openxmlformats.org/drawingml/2006/main">
            <a:off x="4438650" y="3067050"/>
            <a:ext cx="1333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1">
                <a:solidFill>
                  <a:srgbClr val="B65D13"/>
                </a:solidFill>
                <a:latin typeface="Apple SD Gothic Neo"/>
                <a:ea typeface="Apple SD Gothic Neo"/>
                <a:cs typeface="Apple SD Gothic Neo"/>
              </a:defRPr>
            </a:defPPr>
          </a:lstStyle>
          <a:p xmlns:a="http://schemas.openxmlformats.org/drawingml/2006/main">
            <a:pPr>
              <a:buNone/>
              <a:defRPr sz="1500" b="1">
                <a:solidFill>
                  <a:srgbClr val="B65D13"/>
                </a:solidFill>
                <a:latin typeface="Apple SD Gothic Neo"/>
                <a:ea typeface="Apple SD Gothic Neo"/>
                <a:cs typeface="Apple SD Gothic Neo"/>
              </a:defRPr>
            </a:pPr>
            <a:r>
              <a:rPr sz="1500" b="1">
                <a:solidFill>
                  <a:srgbClr val="B65D13"/>
                </a:solidFill>
                <a:latin typeface="Apple SD Gothic Neo"/>
                <a:ea typeface="Apple SD Gothic Neo"/>
                <a:cs typeface="Apple SD Gothic Neo"/>
              </a:rPr>
              <a:t>영역별 배치</a:t>
            </a:r>
          </a:p>
          <a:p xmlns:a="http://schemas.openxmlformats.org/drawingml/2006/main">
            <a:pPr>
              <a:buNone/>
              <a:defRPr sz="1500" b="1">
                <a:solidFill>
                  <a:srgbClr val="B65D13"/>
                </a:solidFill>
                <a:latin typeface="Apple SD Gothic Neo"/>
                <a:ea typeface="Apple SD Gothic Neo"/>
                <a:cs typeface="Apple SD Gothic Neo"/>
              </a:defRPr>
            </a:pPr>
            <a:r>
              <a:rPr sz="1500" b="1">
                <a:solidFill>
                  <a:srgbClr val="B65D13"/>
                </a:solidFill>
                <a:latin typeface="Apple SD Gothic Neo"/>
                <a:ea typeface="Apple SD Gothic Neo"/>
                <a:cs typeface="Apple SD Gothic Neo"/>
              </a:rPr>
              <a:t>stripe 4/16KiB</a:t>
            </a:r>
          </a:p>
        </p:txBody>
      </p:sp>
      <p:sp>
        <p:nvSpPr>
          <p:cNvPr id="30" name="ca-heading">
            <a:extLst xmlns:a="http://schemas.openxmlformats.org/drawingml/2006/main">
              <a:ext uri="{FF2B5EF4-FFF2-40B4-BE49-F238E27FC236}">
                <a16:creationId xmlns:a16="http://schemas.microsoft.com/office/drawing/2014/main" id="{65065B0B-4D94-4E9C-BDA0-29F0689AA954}"/>
              </a:ext>
            </a:extLst>
          </p:cNvPr>
          <p:cNvSpPr>
            <a:spLocks xmlns:a="http://schemas.openxmlformats.org/drawingml/2006/main" noGrp="1"/>
          </p:cNvSpPr>
          <p:nvPr/>
        </p:nvSpPr>
        <p:spPr>
          <a:xfrm xmlns:a="http://schemas.openxmlformats.org/drawingml/2006/main">
            <a:off x="6172200" y="2695575"/>
            <a:ext cx="1666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172738"/>
                </a:solidFill>
                <a:latin typeface="Apple SD Gothic Neo"/>
                <a:ea typeface="Apple SD Gothic Neo"/>
                <a:cs typeface="Apple SD Gothic Neo"/>
              </a:defRPr>
            </a:defPPr>
          </a:lstStyle>
          <a:p xmlns:a="http://schemas.openxmlformats.org/drawingml/2006/main">
            <a:pPr>
              <a:buNone/>
              <a:defRPr sz="1650" b="1">
                <a:solidFill>
                  <a:srgbClr val="172738"/>
                </a:solidFill>
                <a:latin typeface="Apple SD Gothic Neo"/>
                <a:ea typeface="Apple SD Gothic Neo"/>
                <a:cs typeface="Apple SD Gothic Neo"/>
              </a:defRPr>
            </a:pPr>
            <a:r>
              <a:rPr sz="1650" b="1">
                <a:solidFill>
                  <a:srgbClr val="172738"/>
                </a:solidFill>
                <a:latin typeface="Apple SD Gothic Neo"/>
                <a:ea typeface="Apple SD Gothic Neo"/>
                <a:cs typeface="Apple SD Gothic Neo"/>
              </a:rPr>
              <a:t>CA 스케줄러</a:t>
            </a:r>
          </a:p>
        </p:txBody>
      </p:sp>
      <p:sp>
        <p:nvSpPr>
          <p:cNvPr id="31" name="ca-parameters">
            <a:extLst xmlns:a="http://schemas.openxmlformats.org/drawingml/2006/main">
              <a:ext uri="{FF2B5EF4-FFF2-40B4-BE49-F238E27FC236}">
                <a16:creationId xmlns:a16="http://schemas.microsoft.com/office/drawing/2014/main" id="{4B378562-9A47-46EC-A813-A94DF656364C}"/>
              </a:ext>
            </a:extLst>
          </p:cNvPr>
          <p:cNvSpPr>
            <a:spLocks xmlns:a="http://schemas.openxmlformats.org/drawingml/2006/main" noGrp="1"/>
          </p:cNvSpPr>
          <p:nvPr/>
        </p:nvSpPr>
        <p:spPr>
          <a:xfrm xmlns:a="http://schemas.openxmlformats.org/drawingml/2006/main">
            <a:off x="6172200" y="3067050"/>
            <a:ext cx="16383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B65D13"/>
                </a:solidFill>
                <a:latin typeface="Apple SD Gothic Neo"/>
                <a:ea typeface="Apple SD Gothic Neo"/>
                <a:cs typeface="Apple SD Gothic Neo"/>
              </a:defRPr>
            </a:defPPr>
          </a:lstStyle>
          <a:p xmlns:a="http://schemas.openxmlformats.org/drawingml/2006/main">
            <a:pPr>
              <a:buNone/>
              <a:defRPr sz="1575" b="1">
                <a:solidFill>
                  <a:srgbClr val="B65D13"/>
                </a:solidFill>
                <a:latin typeface="Apple SD Gothic Neo"/>
                <a:ea typeface="Apple SD Gothic Neo"/>
                <a:cs typeface="Apple SD Gothic Neo"/>
              </a:defRPr>
            </a:pPr>
            <a:r>
              <a:rPr sz="1575" b="1">
                <a:solidFill>
                  <a:srgbClr val="B65D13"/>
                </a:solidFill>
                <a:latin typeface="Apple SD Gothic Neo"/>
                <a:ea typeface="Apple SD Gothic Neo"/>
                <a:cs typeface="Apple SD Gothic Neo"/>
              </a:rPr>
              <a:t>FIFO 검증</a:t>
            </a:r>
          </a:p>
          <a:p xmlns:a="http://schemas.openxmlformats.org/drawingml/2006/main">
            <a:pPr>
              <a:buNone/>
              <a:defRPr sz="1575" b="1">
                <a:solidFill>
                  <a:srgbClr val="B65D13"/>
                </a:solidFill>
                <a:latin typeface="Apple SD Gothic Neo"/>
                <a:ea typeface="Apple SD Gothic Neo"/>
                <a:cs typeface="Apple SD Gothic Neo"/>
              </a:defRPr>
            </a:pPr>
            <a:r>
              <a:rPr sz="1575" b="1">
                <a:solidFill>
                  <a:srgbClr val="B65D13"/>
                </a:solidFill>
                <a:latin typeface="Apple SD Gothic Neo"/>
                <a:ea typeface="Apple SD Gothic Neo"/>
                <a:cs typeface="Apple SD Gothic Neo"/>
              </a:rPr>
              <a:t>PF OFF</a:t>
            </a:r>
          </a:p>
        </p:txBody>
      </p:sp>
      <p:sp>
        <p:nvSpPr>
          <p:cNvPr id="32" name="current-ca-policy">
            <a:extLst xmlns:a="http://schemas.openxmlformats.org/drawingml/2006/main">
              <a:ext uri="{FF2B5EF4-FFF2-40B4-BE49-F238E27FC236}">
                <a16:creationId xmlns:a16="http://schemas.microsoft.com/office/drawing/2014/main" id="{47F25B4F-55B1-4CC3-8F0A-839E8D1DD9B3}"/>
              </a:ext>
            </a:extLst>
          </p:cNvPr>
          <p:cNvSpPr>
            <a:spLocks xmlns:a="http://schemas.openxmlformats.org/drawingml/2006/main" noGrp="1"/>
          </p:cNvSpPr>
          <p:nvPr/>
        </p:nvSpPr>
        <p:spPr>
          <a:xfrm xmlns:a="http://schemas.openxmlformats.org/drawingml/2006/main">
            <a:off x="2781300" y="3781425"/>
            <a:ext cx="51149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586875"/>
                </a:solidFill>
                <a:latin typeface="Apple SD Gothic Neo"/>
                <a:ea typeface="Apple SD Gothic Neo"/>
                <a:cs typeface="Apple SD Gothic Neo"/>
              </a:defRPr>
            </a:defPPr>
          </a:lstStyle>
          <a:p xmlns:a="http://schemas.openxmlformats.org/drawingml/2006/main">
            <a:pPr>
              <a:buNone/>
              <a:defRPr sz="1575" b="0">
                <a:solidFill>
                  <a:srgbClr val="586875"/>
                </a:solidFill>
                <a:latin typeface="Apple SD Gothic Neo"/>
                <a:ea typeface="Apple SD Gothic Neo"/>
                <a:cs typeface="Apple SD Gothic Neo"/>
              </a:defRPr>
            </a:pPr>
            <a:r>
              <a:rPr sz="1575" b="0">
                <a:solidFill>
                  <a:srgbClr val="586875"/>
                </a:solidFill>
                <a:latin typeface="Apple SD Gothic Neo"/>
                <a:ea typeface="Apple SD Gothic Neo"/>
                <a:cs typeface="Apple SD Gothic Neo"/>
              </a:rPr>
              <a:t>FIFO에서도 A1 / A2 / B 최고 성능 유지</a:t>
            </a:r>
          </a:p>
        </p:txBody>
      </p:sp>
      <p:sp>
        <p:nvSpPr>
          <p:cNvPr id="33" name="current-ca-parameters">
            <a:extLst xmlns:a="http://schemas.openxmlformats.org/drawingml/2006/main">
              <a:ext uri="{FF2B5EF4-FFF2-40B4-BE49-F238E27FC236}">
                <a16:creationId xmlns:a16="http://schemas.microsoft.com/office/drawing/2014/main" id="{41BF55A4-090D-461B-A12E-B4AC5FDBDF7C}"/>
              </a:ext>
            </a:extLst>
          </p:cNvPr>
          <p:cNvSpPr>
            <a:spLocks xmlns:a="http://schemas.openxmlformats.org/drawingml/2006/main" noGrp="1"/>
          </p:cNvSpPr>
          <p:nvPr/>
        </p:nvSpPr>
        <p:spPr>
          <a:xfrm xmlns:a="http://schemas.openxmlformats.org/drawingml/2006/main">
            <a:off x="2781300" y="4114800"/>
            <a:ext cx="51530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B65D13"/>
                </a:solidFill>
                <a:latin typeface="Apple SD Gothic Neo"/>
                <a:ea typeface="Apple SD Gothic Neo"/>
                <a:cs typeface="Apple SD Gothic Neo"/>
              </a:defRPr>
            </a:defPPr>
          </a:lstStyle>
          <a:p xmlns:a="http://schemas.openxmlformats.org/drawingml/2006/main">
            <a:pPr>
              <a:buNone/>
              <a:defRPr sz="1575" b="0">
                <a:solidFill>
                  <a:srgbClr val="B65D13"/>
                </a:solidFill>
                <a:latin typeface="Apple SD Gothic Neo"/>
                <a:ea typeface="Apple SD Gothic Neo"/>
                <a:cs typeface="Apple SD Gothic Neo"/>
              </a:defRPr>
            </a:pPr>
            <a:r>
              <a:rPr sz="1575" b="0">
                <a:solidFill>
                  <a:srgbClr val="B65D13"/>
                </a:solidFill>
                <a:latin typeface="Apple SD Gothic Neo"/>
                <a:ea typeface="Apple SD Gothic Neo"/>
                <a:cs typeface="Apple SD Gothic Neo"/>
              </a:rPr>
              <a:t>핵심: 영역별 배치와 Port별 충분한 요청</a:t>
            </a:r>
          </a:p>
        </p:txBody>
      </p:sp>
      <p:sp>
        <p:nvSpPr>
          <p:cNvPr id="34" name="shared-controller-buffer">
            <a:extLst xmlns:a="http://schemas.openxmlformats.org/drawingml/2006/main">
              <a:ext uri="{FF2B5EF4-FFF2-40B4-BE49-F238E27FC236}">
                <a16:creationId xmlns:a16="http://schemas.microsoft.com/office/drawing/2014/main" id="{28B88700-236D-40BE-A82D-4808E41B5BD1}"/>
              </a:ext>
            </a:extLst>
          </p:cNvPr>
          <p:cNvSpPr>
            <a:spLocks xmlns:a="http://schemas.openxmlformats.org/drawingml/2006/main" noGrp="1"/>
          </p:cNvSpPr>
          <p:nvPr/>
        </p:nvSpPr>
        <p:spPr>
          <a:xfrm xmlns:a="http://schemas.openxmlformats.org/drawingml/2006/main">
            <a:off x="2781300" y="4581525"/>
            <a:ext cx="3362325" cy="542925"/>
          </a:xfrm>
          <a:prstGeom xmlns:a="http://schemas.openxmlformats.org/drawingml/2006/main" prst="rect">
            <a:avLst/>
          </a:prstGeom>
          <a:solidFill xmlns:a="http://schemas.openxmlformats.org/drawingml/2006/main">
            <a:srgbClr val="EAF5F3"/>
          </a:solidFill>
          <a:ln xmlns:a="http://schemas.openxmlformats.org/drawingml/2006/main" w="14288">
            <a:solidFill>
              <a:srgbClr val="008B82"/>
            </a:solidFill>
            <a:prstDash val="solid"/>
          </a:ln>
        </p:spPr>
        <p:txBody>
          <a:bodyPr xmlns:a="http://schemas.openxmlformats.org/drawingml/2006/main"/>
          <a:lstStyle xmlns:a="http://schemas.openxmlformats.org/drawingml/2006/main"/>
          <a:p xmlns:a="http://schemas.openxmlformats.org/drawingml/2006/main">
            <a:endParaRPr/>
          </a:p>
        </p:txBody>
      </p:sp>
      <p:sp>
        <p:nvSpPr>
          <p:cNvPr id="35" name="buffer-heading">
            <a:extLst xmlns:a="http://schemas.openxmlformats.org/drawingml/2006/main">
              <a:ext uri="{FF2B5EF4-FFF2-40B4-BE49-F238E27FC236}">
                <a16:creationId xmlns:a16="http://schemas.microsoft.com/office/drawing/2014/main" id="{00D4552A-E3F9-48C2-A556-329938F95941}"/>
              </a:ext>
            </a:extLst>
          </p:cNvPr>
          <p:cNvSpPr>
            <a:spLocks xmlns:a="http://schemas.openxmlformats.org/drawingml/2006/main" noGrp="1"/>
          </p:cNvSpPr>
          <p:nvPr/>
        </p:nvSpPr>
        <p:spPr>
          <a:xfrm xmlns:a="http://schemas.openxmlformats.org/drawingml/2006/main">
            <a:off x="2886075" y="4600575"/>
            <a:ext cx="3200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1">
                <a:solidFill>
                  <a:srgbClr val="008B82"/>
                </a:solidFill>
                <a:latin typeface="Apple SD Gothic Neo"/>
                <a:ea typeface="Apple SD Gothic Neo"/>
                <a:cs typeface="Apple SD Gothic Neo"/>
              </a:defRPr>
            </a:defPPr>
          </a:lstStyle>
          <a:p xmlns:a="http://schemas.openxmlformats.org/drawingml/2006/main">
            <a:pPr>
              <a:buNone/>
              <a:defRPr sz="1725" b="1">
                <a:solidFill>
                  <a:srgbClr val="008B82"/>
                </a:solidFill>
                <a:latin typeface="Apple SD Gothic Neo"/>
                <a:ea typeface="Apple SD Gothic Neo"/>
                <a:cs typeface="Apple SD Gothic Neo"/>
              </a:defRPr>
            </a:pPr>
            <a:r>
              <a:rPr sz="1725" b="1">
                <a:solidFill>
                  <a:srgbClr val="008B82"/>
                </a:solidFill>
                <a:latin typeface="Apple SD Gothic Neo"/>
                <a:ea typeface="Apple SD Gothic Neo"/>
                <a:cs typeface="Apple SD Gothic Neo"/>
              </a:rPr>
              <a:t>공유 Controller buffer</a:t>
            </a:r>
          </a:p>
        </p:txBody>
      </p:sp>
      <p:sp>
        <p:nvSpPr>
          <p:cNvPr id="36" name="buffer-parameters">
            <a:extLst xmlns:a="http://schemas.openxmlformats.org/drawingml/2006/main">
              <a:ext uri="{FF2B5EF4-FFF2-40B4-BE49-F238E27FC236}">
                <a16:creationId xmlns:a16="http://schemas.microsoft.com/office/drawing/2014/main" id="{F401BF19-EC31-4FEE-B1EA-82BEC1E9635A}"/>
              </a:ext>
            </a:extLst>
          </p:cNvPr>
          <p:cNvSpPr>
            <a:spLocks xmlns:a="http://schemas.openxmlformats.org/drawingml/2006/main" noGrp="1"/>
          </p:cNvSpPr>
          <p:nvPr/>
        </p:nvSpPr>
        <p:spPr>
          <a:xfrm xmlns:a="http://schemas.openxmlformats.org/drawingml/2006/main">
            <a:off x="2886075" y="4886325"/>
            <a:ext cx="32099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1">
                <a:solidFill>
                  <a:srgbClr val="B65D13"/>
                </a:solidFill>
                <a:latin typeface="Apple SD Gothic Neo"/>
                <a:ea typeface="Apple SD Gothic Neo"/>
                <a:cs typeface="Apple SD Gothic Neo"/>
              </a:defRPr>
            </a:defPPr>
          </a:lstStyle>
          <a:p xmlns:a="http://schemas.openxmlformats.org/drawingml/2006/main">
            <a:pPr>
              <a:buNone/>
              <a:defRPr sz="1425" b="1">
                <a:solidFill>
                  <a:srgbClr val="B65D13"/>
                </a:solidFill>
                <a:latin typeface="Apple SD Gothic Neo"/>
                <a:ea typeface="Apple SD Gothic Neo"/>
                <a:cs typeface="Apple SD Gothic Neo"/>
              </a:defRPr>
            </a:pPr>
            <a:r>
              <a:rPr sz="1425" b="1">
                <a:solidFill>
                  <a:srgbClr val="B65D13"/>
                </a:solidFill>
                <a:latin typeface="Apple SD Gothic Neo"/>
                <a:ea typeface="Apple SD Gothic Neo"/>
                <a:cs typeface="Apple SD Gothic Neo"/>
              </a:rPr>
              <a:t>용량 가변 · 현재 8MiB (512 × 16KiB)</a:t>
            </a:r>
          </a:p>
        </p:txBody>
      </p:sp>
      <p:sp>
        <p:nvSpPr>
          <p:cNvPr id="37" name="ecc">
            <a:extLst xmlns:a="http://schemas.openxmlformats.org/drawingml/2006/main">
              <a:ext uri="{FF2B5EF4-FFF2-40B4-BE49-F238E27FC236}">
                <a16:creationId xmlns:a16="http://schemas.microsoft.com/office/drawing/2014/main" id="{96B99F57-E4CA-4DAB-953B-43FD2B9DDF3F}"/>
              </a:ext>
            </a:extLst>
          </p:cNvPr>
          <p:cNvSpPr>
            <a:spLocks xmlns:a="http://schemas.openxmlformats.org/drawingml/2006/main" noGrp="1"/>
          </p:cNvSpPr>
          <p:nvPr/>
        </p:nvSpPr>
        <p:spPr>
          <a:xfrm xmlns:a="http://schemas.openxmlformats.org/drawingml/2006/main">
            <a:off x="6677025" y="4581525"/>
            <a:ext cx="1190625" cy="542925"/>
          </a:xfrm>
          <a:prstGeom xmlns:a="http://schemas.openxmlformats.org/drawingml/2006/main" prst="rect">
            <a:avLst/>
          </a:prstGeom>
          <a:solidFill xmlns:a="http://schemas.openxmlformats.org/drawingml/2006/main">
            <a:srgbClr val="EAF5F3"/>
          </a:solidFill>
          <a:ln xmlns:a="http://schemas.openxmlformats.org/drawingml/2006/main" w="14288">
            <a:solidFill>
              <a:srgbClr val="008B82"/>
            </a:solidFill>
            <a:prstDash val="solid"/>
          </a:ln>
        </p:spPr>
        <p:txBody>
          <a:bodyPr xmlns:a="http://schemas.openxmlformats.org/drawingml/2006/main"/>
          <a:lstStyle xmlns:a="http://schemas.openxmlformats.org/drawingml/2006/main"/>
          <a:p xmlns:a="http://schemas.openxmlformats.org/drawingml/2006/main">
            <a:endParaRPr/>
          </a:p>
        </p:txBody>
      </p:sp>
      <p:sp>
        <p:nvSpPr>
          <p:cNvPr id="38" name="ecc-label">
            <a:extLst xmlns:a="http://schemas.openxmlformats.org/drawingml/2006/main">
              <a:ext uri="{FF2B5EF4-FFF2-40B4-BE49-F238E27FC236}">
                <a16:creationId xmlns:a16="http://schemas.microsoft.com/office/drawing/2014/main" id="{67912723-9589-4160-A74E-D2E673C2C7F3}"/>
              </a:ext>
            </a:extLst>
          </p:cNvPr>
          <p:cNvSpPr>
            <a:spLocks xmlns:a="http://schemas.openxmlformats.org/drawingml/2006/main" noGrp="1"/>
          </p:cNvSpPr>
          <p:nvPr/>
        </p:nvSpPr>
        <p:spPr>
          <a:xfrm xmlns:a="http://schemas.openxmlformats.org/drawingml/2006/main">
            <a:off x="7000875" y="4714875"/>
            <a:ext cx="857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1">
                <a:solidFill>
                  <a:srgbClr val="008B82"/>
                </a:solidFill>
                <a:latin typeface="Apple SD Gothic Neo"/>
                <a:ea typeface="Apple SD Gothic Neo"/>
                <a:cs typeface="Apple SD Gothic Neo"/>
              </a:defRPr>
            </a:defPPr>
          </a:lstStyle>
          <a:p xmlns:a="http://schemas.openxmlformats.org/drawingml/2006/main">
            <a:pPr>
              <a:buNone/>
              <a:defRPr sz="1875" b="1">
                <a:solidFill>
                  <a:srgbClr val="008B82"/>
                </a:solidFill>
                <a:latin typeface="Apple SD Gothic Neo"/>
                <a:ea typeface="Apple SD Gothic Neo"/>
                <a:cs typeface="Apple SD Gothic Neo"/>
              </a:defRPr>
            </a:pPr>
            <a:r>
              <a:rPr sz="1875" b="1">
                <a:solidFill>
                  <a:srgbClr val="008B82"/>
                </a:solidFill>
                <a:latin typeface="Apple SD Gothic Neo"/>
                <a:ea typeface="Apple SD Gothic Neo"/>
                <a:cs typeface="Apple SD Gothic Neo"/>
              </a:rPr>
              <a:t>ECC</a:t>
            </a:r>
          </a:p>
        </p:txBody>
      </p:sp>
      <p:sp>
        <p:nvSpPr>
          <p:cNvPr id="39" name="nand-heading">
            <a:extLst xmlns:a="http://schemas.openxmlformats.org/drawingml/2006/main">
              <a:ext uri="{FF2B5EF4-FFF2-40B4-BE49-F238E27FC236}">
                <a16:creationId xmlns:a16="http://schemas.microsoft.com/office/drawing/2014/main" id="{66F70793-A088-4FD4-8EA5-98FB1EDD941E}"/>
              </a:ext>
            </a:extLst>
          </p:cNvPr>
          <p:cNvSpPr>
            <a:spLocks xmlns:a="http://schemas.openxmlformats.org/drawingml/2006/main" noGrp="1"/>
          </p:cNvSpPr>
          <p:nvPr/>
        </p:nvSpPr>
        <p:spPr>
          <a:xfrm xmlns:a="http://schemas.openxmlformats.org/drawingml/2006/main">
            <a:off x="8629650" y="2076450"/>
            <a:ext cx="29337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1">
                <a:solidFill>
                  <a:srgbClr val="172738"/>
                </a:solidFill>
                <a:latin typeface="Apple SD Gothic Neo"/>
                <a:ea typeface="Apple SD Gothic Neo"/>
                <a:cs typeface="Apple SD Gothic Neo"/>
              </a:defRPr>
            </a:defPPr>
          </a:lstStyle>
          <a:p xmlns:a="http://schemas.openxmlformats.org/drawingml/2006/main">
            <a:pPr>
              <a:buNone/>
              <a:defRPr sz="1950" b="1">
                <a:solidFill>
                  <a:srgbClr val="172738"/>
                </a:solidFill>
                <a:latin typeface="Apple SD Gothic Neo"/>
                <a:ea typeface="Apple SD Gothic Neo"/>
                <a:cs typeface="Apple SD Gothic Neo"/>
              </a:defRPr>
            </a:pPr>
            <a:r>
              <a:rPr sz="1950" b="1">
                <a:solidFill>
                  <a:srgbClr val="172738"/>
                </a:solidFill>
                <a:latin typeface="Apple SD Gothic Neo"/>
                <a:ea typeface="Apple SD Gothic Neo"/>
                <a:cs typeface="Apple SD Gothic Neo"/>
              </a:rPr>
              <a:t>NAND / 4 Channel 고정</a:t>
            </a:r>
          </a:p>
        </p:txBody>
      </p:sp>
      <p:sp>
        <p:nvSpPr>
          <p:cNvPr id="40" name="plane-setting">
            <a:extLst xmlns:a="http://schemas.openxmlformats.org/drawingml/2006/main">
              <a:ext uri="{FF2B5EF4-FFF2-40B4-BE49-F238E27FC236}">
                <a16:creationId xmlns:a16="http://schemas.microsoft.com/office/drawing/2014/main" id="{2AE86987-B5D2-4A49-9EAC-EE8A86A05CD5}"/>
              </a:ext>
            </a:extLst>
          </p:cNvPr>
          <p:cNvSpPr>
            <a:spLocks xmlns:a="http://schemas.openxmlformats.org/drawingml/2006/main" noGrp="1"/>
          </p:cNvSpPr>
          <p:nvPr/>
        </p:nvSpPr>
        <p:spPr>
          <a:xfrm xmlns:a="http://schemas.openxmlformats.org/drawingml/2006/main">
            <a:off x="8620125" y="2466975"/>
            <a:ext cx="29622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B65D13"/>
                </a:solidFill>
                <a:latin typeface="Apple SD Gothic Neo"/>
                <a:ea typeface="Apple SD Gothic Neo"/>
                <a:cs typeface="Apple SD Gothic Neo"/>
              </a:defRPr>
            </a:defPPr>
          </a:lstStyle>
          <a:p xmlns:a="http://schemas.openxmlformats.org/drawingml/2006/main">
            <a:pPr>
              <a:buNone/>
              <a:defRPr sz="1575" b="1">
                <a:solidFill>
                  <a:srgbClr val="B65D13"/>
                </a:solidFill>
                <a:latin typeface="Apple SD Gothic Neo"/>
                <a:ea typeface="Apple SD Gothic Neo"/>
                <a:cs typeface="Apple SD Gothic Neo"/>
              </a:defRPr>
            </a:pPr>
            <a:r>
              <a:rPr sz="1575" b="1">
                <a:solidFill>
                  <a:srgbClr val="B65D13"/>
                </a:solidFill>
                <a:latin typeface="Apple SD Gothic Neo"/>
                <a:ea typeface="Apple SD Gothic Neo"/>
                <a:cs typeface="Apple SD Gothic Neo"/>
              </a:rPr>
              <a:t>Plane/CH 8·16개 · 현재 16개</a:t>
            </a:r>
          </a:p>
        </p:txBody>
      </p:sp>
      <p:sp>
        <p:nvSpPr>
          <p:cNvPr id="41" name="channel-0">
            <a:extLst xmlns:a="http://schemas.openxmlformats.org/drawingml/2006/main">
              <a:ext uri="{FF2B5EF4-FFF2-40B4-BE49-F238E27FC236}">
                <a16:creationId xmlns:a16="http://schemas.microsoft.com/office/drawing/2014/main" id="{78D95BEC-297D-45A9-AC62-7EE65F7F5A6D}"/>
              </a:ext>
            </a:extLst>
          </p:cNvPr>
          <p:cNvSpPr>
            <a:spLocks xmlns:a="http://schemas.openxmlformats.org/drawingml/2006/main" noGrp="1"/>
          </p:cNvSpPr>
          <p:nvPr/>
        </p:nvSpPr>
        <p:spPr>
          <a:xfrm xmlns:a="http://schemas.openxmlformats.org/drawingml/2006/main">
            <a:off x="8715375" y="2828925"/>
            <a:ext cx="2686050" cy="361950"/>
          </a:xfrm>
          <a:prstGeom xmlns:a="http://schemas.openxmlformats.org/drawingml/2006/main" prst="rect">
            <a:avLst/>
          </a:prstGeom>
          <a:solidFill xmlns:a="http://schemas.openxmlformats.org/drawingml/2006/main">
            <a:srgbClr val="FFFFFF"/>
          </a:solidFill>
          <a:ln xmlns:a="http://schemas.openxmlformats.org/drawingml/2006/main" w="14288">
            <a:solidFill>
              <a:srgbClr val="9AA9B5"/>
            </a:solidFill>
            <a:prstDash val="solid"/>
          </a:ln>
        </p:spPr>
        <p:txBody>
          <a:bodyPr xmlns:a="http://schemas.openxmlformats.org/drawingml/2006/main"/>
          <a:lstStyle xmlns:a="http://schemas.openxmlformats.org/drawingml/2006/main"/>
          <a:p xmlns:a="http://schemas.openxmlformats.org/drawingml/2006/main">
            <a:endParaRPr/>
          </a:p>
        </p:txBody>
      </p:sp>
      <p:sp>
        <p:nvSpPr>
          <p:cNvPr id="42" name="channel-label-bg-0">
            <a:extLst xmlns:a="http://schemas.openxmlformats.org/drawingml/2006/main">
              <a:ext uri="{FF2B5EF4-FFF2-40B4-BE49-F238E27FC236}">
                <a16:creationId xmlns:a16="http://schemas.microsoft.com/office/drawing/2014/main" id="{1BF1E93B-9612-4ABF-ACCE-EC7C9EB7E0A9}"/>
              </a:ext>
            </a:extLst>
          </p:cNvPr>
          <p:cNvSpPr>
            <a:spLocks xmlns:a="http://schemas.openxmlformats.org/drawingml/2006/main" noGrp="1"/>
          </p:cNvSpPr>
          <p:nvPr/>
        </p:nvSpPr>
        <p:spPr>
          <a:xfrm xmlns:a="http://schemas.openxmlformats.org/drawingml/2006/main">
            <a:off x="8715375" y="2828925"/>
            <a:ext cx="600075" cy="361950"/>
          </a:xfrm>
          <a:prstGeom xmlns:a="http://schemas.openxmlformats.org/drawingml/2006/main" prst="rect">
            <a:avLst/>
          </a:prstGeom>
          <a:solidFill xmlns:a="http://schemas.openxmlformats.org/drawingml/2006/main">
            <a:srgbClr val="F1F5F8"/>
          </a:solidFill>
          <a:ln xmlns:a="http://schemas.openxmlformats.org/drawingml/2006/main" w="14288">
            <a:solidFill>
              <a:srgbClr val="9AA9B5"/>
            </a:solidFill>
            <a:prstDash val="solid"/>
          </a:ln>
        </p:spPr>
        <p:txBody>
          <a:bodyPr xmlns:a="http://schemas.openxmlformats.org/drawingml/2006/main"/>
          <a:lstStyle xmlns:a="http://schemas.openxmlformats.org/drawingml/2006/main"/>
          <a:p xmlns:a="http://schemas.openxmlformats.org/drawingml/2006/main">
            <a:endParaRPr/>
          </a:p>
        </p:txBody>
      </p:sp>
      <p:sp>
        <p:nvSpPr>
          <p:cNvPr id="43" name="channel-label-0">
            <a:extLst xmlns:a="http://schemas.openxmlformats.org/drawingml/2006/main">
              <a:ext uri="{FF2B5EF4-FFF2-40B4-BE49-F238E27FC236}">
                <a16:creationId xmlns:a16="http://schemas.microsoft.com/office/drawing/2014/main" id="{23BBB873-FB04-42D4-9DDE-A55D4262705C}"/>
              </a:ext>
            </a:extLst>
          </p:cNvPr>
          <p:cNvSpPr>
            <a:spLocks xmlns:a="http://schemas.openxmlformats.org/drawingml/2006/main" noGrp="1"/>
          </p:cNvSpPr>
          <p:nvPr/>
        </p:nvSpPr>
        <p:spPr>
          <a:xfrm xmlns:a="http://schemas.openxmlformats.org/drawingml/2006/main">
            <a:off x="8801100" y="2886075"/>
            <a:ext cx="6000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172738"/>
                </a:solidFill>
                <a:latin typeface="Apple SD Gothic Neo"/>
                <a:ea typeface="Apple SD Gothic Neo"/>
                <a:cs typeface="Apple SD Gothic Neo"/>
              </a:defRPr>
            </a:defPPr>
          </a:lstStyle>
          <a:p xmlns:a="http://schemas.openxmlformats.org/drawingml/2006/main">
            <a:pPr>
              <a:buNone/>
              <a:defRPr sz="1575" b="1">
                <a:solidFill>
                  <a:srgbClr val="172738"/>
                </a:solidFill>
                <a:latin typeface="Apple SD Gothic Neo"/>
                <a:ea typeface="Apple SD Gothic Neo"/>
                <a:cs typeface="Apple SD Gothic Neo"/>
              </a:defRPr>
            </a:pPr>
            <a:r>
              <a:rPr sz="1575" b="1">
                <a:solidFill>
                  <a:srgbClr val="172738"/>
                </a:solidFill>
                <a:latin typeface="Apple SD Gothic Neo"/>
                <a:ea typeface="Apple SD Gothic Neo"/>
                <a:cs typeface="Apple SD Gothic Neo"/>
              </a:rPr>
              <a:t>CH0</a:t>
            </a:r>
          </a:p>
        </p:txBody>
      </p:sp>
      <p:sp>
        <p:nvSpPr>
          <p:cNvPr id="44" name="plane-array-0">
            <a:extLst xmlns:a="http://schemas.openxmlformats.org/drawingml/2006/main">
              <a:ext uri="{FF2B5EF4-FFF2-40B4-BE49-F238E27FC236}">
                <a16:creationId xmlns:a16="http://schemas.microsoft.com/office/drawing/2014/main" id="{3AF46A26-5D08-48F3-9B2A-6851B3EFED00}"/>
              </a:ext>
            </a:extLst>
          </p:cNvPr>
          <p:cNvSpPr>
            <a:spLocks xmlns:a="http://schemas.openxmlformats.org/drawingml/2006/main" noGrp="1"/>
          </p:cNvSpPr>
          <p:nvPr/>
        </p:nvSpPr>
        <p:spPr>
          <a:xfrm xmlns:a="http://schemas.openxmlformats.org/drawingml/2006/main">
            <a:off x="9439275" y="2886075"/>
            <a:ext cx="1924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172738"/>
                </a:solidFill>
                <a:latin typeface="Apple SD Gothic Neo"/>
                <a:ea typeface="Apple SD Gothic Neo"/>
                <a:cs typeface="Apple SD Gothic Neo"/>
              </a:defRPr>
            </a:defPPr>
          </a:lstStyle>
          <a:p xmlns:a="http://schemas.openxmlformats.org/drawingml/2006/main">
            <a:pPr>
              <a:buNone/>
              <a:defRPr sz="1650" b="0">
                <a:solidFill>
                  <a:srgbClr val="172738"/>
                </a:solidFill>
                <a:latin typeface="Apple SD Gothic Neo"/>
                <a:ea typeface="Apple SD Gothic Neo"/>
                <a:cs typeface="Apple SD Gothic Neo"/>
              </a:defRPr>
            </a:pPr>
            <a:r>
              <a:rPr sz="1650" b="0">
                <a:solidFill>
                  <a:srgbClr val="172738"/>
                </a:solidFill>
                <a:latin typeface="Apple SD Gothic Neo"/>
                <a:ea typeface="Apple SD Gothic Neo"/>
                <a:cs typeface="Apple SD Gothic Neo"/>
              </a:rPr>
              <a:t>Plane 0 … 15</a:t>
            </a:r>
          </a:p>
        </p:txBody>
      </p:sp>
      <p:sp>
        <p:nvSpPr>
          <p:cNvPr id="45" name="channel-1">
            <a:extLst xmlns:a="http://schemas.openxmlformats.org/drawingml/2006/main">
              <a:ext uri="{FF2B5EF4-FFF2-40B4-BE49-F238E27FC236}">
                <a16:creationId xmlns:a16="http://schemas.microsoft.com/office/drawing/2014/main" id="{6A337587-3EFD-4435-956B-CCD6C9E8C1B4}"/>
              </a:ext>
            </a:extLst>
          </p:cNvPr>
          <p:cNvSpPr>
            <a:spLocks xmlns:a="http://schemas.openxmlformats.org/drawingml/2006/main" noGrp="1"/>
          </p:cNvSpPr>
          <p:nvPr/>
        </p:nvSpPr>
        <p:spPr>
          <a:xfrm xmlns:a="http://schemas.openxmlformats.org/drawingml/2006/main">
            <a:off x="8715375" y="3314700"/>
            <a:ext cx="2686050" cy="361950"/>
          </a:xfrm>
          <a:prstGeom xmlns:a="http://schemas.openxmlformats.org/drawingml/2006/main" prst="rect">
            <a:avLst/>
          </a:prstGeom>
          <a:solidFill xmlns:a="http://schemas.openxmlformats.org/drawingml/2006/main">
            <a:srgbClr val="FFFFFF"/>
          </a:solidFill>
          <a:ln xmlns:a="http://schemas.openxmlformats.org/drawingml/2006/main" w="14288">
            <a:solidFill>
              <a:srgbClr val="9AA9B5"/>
            </a:solidFill>
            <a:prstDash val="solid"/>
          </a:ln>
        </p:spPr>
        <p:txBody>
          <a:bodyPr xmlns:a="http://schemas.openxmlformats.org/drawingml/2006/main"/>
          <a:lstStyle xmlns:a="http://schemas.openxmlformats.org/drawingml/2006/main"/>
          <a:p xmlns:a="http://schemas.openxmlformats.org/drawingml/2006/main">
            <a:endParaRPr/>
          </a:p>
        </p:txBody>
      </p:sp>
      <p:sp>
        <p:nvSpPr>
          <p:cNvPr id="46" name="channel-label-bg-1">
            <a:extLst xmlns:a="http://schemas.openxmlformats.org/drawingml/2006/main">
              <a:ext uri="{FF2B5EF4-FFF2-40B4-BE49-F238E27FC236}">
                <a16:creationId xmlns:a16="http://schemas.microsoft.com/office/drawing/2014/main" id="{C0FA7450-30D1-43AF-B35A-3035A21783F8}"/>
              </a:ext>
            </a:extLst>
          </p:cNvPr>
          <p:cNvSpPr>
            <a:spLocks xmlns:a="http://schemas.openxmlformats.org/drawingml/2006/main" noGrp="1"/>
          </p:cNvSpPr>
          <p:nvPr/>
        </p:nvSpPr>
        <p:spPr>
          <a:xfrm xmlns:a="http://schemas.openxmlformats.org/drawingml/2006/main">
            <a:off x="8715375" y="3314700"/>
            <a:ext cx="600075" cy="361950"/>
          </a:xfrm>
          <a:prstGeom xmlns:a="http://schemas.openxmlformats.org/drawingml/2006/main" prst="rect">
            <a:avLst/>
          </a:prstGeom>
          <a:solidFill xmlns:a="http://schemas.openxmlformats.org/drawingml/2006/main">
            <a:srgbClr val="F1F5F8"/>
          </a:solidFill>
          <a:ln xmlns:a="http://schemas.openxmlformats.org/drawingml/2006/main" w="14288">
            <a:solidFill>
              <a:srgbClr val="9AA9B5"/>
            </a:solidFill>
            <a:prstDash val="solid"/>
          </a:ln>
        </p:spPr>
        <p:txBody>
          <a:bodyPr xmlns:a="http://schemas.openxmlformats.org/drawingml/2006/main"/>
          <a:lstStyle xmlns:a="http://schemas.openxmlformats.org/drawingml/2006/main"/>
          <a:p xmlns:a="http://schemas.openxmlformats.org/drawingml/2006/main">
            <a:endParaRPr/>
          </a:p>
        </p:txBody>
      </p:sp>
      <p:sp>
        <p:nvSpPr>
          <p:cNvPr id="47" name="channel-label-1">
            <a:extLst xmlns:a="http://schemas.openxmlformats.org/drawingml/2006/main">
              <a:ext uri="{FF2B5EF4-FFF2-40B4-BE49-F238E27FC236}">
                <a16:creationId xmlns:a16="http://schemas.microsoft.com/office/drawing/2014/main" id="{34BFFEB9-D23E-4F8F-A471-8C51200C890B}"/>
              </a:ext>
            </a:extLst>
          </p:cNvPr>
          <p:cNvSpPr>
            <a:spLocks xmlns:a="http://schemas.openxmlformats.org/drawingml/2006/main" noGrp="1"/>
          </p:cNvSpPr>
          <p:nvPr/>
        </p:nvSpPr>
        <p:spPr>
          <a:xfrm xmlns:a="http://schemas.openxmlformats.org/drawingml/2006/main">
            <a:off x="8801100" y="3371850"/>
            <a:ext cx="6000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172738"/>
                </a:solidFill>
                <a:latin typeface="Apple SD Gothic Neo"/>
                <a:ea typeface="Apple SD Gothic Neo"/>
                <a:cs typeface="Apple SD Gothic Neo"/>
              </a:defRPr>
            </a:defPPr>
          </a:lstStyle>
          <a:p xmlns:a="http://schemas.openxmlformats.org/drawingml/2006/main">
            <a:pPr>
              <a:buNone/>
              <a:defRPr sz="1575" b="1">
                <a:solidFill>
                  <a:srgbClr val="172738"/>
                </a:solidFill>
                <a:latin typeface="Apple SD Gothic Neo"/>
                <a:ea typeface="Apple SD Gothic Neo"/>
                <a:cs typeface="Apple SD Gothic Neo"/>
              </a:defRPr>
            </a:pPr>
            <a:r>
              <a:rPr sz="1575" b="1">
                <a:solidFill>
                  <a:srgbClr val="172738"/>
                </a:solidFill>
                <a:latin typeface="Apple SD Gothic Neo"/>
                <a:ea typeface="Apple SD Gothic Neo"/>
                <a:cs typeface="Apple SD Gothic Neo"/>
              </a:rPr>
              <a:t>CH1</a:t>
            </a:r>
          </a:p>
        </p:txBody>
      </p:sp>
      <p:sp>
        <p:nvSpPr>
          <p:cNvPr id="48" name="plane-array-1">
            <a:extLst xmlns:a="http://schemas.openxmlformats.org/drawingml/2006/main">
              <a:ext uri="{FF2B5EF4-FFF2-40B4-BE49-F238E27FC236}">
                <a16:creationId xmlns:a16="http://schemas.microsoft.com/office/drawing/2014/main" id="{50A815A0-514B-4A12-8FC7-AB11E99B2D37}"/>
              </a:ext>
            </a:extLst>
          </p:cNvPr>
          <p:cNvSpPr>
            <a:spLocks xmlns:a="http://schemas.openxmlformats.org/drawingml/2006/main" noGrp="1"/>
          </p:cNvSpPr>
          <p:nvPr/>
        </p:nvSpPr>
        <p:spPr>
          <a:xfrm xmlns:a="http://schemas.openxmlformats.org/drawingml/2006/main">
            <a:off x="9439275" y="3371850"/>
            <a:ext cx="1924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172738"/>
                </a:solidFill>
                <a:latin typeface="Apple SD Gothic Neo"/>
                <a:ea typeface="Apple SD Gothic Neo"/>
                <a:cs typeface="Apple SD Gothic Neo"/>
              </a:defRPr>
            </a:defPPr>
          </a:lstStyle>
          <a:p xmlns:a="http://schemas.openxmlformats.org/drawingml/2006/main">
            <a:pPr>
              <a:buNone/>
              <a:defRPr sz="1650" b="0">
                <a:solidFill>
                  <a:srgbClr val="172738"/>
                </a:solidFill>
                <a:latin typeface="Apple SD Gothic Neo"/>
                <a:ea typeface="Apple SD Gothic Neo"/>
                <a:cs typeface="Apple SD Gothic Neo"/>
              </a:defRPr>
            </a:pPr>
            <a:r>
              <a:rPr sz="1650" b="0">
                <a:solidFill>
                  <a:srgbClr val="172738"/>
                </a:solidFill>
                <a:latin typeface="Apple SD Gothic Neo"/>
                <a:ea typeface="Apple SD Gothic Neo"/>
                <a:cs typeface="Apple SD Gothic Neo"/>
              </a:rPr>
              <a:t>Plane 0 … 15</a:t>
            </a:r>
          </a:p>
        </p:txBody>
      </p:sp>
      <p:sp>
        <p:nvSpPr>
          <p:cNvPr id="49" name="channel-2">
            <a:extLst xmlns:a="http://schemas.openxmlformats.org/drawingml/2006/main">
              <a:ext uri="{FF2B5EF4-FFF2-40B4-BE49-F238E27FC236}">
                <a16:creationId xmlns:a16="http://schemas.microsoft.com/office/drawing/2014/main" id="{6CD058DC-3349-40BE-BA2C-C05ABFAE35EC}"/>
              </a:ext>
            </a:extLst>
          </p:cNvPr>
          <p:cNvSpPr>
            <a:spLocks xmlns:a="http://schemas.openxmlformats.org/drawingml/2006/main" noGrp="1"/>
          </p:cNvSpPr>
          <p:nvPr/>
        </p:nvSpPr>
        <p:spPr>
          <a:xfrm xmlns:a="http://schemas.openxmlformats.org/drawingml/2006/main">
            <a:off x="8715375" y="3800475"/>
            <a:ext cx="2686050" cy="361950"/>
          </a:xfrm>
          <a:prstGeom xmlns:a="http://schemas.openxmlformats.org/drawingml/2006/main" prst="rect">
            <a:avLst/>
          </a:prstGeom>
          <a:solidFill xmlns:a="http://schemas.openxmlformats.org/drawingml/2006/main">
            <a:srgbClr val="FFFFFF"/>
          </a:solidFill>
          <a:ln xmlns:a="http://schemas.openxmlformats.org/drawingml/2006/main" w="14288">
            <a:solidFill>
              <a:srgbClr val="9AA9B5"/>
            </a:solidFill>
            <a:prstDash val="solid"/>
          </a:ln>
        </p:spPr>
        <p:txBody>
          <a:bodyPr xmlns:a="http://schemas.openxmlformats.org/drawingml/2006/main"/>
          <a:lstStyle xmlns:a="http://schemas.openxmlformats.org/drawingml/2006/main"/>
          <a:p xmlns:a="http://schemas.openxmlformats.org/drawingml/2006/main">
            <a:endParaRPr/>
          </a:p>
        </p:txBody>
      </p:sp>
      <p:sp>
        <p:nvSpPr>
          <p:cNvPr id="50" name="channel-label-bg-2">
            <a:extLst xmlns:a="http://schemas.openxmlformats.org/drawingml/2006/main">
              <a:ext uri="{FF2B5EF4-FFF2-40B4-BE49-F238E27FC236}">
                <a16:creationId xmlns:a16="http://schemas.microsoft.com/office/drawing/2014/main" id="{2FD27012-1B5A-4B2C-8CB9-EC5D6F3FAF56}"/>
              </a:ext>
            </a:extLst>
          </p:cNvPr>
          <p:cNvSpPr>
            <a:spLocks xmlns:a="http://schemas.openxmlformats.org/drawingml/2006/main" noGrp="1"/>
          </p:cNvSpPr>
          <p:nvPr/>
        </p:nvSpPr>
        <p:spPr>
          <a:xfrm xmlns:a="http://schemas.openxmlformats.org/drawingml/2006/main">
            <a:off x="8715375" y="3800475"/>
            <a:ext cx="600075" cy="361950"/>
          </a:xfrm>
          <a:prstGeom xmlns:a="http://schemas.openxmlformats.org/drawingml/2006/main" prst="rect">
            <a:avLst/>
          </a:prstGeom>
          <a:solidFill xmlns:a="http://schemas.openxmlformats.org/drawingml/2006/main">
            <a:srgbClr val="F1F5F8"/>
          </a:solidFill>
          <a:ln xmlns:a="http://schemas.openxmlformats.org/drawingml/2006/main" w="14288">
            <a:solidFill>
              <a:srgbClr val="9AA9B5"/>
            </a:solidFill>
            <a:prstDash val="solid"/>
          </a:ln>
        </p:spPr>
        <p:txBody>
          <a:bodyPr xmlns:a="http://schemas.openxmlformats.org/drawingml/2006/main"/>
          <a:lstStyle xmlns:a="http://schemas.openxmlformats.org/drawingml/2006/main"/>
          <a:p xmlns:a="http://schemas.openxmlformats.org/drawingml/2006/main">
            <a:endParaRPr/>
          </a:p>
        </p:txBody>
      </p:sp>
      <p:sp>
        <p:nvSpPr>
          <p:cNvPr id="51" name="channel-label-2">
            <a:extLst xmlns:a="http://schemas.openxmlformats.org/drawingml/2006/main">
              <a:ext uri="{FF2B5EF4-FFF2-40B4-BE49-F238E27FC236}">
                <a16:creationId xmlns:a16="http://schemas.microsoft.com/office/drawing/2014/main" id="{677B0C87-FEF9-46E2-9167-517EED1DAF73}"/>
              </a:ext>
            </a:extLst>
          </p:cNvPr>
          <p:cNvSpPr>
            <a:spLocks xmlns:a="http://schemas.openxmlformats.org/drawingml/2006/main" noGrp="1"/>
          </p:cNvSpPr>
          <p:nvPr/>
        </p:nvSpPr>
        <p:spPr>
          <a:xfrm xmlns:a="http://schemas.openxmlformats.org/drawingml/2006/main">
            <a:off x="8801100" y="3857625"/>
            <a:ext cx="6000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172738"/>
                </a:solidFill>
                <a:latin typeface="Apple SD Gothic Neo"/>
                <a:ea typeface="Apple SD Gothic Neo"/>
                <a:cs typeface="Apple SD Gothic Neo"/>
              </a:defRPr>
            </a:defPPr>
          </a:lstStyle>
          <a:p xmlns:a="http://schemas.openxmlformats.org/drawingml/2006/main">
            <a:pPr>
              <a:buNone/>
              <a:defRPr sz="1575" b="1">
                <a:solidFill>
                  <a:srgbClr val="172738"/>
                </a:solidFill>
                <a:latin typeface="Apple SD Gothic Neo"/>
                <a:ea typeface="Apple SD Gothic Neo"/>
                <a:cs typeface="Apple SD Gothic Neo"/>
              </a:defRPr>
            </a:pPr>
            <a:r>
              <a:rPr sz="1575" b="1">
                <a:solidFill>
                  <a:srgbClr val="172738"/>
                </a:solidFill>
                <a:latin typeface="Apple SD Gothic Neo"/>
                <a:ea typeface="Apple SD Gothic Neo"/>
                <a:cs typeface="Apple SD Gothic Neo"/>
              </a:rPr>
              <a:t>CH2</a:t>
            </a:r>
          </a:p>
        </p:txBody>
      </p:sp>
      <p:sp>
        <p:nvSpPr>
          <p:cNvPr id="52" name="plane-array-2">
            <a:extLst xmlns:a="http://schemas.openxmlformats.org/drawingml/2006/main">
              <a:ext uri="{FF2B5EF4-FFF2-40B4-BE49-F238E27FC236}">
                <a16:creationId xmlns:a16="http://schemas.microsoft.com/office/drawing/2014/main" id="{01A7B49D-2409-4375-AAE9-818460FBEB35}"/>
              </a:ext>
            </a:extLst>
          </p:cNvPr>
          <p:cNvSpPr>
            <a:spLocks xmlns:a="http://schemas.openxmlformats.org/drawingml/2006/main" noGrp="1"/>
          </p:cNvSpPr>
          <p:nvPr/>
        </p:nvSpPr>
        <p:spPr>
          <a:xfrm xmlns:a="http://schemas.openxmlformats.org/drawingml/2006/main">
            <a:off x="9439275" y="3857625"/>
            <a:ext cx="1924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172738"/>
                </a:solidFill>
                <a:latin typeface="Apple SD Gothic Neo"/>
                <a:ea typeface="Apple SD Gothic Neo"/>
                <a:cs typeface="Apple SD Gothic Neo"/>
              </a:defRPr>
            </a:defPPr>
          </a:lstStyle>
          <a:p xmlns:a="http://schemas.openxmlformats.org/drawingml/2006/main">
            <a:pPr>
              <a:buNone/>
              <a:defRPr sz="1650" b="0">
                <a:solidFill>
                  <a:srgbClr val="172738"/>
                </a:solidFill>
                <a:latin typeface="Apple SD Gothic Neo"/>
                <a:ea typeface="Apple SD Gothic Neo"/>
                <a:cs typeface="Apple SD Gothic Neo"/>
              </a:defRPr>
            </a:pPr>
            <a:r>
              <a:rPr sz="1650" b="0">
                <a:solidFill>
                  <a:srgbClr val="172738"/>
                </a:solidFill>
                <a:latin typeface="Apple SD Gothic Neo"/>
                <a:ea typeface="Apple SD Gothic Neo"/>
                <a:cs typeface="Apple SD Gothic Neo"/>
              </a:rPr>
              <a:t>Plane 0 … 15</a:t>
            </a:r>
          </a:p>
        </p:txBody>
      </p:sp>
      <p:sp>
        <p:nvSpPr>
          <p:cNvPr id="53" name="channel-3">
            <a:extLst xmlns:a="http://schemas.openxmlformats.org/drawingml/2006/main">
              <a:ext uri="{FF2B5EF4-FFF2-40B4-BE49-F238E27FC236}">
                <a16:creationId xmlns:a16="http://schemas.microsoft.com/office/drawing/2014/main" id="{7B164DE2-5C56-48C6-B506-81D1330517D0}"/>
              </a:ext>
            </a:extLst>
          </p:cNvPr>
          <p:cNvSpPr>
            <a:spLocks xmlns:a="http://schemas.openxmlformats.org/drawingml/2006/main" noGrp="1"/>
          </p:cNvSpPr>
          <p:nvPr/>
        </p:nvSpPr>
        <p:spPr>
          <a:xfrm xmlns:a="http://schemas.openxmlformats.org/drawingml/2006/main">
            <a:off x="8715375" y="4286250"/>
            <a:ext cx="2686050" cy="361950"/>
          </a:xfrm>
          <a:prstGeom xmlns:a="http://schemas.openxmlformats.org/drawingml/2006/main" prst="rect">
            <a:avLst/>
          </a:prstGeom>
          <a:solidFill xmlns:a="http://schemas.openxmlformats.org/drawingml/2006/main">
            <a:srgbClr val="FFFFFF"/>
          </a:solidFill>
          <a:ln xmlns:a="http://schemas.openxmlformats.org/drawingml/2006/main" w="14288">
            <a:solidFill>
              <a:srgbClr val="9AA9B5"/>
            </a:solidFill>
            <a:prstDash val="solid"/>
          </a:ln>
        </p:spPr>
        <p:txBody>
          <a:bodyPr xmlns:a="http://schemas.openxmlformats.org/drawingml/2006/main"/>
          <a:lstStyle xmlns:a="http://schemas.openxmlformats.org/drawingml/2006/main"/>
          <a:p xmlns:a="http://schemas.openxmlformats.org/drawingml/2006/main">
            <a:endParaRPr/>
          </a:p>
        </p:txBody>
      </p:sp>
      <p:sp>
        <p:nvSpPr>
          <p:cNvPr id="54" name="channel-label-bg-3">
            <a:extLst xmlns:a="http://schemas.openxmlformats.org/drawingml/2006/main">
              <a:ext uri="{FF2B5EF4-FFF2-40B4-BE49-F238E27FC236}">
                <a16:creationId xmlns:a16="http://schemas.microsoft.com/office/drawing/2014/main" id="{41CBC28C-C115-4B4A-B275-75B136B0753F}"/>
              </a:ext>
            </a:extLst>
          </p:cNvPr>
          <p:cNvSpPr>
            <a:spLocks xmlns:a="http://schemas.openxmlformats.org/drawingml/2006/main" noGrp="1"/>
          </p:cNvSpPr>
          <p:nvPr/>
        </p:nvSpPr>
        <p:spPr>
          <a:xfrm xmlns:a="http://schemas.openxmlformats.org/drawingml/2006/main">
            <a:off x="8715375" y="4286250"/>
            <a:ext cx="600075" cy="361950"/>
          </a:xfrm>
          <a:prstGeom xmlns:a="http://schemas.openxmlformats.org/drawingml/2006/main" prst="rect">
            <a:avLst/>
          </a:prstGeom>
          <a:solidFill xmlns:a="http://schemas.openxmlformats.org/drawingml/2006/main">
            <a:srgbClr val="F1F5F8"/>
          </a:solidFill>
          <a:ln xmlns:a="http://schemas.openxmlformats.org/drawingml/2006/main" w="14288">
            <a:solidFill>
              <a:srgbClr val="9AA9B5"/>
            </a:solidFill>
            <a:prstDash val="solid"/>
          </a:ln>
        </p:spPr>
        <p:txBody>
          <a:bodyPr xmlns:a="http://schemas.openxmlformats.org/drawingml/2006/main"/>
          <a:lstStyle xmlns:a="http://schemas.openxmlformats.org/drawingml/2006/main"/>
          <a:p xmlns:a="http://schemas.openxmlformats.org/drawingml/2006/main">
            <a:endParaRPr/>
          </a:p>
        </p:txBody>
      </p:sp>
      <p:sp>
        <p:nvSpPr>
          <p:cNvPr id="55" name="channel-label-3">
            <a:extLst xmlns:a="http://schemas.openxmlformats.org/drawingml/2006/main">
              <a:ext uri="{FF2B5EF4-FFF2-40B4-BE49-F238E27FC236}">
                <a16:creationId xmlns:a16="http://schemas.microsoft.com/office/drawing/2014/main" id="{363454FE-623A-4624-953E-14C5AD599D8B}"/>
              </a:ext>
            </a:extLst>
          </p:cNvPr>
          <p:cNvSpPr>
            <a:spLocks xmlns:a="http://schemas.openxmlformats.org/drawingml/2006/main" noGrp="1"/>
          </p:cNvSpPr>
          <p:nvPr/>
        </p:nvSpPr>
        <p:spPr>
          <a:xfrm xmlns:a="http://schemas.openxmlformats.org/drawingml/2006/main">
            <a:off x="8801100" y="4343400"/>
            <a:ext cx="6000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172738"/>
                </a:solidFill>
                <a:latin typeface="Apple SD Gothic Neo"/>
                <a:ea typeface="Apple SD Gothic Neo"/>
                <a:cs typeface="Apple SD Gothic Neo"/>
              </a:defRPr>
            </a:defPPr>
          </a:lstStyle>
          <a:p xmlns:a="http://schemas.openxmlformats.org/drawingml/2006/main">
            <a:pPr>
              <a:buNone/>
              <a:defRPr sz="1575" b="1">
                <a:solidFill>
                  <a:srgbClr val="172738"/>
                </a:solidFill>
                <a:latin typeface="Apple SD Gothic Neo"/>
                <a:ea typeface="Apple SD Gothic Neo"/>
                <a:cs typeface="Apple SD Gothic Neo"/>
              </a:defRPr>
            </a:pPr>
            <a:r>
              <a:rPr sz="1575" b="1">
                <a:solidFill>
                  <a:srgbClr val="172738"/>
                </a:solidFill>
                <a:latin typeface="Apple SD Gothic Neo"/>
                <a:ea typeface="Apple SD Gothic Neo"/>
                <a:cs typeface="Apple SD Gothic Neo"/>
              </a:rPr>
              <a:t>CH3</a:t>
            </a:r>
          </a:p>
        </p:txBody>
      </p:sp>
      <p:sp>
        <p:nvSpPr>
          <p:cNvPr id="56" name="plane-array-3">
            <a:extLst xmlns:a="http://schemas.openxmlformats.org/drawingml/2006/main">
              <a:ext uri="{FF2B5EF4-FFF2-40B4-BE49-F238E27FC236}">
                <a16:creationId xmlns:a16="http://schemas.microsoft.com/office/drawing/2014/main" id="{92706B49-FD33-4E97-BEF6-141D246F4796}"/>
              </a:ext>
            </a:extLst>
          </p:cNvPr>
          <p:cNvSpPr>
            <a:spLocks xmlns:a="http://schemas.openxmlformats.org/drawingml/2006/main" noGrp="1"/>
          </p:cNvSpPr>
          <p:nvPr/>
        </p:nvSpPr>
        <p:spPr>
          <a:xfrm xmlns:a="http://schemas.openxmlformats.org/drawingml/2006/main">
            <a:off x="9439275" y="4343400"/>
            <a:ext cx="1924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172738"/>
                </a:solidFill>
                <a:latin typeface="Apple SD Gothic Neo"/>
                <a:ea typeface="Apple SD Gothic Neo"/>
                <a:cs typeface="Apple SD Gothic Neo"/>
              </a:defRPr>
            </a:defPPr>
          </a:lstStyle>
          <a:p xmlns:a="http://schemas.openxmlformats.org/drawingml/2006/main">
            <a:pPr>
              <a:buNone/>
              <a:defRPr sz="1650" b="0">
                <a:solidFill>
                  <a:srgbClr val="172738"/>
                </a:solidFill>
                <a:latin typeface="Apple SD Gothic Neo"/>
                <a:ea typeface="Apple SD Gothic Neo"/>
                <a:cs typeface="Apple SD Gothic Neo"/>
              </a:defRPr>
            </a:pPr>
            <a:r>
              <a:rPr sz="1650" b="0">
                <a:solidFill>
                  <a:srgbClr val="172738"/>
                </a:solidFill>
                <a:latin typeface="Apple SD Gothic Neo"/>
                <a:ea typeface="Apple SD Gothic Neo"/>
                <a:cs typeface="Apple SD Gothic Neo"/>
              </a:rPr>
              <a:t>Plane 0 … 15</a:t>
            </a:r>
          </a:p>
        </p:txBody>
      </p:sp>
      <p:sp>
        <p:nvSpPr>
          <p:cNvPr id="57" name="nand-output-unit">
            <a:extLst xmlns:a="http://schemas.openxmlformats.org/drawingml/2006/main">
              <a:ext uri="{FF2B5EF4-FFF2-40B4-BE49-F238E27FC236}">
                <a16:creationId xmlns:a16="http://schemas.microsoft.com/office/drawing/2014/main" id="{2C3DB28A-5EF0-462C-BD3D-A33347B5C83D}"/>
              </a:ext>
            </a:extLst>
          </p:cNvPr>
          <p:cNvSpPr>
            <a:spLocks xmlns:a="http://schemas.openxmlformats.org/drawingml/2006/main" noGrp="1"/>
          </p:cNvSpPr>
          <p:nvPr/>
        </p:nvSpPr>
        <p:spPr>
          <a:xfrm xmlns:a="http://schemas.openxmlformats.org/drawingml/2006/main">
            <a:off x="9267825" y="4724400"/>
            <a:ext cx="2209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008B82"/>
                </a:solidFill>
                <a:latin typeface="Apple SD Gothic Neo"/>
                <a:ea typeface="Apple SD Gothic Neo"/>
                <a:cs typeface="Apple SD Gothic Neo"/>
              </a:defRPr>
            </a:defPPr>
          </a:lstStyle>
          <a:p xmlns:a="http://schemas.openxmlformats.org/drawingml/2006/main">
            <a:pPr>
              <a:buNone/>
              <a:defRPr sz="1575" b="0">
                <a:solidFill>
                  <a:srgbClr val="008B82"/>
                </a:solidFill>
                <a:latin typeface="Apple SD Gothic Neo"/>
                <a:ea typeface="Apple SD Gothic Neo"/>
                <a:cs typeface="Apple SD Gothic Neo"/>
              </a:defRPr>
            </a:pPr>
            <a:r>
              <a:rPr sz="1575" b="0">
                <a:solidFill>
                  <a:srgbClr val="008B82"/>
                </a:solidFill>
                <a:latin typeface="Apple SD Gothic Neo"/>
                <a:ea typeface="Apple SD Gothic Neo"/>
                <a:cs typeface="Apple SD Gothic Neo"/>
              </a:rPr>
              <a:t>16KiB / NAND 출력</a:t>
            </a:r>
          </a:p>
        </p:txBody>
      </p:sp>
      <p:cxnSp>
        <p:nvCxnSpPr>
          <p:cNvPr id="58" name="host-request">
            <a:extLst xmlns:a="http://schemas.openxmlformats.org/drawingml/2006/main">
              <a:ext uri="{FF2B5EF4-FFF2-40B4-BE49-F238E27FC236}">
                <a16:creationId xmlns:a16="http://schemas.microsoft.com/office/drawing/2014/main" id="{71EEDD91-CA82-4181-9478-7EDB7DE31E16}"/>
              </a:ext>
            </a:extLst>
          </p:cNvPr>
          <p:cNvCxnSpPr/>
          <p:nvPr/>
        </p:nvCxnSpPr>
        <p:spPr>
          <a:xfrm xmlns:a="http://schemas.openxmlformats.org/drawingml/2006/main">
            <a:off x="2171700" y="3114675"/>
            <a:ext cx="609600" cy="0"/>
          </a:xfrm>
          <a:prstGeom xmlns:a="http://schemas.openxmlformats.org/drawingml/2006/main" prst="straightConnector1">
            <a:avLst/>
          </a:prstGeom>
          <a:ln xmlns:a="http://schemas.openxmlformats.org/drawingml/2006/main" w="23813">
            <a:solidFill>
              <a:srgbClr val="126DCA"/>
            </a:solidFill>
            <a:prstDash val="solid"/>
            <a:tailEnd type="triangle" w="med" len="med"/>
          </a:ln>
        </p:spPr>
      </p:cxnSp>
      <p:cxnSp>
        <p:nvCxnSpPr>
          <p:cNvPr id="59" name="request-to-mapping">
            <a:extLst xmlns:a="http://schemas.openxmlformats.org/drawingml/2006/main">
              <a:ext uri="{FF2B5EF4-FFF2-40B4-BE49-F238E27FC236}">
                <a16:creationId xmlns:a16="http://schemas.microsoft.com/office/drawing/2014/main" id="{DCA795C8-0A8C-423F-A2C8-0617F4F82097}"/>
              </a:ext>
            </a:extLst>
          </p:cNvPr>
          <p:cNvCxnSpPr/>
          <p:nvPr/>
        </p:nvCxnSpPr>
        <p:spPr>
          <a:xfrm xmlns:a="http://schemas.openxmlformats.org/drawingml/2006/main">
            <a:off x="4095750" y="3114675"/>
            <a:ext cx="219075" cy="0"/>
          </a:xfrm>
          <a:prstGeom xmlns:a="http://schemas.openxmlformats.org/drawingml/2006/main" prst="straightConnector1">
            <a:avLst/>
          </a:prstGeom>
          <a:ln xmlns:a="http://schemas.openxmlformats.org/drawingml/2006/main" w="23813">
            <a:solidFill>
              <a:srgbClr val="126DCA"/>
            </a:solidFill>
            <a:prstDash val="solid"/>
            <a:tailEnd type="triangle" w="med" len="med"/>
          </a:ln>
        </p:spPr>
      </p:cxnSp>
      <p:cxnSp>
        <p:nvCxnSpPr>
          <p:cNvPr id="60" name="request-to-scheduler">
            <a:extLst xmlns:a="http://schemas.openxmlformats.org/drawingml/2006/main">
              <a:ext uri="{FF2B5EF4-FFF2-40B4-BE49-F238E27FC236}">
                <a16:creationId xmlns:a16="http://schemas.microsoft.com/office/drawing/2014/main" id="{EBA5B4B8-D50F-4F40-A1D2-E2E960DE4DBA}"/>
              </a:ext>
            </a:extLst>
          </p:cNvPr>
          <p:cNvCxnSpPr/>
          <p:nvPr/>
        </p:nvCxnSpPr>
        <p:spPr>
          <a:xfrm xmlns:a="http://schemas.openxmlformats.org/drawingml/2006/main">
            <a:off x="5829300" y="3114675"/>
            <a:ext cx="219075" cy="0"/>
          </a:xfrm>
          <a:prstGeom xmlns:a="http://schemas.openxmlformats.org/drawingml/2006/main" prst="straightConnector1">
            <a:avLst/>
          </a:prstGeom>
          <a:ln xmlns:a="http://schemas.openxmlformats.org/drawingml/2006/main" w="23813">
            <a:solidFill>
              <a:srgbClr val="126DCA"/>
            </a:solidFill>
            <a:prstDash val="solid"/>
            <a:tailEnd type="triangle" w="med" len="med"/>
          </a:ln>
        </p:spPr>
      </p:cxnSp>
      <p:cxnSp>
        <p:nvCxnSpPr>
          <p:cNvPr id="61" name="ca-to-shared-channel-bus">
            <a:extLst xmlns:a="http://schemas.openxmlformats.org/drawingml/2006/main">
              <a:ext uri="{FF2B5EF4-FFF2-40B4-BE49-F238E27FC236}">
                <a16:creationId xmlns:a16="http://schemas.microsoft.com/office/drawing/2014/main" id="{A545AF6E-D9C5-4D0D-AAF0-768541CBF864}"/>
              </a:ext>
            </a:extLst>
          </p:cNvPr>
          <p:cNvCxnSpPr/>
          <p:nvPr/>
        </p:nvCxnSpPr>
        <p:spPr>
          <a:xfrm xmlns:a="http://schemas.openxmlformats.org/drawingml/2006/main">
            <a:off x="7867650" y="3114675"/>
            <a:ext cx="381000" cy="0"/>
          </a:xfrm>
          <a:prstGeom xmlns:a="http://schemas.openxmlformats.org/drawingml/2006/main" prst="straightConnector1">
            <a:avLst/>
          </a:prstGeom>
          <a:ln xmlns:a="http://schemas.openxmlformats.org/drawingml/2006/main" w="23813">
            <a:solidFill>
              <a:srgbClr val="126DCA"/>
            </a:solidFill>
            <a:prstDash val="solid"/>
          </a:ln>
        </p:spPr>
      </p:cxnSp>
      <p:cxnSp>
        <p:nvCxnSpPr>
          <p:cNvPr id="62" name="shared-ca-bus">
            <a:extLst xmlns:a="http://schemas.openxmlformats.org/drawingml/2006/main">
              <a:ext uri="{FF2B5EF4-FFF2-40B4-BE49-F238E27FC236}">
                <a16:creationId xmlns:a16="http://schemas.microsoft.com/office/drawing/2014/main" id="{2F9F8B4E-B91B-4597-81E5-B6D2A12C6021}"/>
              </a:ext>
            </a:extLst>
          </p:cNvPr>
          <p:cNvCxnSpPr/>
          <p:nvPr/>
        </p:nvCxnSpPr>
        <p:spPr>
          <a:xfrm xmlns:a="http://schemas.openxmlformats.org/drawingml/2006/main">
            <a:off x="8248650" y="3009900"/>
            <a:ext cx="0" cy="1457325"/>
          </a:xfrm>
          <a:prstGeom xmlns:a="http://schemas.openxmlformats.org/drawingml/2006/main" prst="straightConnector1">
            <a:avLst/>
          </a:prstGeom>
          <a:ln xmlns:a="http://schemas.openxmlformats.org/drawingml/2006/main" w="23813">
            <a:solidFill>
              <a:srgbClr val="126DCA"/>
            </a:solidFill>
            <a:prstDash val="solid"/>
          </a:ln>
        </p:spPr>
      </p:cxnSp>
      <p:cxnSp>
        <p:nvCxnSpPr>
          <p:cNvPr id="63" name="ca-to-channel-0">
            <a:extLst xmlns:a="http://schemas.openxmlformats.org/drawingml/2006/main">
              <a:ext uri="{FF2B5EF4-FFF2-40B4-BE49-F238E27FC236}">
                <a16:creationId xmlns:a16="http://schemas.microsoft.com/office/drawing/2014/main" id="{C148A605-88A0-47FA-AE7E-291E713BCE02}"/>
              </a:ext>
            </a:extLst>
          </p:cNvPr>
          <p:cNvCxnSpPr/>
          <p:nvPr/>
        </p:nvCxnSpPr>
        <p:spPr>
          <a:xfrm xmlns:a="http://schemas.openxmlformats.org/drawingml/2006/main">
            <a:off x="8248650" y="3009900"/>
            <a:ext cx="466725" cy="0"/>
          </a:xfrm>
          <a:prstGeom xmlns:a="http://schemas.openxmlformats.org/drawingml/2006/main" prst="straightConnector1">
            <a:avLst/>
          </a:prstGeom>
          <a:ln xmlns:a="http://schemas.openxmlformats.org/drawingml/2006/main" w="23813">
            <a:solidFill>
              <a:srgbClr val="126DCA"/>
            </a:solidFill>
            <a:prstDash val="solid"/>
            <a:tailEnd type="triangle" w="med" len="med"/>
          </a:ln>
        </p:spPr>
      </p:cxnSp>
      <p:cxnSp>
        <p:nvCxnSpPr>
          <p:cNvPr id="64" name="ca-to-channel-1">
            <a:extLst xmlns:a="http://schemas.openxmlformats.org/drawingml/2006/main">
              <a:ext uri="{FF2B5EF4-FFF2-40B4-BE49-F238E27FC236}">
                <a16:creationId xmlns:a16="http://schemas.microsoft.com/office/drawing/2014/main" id="{7D1C09F6-4C15-4B88-AD45-CA46E31C6E0A}"/>
              </a:ext>
            </a:extLst>
          </p:cNvPr>
          <p:cNvCxnSpPr/>
          <p:nvPr/>
        </p:nvCxnSpPr>
        <p:spPr>
          <a:xfrm xmlns:a="http://schemas.openxmlformats.org/drawingml/2006/main">
            <a:off x="8248650" y="3495675"/>
            <a:ext cx="466725" cy="0"/>
          </a:xfrm>
          <a:prstGeom xmlns:a="http://schemas.openxmlformats.org/drawingml/2006/main" prst="straightConnector1">
            <a:avLst/>
          </a:prstGeom>
          <a:ln xmlns:a="http://schemas.openxmlformats.org/drawingml/2006/main" w="23813">
            <a:solidFill>
              <a:srgbClr val="126DCA"/>
            </a:solidFill>
            <a:prstDash val="solid"/>
            <a:tailEnd type="triangle" w="med" len="med"/>
          </a:ln>
        </p:spPr>
      </p:cxnSp>
      <p:cxnSp>
        <p:nvCxnSpPr>
          <p:cNvPr id="65" name="ca-to-channel-2">
            <a:extLst xmlns:a="http://schemas.openxmlformats.org/drawingml/2006/main">
              <a:ext uri="{FF2B5EF4-FFF2-40B4-BE49-F238E27FC236}">
                <a16:creationId xmlns:a16="http://schemas.microsoft.com/office/drawing/2014/main" id="{03FCC07B-5AF0-4322-8E8A-AA29DF6BAE5D}"/>
              </a:ext>
            </a:extLst>
          </p:cNvPr>
          <p:cNvCxnSpPr/>
          <p:nvPr/>
        </p:nvCxnSpPr>
        <p:spPr>
          <a:xfrm xmlns:a="http://schemas.openxmlformats.org/drawingml/2006/main">
            <a:off x="8248650" y="3981450"/>
            <a:ext cx="466725" cy="0"/>
          </a:xfrm>
          <a:prstGeom xmlns:a="http://schemas.openxmlformats.org/drawingml/2006/main" prst="straightConnector1">
            <a:avLst/>
          </a:prstGeom>
          <a:ln xmlns:a="http://schemas.openxmlformats.org/drawingml/2006/main" w="23813">
            <a:solidFill>
              <a:srgbClr val="126DCA"/>
            </a:solidFill>
            <a:prstDash val="solid"/>
            <a:tailEnd type="triangle" w="med" len="med"/>
          </a:ln>
        </p:spPr>
      </p:cxnSp>
      <p:cxnSp>
        <p:nvCxnSpPr>
          <p:cNvPr id="66" name="ca-to-channel-3">
            <a:extLst xmlns:a="http://schemas.openxmlformats.org/drawingml/2006/main">
              <a:ext uri="{FF2B5EF4-FFF2-40B4-BE49-F238E27FC236}">
                <a16:creationId xmlns:a16="http://schemas.microsoft.com/office/drawing/2014/main" id="{77565721-C4E6-4629-BE27-FB0640585BB6}"/>
              </a:ext>
            </a:extLst>
          </p:cNvPr>
          <p:cNvCxnSpPr/>
          <p:nvPr/>
        </p:nvCxnSpPr>
        <p:spPr>
          <a:xfrm xmlns:a="http://schemas.openxmlformats.org/drawingml/2006/main">
            <a:off x="8248650" y="4467225"/>
            <a:ext cx="466725" cy="0"/>
          </a:xfrm>
          <a:prstGeom xmlns:a="http://schemas.openxmlformats.org/drawingml/2006/main" prst="straightConnector1">
            <a:avLst/>
          </a:prstGeom>
          <a:ln xmlns:a="http://schemas.openxmlformats.org/drawingml/2006/main" w="23813">
            <a:solidFill>
              <a:srgbClr val="126DCA"/>
            </a:solidFill>
            <a:prstDash val="solid"/>
            <a:tailEnd type="triangle" w="med" len="med"/>
          </a:ln>
        </p:spPr>
      </p:cxnSp>
      <p:cxnSp>
        <p:nvCxnSpPr>
          <p:cNvPr id="67" name="channel-data-0">
            <a:extLst xmlns:a="http://schemas.openxmlformats.org/drawingml/2006/main">
              <a:ext uri="{FF2B5EF4-FFF2-40B4-BE49-F238E27FC236}">
                <a16:creationId xmlns:a16="http://schemas.microsoft.com/office/drawing/2014/main" id="{60515B81-8FD5-4CAD-A68B-828FD614A9D4}"/>
              </a:ext>
            </a:extLst>
          </p:cNvPr>
          <p:cNvCxnSpPr/>
          <p:nvPr/>
        </p:nvCxnSpPr>
        <p:spPr>
          <a:xfrm xmlns:a="http://schemas.openxmlformats.org/drawingml/2006/main">
            <a:off x="11401425" y="3009900"/>
            <a:ext cx="142875" cy="0"/>
          </a:xfrm>
          <a:prstGeom xmlns:a="http://schemas.openxmlformats.org/drawingml/2006/main" prst="straightConnector1">
            <a:avLst/>
          </a:prstGeom>
          <a:ln xmlns:a="http://schemas.openxmlformats.org/drawingml/2006/main" w="23813">
            <a:solidFill>
              <a:srgbClr val="008B82"/>
            </a:solidFill>
            <a:prstDash val="solid"/>
          </a:ln>
        </p:spPr>
      </p:cxnSp>
      <p:cxnSp>
        <p:nvCxnSpPr>
          <p:cNvPr id="68" name="channel-data-1">
            <a:extLst xmlns:a="http://schemas.openxmlformats.org/drawingml/2006/main">
              <a:ext uri="{FF2B5EF4-FFF2-40B4-BE49-F238E27FC236}">
                <a16:creationId xmlns:a16="http://schemas.microsoft.com/office/drawing/2014/main" id="{FCD5B55E-4285-4E78-AF62-E56759DCA9E0}"/>
              </a:ext>
            </a:extLst>
          </p:cNvPr>
          <p:cNvCxnSpPr/>
          <p:nvPr/>
        </p:nvCxnSpPr>
        <p:spPr>
          <a:xfrm xmlns:a="http://schemas.openxmlformats.org/drawingml/2006/main">
            <a:off x="11401425" y="3495675"/>
            <a:ext cx="142875" cy="0"/>
          </a:xfrm>
          <a:prstGeom xmlns:a="http://schemas.openxmlformats.org/drawingml/2006/main" prst="straightConnector1">
            <a:avLst/>
          </a:prstGeom>
          <a:ln xmlns:a="http://schemas.openxmlformats.org/drawingml/2006/main" w="23813">
            <a:solidFill>
              <a:srgbClr val="008B82"/>
            </a:solidFill>
            <a:prstDash val="solid"/>
          </a:ln>
        </p:spPr>
      </p:cxnSp>
      <p:cxnSp>
        <p:nvCxnSpPr>
          <p:cNvPr id="69" name="channel-data-2">
            <a:extLst xmlns:a="http://schemas.openxmlformats.org/drawingml/2006/main">
              <a:ext uri="{FF2B5EF4-FFF2-40B4-BE49-F238E27FC236}">
                <a16:creationId xmlns:a16="http://schemas.microsoft.com/office/drawing/2014/main" id="{5B18E2F3-FD21-4162-876C-D88E867A9982}"/>
              </a:ext>
            </a:extLst>
          </p:cNvPr>
          <p:cNvCxnSpPr/>
          <p:nvPr/>
        </p:nvCxnSpPr>
        <p:spPr>
          <a:xfrm xmlns:a="http://schemas.openxmlformats.org/drawingml/2006/main">
            <a:off x="11401425" y="3981450"/>
            <a:ext cx="142875" cy="0"/>
          </a:xfrm>
          <a:prstGeom xmlns:a="http://schemas.openxmlformats.org/drawingml/2006/main" prst="straightConnector1">
            <a:avLst/>
          </a:prstGeom>
          <a:ln xmlns:a="http://schemas.openxmlformats.org/drawingml/2006/main" w="23813">
            <a:solidFill>
              <a:srgbClr val="008B82"/>
            </a:solidFill>
            <a:prstDash val="solid"/>
          </a:ln>
        </p:spPr>
      </p:cxnSp>
      <p:cxnSp>
        <p:nvCxnSpPr>
          <p:cNvPr id="70" name="channel-data-3">
            <a:extLst xmlns:a="http://schemas.openxmlformats.org/drawingml/2006/main">
              <a:ext uri="{FF2B5EF4-FFF2-40B4-BE49-F238E27FC236}">
                <a16:creationId xmlns:a16="http://schemas.microsoft.com/office/drawing/2014/main" id="{DACC10D5-0505-4484-928D-085463221A7A}"/>
              </a:ext>
            </a:extLst>
          </p:cNvPr>
          <p:cNvCxnSpPr/>
          <p:nvPr/>
        </p:nvCxnSpPr>
        <p:spPr>
          <a:xfrm xmlns:a="http://schemas.openxmlformats.org/drawingml/2006/main">
            <a:off x="11401425" y="4467225"/>
            <a:ext cx="142875" cy="0"/>
          </a:xfrm>
          <a:prstGeom xmlns:a="http://schemas.openxmlformats.org/drawingml/2006/main" prst="straightConnector1">
            <a:avLst/>
          </a:prstGeom>
          <a:ln xmlns:a="http://schemas.openxmlformats.org/drawingml/2006/main" w="23813">
            <a:solidFill>
              <a:srgbClr val="008B82"/>
            </a:solidFill>
            <a:prstDash val="solid"/>
          </a:ln>
        </p:spPr>
      </p:cxnSp>
      <p:cxnSp>
        <p:nvCxnSpPr>
          <p:cNvPr id="71" name="shared-data-bus">
            <a:extLst xmlns:a="http://schemas.openxmlformats.org/drawingml/2006/main">
              <a:ext uri="{FF2B5EF4-FFF2-40B4-BE49-F238E27FC236}">
                <a16:creationId xmlns:a16="http://schemas.microsoft.com/office/drawing/2014/main" id="{ECB8DEF3-12ED-4B5B-A04F-829958ECC2A6}"/>
              </a:ext>
            </a:extLst>
          </p:cNvPr>
          <p:cNvCxnSpPr/>
          <p:nvPr/>
        </p:nvCxnSpPr>
        <p:spPr>
          <a:xfrm xmlns:a="http://schemas.openxmlformats.org/drawingml/2006/main">
            <a:off x="11544300" y="3009900"/>
            <a:ext cx="0" cy="2047875"/>
          </a:xfrm>
          <a:prstGeom xmlns:a="http://schemas.openxmlformats.org/drawingml/2006/main" prst="straightConnector1">
            <a:avLst/>
          </a:prstGeom>
          <a:ln xmlns:a="http://schemas.openxmlformats.org/drawingml/2006/main" w="23813">
            <a:solidFill>
              <a:srgbClr val="008B82"/>
            </a:solidFill>
            <a:prstDash val="solid"/>
          </a:ln>
        </p:spPr>
      </p:cxnSp>
      <p:cxnSp>
        <p:nvCxnSpPr>
          <p:cNvPr id="72" name="nand-data-to-ecc">
            <a:extLst xmlns:a="http://schemas.openxmlformats.org/drawingml/2006/main">
              <a:ext uri="{FF2B5EF4-FFF2-40B4-BE49-F238E27FC236}">
                <a16:creationId xmlns:a16="http://schemas.microsoft.com/office/drawing/2014/main" id="{6C3FCEC8-4B9D-4F12-9EEE-EAC38EBE487D}"/>
              </a:ext>
            </a:extLst>
          </p:cNvPr>
          <p:cNvCxnSpPr/>
          <p:nvPr/>
        </p:nvCxnSpPr>
        <p:spPr>
          <a:xfrm xmlns:a="http://schemas.openxmlformats.org/drawingml/2006/main">
            <a:off x="7867650" y="5057775"/>
            <a:ext cx="3676650" cy="0"/>
          </a:xfrm>
          <a:prstGeom xmlns:a="http://schemas.openxmlformats.org/drawingml/2006/main" prst="straightConnector1">
            <a:avLst/>
          </a:prstGeom>
          <a:ln xmlns:a="http://schemas.openxmlformats.org/drawingml/2006/main" w="23813">
            <a:solidFill>
              <a:srgbClr val="008B82"/>
            </a:solidFill>
            <a:prstDash val="solid"/>
            <a:headEnd type="triangle" w="med" len="med"/>
          </a:ln>
        </p:spPr>
      </p:cxnSp>
      <p:cxnSp>
        <p:nvCxnSpPr>
          <p:cNvPr id="73" name="ecc-to-buffer">
            <a:extLst xmlns:a="http://schemas.openxmlformats.org/drawingml/2006/main">
              <a:ext uri="{FF2B5EF4-FFF2-40B4-BE49-F238E27FC236}">
                <a16:creationId xmlns:a16="http://schemas.microsoft.com/office/drawing/2014/main" id="{A2EA10F9-12E4-46A6-9ECC-B04043E0DDAB}"/>
              </a:ext>
            </a:extLst>
          </p:cNvPr>
          <p:cNvCxnSpPr/>
          <p:nvPr/>
        </p:nvCxnSpPr>
        <p:spPr>
          <a:xfrm xmlns:a="http://schemas.openxmlformats.org/drawingml/2006/main">
            <a:off x="6143625" y="4914900"/>
            <a:ext cx="533400" cy="0"/>
          </a:xfrm>
          <a:prstGeom xmlns:a="http://schemas.openxmlformats.org/drawingml/2006/main" prst="straightConnector1">
            <a:avLst/>
          </a:prstGeom>
          <a:ln xmlns:a="http://schemas.openxmlformats.org/drawingml/2006/main" w="23813">
            <a:solidFill>
              <a:srgbClr val="008B82"/>
            </a:solidFill>
            <a:prstDash val="solid"/>
            <a:headEnd type="triangle" w="med" len="med"/>
          </a:ln>
        </p:spPr>
      </p:cxnSp>
      <p:cxnSp>
        <p:nvCxnSpPr>
          <p:cNvPr id="74" name="buffer-to-host">
            <a:extLst xmlns:a="http://schemas.openxmlformats.org/drawingml/2006/main">
              <a:ext uri="{FF2B5EF4-FFF2-40B4-BE49-F238E27FC236}">
                <a16:creationId xmlns:a16="http://schemas.microsoft.com/office/drawing/2014/main" id="{E0D47575-BDE7-46C3-97A0-0D161F2411AB}"/>
              </a:ext>
            </a:extLst>
          </p:cNvPr>
          <p:cNvCxnSpPr/>
          <p:nvPr/>
        </p:nvCxnSpPr>
        <p:spPr>
          <a:xfrm xmlns:a="http://schemas.openxmlformats.org/drawingml/2006/main">
            <a:off x="2171700" y="4914900"/>
            <a:ext cx="609600" cy="0"/>
          </a:xfrm>
          <a:prstGeom xmlns:a="http://schemas.openxmlformats.org/drawingml/2006/main" prst="straightConnector1">
            <a:avLst/>
          </a:prstGeom>
          <a:ln xmlns:a="http://schemas.openxmlformats.org/drawingml/2006/main" w="23813">
            <a:solidFill>
              <a:srgbClr val="008B82"/>
            </a:solidFill>
            <a:prstDash val="solid"/>
            <a:headEnd type="triangle" w="med" len="med"/>
          </a:ln>
        </p:spPr>
      </p:cxnSp>
      <p:sp>
        <p:nvSpPr>
          <p:cNvPr id="75" name="all-to-all">
            <a:extLst xmlns:a="http://schemas.openxmlformats.org/drawingml/2006/main">
              <a:ext uri="{FF2B5EF4-FFF2-40B4-BE49-F238E27FC236}">
                <a16:creationId xmlns:a16="http://schemas.microsoft.com/office/drawing/2014/main" id="{4B12ED98-548C-460F-A7FE-50DB78333451}"/>
              </a:ext>
            </a:extLst>
          </p:cNvPr>
          <p:cNvSpPr>
            <a:spLocks xmlns:a="http://schemas.openxmlformats.org/drawingml/2006/main" noGrp="1"/>
          </p:cNvSpPr>
          <p:nvPr/>
        </p:nvSpPr>
        <p:spPr>
          <a:xfrm xmlns:a="http://schemas.openxmlformats.org/drawingml/2006/main">
            <a:off x="552450" y="5438775"/>
            <a:ext cx="110490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1">
                <a:solidFill>
                  <a:srgbClr val="172738"/>
                </a:solidFill>
                <a:latin typeface="Apple SD Gothic Neo"/>
                <a:ea typeface="Apple SD Gothic Neo"/>
                <a:cs typeface="Apple SD Gothic Neo"/>
              </a:defRPr>
            </a:defPPr>
          </a:lstStyle>
          <a:p xmlns:a="http://schemas.openxmlformats.org/drawingml/2006/main">
            <a:pPr>
              <a:buNone/>
              <a:defRPr sz="1875" b="1">
                <a:solidFill>
                  <a:srgbClr val="172738"/>
                </a:solidFill>
                <a:latin typeface="Apple SD Gothic Neo"/>
                <a:ea typeface="Apple SD Gothic Neo"/>
                <a:cs typeface="Apple SD Gothic Neo"/>
              </a:defRPr>
            </a:pPr>
            <a:r>
              <a:rPr sz="1875" b="1">
                <a:solidFill>
                  <a:srgbClr val="172738"/>
                </a:solidFill>
                <a:latin typeface="Apple SD Gothic Neo"/>
                <a:ea typeface="Apple SD Gothic Neo"/>
                <a:cs typeface="Apple SD Gothic Neo"/>
              </a:rPr>
              <a:t>모든 Port가 4채널을 공유하며, L2P 결과가 읽을 Channel과 Plane을 결정합니다.</a:t>
            </a:r>
          </a:p>
        </p:txBody>
      </p:sp>
      <p:sp>
        <p:nvSpPr>
          <p:cNvPr id="76" name="fixed-timing">
            <a:extLst xmlns:a="http://schemas.openxmlformats.org/drawingml/2006/main">
              <a:ext uri="{FF2B5EF4-FFF2-40B4-BE49-F238E27FC236}">
                <a16:creationId xmlns:a16="http://schemas.microsoft.com/office/drawing/2014/main" id="{E50D2C47-E5BF-4B82-B4E9-A0F4221F35FF}"/>
              </a:ext>
            </a:extLst>
          </p:cNvPr>
          <p:cNvSpPr>
            <a:spLocks xmlns:a="http://schemas.openxmlformats.org/drawingml/2006/main" noGrp="1"/>
          </p:cNvSpPr>
          <p:nvPr/>
        </p:nvSpPr>
        <p:spPr>
          <a:xfrm xmlns:a="http://schemas.openxmlformats.org/drawingml/2006/main">
            <a:off x="552450" y="5810250"/>
            <a:ext cx="11068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86875"/>
                </a:solidFill>
                <a:latin typeface="Apple SD Gothic Neo"/>
                <a:ea typeface="Apple SD Gothic Neo"/>
                <a:cs typeface="Apple SD Gothic Neo"/>
              </a:defRPr>
            </a:defPPr>
          </a:lstStyle>
          <a:p xmlns:a="http://schemas.openxmlformats.org/drawingml/2006/main">
            <a:pPr>
              <a:buNone/>
              <a:defRPr sz="1650" b="0">
                <a:solidFill>
                  <a:srgbClr val="586875"/>
                </a:solidFill>
                <a:latin typeface="Apple SD Gothic Neo"/>
                <a:ea typeface="Apple SD Gothic Neo"/>
                <a:cs typeface="Apple SD Gothic Neo"/>
              </a:defRPr>
            </a:pPr>
            <a:r>
              <a:rPr sz="1650" b="0">
                <a:solidFill>
                  <a:srgbClr val="586875"/>
                </a:solidFill>
                <a:latin typeface="Apple SD Gothic Neo"/>
                <a:ea typeface="Apple SD Gothic Neo"/>
                <a:cs typeface="Apple SD Gothic Neo"/>
              </a:rPr>
              <a:t>비교 고정: tR S/M/L = 2.00 / 2.08 / 12.16µs (First/Group 20.69µs) · 가용률 85%</a:t>
            </a:r>
          </a:p>
        </p:txBody>
      </p:sp>
      <p:sp>
        <p:nvSpPr>
          <p:cNvPr id="77" name="fixed-geometry">
            <a:extLst xmlns:a="http://schemas.openxmlformats.org/drawingml/2006/main">
              <a:ext uri="{FF2B5EF4-FFF2-40B4-BE49-F238E27FC236}">
                <a16:creationId xmlns:a16="http://schemas.microsoft.com/office/drawing/2014/main" id="{220E20F7-253F-488F-9E33-3DA525708E59}"/>
              </a:ext>
            </a:extLst>
          </p:cNvPr>
          <p:cNvSpPr>
            <a:spLocks xmlns:a="http://schemas.openxmlformats.org/drawingml/2006/main" noGrp="1"/>
          </p:cNvSpPr>
          <p:nvPr/>
        </p:nvSpPr>
        <p:spPr>
          <a:xfrm xmlns:a="http://schemas.openxmlformats.org/drawingml/2006/main">
            <a:off x="552450" y="6105525"/>
            <a:ext cx="11068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86875"/>
                </a:solidFill>
                <a:latin typeface="Apple SD Gothic Neo"/>
                <a:ea typeface="Apple SD Gothic Neo"/>
                <a:cs typeface="Apple SD Gothic Neo"/>
              </a:defRPr>
            </a:defPPr>
          </a:lstStyle>
          <a:p xmlns:a="http://schemas.openxmlformats.org/drawingml/2006/main">
            <a:pPr>
              <a:buNone/>
              <a:defRPr sz="1650" b="0">
                <a:solidFill>
                  <a:srgbClr val="586875"/>
                </a:solidFill>
                <a:latin typeface="Apple SD Gothic Neo"/>
                <a:ea typeface="Apple SD Gothic Neo"/>
                <a:cs typeface="Apple SD Gothic Neo"/>
              </a:defRPr>
            </a:pPr>
            <a:r>
              <a:rPr sz="1650" b="0">
                <a:solidFill>
                  <a:srgbClr val="586875"/>
                </a:solidFill>
                <a:latin typeface="Apple SD Gothic Neo"/>
                <a:ea typeface="Apple SD Gothic Neo"/>
                <a:cs typeface="Apple SD Gothic Neo"/>
              </a:rPr>
              <a:t>물리 Page 16KiB · Plane당 page buffer 1개 · 현재 4 Port의 Host IF 합계 256GB/s</a:t>
            </a:r>
          </a:p>
        </p:txBody>
      </p:sp>
    </p:spTree>
    <p:extLst>
      <p:ext uri="{BB962C8B-B14F-4D97-AF65-F5344CB8AC3E}">
        <p14:creationId xmlns:p14="http://schemas.microsoft.com/office/powerpoint/2010/main" val="532026205"/>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itle">
            <a:extLst xmlns:a="http://schemas.openxmlformats.org/drawingml/2006/main">
              <a:ext uri="{FF2B5EF4-FFF2-40B4-BE49-F238E27FC236}">
                <a16:creationId xmlns:a16="http://schemas.microsoft.com/office/drawing/2014/main" id="{482DF5B5-07D4-410B-BE5B-185CC219A601}"/>
              </a:ext>
            </a:extLst>
          </p:cNvPr>
          <p:cNvSpPr>
            <a:spLocks xmlns:a="http://schemas.openxmlformats.org/drawingml/2006/main" noGrp="1"/>
          </p:cNvSpPr>
          <p:nvPr/>
        </p:nvSpPr>
        <p:spPr>
          <a:xfrm xmlns:a="http://schemas.openxmlformats.org/drawingml/2006/main">
            <a:off x="533400" y="438150"/>
            <a:ext cx="11125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2738"/>
                </a:solidFill>
                <a:latin typeface="Apple SD Gothic Neo"/>
                <a:ea typeface="Apple SD Gothic Neo"/>
                <a:cs typeface="Apple SD Gothic Neo"/>
              </a:defRPr>
            </a:defPPr>
          </a:lstStyle>
          <a:p xmlns:a="http://schemas.openxmlformats.org/drawingml/2006/main">
            <a:pPr>
              <a:buNone/>
              <a:defRPr sz="3300" b="1">
                <a:solidFill>
                  <a:srgbClr val="172738"/>
                </a:solidFill>
                <a:latin typeface="Apple SD Gothic Neo"/>
                <a:ea typeface="Apple SD Gothic Neo"/>
                <a:cs typeface="Apple SD Gothic Neo"/>
              </a:defRPr>
            </a:pPr>
            <a:r>
              <a:rPr sz="3300" b="1">
                <a:solidFill>
                  <a:srgbClr val="172738"/>
                </a:solidFill>
                <a:latin typeface="Apple SD Gothic Neo"/>
                <a:ea typeface="Apple SD Gothic Neo"/>
                <a:cs typeface="Apple SD Gothic Neo"/>
              </a:rPr>
              <a:t>zNAND의 tR 특성과 선택 조건</a:t>
            </a:r>
          </a:p>
        </p:txBody>
      </p:sp>
      <p:sp>
        <p:nvSpPr>
          <p:cNvPr id="2" name="subtitle">
            <a:extLst xmlns:a="http://schemas.openxmlformats.org/drawingml/2006/main">
              <a:ext uri="{FF2B5EF4-FFF2-40B4-BE49-F238E27FC236}">
                <a16:creationId xmlns:a16="http://schemas.microsoft.com/office/drawing/2014/main" id="{01EB110A-11C7-4BDF-A49B-EBEC6E5ECEB6}"/>
              </a:ext>
            </a:extLst>
          </p:cNvPr>
          <p:cNvSpPr>
            <a:spLocks xmlns:a="http://schemas.openxmlformats.org/drawingml/2006/main" noGrp="1"/>
          </p:cNvSpPr>
          <p:nvPr/>
        </p:nvSpPr>
        <p:spPr>
          <a:xfrm xmlns:a="http://schemas.openxmlformats.org/drawingml/2006/main">
            <a:off x="552450" y="1104900"/>
            <a:ext cx="110871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586875"/>
                </a:solidFill>
                <a:latin typeface="Apple SD Gothic Neo"/>
                <a:ea typeface="Apple SD Gothic Neo"/>
                <a:cs typeface="Apple SD Gothic Neo"/>
              </a:defRPr>
            </a:defPPr>
          </a:lstStyle>
          <a:p xmlns:a="http://schemas.openxmlformats.org/drawingml/2006/main">
            <a:pPr>
              <a:buNone/>
              <a:defRPr sz="1800" b="0">
                <a:solidFill>
                  <a:srgbClr val="586875"/>
                </a:solidFill>
                <a:latin typeface="Apple SD Gothic Neo"/>
                <a:ea typeface="Apple SD Gothic Neo"/>
                <a:cs typeface="Apple SD Gothic Neo"/>
              </a:defRPr>
            </a:pPr>
            <a:r>
              <a:rPr sz="1800" b="0">
                <a:solidFill>
                  <a:srgbClr val="586875"/>
                </a:solidFill>
                <a:latin typeface="Apple SD Gothic Neo"/>
                <a:ea typeface="Apple SD Gothic Neo"/>
                <a:cs typeface="Apple SD Gothic Neo"/>
              </a:rPr>
              <a:t>tR은 NAND sensing 시간입니다. 같은 Plane의 직전 sensing 주소와 다음 물리 주소로 판정합니다.</a:t>
            </a:r>
          </a:p>
        </p:txBody>
      </p:sp>
      <p:sp>
        <p:nvSpPr>
          <p:cNvPr id="3" name="footer">
            <a:extLst xmlns:a="http://schemas.openxmlformats.org/drawingml/2006/main">
              <a:ext uri="{FF2B5EF4-FFF2-40B4-BE49-F238E27FC236}">
                <a16:creationId xmlns:a16="http://schemas.microsoft.com/office/drawing/2014/main" id="{891C2EDD-E4F8-4F08-B270-EC0854AC8DD3}"/>
              </a:ext>
            </a:extLst>
          </p:cNvPr>
          <p:cNvSpPr>
            <a:spLocks xmlns:a="http://schemas.openxmlformats.org/drawingml/2006/main" noGrp="1"/>
          </p:cNvSpPr>
          <p:nvPr/>
        </p:nvSpPr>
        <p:spPr>
          <a:xfrm xmlns:a="http://schemas.openxmlformats.org/drawingml/2006/main">
            <a:off x="533400" y="6419850"/>
            <a:ext cx="10477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86875"/>
                </a:solidFill>
                <a:latin typeface="Apple SD Gothic Neo"/>
                <a:ea typeface="Apple SD Gothic Neo"/>
                <a:cs typeface="Apple SD Gothic Neo"/>
              </a:defRPr>
            </a:defPPr>
          </a:lstStyle>
          <a:p xmlns:a="http://schemas.openxmlformats.org/drawingml/2006/main">
            <a:pPr>
              <a:buNone/>
              <a:defRPr sz="1200" b="0">
                <a:solidFill>
                  <a:srgbClr val="586875"/>
                </a:solidFill>
                <a:latin typeface="Apple SD Gothic Neo"/>
                <a:ea typeface="Apple SD Gothic Neo"/>
                <a:cs typeface="Apple SD Gothic Neo"/>
              </a:defRPr>
            </a:pPr>
            <a:r>
              <a:rPr sz="1200" b="0">
                <a:solidFill>
                  <a:srgbClr val="586875"/>
                </a:solidFill>
                <a:latin typeface="Apple SD Gothic Neo"/>
                <a:ea typeface="Apple SD Gothic Neo"/>
                <a:cs typeface="Apple SD Gothic Neo"/>
              </a:rPr>
              <a:t>현재 모델 입력값    성능 개선 실험에서 tR 상수는 유지    근거: model.py와 튜닝 문서</a:t>
            </a:r>
          </a:p>
        </p:txBody>
      </p:sp>
      <p:sp>
        <p:nvSpPr>
          <p:cNvPr id="4" name="page">
            <a:extLst xmlns:a="http://schemas.openxmlformats.org/drawingml/2006/main">
              <a:ext uri="{FF2B5EF4-FFF2-40B4-BE49-F238E27FC236}">
                <a16:creationId xmlns:a16="http://schemas.microsoft.com/office/drawing/2014/main" id="{B9606577-0E25-4162-96AC-B1B486227682}"/>
              </a:ext>
            </a:extLst>
          </p:cNvPr>
          <p:cNvSpPr>
            <a:spLocks xmlns:a="http://schemas.openxmlformats.org/drawingml/2006/main" noGrp="1"/>
          </p:cNvSpPr>
          <p:nvPr/>
        </p:nvSpPr>
        <p:spPr>
          <a:xfrm xmlns:a="http://schemas.openxmlformats.org/drawingml/2006/main">
            <a:off x="11144250" y="6419850"/>
            <a:ext cx="4953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86875"/>
                </a:solidFill>
                <a:latin typeface="Apple SD Gothic Neo"/>
                <a:ea typeface="Apple SD Gothic Neo"/>
                <a:cs typeface="Apple SD Gothic Neo"/>
              </a:defRPr>
            </a:defPPr>
          </a:lstStyle>
          <a:p xmlns:a="http://schemas.openxmlformats.org/drawingml/2006/main">
            <a:pPr>
              <a:buNone/>
              <a:defRPr sz="1200" b="0">
                <a:solidFill>
                  <a:srgbClr val="586875"/>
                </a:solidFill>
                <a:latin typeface="Apple SD Gothic Neo"/>
                <a:ea typeface="Apple SD Gothic Neo"/>
                <a:cs typeface="Apple SD Gothic Neo"/>
              </a:defRPr>
            </a:pPr>
            <a:r>
              <a:rPr sz="1200" b="0">
                <a:solidFill>
                  <a:srgbClr val="586875"/>
                </a:solidFill>
                <a:latin typeface="Apple SD Gothic Neo"/>
                <a:ea typeface="Apple SD Gothic Neo"/>
                <a:cs typeface="Apple SD Gothic Neo"/>
              </a:rPr>
              <a:t>02</a:t>
            </a:r>
          </a:p>
        </p:txBody>
      </p:sp>
      <p:graphicFrame>
        <p:nvGraphicFramePr>
          <p:cNvPr id="5" name="tr-classification">
            <a:extLst xmlns:a="http://schemas.openxmlformats.org/drawingml/2006/main">
              <a:ext uri="{FF2B5EF4-FFF2-40B4-BE49-F238E27FC236}">
                <a16:creationId xmlns:a16="http://schemas.microsoft.com/office/drawing/2014/main" id="{38DD1268-6961-488D-B6AF-BC3CA303CE21}"/>
              </a:ext>
            </a:extLst>
          </p:cNvPr>
          <p:cNvGraphicFramePr/>
          <p:nvPr/>
        </p:nvGraphicFramePr>
        <p:xfrm>
          <a:off xmlns:a="http://schemas.openxmlformats.org/drawingml/2006/main" x="533400" y="1790700"/>
          <a:ext xmlns:a="http://schemas.openxmlformats.org/drawingml/2006/main" cx="11125200" cy="2914650"/>
        </p:xfrm>
        <a:graphic xmlns:a="http://schemas.openxmlformats.org/drawingml/2006/main">
          <a:graphicData uri="http://schemas.openxmlformats.org/drawingml/2006/table">
            <a:tbl>
              <a:tblPr/>
              <a:tblGrid>
                <a:gridCol w="1238250"/>
                <a:gridCol w="1276350"/>
                <a:gridCol w="4953000"/>
                <a:gridCol w="3657600"/>
              </a:tblGrid>
              <a:tr h="485775">
                <a:tc>
                  <a:txBody>
                    <a:bodyPr/>
                    <a:lstStyle/>
                    <a:p>
                      <a:r>
                        <a:rPr sz="1650" b="1">
                          <a:solidFill>
                            <a:srgbClr val="FFFFFF"/>
                          </a:solidFill>
                          <a:latin typeface="Apple SD Gothic Neo"/>
                          <a:ea typeface="Apple SD Gothic Neo"/>
                          <a:cs typeface="Apple SD Gothic Neo"/>
                        </a:rPr>
                        <a:t>종류</a:t>
                      </a:r>
                    </a:p>
                  </a:txBody>
                  <a:tcPr marL="133350" marR="133350" marT="95250" marB="95250" anchor="ctr">
                    <a:solidFill>
                      <a:srgbClr val="122C40"/>
                    </a:solidFill>
                  </a:tcPr>
                </a:tc>
                <a:tc>
                  <a:txBody>
                    <a:bodyPr/>
                    <a:lstStyle/>
                    <a:p>
                      <a:r>
                        <a:rPr sz="1650" b="1">
                          <a:solidFill>
                            <a:srgbClr val="FFFFFF"/>
                          </a:solidFill>
                          <a:latin typeface="Apple SD Gothic Neo"/>
                          <a:ea typeface="Apple SD Gothic Neo"/>
                          <a:cs typeface="Apple SD Gothic Neo"/>
                        </a:rPr>
                        <a:t>tR (µs)</a:t>
                      </a:r>
                    </a:p>
                  </a:txBody>
                  <a:tcPr marL="133350" marR="133350" marT="95250" marB="95250" anchor="ctr">
                    <a:solidFill>
                      <a:srgbClr val="122C40"/>
                    </a:solidFill>
                  </a:tcPr>
                </a:tc>
                <a:tc>
                  <a:txBody>
                    <a:bodyPr/>
                    <a:lstStyle/>
                    <a:p>
                      <a:r>
                        <a:rPr sz="1650" b="1">
                          <a:solidFill>
                            <a:srgbClr val="FFFFFF"/>
                          </a:solidFill>
                          <a:latin typeface="Apple SD Gothic Neo"/>
                          <a:ea typeface="Apple SD Gothic Neo"/>
                          <a:cs typeface="Apple SD Gothic Neo"/>
                        </a:rPr>
                        <a:t>현재 모델의 적용 조건</a:t>
                      </a:r>
                    </a:p>
                  </a:txBody>
                  <a:tcPr marL="133350" marR="133350" marT="95250" marB="95250" anchor="ctr">
                    <a:solidFill>
                      <a:srgbClr val="122C40"/>
                    </a:solidFill>
                  </a:tcPr>
                </a:tc>
                <a:tc>
                  <a:txBody>
                    <a:bodyPr/>
                    <a:lstStyle/>
                    <a:p>
                      <a:r>
                        <a:rPr sz="1650" b="1">
                          <a:solidFill>
                            <a:srgbClr val="FFFFFF"/>
                          </a:solidFill>
                          <a:latin typeface="Apple SD Gothic Neo"/>
                          <a:ea typeface="Apple SD Gothic Neo"/>
                          <a:cs typeface="Apple SD Gothic Neo"/>
                        </a:rPr>
                        <a:t>예시: Plane 내부 물리 순번 q</a:t>
                      </a:r>
                    </a:p>
                  </a:txBody>
                  <a:tcPr marL="133350" marR="133350" marT="95250" marB="95250" anchor="ctr">
                    <a:solidFill>
                      <a:srgbClr val="122C40"/>
                    </a:solidFill>
                  </a:tcPr>
                </a:tc>
              </a:tr>
              <a:tr h="485775">
                <a:tc>
                  <a:txBody>
                    <a:bodyPr/>
                    <a:lstStyle/>
                    <a:p>
                      <a:r>
                        <a:rPr sz="1650" b="0">
                          <a:solidFill>
                            <a:srgbClr val="172738"/>
                          </a:solidFill>
                          <a:latin typeface="Apple SD Gothic Neo"/>
                          <a:ea typeface="Apple SD Gothic Neo"/>
                          <a:cs typeface="Apple SD Gothic Neo"/>
                        </a:rPr>
                        <a:t>First</a:t>
                      </a:r>
                    </a:p>
                  </a:txBody>
                  <a:tcPr marL="133350" marR="133350" marT="95250" marB="95250" anchor="ctr">
                    <a:solidFill>
                      <a:srgbClr val="FFFFFF"/>
                    </a:solidFill>
                  </a:tcPr>
                </a:tc>
                <a:tc>
                  <a:txBody>
                    <a:bodyPr/>
                    <a:lstStyle/>
                    <a:p>
                      <a:r>
                        <a:rPr sz="1650" b="0">
                          <a:solidFill>
                            <a:srgbClr val="172738"/>
                          </a:solidFill>
                          <a:latin typeface="Apple SD Gothic Neo"/>
                          <a:ea typeface="Apple SD Gothic Neo"/>
                          <a:cs typeface="Apple SD Gothic Neo"/>
                        </a:rPr>
                        <a:t>20.69</a:t>
                      </a:r>
                    </a:p>
                  </a:txBody>
                  <a:tcPr marL="133350" marR="133350" marT="95250" marB="95250" anchor="ctr">
                    <a:solidFill>
                      <a:srgbClr val="FFFFFF"/>
                    </a:solidFill>
                  </a:tcPr>
                </a:tc>
                <a:tc>
                  <a:txBody>
                    <a:bodyPr/>
                    <a:lstStyle/>
                    <a:p>
                      <a:r>
                        <a:rPr sz="1650" b="0">
                          <a:solidFill>
                            <a:srgbClr val="172738"/>
                          </a:solidFill>
                          <a:latin typeface="Apple SD Gothic Neo"/>
                          <a:ea typeface="Apple SD Gothic Neo"/>
                          <a:cs typeface="Apple SD Gothic Neo"/>
                        </a:rPr>
                        <a:t>해당 Plane의 이전 sensing 이력이 없음</a:t>
                      </a:r>
                    </a:p>
                  </a:txBody>
                  <a:tcPr marL="133350" marR="133350" marT="95250" marB="95250" anchor="ctr">
                    <a:solidFill>
                      <a:srgbClr val="FFFFFF"/>
                    </a:solidFill>
                  </a:tcPr>
                </a:tc>
                <a:tc>
                  <a:txBody>
                    <a:bodyPr/>
                    <a:lstStyle/>
                    <a:p>
                      <a:r>
                        <a:rPr sz="1650" b="0">
                          <a:solidFill>
                            <a:srgbClr val="172738"/>
                          </a:solidFill>
                          <a:latin typeface="Apple SD Gothic Neo"/>
                          <a:ea typeface="Apple SD Gothic Neo"/>
                          <a:cs typeface="Apple SD Gothic Neo"/>
                        </a:rPr>
                        <a:t>그 Plane의 최초 sensing</a:t>
                      </a:r>
                    </a:p>
                  </a:txBody>
                  <a:tcPr marL="133350" marR="133350" marT="95250" marB="95250" anchor="ctr">
                    <a:solidFill>
                      <a:srgbClr val="FFFFFF"/>
                    </a:solidFill>
                  </a:tcPr>
                </a:tc>
              </a:tr>
              <a:tr h="485775">
                <a:tc>
                  <a:txBody>
                    <a:bodyPr/>
                    <a:lstStyle/>
                    <a:p>
                      <a:r>
                        <a:rPr sz="1650" b="0">
                          <a:solidFill>
                            <a:srgbClr val="172738"/>
                          </a:solidFill>
                          <a:latin typeface="Apple SD Gothic Neo"/>
                          <a:ea typeface="Apple SD Gothic Neo"/>
                          <a:cs typeface="Apple SD Gothic Neo"/>
                        </a:rPr>
                        <a:t>Short</a:t>
                      </a:r>
                    </a:p>
                  </a:txBody>
                  <a:tcPr marL="133350" marR="133350" marT="95250" marB="95250" anchor="ctr">
                    <a:solidFill>
                      <a:srgbClr val="F1F5F8"/>
                    </a:solidFill>
                  </a:tcPr>
                </a:tc>
                <a:tc>
                  <a:txBody>
                    <a:bodyPr/>
                    <a:lstStyle/>
                    <a:p>
                      <a:r>
                        <a:rPr sz="1650" b="0">
                          <a:solidFill>
                            <a:srgbClr val="172738"/>
                          </a:solidFill>
                          <a:latin typeface="Apple SD Gothic Neo"/>
                          <a:ea typeface="Apple SD Gothic Neo"/>
                          <a:cs typeface="Apple SD Gothic Neo"/>
                        </a:rPr>
                        <a:t>2.00</a:t>
                      </a:r>
                    </a:p>
                  </a:txBody>
                  <a:tcPr marL="133350" marR="133350" marT="95250" marB="95250" anchor="ctr">
                    <a:solidFill>
                      <a:srgbClr val="F1F5F8"/>
                    </a:solidFill>
                  </a:tcPr>
                </a:tc>
                <a:tc>
                  <a:txBody>
                    <a:bodyPr/>
                    <a:lstStyle/>
                    <a:p>
                      <a:r>
                        <a:rPr sz="1650" b="0">
                          <a:solidFill>
                            <a:srgbClr val="172738"/>
                          </a:solidFill>
                          <a:latin typeface="Apple SD Gothic Neo"/>
                          <a:ea typeface="Apple SD Gothic Neo"/>
                          <a:cs typeface="Apple SD Gothic Neo"/>
                        </a:rPr>
                        <a:t>같은 Group의 q+1, 목적지 q가 홀수</a:t>
                      </a:r>
                    </a:p>
                  </a:txBody>
                  <a:tcPr marL="133350" marR="133350" marT="95250" marB="95250" anchor="ctr">
                    <a:solidFill>
                      <a:srgbClr val="F1F5F8"/>
                    </a:solidFill>
                  </a:tcPr>
                </a:tc>
                <a:tc>
                  <a:txBody>
                    <a:bodyPr/>
                    <a:lstStyle/>
                    <a:p>
                      <a:r>
                        <a:rPr sz="1650" b="0">
                          <a:solidFill>
                            <a:srgbClr val="172738"/>
                          </a:solidFill>
                          <a:latin typeface="Apple SD Gothic Neo"/>
                          <a:ea typeface="Apple SD Gothic Neo"/>
                          <a:cs typeface="Apple SD Gothic Neo"/>
                        </a:rPr>
                        <a:t>q0→1: 같은 SSL의 E/O 0→1</a:t>
                      </a:r>
                    </a:p>
                  </a:txBody>
                  <a:tcPr marL="133350" marR="133350" marT="95250" marB="95250" anchor="ctr">
                    <a:solidFill>
                      <a:srgbClr val="F1F5F8"/>
                    </a:solidFill>
                  </a:tcPr>
                </a:tc>
              </a:tr>
              <a:tr h="485775">
                <a:tc>
                  <a:txBody>
                    <a:bodyPr/>
                    <a:lstStyle/>
                    <a:p>
                      <a:r>
                        <a:rPr sz="1650" b="0">
                          <a:solidFill>
                            <a:srgbClr val="172738"/>
                          </a:solidFill>
                          <a:latin typeface="Apple SD Gothic Neo"/>
                          <a:ea typeface="Apple SD Gothic Neo"/>
                          <a:cs typeface="Apple SD Gothic Neo"/>
                        </a:rPr>
                        <a:t>Mid</a:t>
                      </a:r>
                    </a:p>
                  </a:txBody>
                  <a:tcPr marL="133350" marR="133350" marT="95250" marB="95250" anchor="ctr">
                    <a:solidFill>
                      <a:srgbClr val="FFFFFF"/>
                    </a:solidFill>
                  </a:tcPr>
                </a:tc>
                <a:tc>
                  <a:txBody>
                    <a:bodyPr/>
                    <a:lstStyle/>
                    <a:p>
                      <a:r>
                        <a:rPr sz="1650" b="0">
                          <a:solidFill>
                            <a:srgbClr val="172738"/>
                          </a:solidFill>
                          <a:latin typeface="Apple SD Gothic Neo"/>
                          <a:ea typeface="Apple SD Gothic Neo"/>
                          <a:cs typeface="Apple SD Gothic Neo"/>
                        </a:rPr>
                        <a:t>2.08</a:t>
                      </a:r>
                    </a:p>
                  </a:txBody>
                  <a:tcPr marL="133350" marR="133350" marT="95250" marB="95250" anchor="ctr">
                    <a:solidFill>
                      <a:srgbClr val="FFFFFF"/>
                    </a:solidFill>
                  </a:tcPr>
                </a:tc>
                <a:tc>
                  <a:txBody>
                    <a:bodyPr/>
                    <a:lstStyle/>
                    <a:p>
                      <a:r>
                        <a:rPr sz="1650" b="0">
                          <a:solidFill>
                            <a:srgbClr val="172738"/>
                          </a:solidFill>
                          <a:latin typeface="Apple SD Gothic Neo"/>
                          <a:ea typeface="Apple SD Gothic Neo"/>
                          <a:cs typeface="Apple SD Gothic Neo"/>
                        </a:rPr>
                        <a:t>같은 Group의 q+1, 목적지 q가 짝수</a:t>
                      </a:r>
                    </a:p>
                  </a:txBody>
                  <a:tcPr marL="133350" marR="133350" marT="95250" marB="95250" anchor="ctr">
                    <a:solidFill>
                      <a:srgbClr val="FFFFFF"/>
                    </a:solidFill>
                  </a:tcPr>
                </a:tc>
                <a:tc>
                  <a:txBody>
                    <a:bodyPr/>
                    <a:lstStyle/>
                    <a:p>
                      <a:r>
                        <a:rPr sz="1650" b="0">
                          <a:solidFill>
                            <a:srgbClr val="172738"/>
                          </a:solidFill>
                          <a:latin typeface="Apple SD Gothic Neo"/>
                          <a:ea typeface="Apple SD Gothic Neo"/>
                          <a:cs typeface="Apple SD Gothic Neo"/>
                        </a:rPr>
                        <a:t>q1→2: SSL / q23→24: WL</a:t>
                      </a:r>
                    </a:p>
                  </a:txBody>
                  <a:tcPr marL="133350" marR="133350" marT="95250" marB="95250" anchor="ctr">
                    <a:solidFill>
                      <a:srgbClr val="FFFFFF"/>
                    </a:solidFill>
                  </a:tcPr>
                </a:tc>
              </a:tr>
              <a:tr h="485775">
                <a:tc>
                  <a:txBody>
                    <a:bodyPr/>
                    <a:lstStyle/>
                    <a:p>
                      <a:r>
                        <a:rPr sz="1650" b="0">
                          <a:solidFill>
                            <a:srgbClr val="172738"/>
                          </a:solidFill>
                          <a:latin typeface="Apple SD Gothic Neo"/>
                          <a:ea typeface="Apple SD Gothic Neo"/>
                          <a:cs typeface="Apple SD Gothic Neo"/>
                        </a:rPr>
                        <a:t>Long</a:t>
                      </a:r>
                    </a:p>
                  </a:txBody>
                  <a:tcPr marL="133350" marR="133350" marT="95250" marB="95250" anchor="ctr">
                    <a:solidFill>
                      <a:srgbClr val="F1F5F8"/>
                    </a:solidFill>
                  </a:tcPr>
                </a:tc>
                <a:tc>
                  <a:txBody>
                    <a:bodyPr/>
                    <a:lstStyle/>
                    <a:p>
                      <a:r>
                        <a:rPr sz="1650" b="0">
                          <a:solidFill>
                            <a:srgbClr val="172738"/>
                          </a:solidFill>
                          <a:latin typeface="Apple SD Gothic Neo"/>
                          <a:ea typeface="Apple SD Gothic Neo"/>
                          <a:cs typeface="Apple SD Gothic Neo"/>
                        </a:rPr>
                        <a:t>12.16</a:t>
                      </a:r>
                    </a:p>
                  </a:txBody>
                  <a:tcPr marL="133350" marR="133350" marT="95250" marB="95250" anchor="ctr">
                    <a:solidFill>
                      <a:srgbClr val="F1F5F8"/>
                    </a:solidFill>
                  </a:tcPr>
                </a:tc>
                <a:tc>
                  <a:txBody>
                    <a:bodyPr/>
                    <a:lstStyle/>
                    <a:p>
                      <a:r>
                        <a:rPr sz="1650" b="0">
                          <a:solidFill>
                            <a:srgbClr val="172738"/>
                          </a:solidFill>
                          <a:latin typeface="Apple SD Gothic Neo"/>
                          <a:ea typeface="Apple SD Gothic Neo"/>
                          <a:cs typeface="Apple SD Gothic Neo"/>
                        </a:rPr>
                        <a:t>같은 Group에서 q+1이 아닌 주소로 이동</a:t>
                      </a:r>
                    </a:p>
                  </a:txBody>
                  <a:tcPr marL="133350" marR="133350" marT="95250" marB="95250" anchor="ctr">
                    <a:solidFill>
                      <a:srgbClr val="F1F5F8"/>
                    </a:solidFill>
                  </a:tcPr>
                </a:tc>
                <a:tc>
                  <a:txBody>
                    <a:bodyPr/>
                    <a:lstStyle/>
                    <a:p>
                      <a:r>
                        <a:rPr sz="1650" b="0">
                          <a:solidFill>
                            <a:srgbClr val="172738"/>
                          </a:solidFill>
                          <a:latin typeface="Apple SD Gothic Neo"/>
                          <a:ea typeface="Apple SD Gothic Neo"/>
                          <a:cs typeface="Apple SD Gothic Neo"/>
                        </a:rPr>
                        <a:t>q0→2 또는 q3→1</a:t>
                      </a:r>
                    </a:p>
                  </a:txBody>
                  <a:tcPr marL="133350" marR="133350" marT="95250" marB="95250" anchor="ctr">
                    <a:solidFill>
                      <a:srgbClr val="F1F5F8"/>
                    </a:solidFill>
                  </a:tcPr>
                </a:tc>
              </a:tr>
              <a:tr h="485775">
                <a:tc>
                  <a:txBody>
                    <a:bodyPr/>
                    <a:lstStyle/>
                    <a:p>
                      <a:r>
                        <a:rPr sz="1650" b="0">
                          <a:solidFill>
                            <a:srgbClr val="172738"/>
                          </a:solidFill>
                          <a:latin typeface="Apple SD Gothic Neo"/>
                          <a:ea typeface="Apple SD Gothic Neo"/>
                          <a:cs typeface="Apple SD Gothic Neo"/>
                        </a:rPr>
                        <a:t>Group</a:t>
                      </a:r>
                    </a:p>
                  </a:txBody>
                  <a:tcPr marL="133350" marR="133350" marT="95250" marB="95250" anchor="ctr">
                    <a:solidFill>
                      <a:srgbClr val="FFFFFF"/>
                    </a:solidFill>
                  </a:tcPr>
                </a:tc>
                <a:tc>
                  <a:txBody>
                    <a:bodyPr/>
                    <a:lstStyle/>
                    <a:p>
                      <a:r>
                        <a:rPr sz="1650" b="0">
                          <a:solidFill>
                            <a:srgbClr val="172738"/>
                          </a:solidFill>
                          <a:latin typeface="Apple SD Gothic Neo"/>
                          <a:ea typeface="Apple SD Gothic Neo"/>
                          <a:cs typeface="Apple SD Gothic Neo"/>
                        </a:rPr>
                        <a:t>20.69</a:t>
                      </a:r>
                    </a:p>
                  </a:txBody>
                  <a:tcPr marL="133350" marR="133350" marT="95250" marB="95250" anchor="ctr">
                    <a:solidFill>
                      <a:srgbClr val="FFFFFF"/>
                    </a:solidFill>
                  </a:tcPr>
                </a:tc>
                <a:tc>
                  <a:txBody>
                    <a:bodyPr/>
                    <a:lstStyle/>
                    <a:p>
                      <a:r>
                        <a:rPr sz="1650" b="0">
                          <a:solidFill>
                            <a:srgbClr val="172738"/>
                          </a:solidFill>
                          <a:latin typeface="Apple SD Gothic Neo"/>
                          <a:ea typeface="Apple SD Gothic Neo"/>
                          <a:cs typeface="Apple SD Gothic Neo"/>
                        </a:rPr>
                        <a:t>직전 sensing과 다른 Group으로 이동</a:t>
                      </a:r>
                    </a:p>
                  </a:txBody>
                  <a:tcPr marL="133350" marR="133350" marT="95250" marB="95250" anchor="ctr">
                    <a:solidFill>
                      <a:srgbClr val="FFFFFF"/>
                    </a:solidFill>
                  </a:tcPr>
                </a:tc>
                <a:tc>
                  <a:txBody>
                    <a:bodyPr/>
                    <a:lstStyle/>
                    <a:p>
                      <a:r>
                        <a:rPr sz="1650" b="0">
                          <a:solidFill>
                            <a:srgbClr val="172738"/>
                          </a:solidFill>
                          <a:latin typeface="Apple SD Gothic Neo"/>
                          <a:ea typeface="Apple SD Gothic Neo"/>
                          <a:cs typeface="Apple SD Gothic Neo"/>
                        </a:rPr>
                        <a:t>q10103→10104: Group 0→1</a:t>
                      </a:r>
                    </a:p>
                  </a:txBody>
                  <a:tcPr marL="133350" marR="133350" marT="95250" marB="95250" anchor="ctr">
                    <a:solidFill>
                      <a:srgbClr val="FFFFFF"/>
                    </a:solidFill>
                  </a:tcPr>
                </a:tc>
              </a:tr>
            </a:tbl>
          </a:graphicData>
        </a:graphic>
      </p:graphicFrame>
      <p:sp>
        <p:nvSpPr>
          <p:cNvPr id="6" name="tr-sequence">
            <a:extLst xmlns:a="http://schemas.openxmlformats.org/drawingml/2006/main">
              <a:ext uri="{FF2B5EF4-FFF2-40B4-BE49-F238E27FC236}">
                <a16:creationId xmlns:a16="http://schemas.microsoft.com/office/drawing/2014/main" id="{67B201D0-895B-4167-AA8A-CBD3D625074B}"/>
              </a:ext>
            </a:extLst>
          </p:cNvPr>
          <p:cNvSpPr>
            <a:spLocks xmlns:a="http://schemas.openxmlformats.org/drawingml/2006/main" noGrp="1"/>
          </p:cNvSpPr>
          <p:nvPr/>
        </p:nvSpPr>
        <p:spPr>
          <a:xfrm xmlns:a="http://schemas.openxmlformats.org/drawingml/2006/main">
            <a:off x="571500" y="4914900"/>
            <a:ext cx="1104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1">
                <a:solidFill>
                  <a:srgbClr val="126DCA"/>
                </a:solidFill>
                <a:latin typeface="Apple SD Gothic Neo"/>
                <a:ea typeface="Apple SD Gothic Neo"/>
                <a:cs typeface="Apple SD Gothic Neo"/>
              </a:defRPr>
            </a:defPPr>
          </a:lstStyle>
          <a:p xmlns:a="http://schemas.openxmlformats.org/drawingml/2006/main">
            <a:pPr>
              <a:buNone/>
              <a:defRPr sz="1950" b="1">
                <a:solidFill>
                  <a:srgbClr val="126DCA"/>
                </a:solidFill>
                <a:latin typeface="Apple SD Gothic Neo"/>
                <a:ea typeface="Apple SD Gothic Neo"/>
                <a:cs typeface="Apple SD Gothic Neo"/>
              </a:defRPr>
            </a:pPr>
            <a:r>
              <a:rPr sz="1950" b="1">
                <a:solidFill>
                  <a:srgbClr val="126DCA"/>
                </a:solidFill>
                <a:latin typeface="Apple SD Gothic Neo"/>
                <a:ea typeface="Apple SD Gothic Neo"/>
                <a:cs typeface="Apple SD Gothic Neo"/>
              </a:rPr>
              <a:t>연속 예: q0 (First) → q1 (Short) → q2 (Mid) → q3 (Short) → …</a:t>
            </a:r>
          </a:p>
        </p:txBody>
      </p:sp>
      <p:sp>
        <p:nvSpPr>
          <p:cNvPr id="7" name="tr-initial-cost">
            <a:extLst xmlns:a="http://schemas.openxmlformats.org/drawingml/2006/main">
              <a:ext uri="{FF2B5EF4-FFF2-40B4-BE49-F238E27FC236}">
                <a16:creationId xmlns:a16="http://schemas.microsoft.com/office/drawing/2014/main" id="{CC72C08C-A510-4D03-8624-FBCF87A98A70}"/>
              </a:ext>
            </a:extLst>
          </p:cNvPr>
          <p:cNvSpPr>
            <a:spLocks xmlns:a="http://schemas.openxmlformats.org/drawingml/2006/main" noGrp="1"/>
          </p:cNvSpPr>
          <p:nvPr/>
        </p:nvSpPr>
        <p:spPr>
          <a:xfrm xmlns:a="http://schemas.openxmlformats.org/drawingml/2006/main">
            <a:off x="571500" y="5343525"/>
            <a:ext cx="11049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586875"/>
                </a:solidFill>
                <a:latin typeface="Apple SD Gothic Neo"/>
                <a:ea typeface="Apple SD Gothic Neo"/>
                <a:cs typeface="Apple SD Gothic Neo"/>
              </a:defRPr>
            </a:defPPr>
          </a:lstStyle>
          <a:p xmlns:a="http://schemas.openxmlformats.org/drawingml/2006/main">
            <a:pPr>
              <a:buNone/>
              <a:defRPr sz="1725" b="0">
                <a:solidFill>
                  <a:srgbClr val="586875"/>
                </a:solidFill>
                <a:latin typeface="Apple SD Gothic Neo"/>
                <a:ea typeface="Apple SD Gothic Neo"/>
                <a:cs typeface="Apple SD Gothic Neo"/>
              </a:defRPr>
            </a:pPr>
            <a:r>
              <a:rPr sz="1725" b="0">
                <a:solidFill>
                  <a:srgbClr val="586875"/>
                </a:solidFill>
                <a:latin typeface="Apple SD Gothic Neo"/>
                <a:ea typeface="Apple SD Gothic Neo"/>
                <a:cs typeface="Apple SD Gothic Neo"/>
              </a:rPr>
              <a:t>First / Group = 1st Long 17.52 + tRRC 3.17 = 20.69µs로 설정한 모델입니다.</a:t>
            </a:r>
          </a:p>
        </p:txBody>
      </p:sp>
      <p:sp>
        <p:nvSpPr>
          <p:cNvPr id="8" name="tr-page-buffer">
            <a:extLst xmlns:a="http://schemas.openxmlformats.org/drawingml/2006/main">
              <a:ext uri="{FF2B5EF4-FFF2-40B4-BE49-F238E27FC236}">
                <a16:creationId xmlns:a16="http://schemas.microsoft.com/office/drawing/2014/main" id="{AAF56F0F-A9F4-4E45-8CF6-EC1FB43B2296}"/>
              </a:ext>
            </a:extLst>
          </p:cNvPr>
          <p:cNvSpPr>
            <a:spLocks xmlns:a="http://schemas.openxmlformats.org/drawingml/2006/main" noGrp="1"/>
          </p:cNvSpPr>
          <p:nvPr/>
        </p:nvSpPr>
        <p:spPr>
          <a:xfrm xmlns:a="http://schemas.openxmlformats.org/drawingml/2006/main">
            <a:off x="571500" y="5686425"/>
            <a:ext cx="11049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172738"/>
                </a:solidFill>
                <a:latin typeface="Apple SD Gothic Neo"/>
                <a:ea typeface="Apple SD Gothic Neo"/>
                <a:cs typeface="Apple SD Gothic Neo"/>
              </a:defRPr>
            </a:defPPr>
          </a:lstStyle>
          <a:p xmlns:a="http://schemas.openxmlformats.org/drawingml/2006/main">
            <a:pPr>
              <a:buNone/>
              <a:defRPr sz="1650" b="0">
                <a:solidFill>
                  <a:srgbClr val="172738"/>
                </a:solidFill>
                <a:latin typeface="Apple SD Gothic Neo"/>
                <a:ea typeface="Apple SD Gothic Neo"/>
                <a:cs typeface="Apple SD Gothic Neo"/>
              </a:defRPr>
            </a:pPr>
            <a:r>
              <a:rPr sz="1650" b="0">
                <a:solidFill>
                  <a:srgbClr val="172738"/>
                </a:solidFill>
                <a:latin typeface="Apple SD Gothic Neo"/>
                <a:ea typeface="Apple SD Gothic Neo"/>
                <a:cs typeface="Apple SD Gothic Neo"/>
              </a:rPr>
              <a:t>Plane page buffer 적중: sensing 생략, 출력 명령·Data·ECC는 수행합니다.</a:t>
            </a:r>
          </a:p>
          <a:p xmlns:a="http://schemas.openxmlformats.org/drawingml/2006/main">
            <a:pPr>
              <a:buNone/>
              <a:defRPr sz="1650" b="0">
                <a:solidFill>
                  <a:srgbClr val="172738"/>
                </a:solidFill>
                <a:latin typeface="Apple SD Gothic Neo"/>
                <a:ea typeface="Apple SD Gothic Neo"/>
                <a:cs typeface="Apple SD Gothic Neo"/>
              </a:defRPr>
            </a:pPr>
            <a:r>
              <a:rPr sz="1650" b="0">
                <a:solidFill>
                  <a:srgbClr val="172738"/>
                </a:solidFill>
                <a:latin typeface="Apple SD Gothic Neo"/>
                <a:ea typeface="Apple SD Gothic Neo"/>
                <a:cs typeface="Apple SD Gothic Neo"/>
              </a:rPr>
              <a:t>Controller buffer에도 없고 page buffer가 교체되었으면, 재방문 때 tR을 다시 판정합니다.</a:t>
            </a:r>
          </a:p>
        </p:txBody>
      </p:sp>
    </p:spTree>
    <p:extLst>
      <p:ext uri="{BB962C8B-B14F-4D97-AF65-F5344CB8AC3E}">
        <p14:creationId xmlns:p14="http://schemas.microsoft.com/office/powerpoint/2010/main" val="1629405854"/>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3" name="title">
            <a:extLst xmlns:a="http://schemas.openxmlformats.org/drawingml/2006/main">
              <a:ext uri="{FF2B5EF4-FFF2-40B4-BE49-F238E27FC236}">
                <a16:creationId xmlns:a16="http://schemas.microsoft.com/office/drawing/2014/main" id="{6582058F-E5D9-493D-90CE-BBC66B54C0E5}"/>
              </a:ext>
            </a:extLst>
          </p:cNvPr>
          <p:cNvSpPr>
            <a:spLocks xmlns:a="http://schemas.openxmlformats.org/drawingml/2006/main" noGrp="1"/>
          </p:cNvSpPr>
          <p:nvPr/>
        </p:nvSpPr>
        <p:spPr>
          <a:xfrm xmlns:a="http://schemas.openxmlformats.org/drawingml/2006/main">
            <a:off x="533400" y="438150"/>
            <a:ext cx="11125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2738"/>
                </a:solidFill>
                <a:latin typeface="Apple SD Gothic Neo"/>
                <a:ea typeface="Apple SD Gothic Neo"/>
                <a:cs typeface="Apple SD Gothic Neo"/>
              </a:defRPr>
            </a:defPPr>
          </a:lstStyle>
          <a:p xmlns:a="http://schemas.openxmlformats.org/drawingml/2006/main">
            <a:pPr>
              <a:buNone/>
              <a:defRPr sz="3300" b="1">
                <a:solidFill>
                  <a:srgbClr val="172738"/>
                </a:solidFill>
                <a:latin typeface="Apple SD Gothic Neo"/>
                <a:ea typeface="Apple SD Gothic Neo"/>
                <a:cs typeface="Apple SD Gothic Neo"/>
              </a:defRPr>
            </a:pPr>
            <a:r>
              <a:rPr sz="3300" b="1">
                <a:solidFill>
                  <a:srgbClr val="172738"/>
                </a:solidFill>
                <a:latin typeface="Apple SD Gothic Neo"/>
                <a:ea typeface="Apple SD Gothic Neo"/>
                <a:cs typeface="Apple SD Gothic Neo"/>
              </a:rPr>
              <a:t>zNAND Layout과 Data Placement</a:t>
            </a:r>
          </a:p>
        </p:txBody>
      </p:sp>
      <p:sp>
        <p:nvSpPr>
          <p:cNvPr id="2" name="subtitle">
            <a:extLst xmlns:a="http://schemas.openxmlformats.org/drawingml/2006/main">
              <a:ext uri="{FF2B5EF4-FFF2-40B4-BE49-F238E27FC236}">
                <a16:creationId xmlns:a16="http://schemas.microsoft.com/office/drawing/2014/main" id="{54468D98-0EFE-4293-8B4D-8773F92C99B9}"/>
              </a:ext>
            </a:extLst>
          </p:cNvPr>
          <p:cNvSpPr>
            <a:spLocks xmlns:a="http://schemas.openxmlformats.org/drawingml/2006/main" noGrp="1"/>
          </p:cNvSpPr>
          <p:nvPr/>
        </p:nvSpPr>
        <p:spPr>
          <a:xfrm xmlns:a="http://schemas.openxmlformats.org/drawingml/2006/main">
            <a:off x="552450" y="1104900"/>
            <a:ext cx="110871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586875"/>
                </a:solidFill>
                <a:latin typeface="Apple SD Gothic Neo"/>
                <a:ea typeface="Apple SD Gothic Neo"/>
                <a:cs typeface="Apple SD Gothic Neo"/>
              </a:defRPr>
            </a:defPPr>
          </a:lstStyle>
          <a:p xmlns:a="http://schemas.openxmlformats.org/drawingml/2006/main">
            <a:pPr>
              <a:buNone/>
              <a:defRPr sz="1800" b="0">
                <a:solidFill>
                  <a:srgbClr val="586875"/>
                </a:solidFill>
                <a:latin typeface="Apple SD Gothic Neo"/>
                <a:ea typeface="Apple SD Gothic Neo"/>
                <a:cs typeface="Apple SD Gothic Neo"/>
              </a:defRPr>
            </a:pPr>
            <a:r>
              <a:rPr sz="1800" b="0">
                <a:solidFill>
                  <a:srgbClr val="586875"/>
                </a:solidFill>
                <a:latin typeface="Apple SD Gothic Neo"/>
                <a:ea typeface="Apple SD Gothic Neo"/>
                <a:cs typeface="Apple SD Gothic Neo"/>
              </a:rPr>
              <a:t>4채널 병렬성은 유지하고, 논리 영역마다 각 채널의 Plane 묶음을 분리합니다.</a:t>
            </a:r>
          </a:p>
        </p:txBody>
      </p:sp>
      <p:sp>
        <p:nvSpPr>
          <p:cNvPr id="3" name="footer">
            <a:extLst xmlns:a="http://schemas.openxmlformats.org/drawingml/2006/main">
              <a:ext uri="{FF2B5EF4-FFF2-40B4-BE49-F238E27FC236}">
                <a16:creationId xmlns:a16="http://schemas.microsoft.com/office/drawing/2014/main" id="{F2DC81F9-FBAB-49DB-B9E7-A68D2D0AE84B}"/>
              </a:ext>
            </a:extLst>
          </p:cNvPr>
          <p:cNvSpPr>
            <a:spLocks xmlns:a="http://schemas.openxmlformats.org/drawingml/2006/main" noGrp="1"/>
          </p:cNvSpPr>
          <p:nvPr/>
        </p:nvSpPr>
        <p:spPr>
          <a:xfrm xmlns:a="http://schemas.openxmlformats.org/drawingml/2006/main">
            <a:off x="533400" y="6419850"/>
            <a:ext cx="10477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86875"/>
                </a:solidFill>
                <a:latin typeface="Apple SD Gothic Neo"/>
                <a:ea typeface="Apple SD Gothic Neo"/>
                <a:cs typeface="Apple SD Gothic Neo"/>
              </a:defRPr>
            </a:defPPr>
          </a:lstStyle>
          <a:p xmlns:a="http://schemas.openxmlformats.org/drawingml/2006/main">
            <a:pPr>
              <a:buNone/>
              <a:defRPr sz="1200" b="0">
                <a:solidFill>
                  <a:srgbClr val="586875"/>
                </a:solidFill>
                <a:latin typeface="Apple SD Gothic Neo"/>
                <a:ea typeface="Apple SD Gothic Neo"/>
                <a:cs typeface="Apple SD Gothic Neo"/>
              </a:defRPr>
            </a:pPr>
            <a:r>
              <a:rPr sz="1200" b="0">
                <a:solidFill>
                  <a:srgbClr val="586875"/>
                </a:solidFill>
                <a:latin typeface="Apple SD Gothic Neo"/>
                <a:ea typeface="Apple SD Gothic Neo"/>
                <a:cs typeface="Apple SD Gothic Neo"/>
              </a:rPr>
              <a:t>현재 모델의 64 Plane 영역 배치    L은 영역 내 4KiB 논리 조각    PL 번호는 각 Channel 내부 번호</a:t>
            </a:r>
          </a:p>
        </p:txBody>
      </p:sp>
      <p:sp>
        <p:nvSpPr>
          <p:cNvPr id="4" name="page">
            <a:extLst xmlns:a="http://schemas.openxmlformats.org/drawingml/2006/main">
              <a:ext uri="{FF2B5EF4-FFF2-40B4-BE49-F238E27FC236}">
                <a16:creationId xmlns:a16="http://schemas.microsoft.com/office/drawing/2014/main" id="{43CD1967-F28B-40C1-9E10-26610F340777}"/>
              </a:ext>
            </a:extLst>
          </p:cNvPr>
          <p:cNvSpPr>
            <a:spLocks xmlns:a="http://schemas.openxmlformats.org/drawingml/2006/main" noGrp="1"/>
          </p:cNvSpPr>
          <p:nvPr/>
        </p:nvSpPr>
        <p:spPr>
          <a:xfrm xmlns:a="http://schemas.openxmlformats.org/drawingml/2006/main">
            <a:off x="11144250" y="6419850"/>
            <a:ext cx="4953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86875"/>
                </a:solidFill>
                <a:latin typeface="Apple SD Gothic Neo"/>
                <a:ea typeface="Apple SD Gothic Neo"/>
                <a:cs typeface="Apple SD Gothic Neo"/>
              </a:defRPr>
            </a:defPPr>
          </a:lstStyle>
          <a:p xmlns:a="http://schemas.openxmlformats.org/drawingml/2006/main">
            <a:pPr>
              <a:buNone/>
              <a:defRPr sz="1200" b="0">
                <a:solidFill>
                  <a:srgbClr val="586875"/>
                </a:solidFill>
                <a:latin typeface="Apple SD Gothic Neo"/>
                <a:ea typeface="Apple SD Gothic Neo"/>
                <a:cs typeface="Apple SD Gothic Neo"/>
              </a:defRPr>
            </a:pPr>
            <a:r>
              <a:rPr sz="1200" b="0">
                <a:solidFill>
                  <a:srgbClr val="586875"/>
                </a:solidFill>
                <a:latin typeface="Apple SD Gothic Neo"/>
                <a:ea typeface="Apple SD Gothic Neo"/>
                <a:cs typeface="Apple SD Gothic Neo"/>
              </a:rPr>
              <a:t>03</a:t>
            </a:r>
          </a:p>
        </p:txBody>
      </p:sp>
      <p:sp>
        <p:nvSpPr>
          <p:cNvPr id="5" name="logical-regions-heading">
            <a:extLst xmlns:a="http://schemas.openxmlformats.org/drawingml/2006/main">
              <a:ext uri="{FF2B5EF4-FFF2-40B4-BE49-F238E27FC236}">
                <a16:creationId xmlns:a16="http://schemas.microsoft.com/office/drawing/2014/main" id="{EA848BD9-4756-4AEA-A87F-2FB459646357}"/>
              </a:ext>
            </a:extLst>
          </p:cNvPr>
          <p:cNvSpPr>
            <a:spLocks xmlns:a="http://schemas.openxmlformats.org/drawingml/2006/main" noGrp="1"/>
          </p:cNvSpPr>
          <p:nvPr/>
        </p:nvSpPr>
        <p:spPr>
          <a:xfrm xmlns:a="http://schemas.openxmlformats.org/drawingml/2006/main">
            <a:off x="533400" y="1819275"/>
            <a:ext cx="171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1">
                <a:solidFill>
                  <a:srgbClr val="172738"/>
                </a:solidFill>
                <a:latin typeface="Apple SD Gothic Neo"/>
                <a:ea typeface="Apple SD Gothic Neo"/>
                <a:cs typeface="Apple SD Gothic Neo"/>
              </a:defRPr>
            </a:defPPr>
          </a:lstStyle>
          <a:p xmlns:a="http://schemas.openxmlformats.org/drawingml/2006/main">
            <a:pPr>
              <a:buNone/>
              <a:defRPr sz="1950" b="1">
                <a:solidFill>
                  <a:srgbClr val="172738"/>
                </a:solidFill>
                <a:latin typeface="Apple SD Gothic Neo"/>
                <a:ea typeface="Apple SD Gothic Neo"/>
                <a:cs typeface="Apple SD Gothic Neo"/>
              </a:defRPr>
            </a:pPr>
            <a:r>
              <a:rPr sz="1950" b="1">
                <a:solidFill>
                  <a:srgbClr val="172738"/>
                </a:solidFill>
                <a:latin typeface="Apple SD Gothic Neo"/>
                <a:ea typeface="Apple SD Gothic Neo"/>
                <a:cs typeface="Apple SD Gothic Neo"/>
              </a:rPr>
              <a:t>논리 주소 영역</a:t>
            </a:r>
          </a:p>
        </p:txBody>
      </p:sp>
      <p:sp>
        <p:nvSpPr>
          <p:cNvPr id="6" name="logical-region-ownership">
            <a:extLst xmlns:a="http://schemas.openxmlformats.org/drawingml/2006/main">
              <a:ext uri="{FF2B5EF4-FFF2-40B4-BE49-F238E27FC236}">
                <a16:creationId xmlns:a16="http://schemas.microsoft.com/office/drawing/2014/main" id="{4A1546F6-EFCB-43D9-A7CC-25224244AB9E}"/>
              </a:ext>
            </a:extLst>
          </p:cNvPr>
          <p:cNvSpPr>
            <a:spLocks xmlns:a="http://schemas.openxmlformats.org/drawingml/2006/main" noGrp="1"/>
          </p:cNvSpPr>
          <p:nvPr/>
        </p:nvSpPr>
        <p:spPr>
          <a:xfrm xmlns:a="http://schemas.openxmlformats.org/drawingml/2006/main">
            <a:off x="533400" y="2276475"/>
            <a:ext cx="1981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86875"/>
                </a:solidFill>
                <a:latin typeface="Apple SD Gothic Neo"/>
                <a:ea typeface="Apple SD Gothic Neo"/>
                <a:cs typeface="Apple SD Gothic Neo"/>
              </a:defRPr>
            </a:defPPr>
          </a:lstStyle>
          <a:p xmlns:a="http://schemas.openxmlformats.org/drawingml/2006/main">
            <a:pPr>
              <a:buNone/>
              <a:defRPr sz="1500" b="0">
                <a:solidFill>
                  <a:srgbClr val="586875"/>
                </a:solidFill>
                <a:latin typeface="Apple SD Gothic Neo"/>
                <a:ea typeface="Apple SD Gothic Neo"/>
                <a:cs typeface="Apple SD Gothic Neo"/>
              </a:defRPr>
            </a:pPr>
            <a:r>
              <a:rPr sz="1500" b="0">
                <a:solidFill>
                  <a:srgbClr val="586875"/>
                </a:solidFill>
                <a:latin typeface="Apple SD Gothic Neo"/>
                <a:ea typeface="Apple SD Gothic Neo"/>
                <a:cs typeface="Apple SD Gothic Neo"/>
              </a:rPr>
              <a:t>Port와 독립된 주소 구간</a:t>
            </a:r>
          </a:p>
        </p:txBody>
      </p:sp>
      <p:sp>
        <p:nvSpPr>
          <p:cNvPr id="7" name="nand-layout-heading">
            <a:extLst xmlns:a="http://schemas.openxmlformats.org/drawingml/2006/main">
              <a:ext uri="{FF2B5EF4-FFF2-40B4-BE49-F238E27FC236}">
                <a16:creationId xmlns:a16="http://schemas.microsoft.com/office/drawing/2014/main" id="{D88A031B-4CAD-4954-901F-3AB8B53C227C}"/>
              </a:ext>
            </a:extLst>
          </p:cNvPr>
          <p:cNvSpPr>
            <a:spLocks xmlns:a="http://schemas.openxmlformats.org/drawingml/2006/main" noGrp="1"/>
          </p:cNvSpPr>
          <p:nvPr/>
        </p:nvSpPr>
        <p:spPr>
          <a:xfrm xmlns:a="http://schemas.openxmlformats.org/drawingml/2006/main">
            <a:off x="4495800" y="1819275"/>
            <a:ext cx="716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172738"/>
                </a:solidFill>
                <a:latin typeface="Apple SD Gothic Neo"/>
                <a:ea typeface="Apple SD Gothic Neo"/>
                <a:cs typeface="Apple SD Gothic Neo"/>
              </a:defRPr>
            </a:defPPr>
          </a:lstStyle>
          <a:p xmlns:a="http://schemas.openxmlformats.org/drawingml/2006/main">
            <a:pPr>
              <a:buNone/>
              <a:defRPr sz="2025" b="1">
                <a:solidFill>
                  <a:srgbClr val="172738"/>
                </a:solidFill>
                <a:latin typeface="Apple SD Gothic Neo"/>
                <a:ea typeface="Apple SD Gothic Neo"/>
                <a:cs typeface="Apple SD Gothic Neo"/>
              </a:defRPr>
            </a:pPr>
            <a:r>
              <a:rPr sz="2025" b="1">
                <a:solidFill>
                  <a:srgbClr val="172738"/>
                </a:solidFill>
                <a:latin typeface="Apple SD Gothic Neo"/>
                <a:ea typeface="Apple SD Gothic Neo"/>
                <a:cs typeface="Apple SD Gothic Neo"/>
              </a:rPr>
              <a:t>4 Channel × 16 Plane = 총 64 Plane</a:t>
            </a:r>
          </a:p>
        </p:txBody>
      </p:sp>
      <p:sp>
        <p:nvSpPr>
          <p:cNvPr id="8" name="logical-region-0">
            <a:extLst xmlns:a="http://schemas.openxmlformats.org/drawingml/2006/main">
              <a:ext uri="{FF2B5EF4-FFF2-40B4-BE49-F238E27FC236}">
                <a16:creationId xmlns:a16="http://schemas.microsoft.com/office/drawing/2014/main" id="{B73EEF7B-FA57-4676-8CD6-00F62363ACC6}"/>
              </a:ext>
            </a:extLst>
          </p:cNvPr>
          <p:cNvSpPr>
            <a:spLocks xmlns:a="http://schemas.openxmlformats.org/drawingml/2006/main" noGrp="1"/>
          </p:cNvSpPr>
          <p:nvPr/>
        </p:nvSpPr>
        <p:spPr>
          <a:xfrm xmlns:a="http://schemas.openxmlformats.org/drawingml/2006/main">
            <a:off x="533400" y="2686050"/>
            <a:ext cx="1504950" cy="323850"/>
          </a:xfrm>
          <a:prstGeom xmlns:a="http://schemas.openxmlformats.org/drawingml/2006/main" prst="rect">
            <a:avLst/>
          </a:prstGeom>
          <a:solidFill xmlns:a="http://schemas.openxmlformats.org/drawingml/2006/main">
            <a:srgbClr val="EAF2FD"/>
          </a:solidFill>
          <a:ln xmlns:a="http://schemas.openxmlformats.org/drawingml/2006/main" w="14288">
            <a:solidFill>
              <a:srgbClr val="126DCA"/>
            </a:solidFill>
            <a:prstDash val="solid"/>
          </a:ln>
        </p:spPr>
        <p:txBody>
          <a:bodyPr xmlns:a="http://schemas.openxmlformats.org/drawingml/2006/main"/>
          <a:lstStyle xmlns:a="http://schemas.openxmlformats.org/drawingml/2006/main"/>
          <a:p xmlns:a="http://schemas.openxmlformats.org/drawingml/2006/main">
            <a:endParaRPr/>
          </a:p>
        </p:txBody>
      </p:sp>
      <p:sp>
        <p:nvSpPr>
          <p:cNvPr id="9" name="logical-region-label-0">
            <a:extLst xmlns:a="http://schemas.openxmlformats.org/drawingml/2006/main">
              <a:ext uri="{FF2B5EF4-FFF2-40B4-BE49-F238E27FC236}">
                <a16:creationId xmlns:a16="http://schemas.microsoft.com/office/drawing/2014/main" id="{C712A393-F44E-4A3C-834E-8948ADCD9C10}"/>
              </a:ext>
            </a:extLst>
          </p:cNvPr>
          <p:cNvSpPr>
            <a:spLocks xmlns:a="http://schemas.openxmlformats.org/drawingml/2006/main" noGrp="1"/>
          </p:cNvSpPr>
          <p:nvPr/>
        </p:nvSpPr>
        <p:spPr>
          <a:xfrm xmlns:a="http://schemas.openxmlformats.org/drawingml/2006/main">
            <a:off x="676275" y="2733675"/>
            <a:ext cx="1333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126DCA"/>
                </a:solidFill>
                <a:latin typeface="Apple SD Gothic Neo"/>
                <a:ea typeface="Apple SD Gothic Neo"/>
                <a:cs typeface="Apple SD Gothic Neo"/>
              </a:defRPr>
            </a:defPPr>
          </a:lstStyle>
          <a:p xmlns:a="http://schemas.openxmlformats.org/drawingml/2006/main">
            <a:pPr>
              <a:buNone/>
              <a:defRPr sz="1650" b="1">
                <a:solidFill>
                  <a:srgbClr val="126DCA"/>
                </a:solidFill>
                <a:latin typeface="Apple SD Gothic Neo"/>
                <a:ea typeface="Apple SD Gothic Neo"/>
                <a:cs typeface="Apple SD Gothic Neo"/>
              </a:defRPr>
            </a:pPr>
            <a:r>
              <a:rPr sz="1650" b="1">
                <a:solidFill>
                  <a:srgbClr val="126DCA"/>
                </a:solidFill>
                <a:latin typeface="Apple SD Gothic Neo"/>
                <a:ea typeface="Apple SD Gothic Neo"/>
                <a:cs typeface="Apple SD Gothic Neo"/>
              </a:rPr>
              <a:t>영역 0 (R0)</a:t>
            </a:r>
          </a:p>
        </p:txBody>
      </p:sp>
      <p:cxnSp>
        <p:nvCxnSpPr>
          <p:cNvPr id="10" name="region-to-map-0">
            <a:extLst xmlns:a="http://schemas.openxmlformats.org/drawingml/2006/main">
              <a:ext uri="{FF2B5EF4-FFF2-40B4-BE49-F238E27FC236}">
                <a16:creationId xmlns:a16="http://schemas.microsoft.com/office/drawing/2014/main" id="{67A678E0-D175-4142-8954-1FB06F0CD38F}"/>
              </a:ext>
            </a:extLst>
          </p:cNvPr>
          <p:cNvCxnSpPr/>
          <p:nvPr/>
        </p:nvCxnSpPr>
        <p:spPr>
          <a:xfrm xmlns:a="http://schemas.openxmlformats.org/drawingml/2006/main">
            <a:off x="2038350" y="2847975"/>
            <a:ext cx="238125" cy="0"/>
          </a:xfrm>
          <a:prstGeom xmlns:a="http://schemas.openxmlformats.org/drawingml/2006/main" prst="straightConnector1">
            <a:avLst/>
          </a:prstGeom>
          <a:ln xmlns:a="http://schemas.openxmlformats.org/drawingml/2006/main" w="19050">
            <a:solidFill>
              <a:srgbClr val="9AA9B5"/>
            </a:solidFill>
            <a:prstDash val="solid"/>
          </a:ln>
        </p:spPr>
      </p:cxnSp>
      <p:sp>
        <p:nvSpPr>
          <p:cNvPr id="11" name="logical-region-1">
            <a:extLst xmlns:a="http://schemas.openxmlformats.org/drawingml/2006/main">
              <a:ext uri="{FF2B5EF4-FFF2-40B4-BE49-F238E27FC236}">
                <a16:creationId xmlns:a16="http://schemas.microsoft.com/office/drawing/2014/main" id="{3543B4FF-DD38-4B2A-AE43-504BCFF981E7}"/>
              </a:ext>
            </a:extLst>
          </p:cNvPr>
          <p:cNvSpPr>
            <a:spLocks xmlns:a="http://schemas.openxmlformats.org/drawingml/2006/main" noGrp="1"/>
          </p:cNvSpPr>
          <p:nvPr/>
        </p:nvSpPr>
        <p:spPr>
          <a:xfrm xmlns:a="http://schemas.openxmlformats.org/drawingml/2006/main">
            <a:off x="533400" y="3086100"/>
            <a:ext cx="1504950" cy="323850"/>
          </a:xfrm>
          <a:prstGeom xmlns:a="http://schemas.openxmlformats.org/drawingml/2006/main" prst="rect">
            <a:avLst/>
          </a:prstGeom>
          <a:solidFill xmlns:a="http://schemas.openxmlformats.org/drawingml/2006/main">
            <a:srgbClr val="E9F5F2"/>
          </a:solidFill>
          <a:ln xmlns:a="http://schemas.openxmlformats.org/drawingml/2006/main" w="14288">
            <a:solidFill>
              <a:srgbClr val="008B82"/>
            </a:solidFill>
            <a:prstDash val="solid"/>
          </a:ln>
        </p:spPr>
        <p:txBody>
          <a:bodyPr xmlns:a="http://schemas.openxmlformats.org/drawingml/2006/main"/>
          <a:lstStyle xmlns:a="http://schemas.openxmlformats.org/drawingml/2006/main"/>
          <a:p xmlns:a="http://schemas.openxmlformats.org/drawingml/2006/main">
            <a:endParaRPr/>
          </a:p>
        </p:txBody>
      </p:sp>
      <p:sp>
        <p:nvSpPr>
          <p:cNvPr id="12" name="logical-region-label-1">
            <a:extLst xmlns:a="http://schemas.openxmlformats.org/drawingml/2006/main">
              <a:ext uri="{FF2B5EF4-FFF2-40B4-BE49-F238E27FC236}">
                <a16:creationId xmlns:a16="http://schemas.microsoft.com/office/drawing/2014/main" id="{34DFCF08-1DE2-42D1-BE78-907020395FA1}"/>
              </a:ext>
            </a:extLst>
          </p:cNvPr>
          <p:cNvSpPr>
            <a:spLocks xmlns:a="http://schemas.openxmlformats.org/drawingml/2006/main" noGrp="1"/>
          </p:cNvSpPr>
          <p:nvPr/>
        </p:nvSpPr>
        <p:spPr>
          <a:xfrm xmlns:a="http://schemas.openxmlformats.org/drawingml/2006/main">
            <a:off x="676275" y="3133725"/>
            <a:ext cx="1333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008B82"/>
                </a:solidFill>
                <a:latin typeface="Apple SD Gothic Neo"/>
                <a:ea typeface="Apple SD Gothic Neo"/>
                <a:cs typeface="Apple SD Gothic Neo"/>
              </a:defRPr>
            </a:defPPr>
          </a:lstStyle>
          <a:p xmlns:a="http://schemas.openxmlformats.org/drawingml/2006/main">
            <a:pPr>
              <a:buNone/>
              <a:defRPr sz="1650" b="1">
                <a:solidFill>
                  <a:srgbClr val="008B82"/>
                </a:solidFill>
                <a:latin typeface="Apple SD Gothic Neo"/>
                <a:ea typeface="Apple SD Gothic Neo"/>
                <a:cs typeface="Apple SD Gothic Neo"/>
              </a:defRPr>
            </a:pPr>
            <a:r>
              <a:rPr sz="1650" b="1">
                <a:solidFill>
                  <a:srgbClr val="008B82"/>
                </a:solidFill>
                <a:latin typeface="Apple SD Gothic Neo"/>
                <a:ea typeface="Apple SD Gothic Neo"/>
                <a:cs typeface="Apple SD Gothic Neo"/>
              </a:rPr>
              <a:t>영역 1 (R1)</a:t>
            </a:r>
          </a:p>
        </p:txBody>
      </p:sp>
      <p:cxnSp>
        <p:nvCxnSpPr>
          <p:cNvPr id="13" name="region-to-map-1">
            <a:extLst xmlns:a="http://schemas.openxmlformats.org/drawingml/2006/main">
              <a:ext uri="{FF2B5EF4-FFF2-40B4-BE49-F238E27FC236}">
                <a16:creationId xmlns:a16="http://schemas.microsoft.com/office/drawing/2014/main" id="{B6574997-A43C-4293-919A-53A2FC9EC32D}"/>
              </a:ext>
            </a:extLst>
          </p:cNvPr>
          <p:cNvCxnSpPr/>
          <p:nvPr/>
        </p:nvCxnSpPr>
        <p:spPr>
          <a:xfrm xmlns:a="http://schemas.openxmlformats.org/drawingml/2006/main">
            <a:off x="2038350" y="3248025"/>
            <a:ext cx="238125" cy="0"/>
          </a:xfrm>
          <a:prstGeom xmlns:a="http://schemas.openxmlformats.org/drawingml/2006/main" prst="straightConnector1">
            <a:avLst/>
          </a:prstGeom>
          <a:ln xmlns:a="http://schemas.openxmlformats.org/drawingml/2006/main" w="19050">
            <a:solidFill>
              <a:srgbClr val="9AA9B5"/>
            </a:solidFill>
            <a:prstDash val="solid"/>
          </a:ln>
        </p:spPr>
      </p:cxnSp>
      <p:sp>
        <p:nvSpPr>
          <p:cNvPr id="14" name="logical-region-2">
            <a:extLst xmlns:a="http://schemas.openxmlformats.org/drawingml/2006/main">
              <a:ext uri="{FF2B5EF4-FFF2-40B4-BE49-F238E27FC236}">
                <a16:creationId xmlns:a16="http://schemas.microsoft.com/office/drawing/2014/main" id="{C237C156-0D76-4DB7-8756-E7AD79C36EAC}"/>
              </a:ext>
            </a:extLst>
          </p:cNvPr>
          <p:cNvSpPr>
            <a:spLocks xmlns:a="http://schemas.openxmlformats.org/drawingml/2006/main" noGrp="1"/>
          </p:cNvSpPr>
          <p:nvPr/>
        </p:nvSpPr>
        <p:spPr>
          <a:xfrm xmlns:a="http://schemas.openxmlformats.org/drawingml/2006/main">
            <a:off x="533400" y="3486150"/>
            <a:ext cx="1504950" cy="323850"/>
          </a:xfrm>
          <a:prstGeom xmlns:a="http://schemas.openxmlformats.org/drawingml/2006/main" prst="rect">
            <a:avLst/>
          </a:prstGeom>
          <a:solidFill xmlns:a="http://schemas.openxmlformats.org/drawingml/2006/main">
            <a:srgbClr val="FCF3E3"/>
          </a:solidFill>
          <a:ln xmlns:a="http://schemas.openxmlformats.org/drawingml/2006/main" w="14288">
            <a:solidFill>
              <a:srgbClr val="A96715"/>
            </a:solidFill>
            <a:prstDash val="solid"/>
          </a:ln>
        </p:spPr>
        <p:txBody>
          <a:bodyPr xmlns:a="http://schemas.openxmlformats.org/drawingml/2006/main"/>
          <a:lstStyle xmlns:a="http://schemas.openxmlformats.org/drawingml/2006/main"/>
          <a:p xmlns:a="http://schemas.openxmlformats.org/drawingml/2006/main">
            <a:endParaRPr/>
          </a:p>
        </p:txBody>
      </p:sp>
      <p:sp>
        <p:nvSpPr>
          <p:cNvPr id="15" name="logical-region-label-2">
            <a:extLst xmlns:a="http://schemas.openxmlformats.org/drawingml/2006/main">
              <a:ext uri="{FF2B5EF4-FFF2-40B4-BE49-F238E27FC236}">
                <a16:creationId xmlns:a16="http://schemas.microsoft.com/office/drawing/2014/main" id="{0BE7E21B-EA18-4256-97C5-6AD271B53EF5}"/>
              </a:ext>
            </a:extLst>
          </p:cNvPr>
          <p:cNvSpPr>
            <a:spLocks xmlns:a="http://schemas.openxmlformats.org/drawingml/2006/main" noGrp="1"/>
          </p:cNvSpPr>
          <p:nvPr/>
        </p:nvSpPr>
        <p:spPr>
          <a:xfrm xmlns:a="http://schemas.openxmlformats.org/drawingml/2006/main">
            <a:off x="676275" y="3533775"/>
            <a:ext cx="1333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A96715"/>
                </a:solidFill>
                <a:latin typeface="Apple SD Gothic Neo"/>
                <a:ea typeface="Apple SD Gothic Neo"/>
                <a:cs typeface="Apple SD Gothic Neo"/>
              </a:defRPr>
            </a:defPPr>
          </a:lstStyle>
          <a:p xmlns:a="http://schemas.openxmlformats.org/drawingml/2006/main">
            <a:pPr>
              <a:buNone/>
              <a:defRPr sz="1650" b="1">
                <a:solidFill>
                  <a:srgbClr val="A96715"/>
                </a:solidFill>
                <a:latin typeface="Apple SD Gothic Neo"/>
                <a:ea typeface="Apple SD Gothic Neo"/>
                <a:cs typeface="Apple SD Gothic Neo"/>
              </a:defRPr>
            </a:pPr>
            <a:r>
              <a:rPr sz="1650" b="1">
                <a:solidFill>
                  <a:srgbClr val="A96715"/>
                </a:solidFill>
                <a:latin typeface="Apple SD Gothic Neo"/>
                <a:ea typeface="Apple SD Gothic Neo"/>
                <a:cs typeface="Apple SD Gothic Neo"/>
              </a:rPr>
              <a:t>영역 2 (R2)</a:t>
            </a:r>
          </a:p>
        </p:txBody>
      </p:sp>
      <p:cxnSp>
        <p:nvCxnSpPr>
          <p:cNvPr id="16" name="region-to-map-2">
            <a:extLst xmlns:a="http://schemas.openxmlformats.org/drawingml/2006/main">
              <a:ext uri="{FF2B5EF4-FFF2-40B4-BE49-F238E27FC236}">
                <a16:creationId xmlns:a16="http://schemas.microsoft.com/office/drawing/2014/main" id="{C6FAAF01-1D88-49CC-8B29-1DA48C592C18}"/>
              </a:ext>
            </a:extLst>
          </p:cNvPr>
          <p:cNvCxnSpPr/>
          <p:nvPr/>
        </p:nvCxnSpPr>
        <p:spPr>
          <a:xfrm xmlns:a="http://schemas.openxmlformats.org/drawingml/2006/main">
            <a:off x="2038350" y="3648075"/>
            <a:ext cx="238125" cy="0"/>
          </a:xfrm>
          <a:prstGeom xmlns:a="http://schemas.openxmlformats.org/drawingml/2006/main" prst="straightConnector1">
            <a:avLst/>
          </a:prstGeom>
          <a:ln xmlns:a="http://schemas.openxmlformats.org/drawingml/2006/main" w="19050">
            <a:solidFill>
              <a:srgbClr val="9AA9B5"/>
            </a:solidFill>
            <a:prstDash val="solid"/>
          </a:ln>
        </p:spPr>
      </p:cxnSp>
      <p:sp>
        <p:nvSpPr>
          <p:cNvPr id="17" name="logical-region-3">
            <a:extLst xmlns:a="http://schemas.openxmlformats.org/drawingml/2006/main">
              <a:ext uri="{FF2B5EF4-FFF2-40B4-BE49-F238E27FC236}">
                <a16:creationId xmlns:a16="http://schemas.microsoft.com/office/drawing/2014/main" id="{95169BED-CCC2-46B3-9181-0813A31754A4}"/>
              </a:ext>
            </a:extLst>
          </p:cNvPr>
          <p:cNvSpPr>
            <a:spLocks xmlns:a="http://schemas.openxmlformats.org/drawingml/2006/main" noGrp="1"/>
          </p:cNvSpPr>
          <p:nvPr/>
        </p:nvSpPr>
        <p:spPr>
          <a:xfrm xmlns:a="http://schemas.openxmlformats.org/drawingml/2006/main">
            <a:off x="533400" y="3886200"/>
            <a:ext cx="1504950" cy="323850"/>
          </a:xfrm>
          <a:prstGeom xmlns:a="http://schemas.openxmlformats.org/drawingml/2006/main" prst="rect">
            <a:avLst/>
          </a:prstGeom>
          <a:solidFill xmlns:a="http://schemas.openxmlformats.org/drawingml/2006/main">
            <a:srgbClr val="F0EBF7"/>
          </a:solidFill>
          <a:ln xmlns:a="http://schemas.openxmlformats.org/drawingml/2006/main" w="14288">
            <a:solidFill>
              <a:srgbClr val="7553A2"/>
            </a:solidFill>
            <a:prstDash val="solid"/>
          </a:ln>
        </p:spPr>
        <p:txBody>
          <a:bodyPr xmlns:a="http://schemas.openxmlformats.org/drawingml/2006/main"/>
          <a:lstStyle xmlns:a="http://schemas.openxmlformats.org/drawingml/2006/main"/>
          <a:p xmlns:a="http://schemas.openxmlformats.org/drawingml/2006/main">
            <a:endParaRPr/>
          </a:p>
        </p:txBody>
      </p:sp>
      <p:sp>
        <p:nvSpPr>
          <p:cNvPr id="18" name="logical-region-label-3">
            <a:extLst xmlns:a="http://schemas.openxmlformats.org/drawingml/2006/main">
              <a:ext uri="{FF2B5EF4-FFF2-40B4-BE49-F238E27FC236}">
                <a16:creationId xmlns:a16="http://schemas.microsoft.com/office/drawing/2014/main" id="{6AD0C973-21F8-4FA8-B2E7-8F52A8634108}"/>
              </a:ext>
            </a:extLst>
          </p:cNvPr>
          <p:cNvSpPr>
            <a:spLocks xmlns:a="http://schemas.openxmlformats.org/drawingml/2006/main" noGrp="1"/>
          </p:cNvSpPr>
          <p:nvPr/>
        </p:nvSpPr>
        <p:spPr>
          <a:xfrm xmlns:a="http://schemas.openxmlformats.org/drawingml/2006/main">
            <a:off x="676275" y="3933825"/>
            <a:ext cx="1333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7553A2"/>
                </a:solidFill>
                <a:latin typeface="Apple SD Gothic Neo"/>
                <a:ea typeface="Apple SD Gothic Neo"/>
                <a:cs typeface="Apple SD Gothic Neo"/>
              </a:defRPr>
            </a:defPPr>
          </a:lstStyle>
          <a:p xmlns:a="http://schemas.openxmlformats.org/drawingml/2006/main">
            <a:pPr>
              <a:buNone/>
              <a:defRPr sz="1650" b="1">
                <a:solidFill>
                  <a:srgbClr val="7553A2"/>
                </a:solidFill>
                <a:latin typeface="Apple SD Gothic Neo"/>
                <a:ea typeface="Apple SD Gothic Neo"/>
                <a:cs typeface="Apple SD Gothic Neo"/>
              </a:defRPr>
            </a:pPr>
            <a:r>
              <a:rPr sz="1650" b="1">
                <a:solidFill>
                  <a:srgbClr val="7553A2"/>
                </a:solidFill>
                <a:latin typeface="Apple SD Gothic Neo"/>
                <a:ea typeface="Apple SD Gothic Neo"/>
                <a:cs typeface="Apple SD Gothic Neo"/>
              </a:rPr>
              <a:t>영역 3 (R3)</a:t>
            </a:r>
          </a:p>
        </p:txBody>
      </p:sp>
      <p:cxnSp>
        <p:nvCxnSpPr>
          <p:cNvPr id="19" name="region-to-map-3">
            <a:extLst xmlns:a="http://schemas.openxmlformats.org/drawingml/2006/main">
              <a:ext uri="{FF2B5EF4-FFF2-40B4-BE49-F238E27FC236}">
                <a16:creationId xmlns:a16="http://schemas.microsoft.com/office/drawing/2014/main" id="{823C1648-E73D-4124-B18A-3522916F7BB5}"/>
              </a:ext>
            </a:extLst>
          </p:cNvPr>
          <p:cNvCxnSpPr/>
          <p:nvPr/>
        </p:nvCxnSpPr>
        <p:spPr>
          <a:xfrm xmlns:a="http://schemas.openxmlformats.org/drawingml/2006/main">
            <a:off x="2038350" y="4048125"/>
            <a:ext cx="238125" cy="0"/>
          </a:xfrm>
          <a:prstGeom xmlns:a="http://schemas.openxmlformats.org/drawingml/2006/main" prst="straightConnector1">
            <a:avLst/>
          </a:prstGeom>
          <a:ln xmlns:a="http://schemas.openxmlformats.org/drawingml/2006/main" w="19050">
            <a:solidFill>
              <a:srgbClr val="9AA9B5"/>
            </a:solidFill>
            <a:prstDash val="solid"/>
          </a:ln>
        </p:spPr>
      </p:cxnSp>
      <p:cxnSp>
        <p:nvCxnSpPr>
          <p:cNvPr id="20" name="logical-region-bus">
            <a:extLst xmlns:a="http://schemas.openxmlformats.org/drawingml/2006/main">
              <a:ext uri="{FF2B5EF4-FFF2-40B4-BE49-F238E27FC236}">
                <a16:creationId xmlns:a16="http://schemas.microsoft.com/office/drawing/2014/main" id="{6C23C379-F5D5-405E-A79F-6D71CAAC380A}"/>
              </a:ext>
            </a:extLst>
          </p:cNvPr>
          <p:cNvCxnSpPr/>
          <p:nvPr/>
        </p:nvCxnSpPr>
        <p:spPr>
          <a:xfrm xmlns:a="http://schemas.openxmlformats.org/drawingml/2006/main">
            <a:off x="2276475" y="2847975"/>
            <a:ext cx="0" cy="1200150"/>
          </a:xfrm>
          <a:prstGeom xmlns:a="http://schemas.openxmlformats.org/drawingml/2006/main" prst="straightConnector1">
            <a:avLst/>
          </a:prstGeom>
          <a:ln xmlns:a="http://schemas.openxmlformats.org/drawingml/2006/main" w="19050">
            <a:solidFill>
              <a:srgbClr val="9AA9B5"/>
            </a:solidFill>
            <a:prstDash val="solid"/>
          </a:ln>
        </p:spPr>
      </p:cxnSp>
      <p:cxnSp>
        <p:nvCxnSpPr>
          <p:cNvPr id="21" name="logical-to-l2p">
            <a:extLst xmlns:a="http://schemas.openxmlformats.org/drawingml/2006/main">
              <a:ext uri="{FF2B5EF4-FFF2-40B4-BE49-F238E27FC236}">
                <a16:creationId xmlns:a16="http://schemas.microsoft.com/office/drawing/2014/main" id="{57645498-EDC3-4447-BBC7-D9DD558C198E}"/>
              </a:ext>
            </a:extLst>
          </p:cNvPr>
          <p:cNvCxnSpPr/>
          <p:nvPr/>
        </p:nvCxnSpPr>
        <p:spPr>
          <a:xfrm xmlns:a="http://schemas.openxmlformats.org/drawingml/2006/main">
            <a:off x="2276475" y="3409950"/>
            <a:ext cx="238125" cy="0"/>
          </a:xfrm>
          <a:prstGeom xmlns:a="http://schemas.openxmlformats.org/drawingml/2006/main" prst="straightConnector1">
            <a:avLst/>
          </a:prstGeom>
          <a:ln xmlns:a="http://schemas.openxmlformats.org/drawingml/2006/main" w="19050">
            <a:solidFill>
              <a:srgbClr val="126DCA"/>
            </a:solidFill>
            <a:prstDash val="solid"/>
            <a:tailEnd type="triangle" w="med" len="med"/>
          </a:ln>
        </p:spPr>
      </p:cxnSp>
      <p:sp>
        <p:nvSpPr>
          <p:cNvPr id="22" name="static-l2p">
            <a:extLst xmlns:a="http://schemas.openxmlformats.org/drawingml/2006/main">
              <a:ext uri="{FF2B5EF4-FFF2-40B4-BE49-F238E27FC236}">
                <a16:creationId xmlns:a16="http://schemas.microsoft.com/office/drawing/2014/main" id="{716533CE-ED20-4D4B-82EF-48487203FE31}"/>
              </a:ext>
            </a:extLst>
          </p:cNvPr>
          <p:cNvSpPr>
            <a:spLocks xmlns:a="http://schemas.openxmlformats.org/drawingml/2006/main" noGrp="1"/>
          </p:cNvSpPr>
          <p:nvPr/>
        </p:nvSpPr>
        <p:spPr>
          <a:xfrm xmlns:a="http://schemas.openxmlformats.org/drawingml/2006/main">
            <a:off x="2514600" y="2914650"/>
            <a:ext cx="1447800" cy="1000125"/>
          </a:xfrm>
          <a:prstGeom xmlns:a="http://schemas.openxmlformats.org/drawingml/2006/main" prst="rect">
            <a:avLst/>
          </a:prstGeom>
          <a:solidFill xmlns:a="http://schemas.openxmlformats.org/drawingml/2006/main">
            <a:srgbClr val="F1F5F8"/>
          </a:solidFill>
          <a:ln xmlns:a="http://schemas.openxmlformats.org/drawingml/2006/main" w="14288">
            <a:solidFill>
              <a:srgbClr val="126DCA"/>
            </a:solidFill>
            <a:prstDash val="solid"/>
          </a:ln>
        </p:spPr>
        <p:txBody>
          <a:bodyPr xmlns:a="http://schemas.openxmlformats.org/drawingml/2006/main"/>
          <a:lstStyle xmlns:a="http://schemas.openxmlformats.org/drawingml/2006/main"/>
          <a:p xmlns:a="http://schemas.openxmlformats.org/drawingml/2006/main">
            <a:endParaRPr/>
          </a:p>
        </p:txBody>
      </p:sp>
      <p:sp>
        <p:nvSpPr>
          <p:cNvPr id="23" name="static-l2p-heading">
            <a:extLst xmlns:a="http://schemas.openxmlformats.org/drawingml/2006/main">
              <a:ext uri="{FF2B5EF4-FFF2-40B4-BE49-F238E27FC236}">
                <a16:creationId xmlns:a16="http://schemas.microsoft.com/office/drawing/2014/main" id="{AFC68778-1224-447A-8859-C278C30BAA7F}"/>
              </a:ext>
            </a:extLst>
          </p:cNvPr>
          <p:cNvSpPr>
            <a:spLocks xmlns:a="http://schemas.openxmlformats.org/drawingml/2006/main" noGrp="1"/>
          </p:cNvSpPr>
          <p:nvPr/>
        </p:nvSpPr>
        <p:spPr>
          <a:xfrm xmlns:a="http://schemas.openxmlformats.org/drawingml/2006/main">
            <a:off x="2686050" y="3028950"/>
            <a:ext cx="12287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1">
                <a:solidFill>
                  <a:srgbClr val="126DCA"/>
                </a:solidFill>
                <a:latin typeface="Apple SD Gothic Neo"/>
                <a:ea typeface="Apple SD Gothic Neo"/>
                <a:cs typeface="Apple SD Gothic Neo"/>
              </a:defRPr>
            </a:defPPr>
          </a:lstStyle>
          <a:p xmlns:a="http://schemas.openxmlformats.org/drawingml/2006/main">
            <a:pPr>
              <a:buNone/>
              <a:defRPr sz="1950" b="1">
                <a:solidFill>
                  <a:srgbClr val="126DCA"/>
                </a:solidFill>
                <a:latin typeface="Apple SD Gothic Neo"/>
                <a:ea typeface="Apple SD Gothic Neo"/>
                <a:cs typeface="Apple SD Gothic Neo"/>
              </a:defRPr>
            </a:pPr>
            <a:r>
              <a:rPr sz="1950" b="1">
                <a:solidFill>
                  <a:srgbClr val="126DCA"/>
                </a:solidFill>
                <a:latin typeface="Apple SD Gothic Neo"/>
                <a:ea typeface="Apple SD Gothic Neo"/>
                <a:cs typeface="Apple SD Gothic Neo"/>
              </a:rPr>
              <a:t>정적 L2P</a:t>
            </a:r>
          </a:p>
        </p:txBody>
      </p:sp>
      <p:sp>
        <p:nvSpPr>
          <p:cNvPr id="24" name="physical-address-fields">
            <a:extLst xmlns:a="http://schemas.openxmlformats.org/drawingml/2006/main">
              <a:ext uri="{FF2B5EF4-FFF2-40B4-BE49-F238E27FC236}">
                <a16:creationId xmlns:a16="http://schemas.microsoft.com/office/drawing/2014/main" id="{BAA7BAE8-6B49-4FE0-9F8A-E4C03617F57E}"/>
              </a:ext>
            </a:extLst>
          </p:cNvPr>
          <p:cNvSpPr>
            <a:spLocks xmlns:a="http://schemas.openxmlformats.org/drawingml/2006/main" noGrp="1"/>
          </p:cNvSpPr>
          <p:nvPr/>
        </p:nvSpPr>
        <p:spPr>
          <a:xfrm xmlns:a="http://schemas.openxmlformats.org/drawingml/2006/main">
            <a:off x="2667000" y="3409950"/>
            <a:ext cx="12573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172738"/>
                </a:solidFill>
                <a:latin typeface="Apple SD Gothic Neo"/>
                <a:ea typeface="Apple SD Gothic Neo"/>
                <a:cs typeface="Apple SD Gothic Neo"/>
              </a:defRPr>
            </a:defPPr>
          </a:lstStyle>
          <a:p xmlns:a="http://schemas.openxmlformats.org/drawingml/2006/main">
            <a:pPr>
              <a:buNone/>
              <a:defRPr sz="1500" b="0">
                <a:solidFill>
                  <a:srgbClr val="172738"/>
                </a:solidFill>
                <a:latin typeface="Apple SD Gothic Neo"/>
                <a:ea typeface="Apple SD Gothic Neo"/>
                <a:cs typeface="Apple SD Gothic Neo"/>
              </a:defRPr>
            </a:pPr>
            <a:r>
              <a:rPr sz="1500" b="0">
                <a:solidFill>
                  <a:srgbClr val="172738"/>
                </a:solidFill>
                <a:latin typeface="Apple SD Gothic Neo"/>
                <a:ea typeface="Apple SD Gothic Neo"/>
                <a:cs typeface="Apple SD Gothic Neo"/>
              </a:rPr>
              <a:t>CH · PL · q</a:t>
            </a:r>
          </a:p>
          <a:p xmlns:a="http://schemas.openxmlformats.org/drawingml/2006/main">
            <a:pPr>
              <a:buNone/>
              <a:defRPr sz="1500" b="0">
                <a:solidFill>
                  <a:srgbClr val="172738"/>
                </a:solidFill>
                <a:latin typeface="Apple SD Gothic Neo"/>
                <a:ea typeface="Apple SD Gothic Neo"/>
                <a:cs typeface="Apple SD Gothic Neo"/>
              </a:defRPr>
            </a:pPr>
            <a:r>
              <a:rPr sz="1500" b="0">
                <a:solidFill>
                  <a:srgbClr val="172738"/>
                </a:solidFill>
                <a:latin typeface="Apple SD Gothic Neo"/>
                <a:ea typeface="Apple SD Gothic Neo"/>
                <a:cs typeface="Apple SD Gothic Neo"/>
              </a:rPr>
              <a:t>+ page offset</a:t>
            </a:r>
          </a:p>
        </p:txBody>
      </p:sp>
      <p:cxnSp>
        <p:nvCxnSpPr>
          <p:cNvPr id="25" name="mapped-address-out">
            <a:extLst xmlns:a="http://schemas.openxmlformats.org/drawingml/2006/main">
              <a:ext uri="{FF2B5EF4-FFF2-40B4-BE49-F238E27FC236}">
                <a16:creationId xmlns:a16="http://schemas.microsoft.com/office/drawing/2014/main" id="{3E5BFFCE-939C-405A-870C-5AA13363F7DE}"/>
              </a:ext>
            </a:extLst>
          </p:cNvPr>
          <p:cNvCxnSpPr/>
          <p:nvPr/>
        </p:nvCxnSpPr>
        <p:spPr>
          <a:xfrm xmlns:a="http://schemas.openxmlformats.org/drawingml/2006/main">
            <a:off x="3962400" y="3409950"/>
            <a:ext cx="238125" cy="0"/>
          </a:xfrm>
          <a:prstGeom xmlns:a="http://schemas.openxmlformats.org/drawingml/2006/main" prst="straightConnector1">
            <a:avLst/>
          </a:prstGeom>
          <a:ln xmlns:a="http://schemas.openxmlformats.org/drawingml/2006/main" w="19050">
            <a:solidFill>
              <a:srgbClr val="126DCA"/>
            </a:solidFill>
            <a:prstDash val="solid"/>
          </a:ln>
        </p:spPr>
      </p:cxnSp>
      <p:cxnSp>
        <p:nvCxnSpPr>
          <p:cNvPr id="26" name="mapping-up-to-channels">
            <a:extLst xmlns:a="http://schemas.openxmlformats.org/drawingml/2006/main">
              <a:ext uri="{FF2B5EF4-FFF2-40B4-BE49-F238E27FC236}">
                <a16:creationId xmlns:a16="http://schemas.microsoft.com/office/drawing/2014/main" id="{20443218-0B27-4DDD-9950-C135D41572BC}"/>
              </a:ext>
            </a:extLst>
          </p:cNvPr>
          <p:cNvCxnSpPr/>
          <p:nvPr/>
        </p:nvCxnSpPr>
        <p:spPr>
          <a:xfrm xmlns:a="http://schemas.openxmlformats.org/drawingml/2006/main">
            <a:off x="4200525" y="2209800"/>
            <a:ext cx="0" cy="1200150"/>
          </a:xfrm>
          <a:prstGeom xmlns:a="http://schemas.openxmlformats.org/drawingml/2006/main" prst="straightConnector1">
            <a:avLst/>
          </a:prstGeom>
          <a:ln xmlns:a="http://schemas.openxmlformats.org/drawingml/2006/main" w="19050">
            <a:solidFill>
              <a:srgbClr val="126DCA"/>
            </a:solidFill>
            <a:prstDash val="solid"/>
          </a:ln>
        </p:spPr>
      </p:cxnSp>
      <p:cxnSp>
        <p:nvCxnSpPr>
          <p:cNvPr id="27" name="mapping-channel-fanout">
            <a:extLst xmlns:a="http://schemas.openxmlformats.org/drawingml/2006/main">
              <a:ext uri="{FF2B5EF4-FFF2-40B4-BE49-F238E27FC236}">
                <a16:creationId xmlns:a16="http://schemas.microsoft.com/office/drawing/2014/main" id="{249F9D5B-3F9B-4CB4-9095-82D795A7E7E1}"/>
              </a:ext>
            </a:extLst>
          </p:cNvPr>
          <p:cNvCxnSpPr/>
          <p:nvPr/>
        </p:nvCxnSpPr>
        <p:spPr>
          <a:xfrm xmlns:a="http://schemas.openxmlformats.org/drawingml/2006/main">
            <a:off x="4200525" y="2209800"/>
            <a:ext cx="6648450" cy="0"/>
          </a:xfrm>
          <a:prstGeom xmlns:a="http://schemas.openxmlformats.org/drawingml/2006/main" prst="straightConnector1">
            <a:avLst/>
          </a:prstGeom>
          <a:ln xmlns:a="http://schemas.openxmlformats.org/drawingml/2006/main" w="19050">
            <a:solidFill>
              <a:srgbClr val="126DCA"/>
            </a:solidFill>
            <a:prstDash val="solid"/>
          </a:ln>
        </p:spPr>
      </p:cxnSp>
      <p:sp>
        <p:nvSpPr>
          <p:cNvPr id="28" name="placement-channel-0">
            <a:extLst xmlns:a="http://schemas.openxmlformats.org/drawingml/2006/main">
              <a:ext uri="{FF2B5EF4-FFF2-40B4-BE49-F238E27FC236}">
                <a16:creationId xmlns:a16="http://schemas.microsoft.com/office/drawing/2014/main" id="{15FDA524-7ABC-4581-A524-7C8ADBA76092}"/>
              </a:ext>
            </a:extLst>
          </p:cNvPr>
          <p:cNvSpPr>
            <a:spLocks xmlns:a="http://schemas.openxmlformats.org/drawingml/2006/main" noGrp="1"/>
          </p:cNvSpPr>
          <p:nvPr/>
        </p:nvSpPr>
        <p:spPr>
          <a:xfrm xmlns:a="http://schemas.openxmlformats.org/drawingml/2006/main">
            <a:off x="4495800" y="2400300"/>
            <a:ext cx="1619250" cy="1905000"/>
          </a:xfrm>
          <a:prstGeom xmlns:a="http://schemas.openxmlformats.org/drawingml/2006/main" prst="rect">
            <a:avLst/>
          </a:prstGeom>
          <a:solidFill xmlns:a="http://schemas.openxmlformats.org/drawingml/2006/main">
            <a:srgbClr val="FFFFFF"/>
          </a:solidFill>
          <a:ln xmlns:a="http://schemas.openxmlformats.org/drawingml/2006/main" w="14288">
            <a:solidFill>
              <a:srgbClr val="DFE6EB"/>
            </a:solidFill>
            <a:prstDash val="solid"/>
          </a:ln>
        </p:spPr>
        <p:txBody>
          <a:bodyPr xmlns:a="http://schemas.openxmlformats.org/drawingml/2006/main"/>
          <a:lstStyle xmlns:a="http://schemas.openxmlformats.org/drawingml/2006/main"/>
          <a:p xmlns:a="http://schemas.openxmlformats.org/drawingml/2006/main">
            <a:endParaRPr/>
          </a:p>
        </p:txBody>
      </p:sp>
      <p:sp>
        <p:nvSpPr>
          <p:cNvPr id="29" name="placement-channel-label-0">
            <a:extLst xmlns:a="http://schemas.openxmlformats.org/drawingml/2006/main">
              <a:ext uri="{FF2B5EF4-FFF2-40B4-BE49-F238E27FC236}">
                <a16:creationId xmlns:a16="http://schemas.microsoft.com/office/drawing/2014/main" id="{55A09BB7-FAEB-424D-8CA8-B78100E016F3}"/>
              </a:ext>
            </a:extLst>
          </p:cNvPr>
          <p:cNvSpPr>
            <a:spLocks xmlns:a="http://schemas.openxmlformats.org/drawingml/2006/main" noGrp="1"/>
          </p:cNvSpPr>
          <p:nvPr/>
        </p:nvSpPr>
        <p:spPr>
          <a:xfrm xmlns:a="http://schemas.openxmlformats.org/drawingml/2006/main">
            <a:off x="4619625" y="2486025"/>
            <a:ext cx="1466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1">
                <a:solidFill>
                  <a:srgbClr val="172738"/>
                </a:solidFill>
                <a:latin typeface="Apple SD Gothic Neo"/>
                <a:ea typeface="Apple SD Gothic Neo"/>
                <a:cs typeface="Apple SD Gothic Neo"/>
              </a:defRPr>
            </a:defPPr>
          </a:lstStyle>
          <a:p xmlns:a="http://schemas.openxmlformats.org/drawingml/2006/main">
            <a:pPr>
              <a:buNone/>
              <a:defRPr sz="1725" b="1">
                <a:solidFill>
                  <a:srgbClr val="172738"/>
                </a:solidFill>
                <a:latin typeface="Apple SD Gothic Neo"/>
                <a:ea typeface="Apple SD Gothic Neo"/>
                <a:cs typeface="Apple SD Gothic Neo"/>
              </a:defRPr>
            </a:pPr>
            <a:r>
              <a:rPr sz="1725" b="1">
                <a:solidFill>
                  <a:srgbClr val="172738"/>
                </a:solidFill>
                <a:latin typeface="Apple SD Gothic Neo"/>
                <a:ea typeface="Apple SD Gothic Neo"/>
                <a:cs typeface="Apple SD Gothic Neo"/>
              </a:rPr>
              <a:t>CH0 · 16 Plane</a:t>
            </a:r>
          </a:p>
        </p:txBody>
      </p:sp>
      <p:cxnSp>
        <p:nvCxnSpPr>
          <p:cNvPr id="30" name="mapping-to-channel-0">
            <a:extLst xmlns:a="http://schemas.openxmlformats.org/drawingml/2006/main">
              <a:ext uri="{FF2B5EF4-FFF2-40B4-BE49-F238E27FC236}">
                <a16:creationId xmlns:a16="http://schemas.microsoft.com/office/drawing/2014/main" id="{63A89B97-F90A-4DD6-ABC4-074728734E02}"/>
              </a:ext>
            </a:extLst>
          </p:cNvPr>
          <p:cNvCxnSpPr/>
          <p:nvPr/>
        </p:nvCxnSpPr>
        <p:spPr>
          <a:xfrm xmlns:a="http://schemas.openxmlformats.org/drawingml/2006/main">
            <a:off x="5305425" y="2209800"/>
            <a:ext cx="0" cy="190500"/>
          </a:xfrm>
          <a:prstGeom xmlns:a="http://schemas.openxmlformats.org/drawingml/2006/main" prst="straightConnector1">
            <a:avLst/>
          </a:prstGeom>
          <a:ln xmlns:a="http://schemas.openxmlformats.org/drawingml/2006/main" w="19050">
            <a:solidFill>
              <a:srgbClr val="126DCA"/>
            </a:solidFill>
            <a:prstDash val="solid"/>
            <a:tailEnd type="triangle" w="med" len="med"/>
          </a:ln>
        </p:spPr>
      </p:cxnSp>
      <p:sp>
        <p:nvSpPr>
          <p:cNvPr id="31" name="region-0-channel-0">
            <a:extLst xmlns:a="http://schemas.openxmlformats.org/drawingml/2006/main">
              <a:ext uri="{FF2B5EF4-FFF2-40B4-BE49-F238E27FC236}">
                <a16:creationId xmlns:a16="http://schemas.microsoft.com/office/drawing/2014/main" id="{3036E529-BBDD-48F6-9F07-6DB392FFC1DB}"/>
              </a:ext>
            </a:extLst>
          </p:cNvPr>
          <p:cNvSpPr>
            <a:spLocks xmlns:a="http://schemas.openxmlformats.org/drawingml/2006/main" noGrp="1"/>
          </p:cNvSpPr>
          <p:nvPr/>
        </p:nvSpPr>
        <p:spPr>
          <a:xfrm xmlns:a="http://schemas.openxmlformats.org/drawingml/2006/main">
            <a:off x="4591050" y="2809875"/>
            <a:ext cx="1428750" cy="295275"/>
          </a:xfrm>
          <a:prstGeom xmlns:a="http://schemas.openxmlformats.org/drawingml/2006/main" prst="rect">
            <a:avLst/>
          </a:prstGeom>
          <a:solidFill xmlns:a="http://schemas.openxmlformats.org/drawingml/2006/main">
            <a:srgbClr val="EAF2FD"/>
          </a:solidFill>
          <a:ln xmlns:a="http://schemas.openxmlformats.org/drawingml/2006/main" w="14288">
            <a:solidFill>
              <a:srgbClr val="126DCA"/>
            </a:solidFill>
            <a:prstDash val="solid"/>
          </a:ln>
        </p:spPr>
        <p:txBody>
          <a:bodyPr xmlns:a="http://schemas.openxmlformats.org/drawingml/2006/main"/>
          <a:lstStyle xmlns:a="http://schemas.openxmlformats.org/drawingml/2006/main"/>
          <a:p xmlns:a="http://schemas.openxmlformats.org/drawingml/2006/main">
            <a:endParaRPr/>
          </a:p>
        </p:txBody>
      </p:sp>
      <p:sp>
        <p:nvSpPr>
          <p:cNvPr id="32" name="planes-0-channel-0">
            <a:extLst xmlns:a="http://schemas.openxmlformats.org/drawingml/2006/main">
              <a:ext uri="{FF2B5EF4-FFF2-40B4-BE49-F238E27FC236}">
                <a16:creationId xmlns:a16="http://schemas.microsoft.com/office/drawing/2014/main" id="{5C2095AA-B57F-45E0-954C-BCCF550E791E}"/>
              </a:ext>
            </a:extLst>
          </p:cNvPr>
          <p:cNvSpPr>
            <a:spLocks xmlns:a="http://schemas.openxmlformats.org/drawingml/2006/main" noGrp="1"/>
          </p:cNvSpPr>
          <p:nvPr/>
        </p:nvSpPr>
        <p:spPr>
          <a:xfrm xmlns:a="http://schemas.openxmlformats.org/drawingml/2006/main">
            <a:off x="4686300" y="2847975"/>
            <a:ext cx="12858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126DCA"/>
                </a:solidFill>
                <a:latin typeface="Apple SD Gothic Neo"/>
                <a:ea typeface="Apple SD Gothic Neo"/>
                <a:cs typeface="Apple SD Gothic Neo"/>
              </a:defRPr>
            </a:defPPr>
          </a:lstStyle>
          <a:p xmlns:a="http://schemas.openxmlformats.org/drawingml/2006/main">
            <a:pPr>
              <a:buNone/>
              <a:defRPr sz="1575" b="1">
                <a:solidFill>
                  <a:srgbClr val="126DCA"/>
                </a:solidFill>
                <a:latin typeface="Apple SD Gothic Neo"/>
                <a:ea typeface="Apple SD Gothic Neo"/>
                <a:cs typeface="Apple SD Gothic Neo"/>
              </a:defRPr>
            </a:pPr>
            <a:r>
              <a:rPr sz="1575" b="1">
                <a:solidFill>
                  <a:srgbClr val="126DCA"/>
                </a:solidFill>
                <a:latin typeface="Apple SD Gothic Neo"/>
                <a:ea typeface="Apple SD Gothic Neo"/>
                <a:cs typeface="Apple SD Gothic Neo"/>
              </a:rPr>
              <a:t>R0 · PL0–3</a:t>
            </a:r>
          </a:p>
        </p:txBody>
      </p:sp>
      <p:sp>
        <p:nvSpPr>
          <p:cNvPr id="33" name="region-1-channel-0">
            <a:extLst xmlns:a="http://schemas.openxmlformats.org/drawingml/2006/main">
              <a:ext uri="{FF2B5EF4-FFF2-40B4-BE49-F238E27FC236}">
                <a16:creationId xmlns:a16="http://schemas.microsoft.com/office/drawing/2014/main" id="{F2F73D72-CA32-46F5-A053-40508882F705}"/>
              </a:ext>
            </a:extLst>
          </p:cNvPr>
          <p:cNvSpPr>
            <a:spLocks xmlns:a="http://schemas.openxmlformats.org/drawingml/2006/main" noGrp="1"/>
          </p:cNvSpPr>
          <p:nvPr/>
        </p:nvSpPr>
        <p:spPr>
          <a:xfrm xmlns:a="http://schemas.openxmlformats.org/drawingml/2006/main">
            <a:off x="4591050" y="3162300"/>
            <a:ext cx="1428750" cy="295275"/>
          </a:xfrm>
          <a:prstGeom xmlns:a="http://schemas.openxmlformats.org/drawingml/2006/main" prst="rect">
            <a:avLst/>
          </a:prstGeom>
          <a:solidFill xmlns:a="http://schemas.openxmlformats.org/drawingml/2006/main">
            <a:srgbClr val="E9F5F2"/>
          </a:solidFill>
          <a:ln xmlns:a="http://schemas.openxmlformats.org/drawingml/2006/main" w="14288">
            <a:solidFill>
              <a:srgbClr val="008B82"/>
            </a:solidFill>
            <a:prstDash val="solid"/>
          </a:ln>
        </p:spPr>
        <p:txBody>
          <a:bodyPr xmlns:a="http://schemas.openxmlformats.org/drawingml/2006/main"/>
          <a:lstStyle xmlns:a="http://schemas.openxmlformats.org/drawingml/2006/main"/>
          <a:p xmlns:a="http://schemas.openxmlformats.org/drawingml/2006/main">
            <a:endParaRPr/>
          </a:p>
        </p:txBody>
      </p:sp>
      <p:sp>
        <p:nvSpPr>
          <p:cNvPr id="34" name="planes-1-channel-0">
            <a:extLst xmlns:a="http://schemas.openxmlformats.org/drawingml/2006/main">
              <a:ext uri="{FF2B5EF4-FFF2-40B4-BE49-F238E27FC236}">
                <a16:creationId xmlns:a16="http://schemas.microsoft.com/office/drawing/2014/main" id="{3ED80932-5E0E-46F0-BC0D-714ACE55BB87}"/>
              </a:ext>
            </a:extLst>
          </p:cNvPr>
          <p:cNvSpPr>
            <a:spLocks xmlns:a="http://schemas.openxmlformats.org/drawingml/2006/main" noGrp="1"/>
          </p:cNvSpPr>
          <p:nvPr/>
        </p:nvSpPr>
        <p:spPr>
          <a:xfrm xmlns:a="http://schemas.openxmlformats.org/drawingml/2006/main">
            <a:off x="4686300" y="3200400"/>
            <a:ext cx="12858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008B82"/>
                </a:solidFill>
                <a:latin typeface="Apple SD Gothic Neo"/>
                <a:ea typeface="Apple SD Gothic Neo"/>
                <a:cs typeface="Apple SD Gothic Neo"/>
              </a:defRPr>
            </a:defPPr>
          </a:lstStyle>
          <a:p xmlns:a="http://schemas.openxmlformats.org/drawingml/2006/main">
            <a:pPr>
              <a:buNone/>
              <a:defRPr sz="1575" b="1">
                <a:solidFill>
                  <a:srgbClr val="008B82"/>
                </a:solidFill>
                <a:latin typeface="Apple SD Gothic Neo"/>
                <a:ea typeface="Apple SD Gothic Neo"/>
                <a:cs typeface="Apple SD Gothic Neo"/>
              </a:defRPr>
            </a:pPr>
            <a:r>
              <a:rPr sz="1575" b="1">
                <a:solidFill>
                  <a:srgbClr val="008B82"/>
                </a:solidFill>
                <a:latin typeface="Apple SD Gothic Neo"/>
                <a:ea typeface="Apple SD Gothic Neo"/>
                <a:cs typeface="Apple SD Gothic Neo"/>
              </a:rPr>
              <a:t>R1 · PL4–7</a:t>
            </a:r>
          </a:p>
        </p:txBody>
      </p:sp>
      <p:sp>
        <p:nvSpPr>
          <p:cNvPr id="35" name="region-2-channel-0">
            <a:extLst xmlns:a="http://schemas.openxmlformats.org/drawingml/2006/main">
              <a:ext uri="{FF2B5EF4-FFF2-40B4-BE49-F238E27FC236}">
                <a16:creationId xmlns:a16="http://schemas.microsoft.com/office/drawing/2014/main" id="{AD9B978A-7D53-4455-B0D9-17E0CE9BBC06}"/>
              </a:ext>
            </a:extLst>
          </p:cNvPr>
          <p:cNvSpPr>
            <a:spLocks xmlns:a="http://schemas.openxmlformats.org/drawingml/2006/main" noGrp="1"/>
          </p:cNvSpPr>
          <p:nvPr/>
        </p:nvSpPr>
        <p:spPr>
          <a:xfrm xmlns:a="http://schemas.openxmlformats.org/drawingml/2006/main">
            <a:off x="4591050" y="3514725"/>
            <a:ext cx="1428750" cy="295275"/>
          </a:xfrm>
          <a:prstGeom xmlns:a="http://schemas.openxmlformats.org/drawingml/2006/main" prst="rect">
            <a:avLst/>
          </a:prstGeom>
          <a:solidFill xmlns:a="http://schemas.openxmlformats.org/drawingml/2006/main">
            <a:srgbClr val="FCF3E3"/>
          </a:solidFill>
          <a:ln xmlns:a="http://schemas.openxmlformats.org/drawingml/2006/main" w="14288">
            <a:solidFill>
              <a:srgbClr val="A96715"/>
            </a:solidFill>
            <a:prstDash val="solid"/>
          </a:ln>
        </p:spPr>
        <p:txBody>
          <a:bodyPr xmlns:a="http://schemas.openxmlformats.org/drawingml/2006/main"/>
          <a:lstStyle xmlns:a="http://schemas.openxmlformats.org/drawingml/2006/main"/>
          <a:p xmlns:a="http://schemas.openxmlformats.org/drawingml/2006/main">
            <a:endParaRPr/>
          </a:p>
        </p:txBody>
      </p:sp>
      <p:sp>
        <p:nvSpPr>
          <p:cNvPr id="36" name="planes-2-channel-0">
            <a:extLst xmlns:a="http://schemas.openxmlformats.org/drawingml/2006/main">
              <a:ext uri="{FF2B5EF4-FFF2-40B4-BE49-F238E27FC236}">
                <a16:creationId xmlns:a16="http://schemas.microsoft.com/office/drawing/2014/main" id="{4B92EEB4-FDF6-45E5-91C0-8711A0D868D9}"/>
              </a:ext>
            </a:extLst>
          </p:cNvPr>
          <p:cNvSpPr>
            <a:spLocks xmlns:a="http://schemas.openxmlformats.org/drawingml/2006/main" noGrp="1"/>
          </p:cNvSpPr>
          <p:nvPr/>
        </p:nvSpPr>
        <p:spPr>
          <a:xfrm xmlns:a="http://schemas.openxmlformats.org/drawingml/2006/main">
            <a:off x="4686300" y="3552825"/>
            <a:ext cx="12858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A96715"/>
                </a:solidFill>
                <a:latin typeface="Apple SD Gothic Neo"/>
                <a:ea typeface="Apple SD Gothic Neo"/>
                <a:cs typeface="Apple SD Gothic Neo"/>
              </a:defRPr>
            </a:defPPr>
          </a:lstStyle>
          <a:p xmlns:a="http://schemas.openxmlformats.org/drawingml/2006/main">
            <a:pPr>
              <a:buNone/>
              <a:defRPr sz="1575" b="1">
                <a:solidFill>
                  <a:srgbClr val="A96715"/>
                </a:solidFill>
                <a:latin typeface="Apple SD Gothic Neo"/>
                <a:ea typeface="Apple SD Gothic Neo"/>
                <a:cs typeface="Apple SD Gothic Neo"/>
              </a:defRPr>
            </a:pPr>
            <a:r>
              <a:rPr sz="1575" b="1">
                <a:solidFill>
                  <a:srgbClr val="A96715"/>
                </a:solidFill>
                <a:latin typeface="Apple SD Gothic Neo"/>
                <a:ea typeface="Apple SD Gothic Neo"/>
                <a:cs typeface="Apple SD Gothic Neo"/>
              </a:rPr>
              <a:t>R2 · PL8–11</a:t>
            </a:r>
          </a:p>
        </p:txBody>
      </p:sp>
      <p:sp>
        <p:nvSpPr>
          <p:cNvPr id="37" name="region-3-channel-0">
            <a:extLst xmlns:a="http://schemas.openxmlformats.org/drawingml/2006/main">
              <a:ext uri="{FF2B5EF4-FFF2-40B4-BE49-F238E27FC236}">
                <a16:creationId xmlns:a16="http://schemas.microsoft.com/office/drawing/2014/main" id="{C0D97D9D-47BB-4D00-AECC-CE03CC28EE82}"/>
              </a:ext>
            </a:extLst>
          </p:cNvPr>
          <p:cNvSpPr>
            <a:spLocks xmlns:a="http://schemas.openxmlformats.org/drawingml/2006/main" noGrp="1"/>
          </p:cNvSpPr>
          <p:nvPr/>
        </p:nvSpPr>
        <p:spPr>
          <a:xfrm xmlns:a="http://schemas.openxmlformats.org/drawingml/2006/main">
            <a:off x="4591050" y="3867150"/>
            <a:ext cx="1428750" cy="295275"/>
          </a:xfrm>
          <a:prstGeom xmlns:a="http://schemas.openxmlformats.org/drawingml/2006/main" prst="rect">
            <a:avLst/>
          </a:prstGeom>
          <a:solidFill xmlns:a="http://schemas.openxmlformats.org/drawingml/2006/main">
            <a:srgbClr val="F0EBF7"/>
          </a:solidFill>
          <a:ln xmlns:a="http://schemas.openxmlformats.org/drawingml/2006/main" w="14288">
            <a:solidFill>
              <a:srgbClr val="7553A2"/>
            </a:solidFill>
            <a:prstDash val="solid"/>
          </a:ln>
        </p:spPr>
        <p:txBody>
          <a:bodyPr xmlns:a="http://schemas.openxmlformats.org/drawingml/2006/main"/>
          <a:lstStyle xmlns:a="http://schemas.openxmlformats.org/drawingml/2006/main"/>
          <a:p xmlns:a="http://schemas.openxmlformats.org/drawingml/2006/main">
            <a:endParaRPr/>
          </a:p>
        </p:txBody>
      </p:sp>
      <p:sp>
        <p:nvSpPr>
          <p:cNvPr id="38" name="planes-3-channel-0">
            <a:extLst xmlns:a="http://schemas.openxmlformats.org/drawingml/2006/main">
              <a:ext uri="{FF2B5EF4-FFF2-40B4-BE49-F238E27FC236}">
                <a16:creationId xmlns:a16="http://schemas.microsoft.com/office/drawing/2014/main" id="{23502003-466C-4EA6-8C1F-52A838745798}"/>
              </a:ext>
            </a:extLst>
          </p:cNvPr>
          <p:cNvSpPr>
            <a:spLocks xmlns:a="http://schemas.openxmlformats.org/drawingml/2006/main" noGrp="1"/>
          </p:cNvSpPr>
          <p:nvPr/>
        </p:nvSpPr>
        <p:spPr>
          <a:xfrm xmlns:a="http://schemas.openxmlformats.org/drawingml/2006/main">
            <a:off x="4686300" y="3905250"/>
            <a:ext cx="12858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7553A2"/>
                </a:solidFill>
                <a:latin typeface="Apple SD Gothic Neo"/>
                <a:ea typeface="Apple SD Gothic Neo"/>
                <a:cs typeface="Apple SD Gothic Neo"/>
              </a:defRPr>
            </a:defPPr>
          </a:lstStyle>
          <a:p xmlns:a="http://schemas.openxmlformats.org/drawingml/2006/main">
            <a:pPr>
              <a:buNone/>
              <a:defRPr sz="1575" b="1">
                <a:solidFill>
                  <a:srgbClr val="7553A2"/>
                </a:solidFill>
                <a:latin typeface="Apple SD Gothic Neo"/>
                <a:ea typeface="Apple SD Gothic Neo"/>
                <a:cs typeface="Apple SD Gothic Neo"/>
              </a:defRPr>
            </a:pPr>
            <a:r>
              <a:rPr sz="1575" b="1">
                <a:solidFill>
                  <a:srgbClr val="7553A2"/>
                </a:solidFill>
                <a:latin typeface="Apple SD Gothic Neo"/>
                <a:ea typeface="Apple SD Gothic Neo"/>
                <a:cs typeface="Apple SD Gothic Neo"/>
              </a:rPr>
              <a:t>R3 · PL12–15</a:t>
            </a:r>
          </a:p>
        </p:txBody>
      </p:sp>
      <p:sp>
        <p:nvSpPr>
          <p:cNvPr id="39" name="placement-channel-1">
            <a:extLst xmlns:a="http://schemas.openxmlformats.org/drawingml/2006/main">
              <a:ext uri="{FF2B5EF4-FFF2-40B4-BE49-F238E27FC236}">
                <a16:creationId xmlns:a16="http://schemas.microsoft.com/office/drawing/2014/main" id="{686FE1C4-8474-4FF9-9555-2F54455F983A}"/>
              </a:ext>
            </a:extLst>
          </p:cNvPr>
          <p:cNvSpPr>
            <a:spLocks xmlns:a="http://schemas.openxmlformats.org/drawingml/2006/main" noGrp="1"/>
          </p:cNvSpPr>
          <p:nvPr/>
        </p:nvSpPr>
        <p:spPr>
          <a:xfrm xmlns:a="http://schemas.openxmlformats.org/drawingml/2006/main">
            <a:off x="6343650" y="2400300"/>
            <a:ext cx="1619250" cy="1905000"/>
          </a:xfrm>
          <a:prstGeom xmlns:a="http://schemas.openxmlformats.org/drawingml/2006/main" prst="rect">
            <a:avLst/>
          </a:prstGeom>
          <a:solidFill xmlns:a="http://schemas.openxmlformats.org/drawingml/2006/main">
            <a:srgbClr val="FFFFFF"/>
          </a:solidFill>
          <a:ln xmlns:a="http://schemas.openxmlformats.org/drawingml/2006/main" w="14288">
            <a:solidFill>
              <a:srgbClr val="DFE6EB"/>
            </a:solidFill>
            <a:prstDash val="solid"/>
          </a:ln>
        </p:spPr>
        <p:txBody>
          <a:bodyPr xmlns:a="http://schemas.openxmlformats.org/drawingml/2006/main"/>
          <a:lstStyle xmlns:a="http://schemas.openxmlformats.org/drawingml/2006/main"/>
          <a:p xmlns:a="http://schemas.openxmlformats.org/drawingml/2006/main">
            <a:endParaRPr/>
          </a:p>
        </p:txBody>
      </p:sp>
      <p:sp>
        <p:nvSpPr>
          <p:cNvPr id="40" name="placement-channel-label-1">
            <a:extLst xmlns:a="http://schemas.openxmlformats.org/drawingml/2006/main">
              <a:ext uri="{FF2B5EF4-FFF2-40B4-BE49-F238E27FC236}">
                <a16:creationId xmlns:a16="http://schemas.microsoft.com/office/drawing/2014/main" id="{34053B1F-FCE6-4D75-A0E9-C7CF63CF5FDE}"/>
              </a:ext>
            </a:extLst>
          </p:cNvPr>
          <p:cNvSpPr>
            <a:spLocks xmlns:a="http://schemas.openxmlformats.org/drawingml/2006/main" noGrp="1"/>
          </p:cNvSpPr>
          <p:nvPr/>
        </p:nvSpPr>
        <p:spPr>
          <a:xfrm xmlns:a="http://schemas.openxmlformats.org/drawingml/2006/main">
            <a:off x="6467475" y="2486025"/>
            <a:ext cx="1466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1">
                <a:solidFill>
                  <a:srgbClr val="172738"/>
                </a:solidFill>
                <a:latin typeface="Apple SD Gothic Neo"/>
                <a:ea typeface="Apple SD Gothic Neo"/>
                <a:cs typeface="Apple SD Gothic Neo"/>
              </a:defRPr>
            </a:defPPr>
          </a:lstStyle>
          <a:p xmlns:a="http://schemas.openxmlformats.org/drawingml/2006/main">
            <a:pPr>
              <a:buNone/>
              <a:defRPr sz="1725" b="1">
                <a:solidFill>
                  <a:srgbClr val="172738"/>
                </a:solidFill>
                <a:latin typeface="Apple SD Gothic Neo"/>
                <a:ea typeface="Apple SD Gothic Neo"/>
                <a:cs typeface="Apple SD Gothic Neo"/>
              </a:defRPr>
            </a:pPr>
            <a:r>
              <a:rPr sz="1725" b="1">
                <a:solidFill>
                  <a:srgbClr val="172738"/>
                </a:solidFill>
                <a:latin typeface="Apple SD Gothic Neo"/>
                <a:ea typeface="Apple SD Gothic Neo"/>
                <a:cs typeface="Apple SD Gothic Neo"/>
              </a:rPr>
              <a:t>CH1 · 16 Plane</a:t>
            </a:r>
          </a:p>
        </p:txBody>
      </p:sp>
      <p:cxnSp>
        <p:nvCxnSpPr>
          <p:cNvPr id="41" name="mapping-to-channel-1">
            <a:extLst xmlns:a="http://schemas.openxmlformats.org/drawingml/2006/main">
              <a:ext uri="{FF2B5EF4-FFF2-40B4-BE49-F238E27FC236}">
                <a16:creationId xmlns:a16="http://schemas.microsoft.com/office/drawing/2014/main" id="{802C9051-9A99-4D5D-95E7-4133BF4AB37A}"/>
              </a:ext>
            </a:extLst>
          </p:cNvPr>
          <p:cNvCxnSpPr/>
          <p:nvPr/>
        </p:nvCxnSpPr>
        <p:spPr>
          <a:xfrm xmlns:a="http://schemas.openxmlformats.org/drawingml/2006/main">
            <a:off x="7153275" y="2209800"/>
            <a:ext cx="0" cy="190500"/>
          </a:xfrm>
          <a:prstGeom xmlns:a="http://schemas.openxmlformats.org/drawingml/2006/main" prst="straightConnector1">
            <a:avLst/>
          </a:prstGeom>
          <a:ln xmlns:a="http://schemas.openxmlformats.org/drawingml/2006/main" w="19050">
            <a:solidFill>
              <a:srgbClr val="126DCA"/>
            </a:solidFill>
            <a:prstDash val="solid"/>
            <a:tailEnd type="triangle" w="med" len="med"/>
          </a:ln>
        </p:spPr>
      </p:cxnSp>
      <p:sp>
        <p:nvSpPr>
          <p:cNvPr id="42" name="region-0-channel-1">
            <a:extLst xmlns:a="http://schemas.openxmlformats.org/drawingml/2006/main">
              <a:ext uri="{FF2B5EF4-FFF2-40B4-BE49-F238E27FC236}">
                <a16:creationId xmlns:a16="http://schemas.microsoft.com/office/drawing/2014/main" id="{7C5BAF5D-D06B-4390-A18F-A5FB2306AFD1}"/>
              </a:ext>
            </a:extLst>
          </p:cNvPr>
          <p:cNvSpPr>
            <a:spLocks xmlns:a="http://schemas.openxmlformats.org/drawingml/2006/main" noGrp="1"/>
          </p:cNvSpPr>
          <p:nvPr/>
        </p:nvSpPr>
        <p:spPr>
          <a:xfrm xmlns:a="http://schemas.openxmlformats.org/drawingml/2006/main">
            <a:off x="6438900" y="2809875"/>
            <a:ext cx="1428750" cy="295275"/>
          </a:xfrm>
          <a:prstGeom xmlns:a="http://schemas.openxmlformats.org/drawingml/2006/main" prst="rect">
            <a:avLst/>
          </a:prstGeom>
          <a:solidFill xmlns:a="http://schemas.openxmlformats.org/drawingml/2006/main">
            <a:srgbClr val="EAF2FD"/>
          </a:solidFill>
          <a:ln xmlns:a="http://schemas.openxmlformats.org/drawingml/2006/main" w="14288">
            <a:solidFill>
              <a:srgbClr val="126DCA"/>
            </a:solidFill>
            <a:prstDash val="solid"/>
          </a:ln>
        </p:spPr>
        <p:txBody>
          <a:bodyPr xmlns:a="http://schemas.openxmlformats.org/drawingml/2006/main"/>
          <a:lstStyle xmlns:a="http://schemas.openxmlformats.org/drawingml/2006/main"/>
          <a:p xmlns:a="http://schemas.openxmlformats.org/drawingml/2006/main">
            <a:endParaRPr/>
          </a:p>
        </p:txBody>
      </p:sp>
      <p:sp>
        <p:nvSpPr>
          <p:cNvPr id="43" name="planes-0-channel-1">
            <a:extLst xmlns:a="http://schemas.openxmlformats.org/drawingml/2006/main">
              <a:ext uri="{FF2B5EF4-FFF2-40B4-BE49-F238E27FC236}">
                <a16:creationId xmlns:a16="http://schemas.microsoft.com/office/drawing/2014/main" id="{1C026614-930F-4EC2-8790-8009312B2EE2}"/>
              </a:ext>
            </a:extLst>
          </p:cNvPr>
          <p:cNvSpPr>
            <a:spLocks xmlns:a="http://schemas.openxmlformats.org/drawingml/2006/main" noGrp="1"/>
          </p:cNvSpPr>
          <p:nvPr/>
        </p:nvSpPr>
        <p:spPr>
          <a:xfrm xmlns:a="http://schemas.openxmlformats.org/drawingml/2006/main">
            <a:off x="6534150" y="2847975"/>
            <a:ext cx="12858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126DCA"/>
                </a:solidFill>
                <a:latin typeface="Apple SD Gothic Neo"/>
                <a:ea typeface="Apple SD Gothic Neo"/>
                <a:cs typeface="Apple SD Gothic Neo"/>
              </a:defRPr>
            </a:defPPr>
          </a:lstStyle>
          <a:p xmlns:a="http://schemas.openxmlformats.org/drawingml/2006/main">
            <a:pPr>
              <a:buNone/>
              <a:defRPr sz="1575" b="1">
                <a:solidFill>
                  <a:srgbClr val="126DCA"/>
                </a:solidFill>
                <a:latin typeface="Apple SD Gothic Neo"/>
                <a:ea typeface="Apple SD Gothic Neo"/>
                <a:cs typeface="Apple SD Gothic Neo"/>
              </a:defRPr>
            </a:pPr>
            <a:r>
              <a:rPr sz="1575" b="1">
                <a:solidFill>
                  <a:srgbClr val="126DCA"/>
                </a:solidFill>
                <a:latin typeface="Apple SD Gothic Neo"/>
                <a:ea typeface="Apple SD Gothic Neo"/>
                <a:cs typeface="Apple SD Gothic Neo"/>
              </a:rPr>
              <a:t>R0 · PL0–3</a:t>
            </a:r>
          </a:p>
        </p:txBody>
      </p:sp>
      <p:sp>
        <p:nvSpPr>
          <p:cNvPr id="44" name="region-1-channel-1">
            <a:extLst xmlns:a="http://schemas.openxmlformats.org/drawingml/2006/main">
              <a:ext uri="{FF2B5EF4-FFF2-40B4-BE49-F238E27FC236}">
                <a16:creationId xmlns:a16="http://schemas.microsoft.com/office/drawing/2014/main" id="{C3307529-BAD6-4525-B2E6-A14C762771F1}"/>
              </a:ext>
            </a:extLst>
          </p:cNvPr>
          <p:cNvSpPr>
            <a:spLocks xmlns:a="http://schemas.openxmlformats.org/drawingml/2006/main" noGrp="1"/>
          </p:cNvSpPr>
          <p:nvPr/>
        </p:nvSpPr>
        <p:spPr>
          <a:xfrm xmlns:a="http://schemas.openxmlformats.org/drawingml/2006/main">
            <a:off x="6438900" y="3162300"/>
            <a:ext cx="1428750" cy="295275"/>
          </a:xfrm>
          <a:prstGeom xmlns:a="http://schemas.openxmlformats.org/drawingml/2006/main" prst="rect">
            <a:avLst/>
          </a:prstGeom>
          <a:solidFill xmlns:a="http://schemas.openxmlformats.org/drawingml/2006/main">
            <a:srgbClr val="E9F5F2"/>
          </a:solidFill>
          <a:ln xmlns:a="http://schemas.openxmlformats.org/drawingml/2006/main" w="14288">
            <a:solidFill>
              <a:srgbClr val="008B82"/>
            </a:solidFill>
            <a:prstDash val="solid"/>
          </a:ln>
        </p:spPr>
        <p:txBody>
          <a:bodyPr xmlns:a="http://schemas.openxmlformats.org/drawingml/2006/main"/>
          <a:lstStyle xmlns:a="http://schemas.openxmlformats.org/drawingml/2006/main"/>
          <a:p xmlns:a="http://schemas.openxmlformats.org/drawingml/2006/main">
            <a:endParaRPr/>
          </a:p>
        </p:txBody>
      </p:sp>
      <p:sp>
        <p:nvSpPr>
          <p:cNvPr id="45" name="planes-1-channel-1">
            <a:extLst xmlns:a="http://schemas.openxmlformats.org/drawingml/2006/main">
              <a:ext uri="{FF2B5EF4-FFF2-40B4-BE49-F238E27FC236}">
                <a16:creationId xmlns:a16="http://schemas.microsoft.com/office/drawing/2014/main" id="{95E7A9B5-EDEB-4799-BF74-6B241FCB1F1B}"/>
              </a:ext>
            </a:extLst>
          </p:cNvPr>
          <p:cNvSpPr>
            <a:spLocks xmlns:a="http://schemas.openxmlformats.org/drawingml/2006/main" noGrp="1"/>
          </p:cNvSpPr>
          <p:nvPr/>
        </p:nvSpPr>
        <p:spPr>
          <a:xfrm xmlns:a="http://schemas.openxmlformats.org/drawingml/2006/main">
            <a:off x="6534150" y="3200400"/>
            <a:ext cx="12858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008B82"/>
                </a:solidFill>
                <a:latin typeface="Apple SD Gothic Neo"/>
                <a:ea typeface="Apple SD Gothic Neo"/>
                <a:cs typeface="Apple SD Gothic Neo"/>
              </a:defRPr>
            </a:defPPr>
          </a:lstStyle>
          <a:p xmlns:a="http://schemas.openxmlformats.org/drawingml/2006/main">
            <a:pPr>
              <a:buNone/>
              <a:defRPr sz="1575" b="1">
                <a:solidFill>
                  <a:srgbClr val="008B82"/>
                </a:solidFill>
                <a:latin typeface="Apple SD Gothic Neo"/>
                <a:ea typeface="Apple SD Gothic Neo"/>
                <a:cs typeface="Apple SD Gothic Neo"/>
              </a:defRPr>
            </a:pPr>
            <a:r>
              <a:rPr sz="1575" b="1">
                <a:solidFill>
                  <a:srgbClr val="008B82"/>
                </a:solidFill>
                <a:latin typeface="Apple SD Gothic Neo"/>
                <a:ea typeface="Apple SD Gothic Neo"/>
                <a:cs typeface="Apple SD Gothic Neo"/>
              </a:rPr>
              <a:t>R1 · PL4–7</a:t>
            </a:r>
          </a:p>
        </p:txBody>
      </p:sp>
      <p:sp>
        <p:nvSpPr>
          <p:cNvPr id="46" name="region-2-channel-1">
            <a:extLst xmlns:a="http://schemas.openxmlformats.org/drawingml/2006/main">
              <a:ext uri="{FF2B5EF4-FFF2-40B4-BE49-F238E27FC236}">
                <a16:creationId xmlns:a16="http://schemas.microsoft.com/office/drawing/2014/main" id="{3368881A-C586-497C-9492-504BBCCA8201}"/>
              </a:ext>
            </a:extLst>
          </p:cNvPr>
          <p:cNvSpPr>
            <a:spLocks xmlns:a="http://schemas.openxmlformats.org/drawingml/2006/main" noGrp="1"/>
          </p:cNvSpPr>
          <p:nvPr/>
        </p:nvSpPr>
        <p:spPr>
          <a:xfrm xmlns:a="http://schemas.openxmlformats.org/drawingml/2006/main">
            <a:off x="6438900" y="3514725"/>
            <a:ext cx="1428750" cy="295275"/>
          </a:xfrm>
          <a:prstGeom xmlns:a="http://schemas.openxmlformats.org/drawingml/2006/main" prst="rect">
            <a:avLst/>
          </a:prstGeom>
          <a:solidFill xmlns:a="http://schemas.openxmlformats.org/drawingml/2006/main">
            <a:srgbClr val="FCF3E3"/>
          </a:solidFill>
          <a:ln xmlns:a="http://schemas.openxmlformats.org/drawingml/2006/main" w="14288">
            <a:solidFill>
              <a:srgbClr val="A96715"/>
            </a:solidFill>
            <a:prstDash val="solid"/>
          </a:ln>
        </p:spPr>
        <p:txBody>
          <a:bodyPr xmlns:a="http://schemas.openxmlformats.org/drawingml/2006/main"/>
          <a:lstStyle xmlns:a="http://schemas.openxmlformats.org/drawingml/2006/main"/>
          <a:p xmlns:a="http://schemas.openxmlformats.org/drawingml/2006/main">
            <a:endParaRPr/>
          </a:p>
        </p:txBody>
      </p:sp>
      <p:sp>
        <p:nvSpPr>
          <p:cNvPr id="47" name="planes-2-channel-1">
            <a:extLst xmlns:a="http://schemas.openxmlformats.org/drawingml/2006/main">
              <a:ext uri="{FF2B5EF4-FFF2-40B4-BE49-F238E27FC236}">
                <a16:creationId xmlns:a16="http://schemas.microsoft.com/office/drawing/2014/main" id="{16EBBDC4-FB7C-4387-BDDF-34C705B659E5}"/>
              </a:ext>
            </a:extLst>
          </p:cNvPr>
          <p:cNvSpPr>
            <a:spLocks xmlns:a="http://schemas.openxmlformats.org/drawingml/2006/main" noGrp="1"/>
          </p:cNvSpPr>
          <p:nvPr/>
        </p:nvSpPr>
        <p:spPr>
          <a:xfrm xmlns:a="http://schemas.openxmlformats.org/drawingml/2006/main">
            <a:off x="6534150" y="3552825"/>
            <a:ext cx="12858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A96715"/>
                </a:solidFill>
                <a:latin typeface="Apple SD Gothic Neo"/>
                <a:ea typeface="Apple SD Gothic Neo"/>
                <a:cs typeface="Apple SD Gothic Neo"/>
              </a:defRPr>
            </a:defPPr>
          </a:lstStyle>
          <a:p xmlns:a="http://schemas.openxmlformats.org/drawingml/2006/main">
            <a:pPr>
              <a:buNone/>
              <a:defRPr sz="1575" b="1">
                <a:solidFill>
                  <a:srgbClr val="A96715"/>
                </a:solidFill>
                <a:latin typeface="Apple SD Gothic Neo"/>
                <a:ea typeface="Apple SD Gothic Neo"/>
                <a:cs typeface="Apple SD Gothic Neo"/>
              </a:defRPr>
            </a:pPr>
            <a:r>
              <a:rPr sz="1575" b="1">
                <a:solidFill>
                  <a:srgbClr val="A96715"/>
                </a:solidFill>
                <a:latin typeface="Apple SD Gothic Neo"/>
                <a:ea typeface="Apple SD Gothic Neo"/>
                <a:cs typeface="Apple SD Gothic Neo"/>
              </a:rPr>
              <a:t>R2 · PL8–11</a:t>
            </a:r>
          </a:p>
        </p:txBody>
      </p:sp>
      <p:sp>
        <p:nvSpPr>
          <p:cNvPr id="48" name="region-3-channel-1">
            <a:extLst xmlns:a="http://schemas.openxmlformats.org/drawingml/2006/main">
              <a:ext uri="{FF2B5EF4-FFF2-40B4-BE49-F238E27FC236}">
                <a16:creationId xmlns:a16="http://schemas.microsoft.com/office/drawing/2014/main" id="{290ED09E-A6BB-4A4B-A165-49D2AC7C1F91}"/>
              </a:ext>
            </a:extLst>
          </p:cNvPr>
          <p:cNvSpPr>
            <a:spLocks xmlns:a="http://schemas.openxmlformats.org/drawingml/2006/main" noGrp="1"/>
          </p:cNvSpPr>
          <p:nvPr/>
        </p:nvSpPr>
        <p:spPr>
          <a:xfrm xmlns:a="http://schemas.openxmlformats.org/drawingml/2006/main">
            <a:off x="6438900" y="3867150"/>
            <a:ext cx="1428750" cy="295275"/>
          </a:xfrm>
          <a:prstGeom xmlns:a="http://schemas.openxmlformats.org/drawingml/2006/main" prst="rect">
            <a:avLst/>
          </a:prstGeom>
          <a:solidFill xmlns:a="http://schemas.openxmlformats.org/drawingml/2006/main">
            <a:srgbClr val="F0EBF7"/>
          </a:solidFill>
          <a:ln xmlns:a="http://schemas.openxmlformats.org/drawingml/2006/main" w="14288">
            <a:solidFill>
              <a:srgbClr val="7553A2"/>
            </a:solidFill>
            <a:prstDash val="solid"/>
          </a:ln>
        </p:spPr>
        <p:txBody>
          <a:bodyPr xmlns:a="http://schemas.openxmlformats.org/drawingml/2006/main"/>
          <a:lstStyle xmlns:a="http://schemas.openxmlformats.org/drawingml/2006/main"/>
          <a:p xmlns:a="http://schemas.openxmlformats.org/drawingml/2006/main">
            <a:endParaRPr/>
          </a:p>
        </p:txBody>
      </p:sp>
      <p:sp>
        <p:nvSpPr>
          <p:cNvPr id="49" name="planes-3-channel-1">
            <a:extLst xmlns:a="http://schemas.openxmlformats.org/drawingml/2006/main">
              <a:ext uri="{FF2B5EF4-FFF2-40B4-BE49-F238E27FC236}">
                <a16:creationId xmlns:a16="http://schemas.microsoft.com/office/drawing/2014/main" id="{AF93A4FC-5A56-4640-93BD-49B09E43BC52}"/>
              </a:ext>
            </a:extLst>
          </p:cNvPr>
          <p:cNvSpPr>
            <a:spLocks xmlns:a="http://schemas.openxmlformats.org/drawingml/2006/main" noGrp="1"/>
          </p:cNvSpPr>
          <p:nvPr/>
        </p:nvSpPr>
        <p:spPr>
          <a:xfrm xmlns:a="http://schemas.openxmlformats.org/drawingml/2006/main">
            <a:off x="6534150" y="3905250"/>
            <a:ext cx="12858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7553A2"/>
                </a:solidFill>
                <a:latin typeface="Apple SD Gothic Neo"/>
                <a:ea typeface="Apple SD Gothic Neo"/>
                <a:cs typeface="Apple SD Gothic Neo"/>
              </a:defRPr>
            </a:defPPr>
          </a:lstStyle>
          <a:p xmlns:a="http://schemas.openxmlformats.org/drawingml/2006/main">
            <a:pPr>
              <a:buNone/>
              <a:defRPr sz="1575" b="1">
                <a:solidFill>
                  <a:srgbClr val="7553A2"/>
                </a:solidFill>
                <a:latin typeface="Apple SD Gothic Neo"/>
                <a:ea typeface="Apple SD Gothic Neo"/>
                <a:cs typeface="Apple SD Gothic Neo"/>
              </a:defRPr>
            </a:pPr>
            <a:r>
              <a:rPr sz="1575" b="1">
                <a:solidFill>
                  <a:srgbClr val="7553A2"/>
                </a:solidFill>
                <a:latin typeface="Apple SD Gothic Neo"/>
                <a:ea typeface="Apple SD Gothic Neo"/>
                <a:cs typeface="Apple SD Gothic Neo"/>
              </a:rPr>
              <a:t>R3 · PL12–15</a:t>
            </a:r>
          </a:p>
        </p:txBody>
      </p:sp>
      <p:sp>
        <p:nvSpPr>
          <p:cNvPr id="50" name="placement-channel-2">
            <a:extLst xmlns:a="http://schemas.openxmlformats.org/drawingml/2006/main">
              <a:ext uri="{FF2B5EF4-FFF2-40B4-BE49-F238E27FC236}">
                <a16:creationId xmlns:a16="http://schemas.microsoft.com/office/drawing/2014/main" id="{BEB2B063-623C-4A77-869E-59805F65E80D}"/>
              </a:ext>
            </a:extLst>
          </p:cNvPr>
          <p:cNvSpPr>
            <a:spLocks xmlns:a="http://schemas.openxmlformats.org/drawingml/2006/main" noGrp="1"/>
          </p:cNvSpPr>
          <p:nvPr/>
        </p:nvSpPr>
        <p:spPr>
          <a:xfrm xmlns:a="http://schemas.openxmlformats.org/drawingml/2006/main">
            <a:off x="8191500" y="2400300"/>
            <a:ext cx="1619250" cy="1905000"/>
          </a:xfrm>
          <a:prstGeom xmlns:a="http://schemas.openxmlformats.org/drawingml/2006/main" prst="rect">
            <a:avLst/>
          </a:prstGeom>
          <a:solidFill xmlns:a="http://schemas.openxmlformats.org/drawingml/2006/main">
            <a:srgbClr val="FFFFFF"/>
          </a:solidFill>
          <a:ln xmlns:a="http://schemas.openxmlformats.org/drawingml/2006/main" w="14288">
            <a:solidFill>
              <a:srgbClr val="DFE6EB"/>
            </a:solidFill>
            <a:prstDash val="solid"/>
          </a:ln>
        </p:spPr>
        <p:txBody>
          <a:bodyPr xmlns:a="http://schemas.openxmlformats.org/drawingml/2006/main"/>
          <a:lstStyle xmlns:a="http://schemas.openxmlformats.org/drawingml/2006/main"/>
          <a:p xmlns:a="http://schemas.openxmlformats.org/drawingml/2006/main">
            <a:endParaRPr/>
          </a:p>
        </p:txBody>
      </p:sp>
      <p:sp>
        <p:nvSpPr>
          <p:cNvPr id="51" name="placement-channel-label-2">
            <a:extLst xmlns:a="http://schemas.openxmlformats.org/drawingml/2006/main">
              <a:ext uri="{FF2B5EF4-FFF2-40B4-BE49-F238E27FC236}">
                <a16:creationId xmlns:a16="http://schemas.microsoft.com/office/drawing/2014/main" id="{CD6BB72F-F8D3-480F-A1DA-56A4852DCFAA}"/>
              </a:ext>
            </a:extLst>
          </p:cNvPr>
          <p:cNvSpPr>
            <a:spLocks xmlns:a="http://schemas.openxmlformats.org/drawingml/2006/main" noGrp="1"/>
          </p:cNvSpPr>
          <p:nvPr/>
        </p:nvSpPr>
        <p:spPr>
          <a:xfrm xmlns:a="http://schemas.openxmlformats.org/drawingml/2006/main">
            <a:off x="8315325" y="2486025"/>
            <a:ext cx="1466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1">
                <a:solidFill>
                  <a:srgbClr val="172738"/>
                </a:solidFill>
                <a:latin typeface="Apple SD Gothic Neo"/>
                <a:ea typeface="Apple SD Gothic Neo"/>
                <a:cs typeface="Apple SD Gothic Neo"/>
              </a:defRPr>
            </a:defPPr>
          </a:lstStyle>
          <a:p xmlns:a="http://schemas.openxmlformats.org/drawingml/2006/main">
            <a:pPr>
              <a:buNone/>
              <a:defRPr sz="1725" b="1">
                <a:solidFill>
                  <a:srgbClr val="172738"/>
                </a:solidFill>
                <a:latin typeface="Apple SD Gothic Neo"/>
                <a:ea typeface="Apple SD Gothic Neo"/>
                <a:cs typeface="Apple SD Gothic Neo"/>
              </a:defRPr>
            </a:pPr>
            <a:r>
              <a:rPr sz="1725" b="1">
                <a:solidFill>
                  <a:srgbClr val="172738"/>
                </a:solidFill>
                <a:latin typeface="Apple SD Gothic Neo"/>
                <a:ea typeface="Apple SD Gothic Neo"/>
                <a:cs typeface="Apple SD Gothic Neo"/>
              </a:rPr>
              <a:t>CH2 · 16 Plane</a:t>
            </a:r>
          </a:p>
        </p:txBody>
      </p:sp>
      <p:cxnSp>
        <p:nvCxnSpPr>
          <p:cNvPr id="52" name="mapping-to-channel-2">
            <a:extLst xmlns:a="http://schemas.openxmlformats.org/drawingml/2006/main">
              <a:ext uri="{FF2B5EF4-FFF2-40B4-BE49-F238E27FC236}">
                <a16:creationId xmlns:a16="http://schemas.microsoft.com/office/drawing/2014/main" id="{48EA76F8-B005-45BF-BB11-867F5F414ED4}"/>
              </a:ext>
            </a:extLst>
          </p:cNvPr>
          <p:cNvCxnSpPr/>
          <p:nvPr/>
        </p:nvCxnSpPr>
        <p:spPr>
          <a:xfrm xmlns:a="http://schemas.openxmlformats.org/drawingml/2006/main">
            <a:off x="9001125" y="2209800"/>
            <a:ext cx="0" cy="190500"/>
          </a:xfrm>
          <a:prstGeom xmlns:a="http://schemas.openxmlformats.org/drawingml/2006/main" prst="straightConnector1">
            <a:avLst/>
          </a:prstGeom>
          <a:ln xmlns:a="http://schemas.openxmlformats.org/drawingml/2006/main" w="19050">
            <a:solidFill>
              <a:srgbClr val="126DCA"/>
            </a:solidFill>
            <a:prstDash val="solid"/>
            <a:tailEnd type="triangle" w="med" len="med"/>
          </a:ln>
        </p:spPr>
      </p:cxnSp>
      <p:sp>
        <p:nvSpPr>
          <p:cNvPr id="53" name="region-0-channel-2">
            <a:extLst xmlns:a="http://schemas.openxmlformats.org/drawingml/2006/main">
              <a:ext uri="{FF2B5EF4-FFF2-40B4-BE49-F238E27FC236}">
                <a16:creationId xmlns:a16="http://schemas.microsoft.com/office/drawing/2014/main" id="{3BB60691-169D-40D1-ACDD-E3147EA72B01}"/>
              </a:ext>
            </a:extLst>
          </p:cNvPr>
          <p:cNvSpPr>
            <a:spLocks xmlns:a="http://schemas.openxmlformats.org/drawingml/2006/main" noGrp="1"/>
          </p:cNvSpPr>
          <p:nvPr/>
        </p:nvSpPr>
        <p:spPr>
          <a:xfrm xmlns:a="http://schemas.openxmlformats.org/drawingml/2006/main">
            <a:off x="8286750" y="2809875"/>
            <a:ext cx="1428750" cy="295275"/>
          </a:xfrm>
          <a:prstGeom xmlns:a="http://schemas.openxmlformats.org/drawingml/2006/main" prst="rect">
            <a:avLst/>
          </a:prstGeom>
          <a:solidFill xmlns:a="http://schemas.openxmlformats.org/drawingml/2006/main">
            <a:srgbClr val="EAF2FD"/>
          </a:solidFill>
          <a:ln xmlns:a="http://schemas.openxmlformats.org/drawingml/2006/main" w="14288">
            <a:solidFill>
              <a:srgbClr val="126DCA"/>
            </a:solidFill>
            <a:prstDash val="solid"/>
          </a:ln>
        </p:spPr>
        <p:txBody>
          <a:bodyPr xmlns:a="http://schemas.openxmlformats.org/drawingml/2006/main"/>
          <a:lstStyle xmlns:a="http://schemas.openxmlformats.org/drawingml/2006/main"/>
          <a:p xmlns:a="http://schemas.openxmlformats.org/drawingml/2006/main">
            <a:endParaRPr/>
          </a:p>
        </p:txBody>
      </p:sp>
      <p:sp>
        <p:nvSpPr>
          <p:cNvPr id="54" name="planes-0-channel-2">
            <a:extLst xmlns:a="http://schemas.openxmlformats.org/drawingml/2006/main">
              <a:ext uri="{FF2B5EF4-FFF2-40B4-BE49-F238E27FC236}">
                <a16:creationId xmlns:a16="http://schemas.microsoft.com/office/drawing/2014/main" id="{703A39A6-C771-44BE-BD46-44C5B7640541}"/>
              </a:ext>
            </a:extLst>
          </p:cNvPr>
          <p:cNvSpPr>
            <a:spLocks xmlns:a="http://schemas.openxmlformats.org/drawingml/2006/main" noGrp="1"/>
          </p:cNvSpPr>
          <p:nvPr/>
        </p:nvSpPr>
        <p:spPr>
          <a:xfrm xmlns:a="http://schemas.openxmlformats.org/drawingml/2006/main">
            <a:off x="8382000" y="2847975"/>
            <a:ext cx="12858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126DCA"/>
                </a:solidFill>
                <a:latin typeface="Apple SD Gothic Neo"/>
                <a:ea typeface="Apple SD Gothic Neo"/>
                <a:cs typeface="Apple SD Gothic Neo"/>
              </a:defRPr>
            </a:defPPr>
          </a:lstStyle>
          <a:p xmlns:a="http://schemas.openxmlformats.org/drawingml/2006/main">
            <a:pPr>
              <a:buNone/>
              <a:defRPr sz="1575" b="1">
                <a:solidFill>
                  <a:srgbClr val="126DCA"/>
                </a:solidFill>
                <a:latin typeface="Apple SD Gothic Neo"/>
                <a:ea typeface="Apple SD Gothic Neo"/>
                <a:cs typeface="Apple SD Gothic Neo"/>
              </a:defRPr>
            </a:pPr>
            <a:r>
              <a:rPr sz="1575" b="1">
                <a:solidFill>
                  <a:srgbClr val="126DCA"/>
                </a:solidFill>
                <a:latin typeface="Apple SD Gothic Neo"/>
                <a:ea typeface="Apple SD Gothic Neo"/>
                <a:cs typeface="Apple SD Gothic Neo"/>
              </a:rPr>
              <a:t>R0 · PL0–3</a:t>
            </a:r>
          </a:p>
        </p:txBody>
      </p:sp>
      <p:sp>
        <p:nvSpPr>
          <p:cNvPr id="55" name="region-1-channel-2">
            <a:extLst xmlns:a="http://schemas.openxmlformats.org/drawingml/2006/main">
              <a:ext uri="{FF2B5EF4-FFF2-40B4-BE49-F238E27FC236}">
                <a16:creationId xmlns:a16="http://schemas.microsoft.com/office/drawing/2014/main" id="{DA382E5F-A4AC-42AE-B50B-7689BA2AE280}"/>
              </a:ext>
            </a:extLst>
          </p:cNvPr>
          <p:cNvSpPr>
            <a:spLocks xmlns:a="http://schemas.openxmlformats.org/drawingml/2006/main" noGrp="1"/>
          </p:cNvSpPr>
          <p:nvPr/>
        </p:nvSpPr>
        <p:spPr>
          <a:xfrm xmlns:a="http://schemas.openxmlformats.org/drawingml/2006/main">
            <a:off x="8286750" y="3162300"/>
            <a:ext cx="1428750" cy="295275"/>
          </a:xfrm>
          <a:prstGeom xmlns:a="http://schemas.openxmlformats.org/drawingml/2006/main" prst="rect">
            <a:avLst/>
          </a:prstGeom>
          <a:solidFill xmlns:a="http://schemas.openxmlformats.org/drawingml/2006/main">
            <a:srgbClr val="E9F5F2"/>
          </a:solidFill>
          <a:ln xmlns:a="http://schemas.openxmlformats.org/drawingml/2006/main" w="14288">
            <a:solidFill>
              <a:srgbClr val="008B82"/>
            </a:solidFill>
            <a:prstDash val="solid"/>
          </a:ln>
        </p:spPr>
        <p:txBody>
          <a:bodyPr xmlns:a="http://schemas.openxmlformats.org/drawingml/2006/main"/>
          <a:lstStyle xmlns:a="http://schemas.openxmlformats.org/drawingml/2006/main"/>
          <a:p xmlns:a="http://schemas.openxmlformats.org/drawingml/2006/main">
            <a:endParaRPr/>
          </a:p>
        </p:txBody>
      </p:sp>
      <p:sp>
        <p:nvSpPr>
          <p:cNvPr id="56" name="planes-1-channel-2">
            <a:extLst xmlns:a="http://schemas.openxmlformats.org/drawingml/2006/main">
              <a:ext uri="{FF2B5EF4-FFF2-40B4-BE49-F238E27FC236}">
                <a16:creationId xmlns:a16="http://schemas.microsoft.com/office/drawing/2014/main" id="{55BF7972-D4BB-44C8-9CF1-00034755DBDC}"/>
              </a:ext>
            </a:extLst>
          </p:cNvPr>
          <p:cNvSpPr>
            <a:spLocks xmlns:a="http://schemas.openxmlformats.org/drawingml/2006/main" noGrp="1"/>
          </p:cNvSpPr>
          <p:nvPr/>
        </p:nvSpPr>
        <p:spPr>
          <a:xfrm xmlns:a="http://schemas.openxmlformats.org/drawingml/2006/main">
            <a:off x="8382000" y="3200400"/>
            <a:ext cx="12858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008B82"/>
                </a:solidFill>
                <a:latin typeface="Apple SD Gothic Neo"/>
                <a:ea typeface="Apple SD Gothic Neo"/>
                <a:cs typeface="Apple SD Gothic Neo"/>
              </a:defRPr>
            </a:defPPr>
          </a:lstStyle>
          <a:p xmlns:a="http://schemas.openxmlformats.org/drawingml/2006/main">
            <a:pPr>
              <a:buNone/>
              <a:defRPr sz="1575" b="1">
                <a:solidFill>
                  <a:srgbClr val="008B82"/>
                </a:solidFill>
                <a:latin typeface="Apple SD Gothic Neo"/>
                <a:ea typeface="Apple SD Gothic Neo"/>
                <a:cs typeface="Apple SD Gothic Neo"/>
              </a:defRPr>
            </a:pPr>
            <a:r>
              <a:rPr sz="1575" b="1">
                <a:solidFill>
                  <a:srgbClr val="008B82"/>
                </a:solidFill>
                <a:latin typeface="Apple SD Gothic Neo"/>
                <a:ea typeface="Apple SD Gothic Neo"/>
                <a:cs typeface="Apple SD Gothic Neo"/>
              </a:rPr>
              <a:t>R1 · PL4–7</a:t>
            </a:r>
          </a:p>
        </p:txBody>
      </p:sp>
      <p:sp>
        <p:nvSpPr>
          <p:cNvPr id="57" name="region-2-channel-2">
            <a:extLst xmlns:a="http://schemas.openxmlformats.org/drawingml/2006/main">
              <a:ext uri="{FF2B5EF4-FFF2-40B4-BE49-F238E27FC236}">
                <a16:creationId xmlns:a16="http://schemas.microsoft.com/office/drawing/2014/main" id="{EC87DAD8-E691-4ED5-B92C-5F7528AE3D25}"/>
              </a:ext>
            </a:extLst>
          </p:cNvPr>
          <p:cNvSpPr>
            <a:spLocks xmlns:a="http://schemas.openxmlformats.org/drawingml/2006/main" noGrp="1"/>
          </p:cNvSpPr>
          <p:nvPr/>
        </p:nvSpPr>
        <p:spPr>
          <a:xfrm xmlns:a="http://schemas.openxmlformats.org/drawingml/2006/main">
            <a:off x="8286750" y="3514725"/>
            <a:ext cx="1428750" cy="295275"/>
          </a:xfrm>
          <a:prstGeom xmlns:a="http://schemas.openxmlformats.org/drawingml/2006/main" prst="rect">
            <a:avLst/>
          </a:prstGeom>
          <a:solidFill xmlns:a="http://schemas.openxmlformats.org/drawingml/2006/main">
            <a:srgbClr val="FCF3E3"/>
          </a:solidFill>
          <a:ln xmlns:a="http://schemas.openxmlformats.org/drawingml/2006/main" w="14288">
            <a:solidFill>
              <a:srgbClr val="A96715"/>
            </a:solidFill>
            <a:prstDash val="solid"/>
          </a:ln>
        </p:spPr>
        <p:txBody>
          <a:bodyPr xmlns:a="http://schemas.openxmlformats.org/drawingml/2006/main"/>
          <a:lstStyle xmlns:a="http://schemas.openxmlformats.org/drawingml/2006/main"/>
          <a:p xmlns:a="http://schemas.openxmlformats.org/drawingml/2006/main">
            <a:endParaRPr/>
          </a:p>
        </p:txBody>
      </p:sp>
      <p:sp>
        <p:nvSpPr>
          <p:cNvPr id="58" name="planes-2-channel-2">
            <a:extLst xmlns:a="http://schemas.openxmlformats.org/drawingml/2006/main">
              <a:ext uri="{FF2B5EF4-FFF2-40B4-BE49-F238E27FC236}">
                <a16:creationId xmlns:a16="http://schemas.microsoft.com/office/drawing/2014/main" id="{CF71934D-7425-44DD-BDEF-B3835E4B7B00}"/>
              </a:ext>
            </a:extLst>
          </p:cNvPr>
          <p:cNvSpPr>
            <a:spLocks xmlns:a="http://schemas.openxmlformats.org/drawingml/2006/main" noGrp="1"/>
          </p:cNvSpPr>
          <p:nvPr/>
        </p:nvSpPr>
        <p:spPr>
          <a:xfrm xmlns:a="http://schemas.openxmlformats.org/drawingml/2006/main">
            <a:off x="8382000" y="3552825"/>
            <a:ext cx="12858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A96715"/>
                </a:solidFill>
                <a:latin typeface="Apple SD Gothic Neo"/>
                <a:ea typeface="Apple SD Gothic Neo"/>
                <a:cs typeface="Apple SD Gothic Neo"/>
              </a:defRPr>
            </a:defPPr>
          </a:lstStyle>
          <a:p xmlns:a="http://schemas.openxmlformats.org/drawingml/2006/main">
            <a:pPr>
              <a:buNone/>
              <a:defRPr sz="1575" b="1">
                <a:solidFill>
                  <a:srgbClr val="A96715"/>
                </a:solidFill>
                <a:latin typeface="Apple SD Gothic Neo"/>
                <a:ea typeface="Apple SD Gothic Neo"/>
                <a:cs typeface="Apple SD Gothic Neo"/>
              </a:defRPr>
            </a:pPr>
            <a:r>
              <a:rPr sz="1575" b="1">
                <a:solidFill>
                  <a:srgbClr val="A96715"/>
                </a:solidFill>
                <a:latin typeface="Apple SD Gothic Neo"/>
                <a:ea typeface="Apple SD Gothic Neo"/>
                <a:cs typeface="Apple SD Gothic Neo"/>
              </a:rPr>
              <a:t>R2 · PL8–11</a:t>
            </a:r>
          </a:p>
        </p:txBody>
      </p:sp>
      <p:sp>
        <p:nvSpPr>
          <p:cNvPr id="59" name="region-3-channel-2">
            <a:extLst xmlns:a="http://schemas.openxmlformats.org/drawingml/2006/main">
              <a:ext uri="{FF2B5EF4-FFF2-40B4-BE49-F238E27FC236}">
                <a16:creationId xmlns:a16="http://schemas.microsoft.com/office/drawing/2014/main" id="{9A2313E8-ACE3-4436-91B4-5E9ECD6922C6}"/>
              </a:ext>
            </a:extLst>
          </p:cNvPr>
          <p:cNvSpPr>
            <a:spLocks xmlns:a="http://schemas.openxmlformats.org/drawingml/2006/main" noGrp="1"/>
          </p:cNvSpPr>
          <p:nvPr/>
        </p:nvSpPr>
        <p:spPr>
          <a:xfrm xmlns:a="http://schemas.openxmlformats.org/drawingml/2006/main">
            <a:off x="8286750" y="3867150"/>
            <a:ext cx="1428750" cy="295275"/>
          </a:xfrm>
          <a:prstGeom xmlns:a="http://schemas.openxmlformats.org/drawingml/2006/main" prst="rect">
            <a:avLst/>
          </a:prstGeom>
          <a:solidFill xmlns:a="http://schemas.openxmlformats.org/drawingml/2006/main">
            <a:srgbClr val="F0EBF7"/>
          </a:solidFill>
          <a:ln xmlns:a="http://schemas.openxmlformats.org/drawingml/2006/main" w="14288">
            <a:solidFill>
              <a:srgbClr val="7553A2"/>
            </a:solidFill>
            <a:prstDash val="solid"/>
          </a:ln>
        </p:spPr>
        <p:txBody>
          <a:bodyPr xmlns:a="http://schemas.openxmlformats.org/drawingml/2006/main"/>
          <a:lstStyle xmlns:a="http://schemas.openxmlformats.org/drawingml/2006/main"/>
          <a:p xmlns:a="http://schemas.openxmlformats.org/drawingml/2006/main">
            <a:endParaRPr/>
          </a:p>
        </p:txBody>
      </p:sp>
      <p:sp>
        <p:nvSpPr>
          <p:cNvPr id="60" name="planes-3-channel-2">
            <a:extLst xmlns:a="http://schemas.openxmlformats.org/drawingml/2006/main">
              <a:ext uri="{FF2B5EF4-FFF2-40B4-BE49-F238E27FC236}">
                <a16:creationId xmlns:a16="http://schemas.microsoft.com/office/drawing/2014/main" id="{79DCB269-B612-4361-813D-CEC8E902D7AE}"/>
              </a:ext>
            </a:extLst>
          </p:cNvPr>
          <p:cNvSpPr>
            <a:spLocks xmlns:a="http://schemas.openxmlformats.org/drawingml/2006/main" noGrp="1"/>
          </p:cNvSpPr>
          <p:nvPr/>
        </p:nvSpPr>
        <p:spPr>
          <a:xfrm xmlns:a="http://schemas.openxmlformats.org/drawingml/2006/main">
            <a:off x="8382000" y="3905250"/>
            <a:ext cx="12858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7553A2"/>
                </a:solidFill>
                <a:latin typeface="Apple SD Gothic Neo"/>
                <a:ea typeface="Apple SD Gothic Neo"/>
                <a:cs typeface="Apple SD Gothic Neo"/>
              </a:defRPr>
            </a:defPPr>
          </a:lstStyle>
          <a:p xmlns:a="http://schemas.openxmlformats.org/drawingml/2006/main">
            <a:pPr>
              <a:buNone/>
              <a:defRPr sz="1575" b="1">
                <a:solidFill>
                  <a:srgbClr val="7553A2"/>
                </a:solidFill>
                <a:latin typeface="Apple SD Gothic Neo"/>
                <a:ea typeface="Apple SD Gothic Neo"/>
                <a:cs typeface="Apple SD Gothic Neo"/>
              </a:defRPr>
            </a:pPr>
            <a:r>
              <a:rPr sz="1575" b="1">
                <a:solidFill>
                  <a:srgbClr val="7553A2"/>
                </a:solidFill>
                <a:latin typeface="Apple SD Gothic Neo"/>
                <a:ea typeface="Apple SD Gothic Neo"/>
                <a:cs typeface="Apple SD Gothic Neo"/>
              </a:rPr>
              <a:t>R3 · PL12–15</a:t>
            </a:r>
          </a:p>
        </p:txBody>
      </p:sp>
      <p:sp>
        <p:nvSpPr>
          <p:cNvPr id="61" name="placement-channel-3">
            <a:extLst xmlns:a="http://schemas.openxmlformats.org/drawingml/2006/main">
              <a:ext uri="{FF2B5EF4-FFF2-40B4-BE49-F238E27FC236}">
                <a16:creationId xmlns:a16="http://schemas.microsoft.com/office/drawing/2014/main" id="{EB198ADC-8F13-4BD9-B943-E3B3DEC69B07}"/>
              </a:ext>
            </a:extLst>
          </p:cNvPr>
          <p:cNvSpPr>
            <a:spLocks xmlns:a="http://schemas.openxmlformats.org/drawingml/2006/main" noGrp="1"/>
          </p:cNvSpPr>
          <p:nvPr/>
        </p:nvSpPr>
        <p:spPr>
          <a:xfrm xmlns:a="http://schemas.openxmlformats.org/drawingml/2006/main">
            <a:off x="10039350" y="2400300"/>
            <a:ext cx="1619250" cy="1905000"/>
          </a:xfrm>
          <a:prstGeom xmlns:a="http://schemas.openxmlformats.org/drawingml/2006/main" prst="rect">
            <a:avLst/>
          </a:prstGeom>
          <a:solidFill xmlns:a="http://schemas.openxmlformats.org/drawingml/2006/main">
            <a:srgbClr val="FFFFFF"/>
          </a:solidFill>
          <a:ln xmlns:a="http://schemas.openxmlformats.org/drawingml/2006/main" w="14288">
            <a:solidFill>
              <a:srgbClr val="DFE6EB"/>
            </a:solidFill>
            <a:prstDash val="solid"/>
          </a:ln>
        </p:spPr>
        <p:txBody>
          <a:bodyPr xmlns:a="http://schemas.openxmlformats.org/drawingml/2006/main"/>
          <a:lstStyle xmlns:a="http://schemas.openxmlformats.org/drawingml/2006/main"/>
          <a:p xmlns:a="http://schemas.openxmlformats.org/drawingml/2006/main">
            <a:endParaRPr/>
          </a:p>
        </p:txBody>
      </p:sp>
      <p:sp>
        <p:nvSpPr>
          <p:cNvPr id="62" name="placement-channel-label-3">
            <a:extLst xmlns:a="http://schemas.openxmlformats.org/drawingml/2006/main">
              <a:ext uri="{FF2B5EF4-FFF2-40B4-BE49-F238E27FC236}">
                <a16:creationId xmlns:a16="http://schemas.microsoft.com/office/drawing/2014/main" id="{96A09A47-4003-4165-92A4-03D8A7BAE018}"/>
              </a:ext>
            </a:extLst>
          </p:cNvPr>
          <p:cNvSpPr>
            <a:spLocks xmlns:a="http://schemas.openxmlformats.org/drawingml/2006/main" noGrp="1"/>
          </p:cNvSpPr>
          <p:nvPr/>
        </p:nvSpPr>
        <p:spPr>
          <a:xfrm xmlns:a="http://schemas.openxmlformats.org/drawingml/2006/main">
            <a:off x="10163175" y="2486025"/>
            <a:ext cx="1466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1">
                <a:solidFill>
                  <a:srgbClr val="172738"/>
                </a:solidFill>
                <a:latin typeface="Apple SD Gothic Neo"/>
                <a:ea typeface="Apple SD Gothic Neo"/>
                <a:cs typeface="Apple SD Gothic Neo"/>
              </a:defRPr>
            </a:defPPr>
          </a:lstStyle>
          <a:p xmlns:a="http://schemas.openxmlformats.org/drawingml/2006/main">
            <a:pPr>
              <a:buNone/>
              <a:defRPr sz="1725" b="1">
                <a:solidFill>
                  <a:srgbClr val="172738"/>
                </a:solidFill>
                <a:latin typeface="Apple SD Gothic Neo"/>
                <a:ea typeface="Apple SD Gothic Neo"/>
                <a:cs typeface="Apple SD Gothic Neo"/>
              </a:defRPr>
            </a:pPr>
            <a:r>
              <a:rPr sz="1725" b="1">
                <a:solidFill>
                  <a:srgbClr val="172738"/>
                </a:solidFill>
                <a:latin typeface="Apple SD Gothic Neo"/>
                <a:ea typeface="Apple SD Gothic Neo"/>
                <a:cs typeface="Apple SD Gothic Neo"/>
              </a:rPr>
              <a:t>CH3 · 16 Plane</a:t>
            </a:r>
          </a:p>
        </p:txBody>
      </p:sp>
      <p:cxnSp>
        <p:nvCxnSpPr>
          <p:cNvPr id="63" name="mapping-to-channel-3">
            <a:extLst xmlns:a="http://schemas.openxmlformats.org/drawingml/2006/main">
              <a:ext uri="{FF2B5EF4-FFF2-40B4-BE49-F238E27FC236}">
                <a16:creationId xmlns:a16="http://schemas.microsoft.com/office/drawing/2014/main" id="{FBEFDEBF-5569-40A2-9F59-1166915A07B4}"/>
              </a:ext>
            </a:extLst>
          </p:cNvPr>
          <p:cNvCxnSpPr/>
          <p:nvPr/>
        </p:nvCxnSpPr>
        <p:spPr>
          <a:xfrm xmlns:a="http://schemas.openxmlformats.org/drawingml/2006/main">
            <a:off x="10848975" y="2209800"/>
            <a:ext cx="0" cy="190500"/>
          </a:xfrm>
          <a:prstGeom xmlns:a="http://schemas.openxmlformats.org/drawingml/2006/main" prst="straightConnector1">
            <a:avLst/>
          </a:prstGeom>
          <a:ln xmlns:a="http://schemas.openxmlformats.org/drawingml/2006/main" w="19050">
            <a:solidFill>
              <a:srgbClr val="126DCA"/>
            </a:solidFill>
            <a:prstDash val="solid"/>
            <a:tailEnd type="triangle" w="med" len="med"/>
          </a:ln>
        </p:spPr>
      </p:cxnSp>
      <p:sp>
        <p:nvSpPr>
          <p:cNvPr id="64" name="region-0-channel-3">
            <a:extLst xmlns:a="http://schemas.openxmlformats.org/drawingml/2006/main">
              <a:ext uri="{FF2B5EF4-FFF2-40B4-BE49-F238E27FC236}">
                <a16:creationId xmlns:a16="http://schemas.microsoft.com/office/drawing/2014/main" id="{06335FDA-26DA-4829-8B5D-302EF46906D6}"/>
              </a:ext>
            </a:extLst>
          </p:cNvPr>
          <p:cNvSpPr>
            <a:spLocks xmlns:a="http://schemas.openxmlformats.org/drawingml/2006/main" noGrp="1"/>
          </p:cNvSpPr>
          <p:nvPr/>
        </p:nvSpPr>
        <p:spPr>
          <a:xfrm xmlns:a="http://schemas.openxmlformats.org/drawingml/2006/main">
            <a:off x="10134600" y="2809875"/>
            <a:ext cx="1428750" cy="295275"/>
          </a:xfrm>
          <a:prstGeom xmlns:a="http://schemas.openxmlformats.org/drawingml/2006/main" prst="rect">
            <a:avLst/>
          </a:prstGeom>
          <a:solidFill xmlns:a="http://schemas.openxmlformats.org/drawingml/2006/main">
            <a:srgbClr val="EAF2FD"/>
          </a:solidFill>
          <a:ln xmlns:a="http://schemas.openxmlformats.org/drawingml/2006/main" w="14288">
            <a:solidFill>
              <a:srgbClr val="126DCA"/>
            </a:solidFill>
            <a:prstDash val="solid"/>
          </a:ln>
        </p:spPr>
        <p:txBody>
          <a:bodyPr xmlns:a="http://schemas.openxmlformats.org/drawingml/2006/main"/>
          <a:lstStyle xmlns:a="http://schemas.openxmlformats.org/drawingml/2006/main"/>
          <a:p xmlns:a="http://schemas.openxmlformats.org/drawingml/2006/main">
            <a:endParaRPr/>
          </a:p>
        </p:txBody>
      </p:sp>
      <p:sp>
        <p:nvSpPr>
          <p:cNvPr id="65" name="planes-0-channel-3">
            <a:extLst xmlns:a="http://schemas.openxmlformats.org/drawingml/2006/main">
              <a:ext uri="{FF2B5EF4-FFF2-40B4-BE49-F238E27FC236}">
                <a16:creationId xmlns:a16="http://schemas.microsoft.com/office/drawing/2014/main" id="{D685FA8C-B25D-4EF9-A2C9-B6058E2ECEC5}"/>
              </a:ext>
            </a:extLst>
          </p:cNvPr>
          <p:cNvSpPr>
            <a:spLocks xmlns:a="http://schemas.openxmlformats.org/drawingml/2006/main" noGrp="1"/>
          </p:cNvSpPr>
          <p:nvPr/>
        </p:nvSpPr>
        <p:spPr>
          <a:xfrm xmlns:a="http://schemas.openxmlformats.org/drawingml/2006/main">
            <a:off x="10229850" y="2847975"/>
            <a:ext cx="12858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126DCA"/>
                </a:solidFill>
                <a:latin typeface="Apple SD Gothic Neo"/>
                <a:ea typeface="Apple SD Gothic Neo"/>
                <a:cs typeface="Apple SD Gothic Neo"/>
              </a:defRPr>
            </a:defPPr>
          </a:lstStyle>
          <a:p xmlns:a="http://schemas.openxmlformats.org/drawingml/2006/main">
            <a:pPr>
              <a:buNone/>
              <a:defRPr sz="1575" b="1">
                <a:solidFill>
                  <a:srgbClr val="126DCA"/>
                </a:solidFill>
                <a:latin typeface="Apple SD Gothic Neo"/>
                <a:ea typeface="Apple SD Gothic Neo"/>
                <a:cs typeface="Apple SD Gothic Neo"/>
              </a:defRPr>
            </a:pPr>
            <a:r>
              <a:rPr sz="1575" b="1">
                <a:solidFill>
                  <a:srgbClr val="126DCA"/>
                </a:solidFill>
                <a:latin typeface="Apple SD Gothic Neo"/>
                <a:ea typeface="Apple SD Gothic Neo"/>
                <a:cs typeface="Apple SD Gothic Neo"/>
              </a:rPr>
              <a:t>R0 · PL0–3</a:t>
            </a:r>
          </a:p>
        </p:txBody>
      </p:sp>
      <p:sp>
        <p:nvSpPr>
          <p:cNvPr id="66" name="region-1-channel-3">
            <a:extLst xmlns:a="http://schemas.openxmlformats.org/drawingml/2006/main">
              <a:ext uri="{FF2B5EF4-FFF2-40B4-BE49-F238E27FC236}">
                <a16:creationId xmlns:a16="http://schemas.microsoft.com/office/drawing/2014/main" id="{5305DF6A-8F54-4B6A-9C56-56482E1032DA}"/>
              </a:ext>
            </a:extLst>
          </p:cNvPr>
          <p:cNvSpPr>
            <a:spLocks xmlns:a="http://schemas.openxmlformats.org/drawingml/2006/main" noGrp="1"/>
          </p:cNvSpPr>
          <p:nvPr/>
        </p:nvSpPr>
        <p:spPr>
          <a:xfrm xmlns:a="http://schemas.openxmlformats.org/drawingml/2006/main">
            <a:off x="10134600" y="3162300"/>
            <a:ext cx="1428750" cy="295275"/>
          </a:xfrm>
          <a:prstGeom xmlns:a="http://schemas.openxmlformats.org/drawingml/2006/main" prst="rect">
            <a:avLst/>
          </a:prstGeom>
          <a:solidFill xmlns:a="http://schemas.openxmlformats.org/drawingml/2006/main">
            <a:srgbClr val="E9F5F2"/>
          </a:solidFill>
          <a:ln xmlns:a="http://schemas.openxmlformats.org/drawingml/2006/main" w="14288">
            <a:solidFill>
              <a:srgbClr val="008B82"/>
            </a:solidFill>
            <a:prstDash val="solid"/>
          </a:ln>
        </p:spPr>
        <p:txBody>
          <a:bodyPr xmlns:a="http://schemas.openxmlformats.org/drawingml/2006/main"/>
          <a:lstStyle xmlns:a="http://schemas.openxmlformats.org/drawingml/2006/main"/>
          <a:p xmlns:a="http://schemas.openxmlformats.org/drawingml/2006/main">
            <a:endParaRPr/>
          </a:p>
        </p:txBody>
      </p:sp>
      <p:sp>
        <p:nvSpPr>
          <p:cNvPr id="67" name="planes-1-channel-3">
            <a:extLst xmlns:a="http://schemas.openxmlformats.org/drawingml/2006/main">
              <a:ext uri="{FF2B5EF4-FFF2-40B4-BE49-F238E27FC236}">
                <a16:creationId xmlns:a16="http://schemas.microsoft.com/office/drawing/2014/main" id="{826E4EBB-AB63-45B0-93D2-3E90DDDBCB11}"/>
              </a:ext>
            </a:extLst>
          </p:cNvPr>
          <p:cNvSpPr>
            <a:spLocks xmlns:a="http://schemas.openxmlformats.org/drawingml/2006/main" noGrp="1"/>
          </p:cNvSpPr>
          <p:nvPr/>
        </p:nvSpPr>
        <p:spPr>
          <a:xfrm xmlns:a="http://schemas.openxmlformats.org/drawingml/2006/main">
            <a:off x="10229850" y="3200400"/>
            <a:ext cx="12858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008B82"/>
                </a:solidFill>
                <a:latin typeface="Apple SD Gothic Neo"/>
                <a:ea typeface="Apple SD Gothic Neo"/>
                <a:cs typeface="Apple SD Gothic Neo"/>
              </a:defRPr>
            </a:defPPr>
          </a:lstStyle>
          <a:p xmlns:a="http://schemas.openxmlformats.org/drawingml/2006/main">
            <a:pPr>
              <a:buNone/>
              <a:defRPr sz="1575" b="1">
                <a:solidFill>
                  <a:srgbClr val="008B82"/>
                </a:solidFill>
                <a:latin typeface="Apple SD Gothic Neo"/>
                <a:ea typeface="Apple SD Gothic Neo"/>
                <a:cs typeface="Apple SD Gothic Neo"/>
              </a:defRPr>
            </a:pPr>
            <a:r>
              <a:rPr sz="1575" b="1">
                <a:solidFill>
                  <a:srgbClr val="008B82"/>
                </a:solidFill>
                <a:latin typeface="Apple SD Gothic Neo"/>
                <a:ea typeface="Apple SD Gothic Neo"/>
                <a:cs typeface="Apple SD Gothic Neo"/>
              </a:rPr>
              <a:t>R1 · PL4–7</a:t>
            </a:r>
          </a:p>
        </p:txBody>
      </p:sp>
      <p:sp>
        <p:nvSpPr>
          <p:cNvPr id="68" name="region-2-channel-3">
            <a:extLst xmlns:a="http://schemas.openxmlformats.org/drawingml/2006/main">
              <a:ext uri="{FF2B5EF4-FFF2-40B4-BE49-F238E27FC236}">
                <a16:creationId xmlns:a16="http://schemas.microsoft.com/office/drawing/2014/main" id="{0618C77E-B85C-4D0A-8DC8-8C9B28F77746}"/>
              </a:ext>
            </a:extLst>
          </p:cNvPr>
          <p:cNvSpPr>
            <a:spLocks xmlns:a="http://schemas.openxmlformats.org/drawingml/2006/main" noGrp="1"/>
          </p:cNvSpPr>
          <p:nvPr/>
        </p:nvSpPr>
        <p:spPr>
          <a:xfrm xmlns:a="http://schemas.openxmlformats.org/drawingml/2006/main">
            <a:off x="10134600" y="3514725"/>
            <a:ext cx="1428750" cy="295275"/>
          </a:xfrm>
          <a:prstGeom xmlns:a="http://schemas.openxmlformats.org/drawingml/2006/main" prst="rect">
            <a:avLst/>
          </a:prstGeom>
          <a:solidFill xmlns:a="http://schemas.openxmlformats.org/drawingml/2006/main">
            <a:srgbClr val="FCF3E3"/>
          </a:solidFill>
          <a:ln xmlns:a="http://schemas.openxmlformats.org/drawingml/2006/main" w="14288">
            <a:solidFill>
              <a:srgbClr val="A96715"/>
            </a:solidFill>
            <a:prstDash val="solid"/>
          </a:ln>
        </p:spPr>
        <p:txBody>
          <a:bodyPr xmlns:a="http://schemas.openxmlformats.org/drawingml/2006/main"/>
          <a:lstStyle xmlns:a="http://schemas.openxmlformats.org/drawingml/2006/main"/>
          <a:p xmlns:a="http://schemas.openxmlformats.org/drawingml/2006/main">
            <a:endParaRPr/>
          </a:p>
        </p:txBody>
      </p:sp>
      <p:sp>
        <p:nvSpPr>
          <p:cNvPr id="69" name="planes-2-channel-3">
            <a:extLst xmlns:a="http://schemas.openxmlformats.org/drawingml/2006/main">
              <a:ext uri="{FF2B5EF4-FFF2-40B4-BE49-F238E27FC236}">
                <a16:creationId xmlns:a16="http://schemas.microsoft.com/office/drawing/2014/main" id="{7ECD204E-A954-473B-9F6C-5223B6D63DB1}"/>
              </a:ext>
            </a:extLst>
          </p:cNvPr>
          <p:cNvSpPr>
            <a:spLocks xmlns:a="http://schemas.openxmlformats.org/drawingml/2006/main" noGrp="1"/>
          </p:cNvSpPr>
          <p:nvPr/>
        </p:nvSpPr>
        <p:spPr>
          <a:xfrm xmlns:a="http://schemas.openxmlformats.org/drawingml/2006/main">
            <a:off x="10229850" y="3552825"/>
            <a:ext cx="12858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A96715"/>
                </a:solidFill>
                <a:latin typeface="Apple SD Gothic Neo"/>
                <a:ea typeface="Apple SD Gothic Neo"/>
                <a:cs typeface="Apple SD Gothic Neo"/>
              </a:defRPr>
            </a:defPPr>
          </a:lstStyle>
          <a:p xmlns:a="http://schemas.openxmlformats.org/drawingml/2006/main">
            <a:pPr>
              <a:buNone/>
              <a:defRPr sz="1575" b="1">
                <a:solidFill>
                  <a:srgbClr val="A96715"/>
                </a:solidFill>
                <a:latin typeface="Apple SD Gothic Neo"/>
                <a:ea typeface="Apple SD Gothic Neo"/>
                <a:cs typeface="Apple SD Gothic Neo"/>
              </a:defRPr>
            </a:pPr>
            <a:r>
              <a:rPr sz="1575" b="1">
                <a:solidFill>
                  <a:srgbClr val="A96715"/>
                </a:solidFill>
                <a:latin typeface="Apple SD Gothic Neo"/>
                <a:ea typeface="Apple SD Gothic Neo"/>
                <a:cs typeface="Apple SD Gothic Neo"/>
              </a:rPr>
              <a:t>R2 · PL8–11</a:t>
            </a:r>
          </a:p>
        </p:txBody>
      </p:sp>
      <p:sp>
        <p:nvSpPr>
          <p:cNvPr id="70" name="region-3-channel-3">
            <a:extLst xmlns:a="http://schemas.openxmlformats.org/drawingml/2006/main">
              <a:ext uri="{FF2B5EF4-FFF2-40B4-BE49-F238E27FC236}">
                <a16:creationId xmlns:a16="http://schemas.microsoft.com/office/drawing/2014/main" id="{096745AC-466D-425D-BB0E-961BA4EE3F9D}"/>
              </a:ext>
            </a:extLst>
          </p:cNvPr>
          <p:cNvSpPr>
            <a:spLocks xmlns:a="http://schemas.openxmlformats.org/drawingml/2006/main" noGrp="1"/>
          </p:cNvSpPr>
          <p:nvPr/>
        </p:nvSpPr>
        <p:spPr>
          <a:xfrm xmlns:a="http://schemas.openxmlformats.org/drawingml/2006/main">
            <a:off x="10134600" y="3867150"/>
            <a:ext cx="1428750" cy="295275"/>
          </a:xfrm>
          <a:prstGeom xmlns:a="http://schemas.openxmlformats.org/drawingml/2006/main" prst="rect">
            <a:avLst/>
          </a:prstGeom>
          <a:solidFill xmlns:a="http://schemas.openxmlformats.org/drawingml/2006/main">
            <a:srgbClr val="F0EBF7"/>
          </a:solidFill>
          <a:ln xmlns:a="http://schemas.openxmlformats.org/drawingml/2006/main" w="14288">
            <a:solidFill>
              <a:srgbClr val="7553A2"/>
            </a:solidFill>
            <a:prstDash val="solid"/>
          </a:ln>
        </p:spPr>
        <p:txBody>
          <a:bodyPr xmlns:a="http://schemas.openxmlformats.org/drawingml/2006/main"/>
          <a:lstStyle xmlns:a="http://schemas.openxmlformats.org/drawingml/2006/main"/>
          <a:p xmlns:a="http://schemas.openxmlformats.org/drawingml/2006/main">
            <a:endParaRPr/>
          </a:p>
        </p:txBody>
      </p:sp>
      <p:sp>
        <p:nvSpPr>
          <p:cNvPr id="71" name="planes-3-channel-3">
            <a:extLst xmlns:a="http://schemas.openxmlformats.org/drawingml/2006/main">
              <a:ext uri="{FF2B5EF4-FFF2-40B4-BE49-F238E27FC236}">
                <a16:creationId xmlns:a16="http://schemas.microsoft.com/office/drawing/2014/main" id="{01E15C0A-8B16-49ED-99EA-D47109A58337}"/>
              </a:ext>
            </a:extLst>
          </p:cNvPr>
          <p:cNvSpPr>
            <a:spLocks xmlns:a="http://schemas.openxmlformats.org/drawingml/2006/main" noGrp="1"/>
          </p:cNvSpPr>
          <p:nvPr/>
        </p:nvSpPr>
        <p:spPr>
          <a:xfrm xmlns:a="http://schemas.openxmlformats.org/drawingml/2006/main">
            <a:off x="10229850" y="3905250"/>
            <a:ext cx="12858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7553A2"/>
                </a:solidFill>
                <a:latin typeface="Apple SD Gothic Neo"/>
                <a:ea typeface="Apple SD Gothic Neo"/>
                <a:cs typeface="Apple SD Gothic Neo"/>
              </a:defRPr>
            </a:defPPr>
          </a:lstStyle>
          <a:p xmlns:a="http://schemas.openxmlformats.org/drawingml/2006/main">
            <a:pPr>
              <a:buNone/>
              <a:defRPr sz="1575" b="1">
                <a:solidFill>
                  <a:srgbClr val="7553A2"/>
                </a:solidFill>
                <a:latin typeface="Apple SD Gothic Neo"/>
                <a:ea typeface="Apple SD Gothic Neo"/>
                <a:cs typeface="Apple SD Gothic Neo"/>
              </a:defRPr>
            </a:pPr>
            <a:r>
              <a:rPr sz="1575" b="1">
                <a:solidFill>
                  <a:srgbClr val="7553A2"/>
                </a:solidFill>
                <a:latin typeface="Apple SD Gothic Neo"/>
                <a:ea typeface="Apple SD Gothic Neo"/>
                <a:cs typeface="Apple SD Gothic Neo"/>
              </a:rPr>
              <a:t>R3 · PL12–15</a:t>
            </a:r>
          </a:p>
        </p:txBody>
      </p:sp>
      <p:sp>
        <p:nvSpPr>
          <p:cNvPr id="72" name="placement-color-key">
            <a:extLst xmlns:a="http://schemas.openxmlformats.org/drawingml/2006/main">
              <a:ext uri="{FF2B5EF4-FFF2-40B4-BE49-F238E27FC236}">
                <a16:creationId xmlns:a16="http://schemas.microsoft.com/office/drawing/2014/main" id="{DE100083-8D11-4DFC-96AB-1F9D66C06F94}"/>
              </a:ext>
            </a:extLst>
          </p:cNvPr>
          <p:cNvSpPr>
            <a:spLocks xmlns:a="http://schemas.openxmlformats.org/drawingml/2006/main" noGrp="1"/>
          </p:cNvSpPr>
          <p:nvPr/>
        </p:nvSpPr>
        <p:spPr>
          <a:xfrm xmlns:a="http://schemas.openxmlformats.org/drawingml/2006/main">
            <a:off x="552450" y="4438650"/>
            <a:ext cx="11096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586875"/>
                </a:solidFill>
                <a:latin typeface="Apple SD Gothic Neo"/>
                <a:ea typeface="Apple SD Gothic Neo"/>
                <a:cs typeface="Apple SD Gothic Neo"/>
              </a:defRPr>
            </a:defPPr>
          </a:lstStyle>
          <a:p xmlns:a="http://schemas.openxmlformats.org/drawingml/2006/main">
            <a:pPr>
              <a:buNone/>
              <a:defRPr sz="1725" b="0">
                <a:solidFill>
                  <a:srgbClr val="586875"/>
                </a:solidFill>
                <a:latin typeface="Apple SD Gothic Neo"/>
                <a:ea typeface="Apple SD Gothic Neo"/>
                <a:cs typeface="Apple SD Gothic Neo"/>
              </a:defRPr>
            </a:pPr>
            <a:r>
              <a:rPr sz="1725" b="0">
                <a:solidFill>
                  <a:srgbClr val="586875"/>
                </a:solidFill>
                <a:latin typeface="Apple SD Gothic Neo"/>
                <a:ea typeface="Apple SD Gothic Neo"/>
                <a:cs typeface="Apple SD Gothic Neo"/>
              </a:rPr>
              <a:t>같은 색 = 같은 논리 영역. 각 영역은 4채널 전체를 쓰고, 채널 안의 Plane 묶음을 분리합니다.</a:t>
            </a:r>
          </a:p>
        </p:txBody>
      </p:sp>
      <p:sp>
        <p:nvSpPr>
          <p:cNvPr id="73" name="packing-heading">
            <a:extLst xmlns:a="http://schemas.openxmlformats.org/drawingml/2006/main">
              <a:ext uri="{FF2B5EF4-FFF2-40B4-BE49-F238E27FC236}">
                <a16:creationId xmlns:a16="http://schemas.microsoft.com/office/drawing/2014/main" id="{7D67C63D-1974-4642-BE13-1B8D51846325}"/>
              </a:ext>
            </a:extLst>
          </p:cNvPr>
          <p:cNvSpPr>
            <a:spLocks xmlns:a="http://schemas.openxmlformats.org/drawingml/2006/main" noGrp="1"/>
          </p:cNvSpPr>
          <p:nvPr/>
        </p:nvSpPr>
        <p:spPr>
          <a:xfrm xmlns:a="http://schemas.openxmlformats.org/drawingml/2006/main">
            <a:off x="533400" y="4867275"/>
            <a:ext cx="5791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a:solidFill>
                  <a:srgbClr val="172738"/>
                </a:solidFill>
                <a:latin typeface="Apple SD Gothic Neo"/>
                <a:ea typeface="Apple SD Gothic Neo"/>
                <a:cs typeface="Apple SD Gothic Neo"/>
              </a:defRPr>
            </a:defPPr>
          </a:lstStyle>
          <a:p xmlns:a="http://schemas.openxmlformats.org/drawingml/2006/main">
            <a:pPr>
              <a:buNone/>
              <a:defRPr sz="1800" b="1">
                <a:solidFill>
                  <a:srgbClr val="172738"/>
                </a:solidFill>
                <a:latin typeface="Apple SD Gothic Neo"/>
                <a:ea typeface="Apple SD Gothic Neo"/>
                <a:cs typeface="Apple SD Gothic Neo"/>
              </a:defRPr>
            </a:pPr>
            <a:r>
              <a:rPr sz="1800" b="1">
                <a:solidFill>
                  <a:srgbClr val="172738"/>
                </a:solidFill>
                <a:latin typeface="Apple SD Gothic Neo"/>
                <a:ea typeface="Apple SD Gothic Neo"/>
                <a:cs typeface="Apple SD Gothic Neo"/>
              </a:rPr>
              <a:t>CH0의 첫 16KiB Page · 각 L = 4KiB</a:t>
            </a:r>
          </a:p>
        </p:txBody>
      </p:sp>
      <p:sp>
        <p:nvSpPr>
          <p:cNvPr id="74" name="stripe-label-0">
            <a:extLst xmlns:a="http://schemas.openxmlformats.org/drawingml/2006/main">
              <a:ext uri="{FF2B5EF4-FFF2-40B4-BE49-F238E27FC236}">
                <a16:creationId xmlns:a16="http://schemas.microsoft.com/office/drawing/2014/main" id="{688873CD-1016-4696-876A-84ECF62DBFC7}"/>
              </a:ext>
            </a:extLst>
          </p:cNvPr>
          <p:cNvSpPr>
            <a:spLocks xmlns:a="http://schemas.openxmlformats.org/drawingml/2006/main" noGrp="1"/>
          </p:cNvSpPr>
          <p:nvPr/>
        </p:nvSpPr>
        <p:spPr>
          <a:xfrm xmlns:a="http://schemas.openxmlformats.org/drawingml/2006/main">
            <a:off x="533400" y="5181600"/>
            <a:ext cx="14954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126DCA"/>
                </a:solidFill>
                <a:latin typeface="Apple SD Gothic Neo"/>
                <a:ea typeface="Apple SD Gothic Neo"/>
                <a:cs typeface="Apple SD Gothic Neo"/>
              </a:defRPr>
            </a:defPPr>
          </a:lstStyle>
          <a:p xmlns:a="http://schemas.openxmlformats.org/drawingml/2006/main">
            <a:pPr>
              <a:buNone/>
              <a:defRPr sz="1650" b="1">
                <a:solidFill>
                  <a:srgbClr val="126DCA"/>
                </a:solidFill>
                <a:latin typeface="Apple SD Gothic Neo"/>
                <a:ea typeface="Apple SD Gothic Neo"/>
                <a:cs typeface="Apple SD Gothic Neo"/>
              </a:defRPr>
            </a:pPr>
            <a:r>
              <a:rPr sz="1650" b="1">
                <a:solidFill>
                  <a:srgbClr val="126DCA"/>
                </a:solidFill>
                <a:latin typeface="Apple SD Gothic Neo"/>
                <a:ea typeface="Apple SD Gothic Neo"/>
                <a:cs typeface="Apple SD Gothic Neo"/>
              </a:rPr>
              <a:t>4KiB stripe</a:t>
            </a:r>
          </a:p>
        </p:txBody>
      </p:sp>
      <p:sp>
        <p:nvSpPr>
          <p:cNvPr id="75" name="stripe-workload-0">
            <a:extLst xmlns:a="http://schemas.openxmlformats.org/drawingml/2006/main">
              <a:ext uri="{FF2B5EF4-FFF2-40B4-BE49-F238E27FC236}">
                <a16:creationId xmlns:a16="http://schemas.microsoft.com/office/drawing/2014/main" id="{BA599C7F-D578-4EC4-8512-CAE4207D3EF9}"/>
              </a:ext>
            </a:extLst>
          </p:cNvPr>
          <p:cNvSpPr>
            <a:spLocks xmlns:a="http://schemas.openxmlformats.org/drawingml/2006/main" noGrp="1"/>
          </p:cNvSpPr>
          <p:nvPr/>
        </p:nvSpPr>
        <p:spPr>
          <a:xfrm xmlns:a="http://schemas.openxmlformats.org/drawingml/2006/main">
            <a:off x="533400" y="5429250"/>
            <a:ext cx="14954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86875"/>
                </a:solidFill>
                <a:latin typeface="Apple SD Gothic Neo"/>
                <a:ea typeface="Apple SD Gothic Neo"/>
                <a:cs typeface="Apple SD Gothic Neo"/>
              </a:defRPr>
            </a:defPPr>
          </a:lstStyle>
          <a:p xmlns:a="http://schemas.openxmlformats.org/drawingml/2006/main">
            <a:pPr>
              <a:buNone/>
              <a:defRPr sz="1500" b="0">
                <a:solidFill>
                  <a:srgbClr val="586875"/>
                </a:solidFill>
                <a:latin typeface="Apple SD Gothic Neo"/>
                <a:ea typeface="Apple SD Gothic Neo"/>
                <a:cs typeface="Apple SD Gothic Neo"/>
              </a:defRPr>
            </a:pPr>
            <a:r>
              <a:rPr sz="1500" b="0">
                <a:solidFill>
                  <a:srgbClr val="586875"/>
                </a:solidFill>
                <a:latin typeface="Apple SD Gothic Neo"/>
                <a:ea typeface="Apple SD Gothic Neo"/>
                <a:cs typeface="Apple SD Gothic Neo"/>
              </a:rPr>
              <a:t>A1 / C1 / C2</a:t>
            </a:r>
          </a:p>
        </p:txBody>
      </p:sp>
      <p:sp>
        <p:nvSpPr>
          <p:cNvPr id="76" name="packed-page-0-0">
            <a:extLst xmlns:a="http://schemas.openxmlformats.org/drawingml/2006/main">
              <a:ext uri="{FF2B5EF4-FFF2-40B4-BE49-F238E27FC236}">
                <a16:creationId xmlns:a16="http://schemas.microsoft.com/office/drawing/2014/main" id="{047DB451-6F77-4EC5-BE57-68FC7D9246CD}"/>
              </a:ext>
            </a:extLst>
          </p:cNvPr>
          <p:cNvSpPr>
            <a:spLocks xmlns:a="http://schemas.openxmlformats.org/drawingml/2006/main" noGrp="1"/>
          </p:cNvSpPr>
          <p:nvPr/>
        </p:nvSpPr>
        <p:spPr>
          <a:xfrm xmlns:a="http://schemas.openxmlformats.org/drawingml/2006/main">
            <a:off x="2076450" y="5219700"/>
            <a:ext cx="933450" cy="371475"/>
          </a:xfrm>
          <a:prstGeom xmlns:a="http://schemas.openxmlformats.org/drawingml/2006/main" prst="rect">
            <a:avLst/>
          </a:prstGeom>
          <a:solidFill xmlns:a="http://schemas.openxmlformats.org/drawingml/2006/main">
            <a:srgbClr val="EAF2FD"/>
          </a:solidFill>
          <a:ln xmlns:a="http://schemas.openxmlformats.org/drawingml/2006/main" w="14288">
            <a:solidFill>
              <a:srgbClr val="126DCA"/>
            </a:solidFill>
            <a:prstDash val="solid"/>
          </a:ln>
        </p:spPr>
        <p:txBody>
          <a:bodyPr xmlns:a="http://schemas.openxmlformats.org/drawingml/2006/main"/>
          <a:lstStyle xmlns:a="http://schemas.openxmlformats.org/drawingml/2006/main"/>
          <a:p xmlns:a="http://schemas.openxmlformats.org/drawingml/2006/main">
            <a:endParaRPr/>
          </a:p>
        </p:txBody>
      </p:sp>
      <p:sp>
        <p:nvSpPr>
          <p:cNvPr id="77" name="packed-page-label-0-0">
            <a:extLst xmlns:a="http://schemas.openxmlformats.org/drawingml/2006/main">
              <a:ext uri="{FF2B5EF4-FFF2-40B4-BE49-F238E27FC236}">
                <a16:creationId xmlns:a16="http://schemas.microsoft.com/office/drawing/2014/main" id="{C989BFF8-F114-4127-8BA5-734AB9B9A02E}"/>
              </a:ext>
            </a:extLst>
          </p:cNvPr>
          <p:cNvSpPr>
            <a:spLocks xmlns:a="http://schemas.openxmlformats.org/drawingml/2006/main" noGrp="1"/>
          </p:cNvSpPr>
          <p:nvPr/>
        </p:nvSpPr>
        <p:spPr>
          <a:xfrm xmlns:a="http://schemas.openxmlformats.org/drawingml/2006/main">
            <a:off x="2333625" y="5286375"/>
            <a:ext cx="666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1">
                <a:solidFill>
                  <a:srgbClr val="126DCA"/>
                </a:solidFill>
                <a:latin typeface="Apple SD Gothic Neo"/>
                <a:ea typeface="Apple SD Gothic Neo"/>
                <a:cs typeface="Apple SD Gothic Neo"/>
              </a:defRPr>
            </a:defPPr>
          </a:lstStyle>
          <a:p xmlns:a="http://schemas.openxmlformats.org/drawingml/2006/main">
            <a:pPr>
              <a:buNone/>
              <a:defRPr sz="1725" b="1">
                <a:solidFill>
                  <a:srgbClr val="126DCA"/>
                </a:solidFill>
                <a:latin typeface="Apple SD Gothic Neo"/>
                <a:ea typeface="Apple SD Gothic Neo"/>
                <a:cs typeface="Apple SD Gothic Neo"/>
              </a:defRPr>
            </a:pPr>
            <a:r>
              <a:rPr sz="1725" b="1">
                <a:solidFill>
                  <a:srgbClr val="126DCA"/>
                </a:solidFill>
                <a:latin typeface="Apple SD Gothic Neo"/>
                <a:ea typeface="Apple SD Gothic Neo"/>
                <a:cs typeface="Apple SD Gothic Neo"/>
              </a:rPr>
              <a:t>L0</a:t>
            </a:r>
          </a:p>
        </p:txBody>
      </p:sp>
      <p:sp>
        <p:nvSpPr>
          <p:cNvPr id="78" name="packed-page-0-1">
            <a:extLst xmlns:a="http://schemas.openxmlformats.org/drawingml/2006/main">
              <a:ext uri="{FF2B5EF4-FFF2-40B4-BE49-F238E27FC236}">
                <a16:creationId xmlns:a16="http://schemas.microsoft.com/office/drawing/2014/main" id="{3A361E75-A068-46C5-AB70-F0ED561496D3}"/>
              </a:ext>
            </a:extLst>
          </p:cNvPr>
          <p:cNvSpPr>
            <a:spLocks xmlns:a="http://schemas.openxmlformats.org/drawingml/2006/main" noGrp="1"/>
          </p:cNvSpPr>
          <p:nvPr/>
        </p:nvSpPr>
        <p:spPr>
          <a:xfrm xmlns:a="http://schemas.openxmlformats.org/drawingml/2006/main">
            <a:off x="3009900" y="5219700"/>
            <a:ext cx="933450" cy="371475"/>
          </a:xfrm>
          <a:prstGeom xmlns:a="http://schemas.openxmlformats.org/drawingml/2006/main" prst="rect">
            <a:avLst/>
          </a:prstGeom>
          <a:solidFill xmlns:a="http://schemas.openxmlformats.org/drawingml/2006/main">
            <a:srgbClr val="EAF2FD"/>
          </a:solidFill>
          <a:ln xmlns:a="http://schemas.openxmlformats.org/drawingml/2006/main" w="14288">
            <a:solidFill>
              <a:srgbClr val="126DCA"/>
            </a:solidFill>
            <a:prstDash val="solid"/>
          </a:ln>
        </p:spPr>
        <p:txBody>
          <a:bodyPr xmlns:a="http://schemas.openxmlformats.org/drawingml/2006/main"/>
          <a:lstStyle xmlns:a="http://schemas.openxmlformats.org/drawingml/2006/main"/>
          <a:p xmlns:a="http://schemas.openxmlformats.org/drawingml/2006/main">
            <a:endParaRPr/>
          </a:p>
        </p:txBody>
      </p:sp>
      <p:sp>
        <p:nvSpPr>
          <p:cNvPr id="79" name="packed-page-label-0-1">
            <a:extLst xmlns:a="http://schemas.openxmlformats.org/drawingml/2006/main">
              <a:ext uri="{FF2B5EF4-FFF2-40B4-BE49-F238E27FC236}">
                <a16:creationId xmlns:a16="http://schemas.microsoft.com/office/drawing/2014/main" id="{85E54BB5-AF41-48BF-B597-46F98C512E74}"/>
              </a:ext>
            </a:extLst>
          </p:cNvPr>
          <p:cNvSpPr>
            <a:spLocks xmlns:a="http://schemas.openxmlformats.org/drawingml/2006/main" noGrp="1"/>
          </p:cNvSpPr>
          <p:nvPr/>
        </p:nvSpPr>
        <p:spPr>
          <a:xfrm xmlns:a="http://schemas.openxmlformats.org/drawingml/2006/main">
            <a:off x="3267075" y="5286375"/>
            <a:ext cx="666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1">
                <a:solidFill>
                  <a:srgbClr val="126DCA"/>
                </a:solidFill>
                <a:latin typeface="Apple SD Gothic Neo"/>
                <a:ea typeface="Apple SD Gothic Neo"/>
                <a:cs typeface="Apple SD Gothic Neo"/>
              </a:defRPr>
            </a:defPPr>
          </a:lstStyle>
          <a:p xmlns:a="http://schemas.openxmlformats.org/drawingml/2006/main">
            <a:pPr>
              <a:buNone/>
              <a:defRPr sz="1725" b="1">
                <a:solidFill>
                  <a:srgbClr val="126DCA"/>
                </a:solidFill>
                <a:latin typeface="Apple SD Gothic Neo"/>
                <a:ea typeface="Apple SD Gothic Neo"/>
                <a:cs typeface="Apple SD Gothic Neo"/>
              </a:defRPr>
            </a:pPr>
            <a:r>
              <a:rPr sz="1725" b="1">
                <a:solidFill>
                  <a:srgbClr val="126DCA"/>
                </a:solidFill>
                <a:latin typeface="Apple SD Gothic Neo"/>
                <a:ea typeface="Apple SD Gothic Neo"/>
                <a:cs typeface="Apple SD Gothic Neo"/>
              </a:rPr>
              <a:t>L4</a:t>
            </a:r>
          </a:p>
        </p:txBody>
      </p:sp>
      <p:sp>
        <p:nvSpPr>
          <p:cNvPr id="80" name="packed-page-0-2">
            <a:extLst xmlns:a="http://schemas.openxmlformats.org/drawingml/2006/main">
              <a:ext uri="{FF2B5EF4-FFF2-40B4-BE49-F238E27FC236}">
                <a16:creationId xmlns:a16="http://schemas.microsoft.com/office/drawing/2014/main" id="{AE04F794-F829-401B-AEBF-22630A502862}"/>
              </a:ext>
            </a:extLst>
          </p:cNvPr>
          <p:cNvSpPr>
            <a:spLocks xmlns:a="http://schemas.openxmlformats.org/drawingml/2006/main" noGrp="1"/>
          </p:cNvSpPr>
          <p:nvPr/>
        </p:nvSpPr>
        <p:spPr>
          <a:xfrm xmlns:a="http://schemas.openxmlformats.org/drawingml/2006/main">
            <a:off x="3943350" y="5219700"/>
            <a:ext cx="933450" cy="371475"/>
          </a:xfrm>
          <a:prstGeom xmlns:a="http://schemas.openxmlformats.org/drawingml/2006/main" prst="rect">
            <a:avLst/>
          </a:prstGeom>
          <a:solidFill xmlns:a="http://schemas.openxmlformats.org/drawingml/2006/main">
            <a:srgbClr val="EAF2FD"/>
          </a:solidFill>
          <a:ln xmlns:a="http://schemas.openxmlformats.org/drawingml/2006/main" w="14288">
            <a:solidFill>
              <a:srgbClr val="126DCA"/>
            </a:solidFill>
            <a:prstDash val="solid"/>
          </a:ln>
        </p:spPr>
        <p:txBody>
          <a:bodyPr xmlns:a="http://schemas.openxmlformats.org/drawingml/2006/main"/>
          <a:lstStyle xmlns:a="http://schemas.openxmlformats.org/drawingml/2006/main"/>
          <a:p xmlns:a="http://schemas.openxmlformats.org/drawingml/2006/main">
            <a:endParaRPr/>
          </a:p>
        </p:txBody>
      </p:sp>
      <p:sp>
        <p:nvSpPr>
          <p:cNvPr id="81" name="packed-page-label-0-2">
            <a:extLst xmlns:a="http://schemas.openxmlformats.org/drawingml/2006/main">
              <a:ext uri="{FF2B5EF4-FFF2-40B4-BE49-F238E27FC236}">
                <a16:creationId xmlns:a16="http://schemas.microsoft.com/office/drawing/2014/main" id="{458A5AFD-68C5-4ABF-BBFF-1487F7AD1401}"/>
              </a:ext>
            </a:extLst>
          </p:cNvPr>
          <p:cNvSpPr>
            <a:spLocks xmlns:a="http://schemas.openxmlformats.org/drawingml/2006/main" noGrp="1"/>
          </p:cNvSpPr>
          <p:nvPr/>
        </p:nvSpPr>
        <p:spPr>
          <a:xfrm xmlns:a="http://schemas.openxmlformats.org/drawingml/2006/main">
            <a:off x="4200525" y="5286375"/>
            <a:ext cx="666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1">
                <a:solidFill>
                  <a:srgbClr val="126DCA"/>
                </a:solidFill>
                <a:latin typeface="Apple SD Gothic Neo"/>
                <a:ea typeface="Apple SD Gothic Neo"/>
                <a:cs typeface="Apple SD Gothic Neo"/>
              </a:defRPr>
            </a:defPPr>
          </a:lstStyle>
          <a:p xmlns:a="http://schemas.openxmlformats.org/drawingml/2006/main">
            <a:pPr>
              <a:buNone/>
              <a:defRPr sz="1725" b="1">
                <a:solidFill>
                  <a:srgbClr val="126DCA"/>
                </a:solidFill>
                <a:latin typeface="Apple SD Gothic Neo"/>
                <a:ea typeface="Apple SD Gothic Neo"/>
                <a:cs typeface="Apple SD Gothic Neo"/>
              </a:defRPr>
            </a:pPr>
            <a:r>
              <a:rPr sz="1725" b="1">
                <a:solidFill>
                  <a:srgbClr val="126DCA"/>
                </a:solidFill>
                <a:latin typeface="Apple SD Gothic Neo"/>
                <a:ea typeface="Apple SD Gothic Neo"/>
                <a:cs typeface="Apple SD Gothic Neo"/>
              </a:rPr>
              <a:t>L8</a:t>
            </a:r>
          </a:p>
        </p:txBody>
      </p:sp>
      <p:sp>
        <p:nvSpPr>
          <p:cNvPr id="82" name="packed-page-0-3">
            <a:extLst xmlns:a="http://schemas.openxmlformats.org/drawingml/2006/main">
              <a:ext uri="{FF2B5EF4-FFF2-40B4-BE49-F238E27FC236}">
                <a16:creationId xmlns:a16="http://schemas.microsoft.com/office/drawing/2014/main" id="{020A0128-1DB5-4216-AB44-84E87497B7E6}"/>
              </a:ext>
            </a:extLst>
          </p:cNvPr>
          <p:cNvSpPr>
            <a:spLocks xmlns:a="http://schemas.openxmlformats.org/drawingml/2006/main" noGrp="1"/>
          </p:cNvSpPr>
          <p:nvPr/>
        </p:nvSpPr>
        <p:spPr>
          <a:xfrm xmlns:a="http://schemas.openxmlformats.org/drawingml/2006/main">
            <a:off x="4876800" y="5219700"/>
            <a:ext cx="933450" cy="371475"/>
          </a:xfrm>
          <a:prstGeom xmlns:a="http://schemas.openxmlformats.org/drawingml/2006/main" prst="rect">
            <a:avLst/>
          </a:prstGeom>
          <a:solidFill xmlns:a="http://schemas.openxmlformats.org/drawingml/2006/main">
            <a:srgbClr val="EAF2FD"/>
          </a:solidFill>
          <a:ln xmlns:a="http://schemas.openxmlformats.org/drawingml/2006/main" w="14288">
            <a:solidFill>
              <a:srgbClr val="126DCA"/>
            </a:solidFill>
            <a:prstDash val="solid"/>
          </a:ln>
        </p:spPr>
        <p:txBody>
          <a:bodyPr xmlns:a="http://schemas.openxmlformats.org/drawingml/2006/main"/>
          <a:lstStyle xmlns:a="http://schemas.openxmlformats.org/drawingml/2006/main"/>
          <a:p xmlns:a="http://schemas.openxmlformats.org/drawingml/2006/main">
            <a:endParaRPr/>
          </a:p>
        </p:txBody>
      </p:sp>
      <p:sp>
        <p:nvSpPr>
          <p:cNvPr id="83" name="packed-page-label-0-3">
            <a:extLst xmlns:a="http://schemas.openxmlformats.org/drawingml/2006/main">
              <a:ext uri="{FF2B5EF4-FFF2-40B4-BE49-F238E27FC236}">
                <a16:creationId xmlns:a16="http://schemas.microsoft.com/office/drawing/2014/main" id="{41594A72-8C41-4FEC-9C89-FC981934E770}"/>
              </a:ext>
            </a:extLst>
          </p:cNvPr>
          <p:cNvSpPr>
            <a:spLocks xmlns:a="http://schemas.openxmlformats.org/drawingml/2006/main" noGrp="1"/>
          </p:cNvSpPr>
          <p:nvPr/>
        </p:nvSpPr>
        <p:spPr>
          <a:xfrm xmlns:a="http://schemas.openxmlformats.org/drawingml/2006/main">
            <a:off x="5133975" y="5286375"/>
            <a:ext cx="666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1">
                <a:solidFill>
                  <a:srgbClr val="126DCA"/>
                </a:solidFill>
                <a:latin typeface="Apple SD Gothic Neo"/>
                <a:ea typeface="Apple SD Gothic Neo"/>
                <a:cs typeface="Apple SD Gothic Neo"/>
              </a:defRPr>
            </a:defPPr>
          </a:lstStyle>
          <a:p xmlns:a="http://schemas.openxmlformats.org/drawingml/2006/main">
            <a:pPr>
              <a:buNone/>
              <a:defRPr sz="1725" b="1">
                <a:solidFill>
                  <a:srgbClr val="126DCA"/>
                </a:solidFill>
                <a:latin typeface="Apple SD Gothic Neo"/>
                <a:ea typeface="Apple SD Gothic Neo"/>
                <a:cs typeface="Apple SD Gothic Neo"/>
              </a:defRPr>
            </a:pPr>
            <a:r>
              <a:rPr sz="1725" b="1">
                <a:solidFill>
                  <a:srgbClr val="126DCA"/>
                </a:solidFill>
                <a:latin typeface="Apple SD Gothic Neo"/>
                <a:ea typeface="Apple SD Gothic Neo"/>
                <a:cs typeface="Apple SD Gothic Neo"/>
              </a:rPr>
              <a:t>L12</a:t>
            </a:r>
          </a:p>
        </p:txBody>
      </p:sp>
      <p:sp>
        <p:nvSpPr>
          <p:cNvPr id="84" name="stripe-label-1">
            <a:extLst xmlns:a="http://schemas.openxmlformats.org/drawingml/2006/main">
              <a:ext uri="{FF2B5EF4-FFF2-40B4-BE49-F238E27FC236}">
                <a16:creationId xmlns:a16="http://schemas.microsoft.com/office/drawing/2014/main" id="{4FDED947-F187-4B51-9870-CD699B81D2B1}"/>
              </a:ext>
            </a:extLst>
          </p:cNvPr>
          <p:cNvSpPr>
            <a:spLocks xmlns:a="http://schemas.openxmlformats.org/drawingml/2006/main" noGrp="1"/>
          </p:cNvSpPr>
          <p:nvPr/>
        </p:nvSpPr>
        <p:spPr>
          <a:xfrm xmlns:a="http://schemas.openxmlformats.org/drawingml/2006/main">
            <a:off x="533400" y="5772150"/>
            <a:ext cx="14954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126DCA"/>
                </a:solidFill>
                <a:latin typeface="Apple SD Gothic Neo"/>
                <a:ea typeface="Apple SD Gothic Neo"/>
                <a:cs typeface="Apple SD Gothic Neo"/>
              </a:defRPr>
            </a:defPPr>
          </a:lstStyle>
          <a:p xmlns:a="http://schemas.openxmlformats.org/drawingml/2006/main">
            <a:pPr>
              <a:buNone/>
              <a:defRPr sz="1650" b="1">
                <a:solidFill>
                  <a:srgbClr val="126DCA"/>
                </a:solidFill>
                <a:latin typeface="Apple SD Gothic Neo"/>
                <a:ea typeface="Apple SD Gothic Neo"/>
                <a:cs typeface="Apple SD Gothic Neo"/>
              </a:defRPr>
            </a:pPr>
            <a:r>
              <a:rPr sz="1650" b="1">
                <a:solidFill>
                  <a:srgbClr val="126DCA"/>
                </a:solidFill>
                <a:latin typeface="Apple SD Gothic Neo"/>
                <a:ea typeface="Apple SD Gothic Neo"/>
                <a:cs typeface="Apple SD Gothic Neo"/>
              </a:rPr>
              <a:t>16KiB stripe</a:t>
            </a:r>
          </a:p>
        </p:txBody>
      </p:sp>
      <p:sp>
        <p:nvSpPr>
          <p:cNvPr id="85" name="stripe-workload-1">
            <a:extLst xmlns:a="http://schemas.openxmlformats.org/drawingml/2006/main">
              <a:ext uri="{FF2B5EF4-FFF2-40B4-BE49-F238E27FC236}">
                <a16:creationId xmlns:a16="http://schemas.microsoft.com/office/drawing/2014/main" id="{423AE831-66B9-42D9-B7FB-1BF07831139D}"/>
              </a:ext>
            </a:extLst>
          </p:cNvPr>
          <p:cNvSpPr>
            <a:spLocks xmlns:a="http://schemas.openxmlformats.org/drawingml/2006/main" noGrp="1"/>
          </p:cNvSpPr>
          <p:nvPr/>
        </p:nvSpPr>
        <p:spPr>
          <a:xfrm xmlns:a="http://schemas.openxmlformats.org/drawingml/2006/main">
            <a:off x="533400" y="6019800"/>
            <a:ext cx="14954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86875"/>
                </a:solidFill>
                <a:latin typeface="Apple SD Gothic Neo"/>
                <a:ea typeface="Apple SD Gothic Neo"/>
                <a:cs typeface="Apple SD Gothic Neo"/>
              </a:defRPr>
            </a:defPPr>
          </a:lstStyle>
          <a:p xmlns:a="http://schemas.openxmlformats.org/drawingml/2006/main">
            <a:pPr>
              <a:buNone/>
              <a:defRPr sz="1500" b="0">
                <a:solidFill>
                  <a:srgbClr val="586875"/>
                </a:solidFill>
                <a:latin typeface="Apple SD Gothic Neo"/>
                <a:ea typeface="Apple SD Gothic Neo"/>
                <a:cs typeface="Apple SD Gothic Neo"/>
              </a:defRPr>
            </a:pPr>
            <a:r>
              <a:rPr sz="1500" b="0">
                <a:solidFill>
                  <a:srgbClr val="586875"/>
                </a:solidFill>
                <a:latin typeface="Apple SD Gothic Neo"/>
                <a:ea typeface="Apple SD Gothic Neo"/>
                <a:cs typeface="Apple SD Gothic Neo"/>
              </a:rPr>
              <a:t>A2</a:t>
            </a:r>
          </a:p>
        </p:txBody>
      </p:sp>
      <p:sp>
        <p:nvSpPr>
          <p:cNvPr id="86" name="packed-page-1-0">
            <a:extLst xmlns:a="http://schemas.openxmlformats.org/drawingml/2006/main">
              <a:ext uri="{FF2B5EF4-FFF2-40B4-BE49-F238E27FC236}">
                <a16:creationId xmlns:a16="http://schemas.microsoft.com/office/drawing/2014/main" id="{43E75FFC-C832-4B69-8504-83E0D5FEAD50}"/>
              </a:ext>
            </a:extLst>
          </p:cNvPr>
          <p:cNvSpPr>
            <a:spLocks xmlns:a="http://schemas.openxmlformats.org/drawingml/2006/main" noGrp="1"/>
          </p:cNvSpPr>
          <p:nvPr/>
        </p:nvSpPr>
        <p:spPr>
          <a:xfrm xmlns:a="http://schemas.openxmlformats.org/drawingml/2006/main">
            <a:off x="2076450" y="5810250"/>
            <a:ext cx="933450" cy="371475"/>
          </a:xfrm>
          <a:prstGeom xmlns:a="http://schemas.openxmlformats.org/drawingml/2006/main" prst="rect">
            <a:avLst/>
          </a:prstGeom>
          <a:solidFill xmlns:a="http://schemas.openxmlformats.org/drawingml/2006/main">
            <a:srgbClr val="EAF2FD"/>
          </a:solidFill>
          <a:ln xmlns:a="http://schemas.openxmlformats.org/drawingml/2006/main" w="14288">
            <a:solidFill>
              <a:srgbClr val="126DCA"/>
            </a:solidFill>
            <a:prstDash val="solid"/>
          </a:ln>
        </p:spPr>
        <p:txBody>
          <a:bodyPr xmlns:a="http://schemas.openxmlformats.org/drawingml/2006/main"/>
          <a:lstStyle xmlns:a="http://schemas.openxmlformats.org/drawingml/2006/main"/>
          <a:p xmlns:a="http://schemas.openxmlformats.org/drawingml/2006/main">
            <a:endParaRPr/>
          </a:p>
        </p:txBody>
      </p:sp>
      <p:sp>
        <p:nvSpPr>
          <p:cNvPr id="87" name="packed-page-label-1-0">
            <a:extLst xmlns:a="http://schemas.openxmlformats.org/drawingml/2006/main">
              <a:ext uri="{FF2B5EF4-FFF2-40B4-BE49-F238E27FC236}">
                <a16:creationId xmlns:a16="http://schemas.microsoft.com/office/drawing/2014/main" id="{0B4057B7-0516-46F8-BB37-521B72766C21}"/>
              </a:ext>
            </a:extLst>
          </p:cNvPr>
          <p:cNvSpPr>
            <a:spLocks xmlns:a="http://schemas.openxmlformats.org/drawingml/2006/main" noGrp="1"/>
          </p:cNvSpPr>
          <p:nvPr/>
        </p:nvSpPr>
        <p:spPr>
          <a:xfrm xmlns:a="http://schemas.openxmlformats.org/drawingml/2006/main">
            <a:off x="2333625" y="5876925"/>
            <a:ext cx="666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1">
                <a:solidFill>
                  <a:srgbClr val="126DCA"/>
                </a:solidFill>
                <a:latin typeface="Apple SD Gothic Neo"/>
                <a:ea typeface="Apple SD Gothic Neo"/>
                <a:cs typeface="Apple SD Gothic Neo"/>
              </a:defRPr>
            </a:defPPr>
          </a:lstStyle>
          <a:p xmlns:a="http://schemas.openxmlformats.org/drawingml/2006/main">
            <a:pPr>
              <a:buNone/>
              <a:defRPr sz="1725" b="1">
                <a:solidFill>
                  <a:srgbClr val="126DCA"/>
                </a:solidFill>
                <a:latin typeface="Apple SD Gothic Neo"/>
                <a:ea typeface="Apple SD Gothic Neo"/>
                <a:cs typeface="Apple SD Gothic Neo"/>
              </a:defRPr>
            </a:pPr>
            <a:r>
              <a:rPr sz="1725" b="1">
                <a:solidFill>
                  <a:srgbClr val="126DCA"/>
                </a:solidFill>
                <a:latin typeface="Apple SD Gothic Neo"/>
                <a:ea typeface="Apple SD Gothic Neo"/>
                <a:cs typeface="Apple SD Gothic Neo"/>
              </a:rPr>
              <a:t>L0</a:t>
            </a:r>
          </a:p>
        </p:txBody>
      </p:sp>
      <p:sp>
        <p:nvSpPr>
          <p:cNvPr id="88" name="packed-page-1-1">
            <a:extLst xmlns:a="http://schemas.openxmlformats.org/drawingml/2006/main">
              <a:ext uri="{FF2B5EF4-FFF2-40B4-BE49-F238E27FC236}">
                <a16:creationId xmlns:a16="http://schemas.microsoft.com/office/drawing/2014/main" id="{9156BF4A-184C-4FE3-B7BC-E7788CC13BC3}"/>
              </a:ext>
            </a:extLst>
          </p:cNvPr>
          <p:cNvSpPr>
            <a:spLocks xmlns:a="http://schemas.openxmlformats.org/drawingml/2006/main" noGrp="1"/>
          </p:cNvSpPr>
          <p:nvPr/>
        </p:nvSpPr>
        <p:spPr>
          <a:xfrm xmlns:a="http://schemas.openxmlformats.org/drawingml/2006/main">
            <a:off x="3009900" y="5810250"/>
            <a:ext cx="933450" cy="371475"/>
          </a:xfrm>
          <a:prstGeom xmlns:a="http://schemas.openxmlformats.org/drawingml/2006/main" prst="rect">
            <a:avLst/>
          </a:prstGeom>
          <a:solidFill xmlns:a="http://schemas.openxmlformats.org/drawingml/2006/main">
            <a:srgbClr val="EAF2FD"/>
          </a:solidFill>
          <a:ln xmlns:a="http://schemas.openxmlformats.org/drawingml/2006/main" w="14288">
            <a:solidFill>
              <a:srgbClr val="126DCA"/>
            </a:solidFill>
            <a:prstDash val="solid"/>
          </a:ln>
        </p:spPr>
        <p:txBody>
          <a:bodyPr xmlns:a="http://schemas.openxmlformats.org/drawingml/2006/main"/>
          <a:lstStyle xmlns:a="http://schemas.openxmlformats.org/drawingml/2006/main"/>
          <a:p xmlns:a="http://schemas.openxmlformats.org/drawingml/2006/main">
            <a:endParaRPr/>
          </a:p>
        </p:txBody>
      </p:sp>
      <p:sp>
        <p:nvSpPr>
          <p:cNvPr id="89" name="packed-page-label-1-1">
            <a:extLst xmlns:a="http://schemas.openxmlformats.org/drawingml/2006/main">
              <a:ext uri="{FF2B5EF4-FFF2-40B4-BE49-F238E27FC236}">
                <a16:creationId xmlns:a16="http://schemas.microsoft.com/office/drawing/2014/main" id="{65D6CE25-3656-4791-83A6-5ACE3BEC0ABD}"/>
              </a:ext>
            </a:extLst>
          </p:cNvPr>
          <p:cNvSpPr>
            <a:spLocks xmlns:a="http://schemas.openxmlformats.org/drawingml/2006/main" noGrp="1"/>
          </p:cNvSpPr>
          <p:nvPr/>
        </p:nvSpPr>
        <p:spPr>
          <a:xfrm xmlns:a="http://schemas.openxmlformats.org/drawingml/2006/main">
            <a:off x="3267075" y="5876925"/>
            <a:ext cx="666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1">
                <a:solidFill>
                  <a:srgbClr val="126DCA"/>
                </a:solidFill>
                <a:latin typeface="Apple SD Gothic Neo"/>
                <a:ea typeface="Apple SD Gothic Neo"/>
                <a:cs typeface="Apple SD Gothic Neo"/>
              </a:defRPr>
            </a:defPPr>
          </a:lstStyle>
          <a:p xmlns:a="http://schemas.openxmlformats.org/drawingml/2006/main">
            <a:pPr>
              <a:buNone/>
              <a:defRPr sz="1725" b="1">
                <a:solidFill>
                  <a:srgbClr val="126DCA"/>
                </a:solidFill>
                <a:latin typeface="Apple SD Gothic Neo"/>
                <a:ea typeface="Apple SD Gothic Neo"/>
                <a:cs typeface="Apple SD Gothic Neo"/>
              </a:defRPr>
            </a:pPr>
            <a:r>
              <a:rPr sz="1725" b="1">
                <a:solidFill>
                  <a:srgbClr val="126DCA"/>
                </a:solidFill>
                <a:latin typeface="Apple SD Gothic Neo"/>
                <a:ea typeface="Apple SD Gothic Neo"/>
                <a:cs typeface="Apple SD Gothic Neo"/>
              </a:rPr>
              <a:t>L1</a:t>
            </a:r>
          </a:p>
        </p:txBody>
      </p:sp>
      <p:sp>
        <p:nvSpPr>
          <p:cNvPr id="90" name="packed-page-1-2">
            <a:extLst xmlns:a="http://schemas.openxmlformats.org/drawingml/2006/main">
              <a:ext uri="{FF2B5EF4-FFF2-40B4-BE49-F238E27FC236}">
                <a16:creationId xmlns:a16="http://schemas.microsoft.com/office/drawing/2014/main" id="{CDE9528B-D793-4CEC-BB14-D1FADCB827A4}"/>
              </a:ext>
            </a:extLst>
          </p:cNvPr>
          <p:cNvSpPr>
            <a:spLocks xmlns:a="http://schemas.openxmlformats.org/drawingml/2006/main" noGrp="1"/>
          </p:cNvSpPr>
          <p:nvPr/>
        </p:nvSpPr>
        <p:spPr>
          <a:xfrm xmlns:a="http://schemas.openxmlformats.org/drawingml/2006/main">
            <a:off x="3943350" y="5810250"/>
            <a:ext cx="933450" cy="371475"/>
          </a:xfrm>
          <a:prstGeom xmlns:a="http://schemas.openxmlformats.org/drawingml/2006/main" prst="rect">
            <a:avLst/>
          </a:prstGeom>
          <a:solidFill xmlns:a="http://schemas.openxmlformats.org/drawingml/2006/main">
            <a:srgbClr val="EAF2FD"/>
          </a:solidFill>
          <a:ln xmlns:a="http://schemas.openxmlformats.org/drawingml/2006/main" w="14288">
            <a:solidFill>
              <a:srgbClr val="126DCA"/>
            </a:solidFill>
            <a:prstDash val="solid"/>
          </a:ln>
        </p:spPr>
        <p:txBody>
          <a:bodyPr xmlns:a="http://schemas.openxmlformats.org/drawingml/2006/main"/>
          <a:lstStyle xmlns:a="http://schemas.openxmlformats.org/drawingml/2006/main"/>
          <a:p xmlns:a="http://schemas.openxmlformats.org/drawingml/2006/main">
            <a:endParaRPr/>
          </a:p>
        </p:txBody>
      </p:sp>
      <p:sp>
        <p:nvSpPr>
          <p:cNvPr id="91" name="packed-page-label-1-2">
            <a:extLst xmlns:a="http://schemas.openxmlformats.org/drawingml/2006/main">
              <a:ext uri="{FF2B5EF4-FFF2-40B4-BE49-F238E27FC236}">
                <a16:creationId xmlns:a16="http://schemas.microsoft.com/office/drawing/2014/main" id="{41A9A549-8C71-4C79-BBE4-C8819B2C8750}"/>
              </a:ext>
            </a:extLst>
          </p:cNvPr>
          <p:cNvSpPr>
            <a:spLocks xmlns:a="http://schemas.openxmlformats.org/drawingml/2006/main" noGrp="1"/>
          </p:cNvSpPr>
          <p:nvPr/>
        </p:nvSpPr>
        <p:spPr>
          <a:xfrm xmlns:a="http://schemas.openxmlformats.org/drawingml/2006/main">
            <a:off x="4200525" y="5876925"/>
            <a:ext cx="666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1">
                <a:solidFill>
                  <a:srgbClr val="126DCA"/>
                </a:solidFill>
                <a:latin typeface="Apple SD Gothic Neo"/>
                <a:ea typeface="Apple SD Gothic Neo"/>
                <a:cs typeface="Apple SD Gothic Neo"/>
              </a:defRPr>
            </a:defPPr>
          </a:lstStyle>
          <a:p xmlns:a="http://schemas.openxmlformats.org/drawingml/2006/main">
            <a:pPr>
              <a:buNone/>
              <a:defRPr sz="1725" b="1">
                <a:solidFill>
                  <a:srgbClr val="126DCA"/>
                </a:solidFill>
                <a:latin typeface="Apple SD Gothic Neo"/>
                <a:ea typeface="Apple SD Gothic Neo"/>
                <a:cs typeface="Apple SD Gothic Neo"/>
              </a:defRPr>
            </a:pPr>
            <a:r>
              <a:rPr sz="1725" b="1">
                <a:solidFill>
                  <a:srgbClr val="126DCA"/>
                </a:solidFill>
                <a:latin typeface="Apple SD Gothic Neo"/>
                <a:ea typeface="Apple SD Gothic Neo"/>
                <a:cs typeface="Apple SD Gothic Neo"/>
              </a:rPr>
              <a:t>L2</a:t>
            </a:r>
          </a:p>
        </p:txBody>
      </p:sp>
      <p:sp>
        <p:nvSpPr>
          <p:cNvPr id="92" name="packed-page-1-3">
            <a:extLst xmlns:a="http://schemas.openxmlformats.org/drawingml/2006/main">
              <a:ext uri="{FF2B5EF4-FFF2-40B4-BE49-F238E27FC236}">
                <a16:creationId xmlns:a16="http://schemas.microsoft.com/office/drawing/2014/main" id="{0F42F724-3DE0-4FFE-8DAE-E6B0CF80D334}"/>
              </a:ext>
            </a:extLst>
          </p:cNvPr>
          <p:cNvSpPr>
            <a:spLocks xmlns:a="http://schemas.openxmlformats.org/drawingml/2006/main" noGrp="1"/>
          </p:cNvSpPr>
          <p:nvPr/>
        </p:nvSpPr>
        <p:spPr>
          <a:xfrm xmlns:a="http://schemas.openxmlformats.org/drawingml/2006/main">
            <a:off x="4876800" y="5810250"/>
            <a:ext cx="933450" cy="371475"/>
          </a:xfrm>
          <a:prstGeom xmlns:a="http://schemas.openxmlformats.org/drawingml/2006/main" prst="rect">
            <a:avLst/>
          </a:prstGeom>
          <a:solidFill xmlns:a="http://schemas.openxmlformats.org/drawingml/2006/main">
            <a:srgbClr val="EAF2FD"/>
          </a:solidFill>
          <a:ln xmlns:a="http://schemas.openxmlformats.org/drawingml/2006/main" w="14288">
            <a:solidFill>
              <a:srgbClr val="126DCA"/>
            </a:solidFill>
            <a:prstDash val="solid"/>
          </a:ln>
        </p:spPr>
        <p:txBody>
          <a:bodyPr xmlns:a="http://schemas.openxmlformats.org/drawingml/2006/main"/>
          <a:lstStyle xmlns:a="http://schemas.openxmlformats.org/drawingml/2006/main"/>
          <a:p xmlns:a="http://schemas.openxmlformats.org/drawingml/2006/main">
            <a:endParaRPr/>
          </a:p>
        </p:txBody>
      </p:sp>
      <p:sp>
        <p:nvSpPr>
          <p:cNvPr id="93" name="packed-page-label-1-3">
            <a:extLst xmlns:a="http://schemas.openxmlformats.org/drawingml/2006/main">
              <a:ext uri="{FF2B5EF4-FFF2-40B4-BE49-F238E27FC236}">
                <a16:creationId xmlns:a16="http://schemas.microsoft.com/office/drawing/2014/main" id="{BF9E9CCA-AFAE-455C-957A-1DABAAB50FEF}"/>
              </a:ext>
            </a:extLst>
          </p:cNvPr>
          <p:cNvSpPr>
            <a:spLocks xmlns:a="http://schemas.openxmlformats.org/drawingml/2006/main" noGrp="1"/>
          </p:cNvSpPr>
          <p:nvPr/>
        </p:nvSpPr>
        <p:spPr>
          <a:xfrm xmlns:a="http://schemas.openxmlformats.org/drawingml/2006/main">
            <a:off x="5133975" y="5876925"/>
            <a:ext cx="666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1">
                <a:solidFill>
                  <a:srgbClr val="126DCA"/>
                </a:solidFill>
                <a:latin typeface="Apple SD Gothic Neo"/>
                <a:ea typeface="Apple SD Gothic Neo"/>
                <a:cs typeface="Apple SD Gothic Neo"/>
              </a:defRPr>
            </a:defPPr>
          </a:lstStyle>
          <a:p xmlns:a="http://schemas.openxmlformats.org/drawingml/2006/main">
            <a:pPr>
              <a:buNone/>
              <a:defRPr sz="1725" b="1">
                <a:solidFill>
                  <a:srgbClr val="126DCA"/>
                </a:solidFill>
                <a:latin typeface="Apple SD Gothic Neo"/>
                <a:ea typeface="Apple SD Gothic Neo"/>
                <a:cs typeface="Apple SD Gothic Neo"/>
              </a:defRPr>
            </a:pPr>
            <a:r>
              <a:rPr sz="1725" b="1">
                <a:solidFill>
                  <a:srgbClr val="126DCA"/>
                </a:solidFill>
                <a:latin typeface="Apple SD Gothic Neo"/>
                <a:ea typeface="Apple SD Gothic Neo"/>
                <a:cs typeface="Apple SD Gothic Neo"/>
              </a:rPr>
              <a:t>L3</a:t>
            </a:r>
          </a:p>
        </p:txBody>
      </p:sp>
      <p:sp>
        <p:nvSpPr>
          <p:cNvPr id="94" name="plane-address-heading">
            <a:extLst xmlns:a="http://schemas.openxmlformats.org/drawingml/2006/main">
              <a:ext uri="{FF2B5EF4-FFF2-40B4-BE49-F238E27FC236}">
                <a16:creationId xmlns:a16="http://schemas.microsoft.com/office/drawing/2014/main" id="{11F03BE5-1D88-4233-89CE-C45D8C9643F9}"/>
              </a:ext>
            </a:extLst>
          </p:cNvPr>
          <p:cNvSpPr>
            <a:spLocks xmlns:a="http://schemas.openxmlformats.org/drawingml/2006/main" noGrp="1"/>
          </p:cNvSpPr>
          <p:nvPr/>
        </p:nvSpPr>
        <p:spPr>
          <a:xfrm xmlns:a="http://schemas.openxmlformats.org/drawingml/2006/main">
            <a:off x="6572250" y="4867275"/>
            <a:ext cx="50387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a:solidFill>
                  <a:srgbClr val="172738"/>
                </a:solidFill>
                <a:latin typeface="Apple SD Gothic Neo"/>
                <a:ea typeface="Apple SD Gothic Neo"/>
                <a:cs typeface="Apple SD Gothic Neo"/>
              </a:defRPr>
            </a:defPPr>
          </a:lstStyle>
          <a:p xmlns:a="http://schemas.openxmlformats.org/drawingml/2006/main">
            <a:pPr>
              <a:buNone/>
              <a:defRPr sz="1800" b="1">
                <a:solidFill>
                  <a:srgbClr val="172738"/>
                </a:solidFill>
                <a:latin typeface="Apple SD Gothic Neo"/>
                <a:ea typeface="Apple SD Gothic Neo"/>
                <a:cs typeface="Apple SD Gothic Neo"/>
              </a:defRPr>
            </a:pPr>
            <a:r>
              <a:rPr sz="1800" b="1">
                <a:solidFill>
                  <a:srgbClr val="172738"/>
                </a:solidFill>
                <a:latin typeface="Apple SD Gothic Neo"/>
                <a:ea typeface="Apple SD Gothic Neo"/>
                <a:cs typeface="Apple SD Gothic Neo"/>
              </a:rPr>
              <a:t>Plane 내부의 주소 계층</a:t>
            </a:r>
          </a:p>
        </p:txBody>
      </p:sp>
      <p:sp>
        <p:nvSpPr>
          <p:cNvPr id="95" name="plane-hierarchy-0">
            <a:extLst xmlns:a="http://schemas.openxmlformats.org/drawingml/2006/main">
              <a:ext uri="{FF2B5EF4-FFF2-40B4-BE49-F238E27FC236}">
                <a16:creationId xmlns:a16="http://schemas.microsoft.com/office/drawing/2014/main" id="{D7E5247D-D770-49B0-B038-BCB1F895936E}"/>
              </a:ext>
            </a:extLst>
          </p:cNvPr>
          <p:cNvSpPr>
            <a:spLocks xmlns:a="http://schemas.openxmlformats.org/drawingml/2006/main" noGrp="1"/>
          </p:cNvSpPr>
          <p:nvPr/>
        </p:nvSpPr>
        <p:spPr>
          <a:xfrm xmlns:a="http://schemas.openxmlformats.org/drawingml/2006/main">
            <a:off x="6572250" y="5219700"/>
            <a:ext cx="800100" cy="581025"/>
          </a:xfrm>
          <a:prstGeom xmlns:a="http://schemas.openxmlformats.org/drawingml/2006/main" prst="rect">
            <a:avLst/>
          </a:prstGeom>
          <a:solidFill xmlns:a="http://schemas.openxmlformats.org/drawingml/2006/main">
            <a:srgbClr val="F1F5F8"/>
          </a:solidFill>
          <a:ln xmlns:a="http://schemas.openxmlformats.org/drawingml/2006/main" w="14288">
            <a:solidFill>
              <a:srgbClr val="9AA9B5"/>
            </a:solidFill>
            <a:prstDash val="solid"/>
          </a:ln>
        </p:spPr>
        <p:txBody>
          <a:bodyPr xmlns:a="http://schemas.openxmlformats.org/drawingml/2006/main"/>
          <a:lstStyle xmlns:a="http://schemas.openxmlformats.org/drawingml/2006/main"/>
          <a:p xmlns:a="http://schemas.openxmlformats.org/drawingml/2006/main">
            <a:endParaRPr/>
          </a:p>
        </p:txBody>
      </p:sp>
      <p:sp>
        <p:nvSpPr>
          <p:cNvPr id="96" name="plane-hierarchy-label-0">
            <a:extLst xmlns:a="http://schemas.openxmlformats.org/drawingml/2006/main">
              <a:ext uri="{FF2B5EF4-FFF2-40B4-BE49-F238E27FC236}">
                <a16:creationId xmlns:a16="http://schemas.microsoft.com/office/drawing/2014/main" id="{CEDCE6CC-A69A-478A-B60D-1636A1FD9610}"/>
              </a:ext>
            </a:extLst>
          </p:cNvPr>
          <p:cNvSpPr>
            <a:spLocks xmlns:a="http://schemas.openxmlformats.org/drawingml/2006/main" noGrp="1"/>
          </p:cNvSpPr>
          <p:nvPr/>
        </p:nvSpPr>
        <p:spPr>
          <a:xfrm xmlns:a="http://schemas.openxmlformats.org/drawingml/2006/main">
            <a:off x="6648450" y="5400675"/>
            <a:ext cx="6762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172738"/>
                </a:solidFill>
                <a:latin typeface="Apple SD Gothic Neo"/>
                <a:ea typeface="Apple SD Gothic Neo"/>
                <a:cs typeface="Apple SD Gothic Neo"/>
              </a:defRPr>
            </a:defPPr>
          </a:lstStyle>
          <a:p xmlns:a="http://schemas.openxmlformats.org/drawingml/2006/main">
            <a:pPr>
              <a:buNone/>
              <a:defRPr sz="1575" b="1">
                <a:solidFill>
                  <a:srgbClr val="172738"/>
                </a:solidFill>
                <a:latin typeface="Apple SD Gothic Neo"/>
                <a:ea typeface="Apple SD Gothic Neo"/>
                <a:cs typeface="Apple SD Gothic Neo"/>
              </a:defRPr>
            </a:pPr>
            <a:r>
              <a:rPr sz="1575" b="1">
                <a:solidFill>
                  <a:srgbClr val="172738"/>
                </a:solidFill>
                <a:latin typeface="Apple SD Gothic Neo"/>
                <a:ea typeface="Apple SD Gothic Neo"/>
                <a:cs typeface="Apple SD Gothic Neo"/>
              </a:rPr>
              <a:t>Group</a:t>
            </a:r>
          </a:p>
        </p:txBody>
      </p:sp>
      <p:cxnSp>
        <p:nvCxnSpPr>
          <p:cNvPr id="97" name="plane-hierarchy-link-0">
            <a:extLst xmlns:a="http://schemas.openxmlformats.org/drawingml/2006/main">
              <a:ext uri="{FF2B5EF4-FFF2-40B4-BE49-F238E27FC236}">
                <a16:creationId xmlns:a16="http://schemas.microsoft.com/office/drawing/2014/main" id="{F3AB5537-5C33-4857-93C9-523610C92561}"/>
              </a:ext>
            </a:extLst>
          </p:cNvPr>
          <p:cNvCxnSpPr/>
          <p:nvPr/>
        </p:nvCxnSpPr>
        <p:spPr>
          <a:xfrm xmlns:a="http://schemas.openxmlformats.org/drawingml/2006/main">
            <a:off x="7372350" y="5514975"/>
            <a:ext cx="161925" cy="0"/>
          </a:xfrm>
          <a:prstGeom xmlns:a="http://schemas.openxmlformats.org/drawingml/2006/main" prst="straightConnector1">
            <a:avLst/>
          </a:prstGeom>
          <a:ln xmlns:a="http://schemas.openxmlformats.org/drawingml/2006/main" w="19050">
            <a:solidFill>
              <a:srgbClr val="9AA9B5"/>
            </a:solidFill>
            <a:prstDash val="solid"/>
            <a:tailEnd type="triangle" w="med" len="med"/>
          </a:ln>
        </p:spPr>
      </p:cxnSp>
      <p:sp>
        <p:nvSpPr>
          <p:cNvPr id="98" name="plane-hierarchy-1">
            <a:extLst xmlns:a="http://schemas.openxmlformats.org/drawingml/2006/main">
              <a:ext uri="{FF2B5EF4-FFF2-40B4-BE49-F238E27FC236}">
                <a16:creationId xmlns:a16="http://schemas.microsoft.com/office/drawing/2014/main" id="{5D832858-AB2B-4C3A-B4B1-B7D89EFB2C11}"/>
              </a:ext>
            </a:extLst>
          </p:cNvPr>
          <p:cNvSpPr>
            <a:spLocks xmlns:a="http://schemas.openxmlformats.org/drawingml/2006/main" noGrp="1"/>
          </p:cNvSpPr>
          <p:nvPr/>
        </p:nvSpPr>
        <p:spPr>
          <a:xfrm xmlns:a="http://schemas.openxmlformats.org/drawingml/2006/main">
            <a:off x="7534275" y="5219700"/>
            <a:ext cx="819150" cy="581025"/>
          </a:xfrm>
          <a:prstGeom xmlns:a="http://schemas.openxmlformats.org/drawingml/2006/main" prst="rect">
            <a:avLst/>
          </a:prstGeom>
          <a:solidFill xmlns:a="http://schemas.openxmlformats.org/drawingml/2006/main">
            <a:srgbClr val="F1F5F8"/>
          </a:solidFill>
          <a:ln xmlns:a="http://schemas.openxmlformats.org/drawingml/2006/main" w="14288">
            <a:solidFill>
              <a:srgbClr val="9AA9B5"/>
            </a:solidFill>
            <a:prstDash val="solid"/>
          </a:ln>
        </p:spPr>
        <p:txBody>
          <a:bodyPr xmlns:a="http://schemas.openxmlformats.org/drawingml/2006/main"/>
          <a:lstStyle xmlns:a="http://schemas.openxmlformats.org/drawingml/2006/main"/>
          <a:p xmlns:a="http://schemas.openxmlformats.org/drawingml/2006/main">
            <a:endParaRPr/>
          </a:p>
        </p:txBody>
      </p:sp>
      <p:sp>
        <p:nvSpPr>
          <p:cNvPr id="99" name="plane-hierarchy-label-1">
            <a:extLst xmlns:a="http://schemas.openxmlformats.org/drawingml/2006/main">
              <a:ext uri="{FF2B5EF4-FFF2-40B4-BE49-F238E27FC236}">
                <a16:creationId xmlns:a16="http://schemas.microsoft.com/office/drawing/2014/main" id="{9F47B9F0-7BB6-4C89-A2C3-2FCD945E940F}"/>
              </a:ext>
            </a:extLst>
          </p:cNvPr>
          <p:cNvSpPr>
            <a:spLocks xmlns:a="http://schemas.openxmlformats.org/drawingml/2006/main" noGrp="1"/>
          </p:cNvSpPr>
          <p:nvPr/>
        </p:nvSpPr>
        <p:spPr>
          <a:xfrm xmlns:a="http://schemas.openxmlformats.org/drawingml/2006/main">
            <a:off x="7610475" y="5267325"/>
            <a:ext cx="6953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172738"/>
                </a:solidFill>
                <a:latin typeface="Apple SD Gothic Neo"/>
                <a:ea typeface="Apple SD Gothic Neo"/>
                <a:cs typeface="Apple SD Gothic Neo"/>
              </a:defRPr>
            </a:defPPr>
          </a:lstStyle>
          <a:p xmlns:a="http://schemas.openxmlformats.org/drawingml/2006/main">
            <a:pPr>
              <a:buNone/>
              <a:defRPr sz="1575" b="1">
                <a:solidFill>
                  <a:srgbClr val="172738"/>
                </a:solidFill>
                <a:latin typeface="Apple SD Gothic Neo"/>
                <a:ea typeface="Apple SD Gothic Neo"/>
                <a:cs typeface="Apple SD Gothic Neo"/>
              </a:defRPr>
            </a:pPr>
            <a:r>
              <a:rPr sz="1575" b="1">
                <a:solidFill>
                  <a:srgbClr val="172738"/>
                </a:solidFill>
                <a:latin typeface="Apple SD Gothic Neo"/>
                <a:ea typeface="Apple SD Gothic Neo"/>
                <a:cs typeface="Apple SD Gothic Neo"/>
              </a:rPr>
              <a:t>Block</a:t>
            </a:r>
          </a:p>
          <a:p xmlns:a="http://schemas.openxmlformats.org/drawingml/2006/main">
            <a:pPr>
              <a:buNone/>
              <a:defRPr sz="1575" b="1">
                <a:solidFill>
                  <a:srgbClr val="172738"/>
                </a:solidFill>
                <a:latin typeface="Apple SD Gothic Neo"/>
                <a:ea typeface="Apple SD Gothic Neo"/>
                <a:cs typeface="Apple SD Gothic Neo"/>
              </a:defRPr>
            </a:pPr>
            <a:r>
              <a:rPr sz="1575" b="1">
                <a:solidFill>
                  <a:srgbClr val="172738"/>
                </a:solidFill>
                <a:latin typeface="Apple SD Gothic Neo"/>
                <a:ea typeface="Apple SD Gothic Neo"/>
                <a:cs typeface="Apple SD Gothic Neo"/>
              </a:rPr>
              <a:t>2개</a:t>
            </a:r>
          </a:p>
        </p:txBody>
      </p:sp>
      <p:cxnSp>
        <p:nvCxnSpPr>
          <p:cNvPr id="100" name="plane-hierarchy-link-1">
            <a:extLst xmlns:a="http://schemas.openxmlformats.org/drawingml/2006/main">
              <a:ext uri="{FF2B5EF4-FFF2-40B4-BE49-F238E27FC236}">
                <a16:creationId xmlns:a16="http://schemas.microsoft.com/office/drawing/2014/main" id="{D5EAF5C5-98EA-467F-BE61-62B0C9F29341}"/>
              </a:ext>
            </a:extLst>
          </p:cNvPr>
          <p:cNvCxnSpPr/>
          <p:nvPr/>
        </p:nvCxnSpPr>
        <p:spPr>
          <a:xfrm xmlns:a="http://schemas.openxmlformats.org/drawingml/2006/main">
            <a:off x="8353425" y="5514975"/>
            <a:ext cx="161925" cy="0"/>
          </a:xfrm>
          <a:prstGeom xmlns:a="http://schemas.openxmlformats.org/drawingml/2006/main" prst="straightConnector1">
            <a:avLst/>
          </a:prstGeom>
          <a:ln xmlns:a="http://schemas.openxmlformats.org/drawingml/2006/main" w="19050">
            <a:solidFill>
              <a:srgbClr val="9AA9B5"/>
            </a:solidFill>
            <a:prstDash val="solid"/>
            <a:tailEnd type="triangle" w="med" len="med"/>
          </a:ln>
        </p:spPr>
      </p:cxnSp>
      <p:sp>
        <p:nvSpPr>
          <p:cNvPr id="101" name="plane-hierarchy-2">
            <a:extLst xmlns:a="http://schemas.openxmlformats.org/drawingml/2006/main">
              <a:ext uri="{FF2B5EF4-FFF2-40B4-BE49-F238E27FC236}">
                <a16:creationId xmlns:a16="http://schemas.microsoft.com/office/drawing/2014/main" id="{D9C4FCEB-59C0-457C-A7C8-73B3221A2CB9}"/>
              </a:ext>
            </a:extLst>
          </p:cNvPr>
          <p:cNvSpPr>
            <a:spLocks xmlns:a="http://schemas.openxmlformats.org/drawingml/2006/main" noGrp="1"/>
          </p:cNvSpPr>
          <p:nvPr/>
        </p:nvSpPr>
        <p:spPr>
          <a:xfrm xmlns:a="http://schemas.openxmlformats.org/drawingml/2006/main">
            <a:off x="8515350" y="5219700"/>
            <a:ext cx="819150" cy="581025"/>
          </a:xfrm>
          <a:prstGeom xmlns:a="http://schemas.openxmlformats.org/drawingml/2006/main" prst="rect">
            <a:avLst/>
          </a:prstGeom>
          <a:solidFill xmlns:a="http://schemas.openxmlformats.org/drawingml/2006/main">
            <a:srgbClr val="F1F5F8"/>
          </a:solidFill>
          <a:ln xmlns:a="http://schemas.openxmlformats.org/drawingml/2006/main" w="14288">
            <a:solidFill>
              <a:srgbClr val="9AA9B5"/>
            </a:solidFill>
            <a:prstDash val="solid"/>
          </a:ln>
        </p:spPr>
        <p:txBody>
          <a:bodyPr xmlns:a="http://schemas.openxmlformats.org/drawingml/2006/main"/>
          <a:lstStyle xmlns:a="http://schemas.openxmlformats.org/drawingml/2006/main"/>
          <a:p xmlns:a="http://schemas.openxmlformats.org/drawingml/2006/main">
            <a:endParaRPr/>
          </a:p>
        </p:txBody>
      </p:sp>
      <p:sp>
        <p:nvSpPr>
          <p:cNvPr id="102" name="plane-hierarchy-label-2">
            <a:extLst xmlns:a="http://schemas.openxmlformats.org/drawingml/2006/main">
              <a:ext uri="{FF2B5EF4-FFF2-40B4-BE49-F238E27FC236}">
                <a16:creationId xmlns:a16="http://schemas.microsoft.com/office/drawing/2014/main" id="{ADC52859-C43E-40FE-ADF2-73E6555DB139}"/>
              </a:ext>
            </a:extLst>
          </p:cNvPr>
          <p:cNvSpPr>
            <a:spLocks xmlns:a="http://schemas.openxmlformats.org/drawingml/2006/main" noGrp="1"/>
          </p:cNvSpPr>
          <p:nvPr/>
        </p:nvSpPr>
        <p:spPr>
          <a:xfrm xmlns:a="http://schemas.openxmlformats.org/drawingml/2006/main">
            <a:off x="8591550" y="5267325"/>
            <a:ext cx="6953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172738"/>
                </a:solidFill>
                <a:latin typeface="Apple SD Gothic Neo"/>
                <a:ea typeface="Apple SD Gothic Neo"/>
                <a:cs typeface="Apple SD Gothic Neo"/>
              </a:defRPr>
            </a:defPPr>
          </a:lstStyle>
          <a:p xmlns:a="http://schemas.openxmlformats.org/drawingml/2006/main">
            <a:pPr>
              <a:buNone/>
              <a:defRPr sz="1575" b="1">
                <a:solidFill>
                  <a:srgbClr val="172738"/>
                </a:solidFill>
                <a:latin typeface="Apple SD Gothic Neo"/>
                <a:ea typeface="Apple SD Gothic Neo"/>
                <a:cs typeface="Apple SD Gothic Neo"/>
              </a:defRPr>
            </a:pPr>
            <a:r>
              <a:rPr sz="1575" b="1">
                <a:solidFill>
                  <a:srgbClr val="172738"/>
                </a:solidFill>
                <a:latin typeface="Apple SD Gothic Neo"/>
                <a:ea typeface="Apple SD Gothic Neo"/>
                <a:cs typeface="Apple SD Gothic Neo"/>
              </a:rPr>
              <a:t>WL</a:t>
            </a:r>
          </a:p>
          <a:p xmlns:a="http://schemas.openxmlformats.org/drawingml/2006/main">
            <a:pPr>
              <a:buNone/>
              <a:defRPr sz="1575" b="1">
                <a:solidFill>
                  <a:srgbClr val="172738"/>
                </a:solidFill>
                <a:latin typeface="Apple SD Gothic Neo"/>
                <a:ea typeface="Apple SD Gothic Neo"/>
                <a:cs typeface="Apple SD Gothic Neo"/>
              </a:defRPr>
            </a:pPr>
            <a:r>
              <a:rPr sz="1575" b="1">
                <a:solidFill>
                  <a:srgbClr val="172738"/>
                </a:solidFill>
                <a:latin typeface="Apple SD Gothic Neo"/>
                <a:ea typeface="Apple SD Gothic Neo"/>
                <a:cs typeface="Apple SD Gothic Neo"/>
              </a:rPr>
              <a:t>421개</a:t>
            </a:r>
          </a:p>
        </p:txBody>
      </p:sp>
      <p:cxnSp>
        <p:nvCxnSpPr>
          <p:cNvPr id="103" name="plane-hierarchy-link-2">
            <a:extLst xmlns:a="http://schemas.openxmlformats.org/drawingml/2006/main">
              <a:ext uri="{FF2B5EF4-FFF2-40B4-BE49-F238E27FC236}">
                <a16:creationId xmlns:a16="http://schemas.microsoft.com/office/drawing/2014/main" id="{EA9F2E67-B016-4CF2-AB16-E0CB945CEEC0}"/>
              </a:ext>
            </a:extLst>
          </p:cNvPr>
          <p:cNvCxnSpPr/>
          <p:nvPr/>
        </p:nvCxnSpPr>
        <p:spPr>
          <a:xfrm xmlns:a="http://schemas.openxmlformats.org/drawingml/2006/main">
            <a:off x="9334500" y="5514975"/>
            <a:ext cx="161925" cy="0"/>
          </a:xfrm>
          <a:prstGeom xmlns:a="http://schemas.openxmlformats.org/drawingml/2006/main" prst="straightConnector1">
            <a:avLst/>
          </a:prstGeom>
          <a:ln xmlns:a="http://schemas.openxmlformats.org/drawingml/2006/main" w="19050">
            <a:solidFill>
              <a:srgbClr val="9AA9B5"/>
            </a:solidFill>
            <a:prstDash val="solid"/>
            <a:tailEnd type="triangle" w="med" len="med"/>
          </a:ln>
        </p:spPr>
      </p:cxnSp>
      <p:sp>
        <p:nvSpPr>
          <p:cNvPr id="104" name="plane-hierarchy-3">
            <a:extLst xmlns:a="http://schemas.openxmlformats.org/drawingml/2006/main">
              <a:ext uri="{FF2B5EF4-FFF2-40B4-BE49-F238E27FC236}">
                <a16:creationId xmlns:a16="http://schemas.microsoft.com/office/drawing/2014/main" id="{9380E747-08DB-4D7C-AC13-BCAADA2FF85F}"/>
              </a:ext>
            </a:extLst>
          </p:cNvPr>
          <p:cNvSpPr>
            <a:spLocks xmlns:a="http://schemas.openxmlformats.org/drawingml/2006/main" noGrp="1"/>
          </p:cNvSpPr>
          <p:nvPr/>
        </p:nvSpPr>
        <p:spPr>
          <a:xfrm xmlns:a="http://schemas.openxmlformats.org/drawingml/2006/main">
            <a:off x="9496425" y="5219700"/>
            <a:ext cx="800100" cy="581025"/>
          </a:xfrm>
          <a:prstGeom xmlns:a="http://schemas.openxmlformats.org/drawingml/2006/main" prst="rect">
            <a:avLst/>
          </a:prstGeom>
          <a:solidFill xmlns:a="http://schemas.openxmlformats.org/drawingml/2006/main">
            <a:srgbClr val="F1F5F8"/>
          </a:solidFill>
          <a:ln xmlns:a="http://schemas.openxmlformats.org/drawingml/2006/main" w="14288">
            <a:solidFill>
              <a:srgbClr val="9AA9B5"/>
            </a:solidFill>
            <a:prstDash val="solid"/>
          </a:ln>
        </p:spPr>
        <p:txBody>
          <a:bodyPr xmlns:a="http://schemas.openxmlformats.org/drawingml/2006/main"/>
          <a:lstStyle xmlns:a="http://schemas.openxmlformats.org/drawingml/2006/main"/>
          <a:p xmlns:a="http://schemas.openxmlformats.org/drawingml/2006/main">
            <a:endParaRPr/>
          </a:p>
        </p:txBody>
      </p:sp>
      <p:sp>
        <p:nvSpPr>
          <p:cNvPr id="105" name="plane-hierarchy-label-3">
            <a:extLst xmlns:a="http://schemas.openxmlformats.org/drawingml/2006/main">
              <a:ext uri="{FF2B5EF4-FFF2-40B4-BE49-F238E27FC236}">
                <a16:creationId xmlns:a16="http://schemas.microsoft.com/office/drawing/2014/main" id="{5208338C-C163-45F4-BBDC-36435990AECC}"/>
              </a:ext>
            </a:extLst>
          </p:cNvPr>
          <p:cNvSpPr>
            <a:spLocks xmlns:a="http://schemas.openxmlformats.org/drawingml/2006/main" noGrp="1"/>
          </p:cNvSpPr>
          <p:nvPr/>
        </p:nvSpPr>
        <p:spPr>
          <a:xfrm xmlns:a="http://schemas.openxmlformats.org/drawingml/2006/main">
            <a:off x="9572625" y="5267325"/>
            <a:ext cx="6762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172738"/>
                </a:solidFill>
                <a:latin typeface="Apple SD Gothic Neo"/>
                <a:ea typeface="Apple SD Gothic Neo"/>
                <a:cs typeface="Apple SD Gothic Neo"/>
              </a:defRPr>
            </a:defPPr>
          </a:lstStyle>
          <a:p xmlns:a="http://schemas.openxmlformats.org/drawingml/2006/main">
            <a:pPr>
              <a:buNone/>
              <a:defRPr sz="1575" b="1">
                <a:solidFill>
                  <a:srgbClr val="172738"/>
                </a:solidFill>
                <a:latin typeface="Apple SD Gothic Neo"/>
                <a:ea typeface="Apple SD Gothic Neo"/>
                <a:cs typeface="Apple SD Gothic Neo"/>
              </a:defRPr>
            </a:pPr>
            <a:r>
              <a:rPr sz="1575" b="1">
                <a:solidFill>
                  <a:srgbClr val="172738"/>
                </a:solidFill>
                <a:latin typeface="Apple SD Gothic Neo"/>
                <a:ea typeface="Apple SD Gothic Neo"/>
                <a:cs typeface="Apple SD Gothic Neo"/>
              </a:rPr>
              <a:t>SSL</a:t>
            </a:r>
          </a:p>
          <a:p xmlns:a="http://schemas.openxmlformats.org/drawingml/2006/main">
            <a:pPr>
              <a:buNone/>
              <a:defRPr sz="1575" b="1">
                <a:solidFill>
                  <a:srgbClr val="172738"/>
                </a:solidFill>
                <a:latin typeface="Apple SD Gothic Neo"/>
                <a:ea typeface="Apple SD Gothic Neo"/>
                <a:cs typeface="Apple SD Gothic Neo"/>
              </a:defRPr>
            </a:pPr>
            <a:r>
              <a:rPr sz="1575" b="1">
                <a:solidFill>
                  <a:srgbClr val="172738"/>
                </a:solidFill>
                <a:latin typeface="Apple SD Gothic Neo"/>
                <a:ea typeface="Apple SD Gothic Neo"/>
                <a:cs typeface="Apple SD Gothic Neo"/>
              </a:rPr>
              <a:t>6개</a:t>
            </a:r>
          </a:p>
        </p:txBody>
      </p:sp>
      <p:cxnSp>
        <p:nvCxnSpPr>
          <p:cNvPr id="106" name="plane-hierarchy-link-3">
            <a:extLst xmlns:a="http://schemas.openxmlformats.org/drawingml/2006/main">
              <a:ext uri="{FF2B5EF4-FFF2-40B4-BE49-F238E27FC236}">
                <a16:creationId xmlns:a16="http://schemas.microsoft.com/office/drawing/2014/main" id="{009497EA-9315-40B6-8A2F-3A3073C436E5}"/>
              </a:ext>
            </a:extLst>
          </p:cNvPr>
          <p:cNvCxnSpPr/>
          <p:nvPr/>
        </p:nvCxnSpPr>
        <p:spPr>
          <a:xfrm xmlns:a="http://schemas.openxmlformats.org/drawingml/2006/main">
            <a:off x="10296525" y="5514975"/>
            <a:ext cx="161925" cy="0"/>
          </a:xfrm>
          <a:prstGeom xmlns:a="http://schemas.openxmlformats.org/drawingml/2006/main" prst="straightConnector1">
            <a:avLst/>
          </a:prstGeom>
          <a:ln xmlns:a="http://schemas.openxmlformats.org/drawingml/2006/main" w="19050">
            <a:solidFill>
              <a:srgbClr val="9AA9B5"/>
            </a:solidFill>
            <a:prstDash val="solid"/>
            <a:tailEnd type="triangle" w="med" len="med"/>
          </a:ln>
        </p:spPr>
      </p:cxnSp>
      <p:sp>
        <p:nvSpPr>
          <p:cNvPr id="107" name="plane-hierarchy-4">
            <a:extLst xmlns:a="http://schemas.openxmlformats.org/drawingml/2006/main">
              <a:ext uri="{FF2B5EF4-FFF2-40B4-BE49-F238E27FC236}">
                <a16:creationId xmlns:a16="http://schemas.microsoft.com/office/drawing/2014/main" id="{9730EEEE-5A9F-40D0-B08B-C31CBDA505A1}"/>
              </a:ext>
            </a:extLst>
          </p:cNvPr>
          <p:cNvSpPr>
            <a:spLocks xmlns:a="http://schemas.openxmlformats.org/drawingml/2006/main" noGrp="1"/>
          </p:cNvSpPr>
          <p:nvPr/>
        </p:nvSpPr>
        <p:spPr>
          <a:xfrm xmlns:a="http://schemas.openxmlformats.org/drawingml/2006/main">
            <a:off x="10458450" y="5219700"/>
            <a:ext cx="1085850" cy="581025"/>
          </a:xfrm>
          <a:prstGeom xmlns:a="http://schemas.openxmlformats.org/drawingml/2006/main" prst="rect">
            <a:avLst/>
          </a:prstGeom>
          <a:solidFill xmlns:a="http://schemas.openxmlformats.org/drawingml/2006/main">
            <a:srgbClr val="F1F5F8"/>
          </a:solidFill>
          <a:ln xmlns:a="http://schemas.openxmlformats.org/drawingml/2006/main" w="14288">
            <a:solidFill>
              <a:srgbClr val="9AA9B5"/>
            </a:solidFill>
            <a:prstDash val="solid"/>
          </a:ln>
        </p:spPr>
        <p:txBody>
          <a:bodyPr xmlns:a="http://schemas.openxmlformats.org/drawingml/2006/main"/>
          <a:lstStyle xmlns:a="http://schemas.openxmlformats.org/drawingml/2006/main"/>
          <a:p xmlns:a="http://schemas.openxmlformats.org/drawingml/2006/main">
            <a:endParaRPr/>
          </a:p>
        </p:txBody>
      </p:sp>
      <p:sp>
        <p:nvSpPr>
          <p:cNvPr id="108" name="plane-hierarchy-label-4">
            <a:extLst xmlns:a="http://schemas.openxmlformats.org/drawingml/2006/main">
              <a:ext uri="{FF2B5EF4-FFF2-40B4-BE49-F238E27FC236}">
                <a16:creationId xmlns:a16="http://schemas.microsoft.com/office/drawing/2014/main" id="{C9CD6C0E-EDBC-494D-98E6-731048719963}"/>
              </a:ext>
            </a:extLst>
          </p:cNvPr>
          <p:cNvSpPr>
            <a:spLocks xmlns:a="http://schemas.openxmlformats.org/drawingml/2006/main" noGrp="1"/>
          </p:cNvSpPr>
          <p:nvPr/>
        </p:nvSpPr>
        <p:spPr>
          <a:xfrm xmlns:a="http://schemas.openxmlformats.org/drawingml/2006/main">
            <a:off x="10534650" y="5267325"/>
            <a:ext cx="9620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172738"/>
                </a:solidFill>
                <a:latin typeface="Apple SD Gothic Neo"/>
                <a:ea typeface="Apple SD Gothic Neo"/>
                <a:cs typeface="Apple SD Gothic Neo"/>
              </a:defRPr>
            </a:defPPr>
          </a:lstStyle>
          <a:p xmlns:a="http://schemas.openxmlformats.org/drawingml/2006/main">
            <a:pPr>
              <a:buNone/>
              <a:defRPr sz="1575" b="1">
                <a:solidFill>
                  <a:srgbClr val="172738"/>
                </a:solidFill>
                <a:latin typeface="Apple SD Gothic Neo"/>
                <a:ea typeface="Apple SD Gothic Neo"/>
                <a:cs typeface="Apple SD Gothic Neo"/>
              </a:defRPr>
            </a:pPr>
            <a:r>
              <a:rPr sz="1575" b="1">
                <a:solidFill>
                  <a:srgbClr val="172738"/>
                </a:solidFill>
                <a:latin typeface="Apple SD Gothic Neo"/>
                <a:ea typeface="Apple SD Gothic Neo"/>
                <a:cs typeface="Apple SD Gothic Neo"/>
              </a:rPr>
              <a:t>Page</a:t>
            </a:r>
          </a:p>
          <a:p xmlns:a="http://schemas.openxmlformats.org/drawingml/2006/main">
            <a:pPr>
              <a:buNone/>
              <a:defRPr sz="1575" b="1">
                <a:solidFill>
                  <a:srgbClr val="172738"/>
                </a:solidFill>
                <a:latin typeface="Apple SD Gothic Neo"/>
                <a:ea typeface="Apple SD Gothic Neo"/>
                <a:cs typeface="Apple SD Gothic Neo"/>
              </a:defRPr>
            </a:pPr>
            <a:r>
              <a:rPr sz="1575" b="1">
                <a:solidFill>
                  <a:srgbClr val="172738"/>
                </a:solidFill>
                <a:latin typeface="Apple SD Gothic Neo"/>
                <a:ea typeface="Apple SD Gothic Neo"/>
                <a:cs typeface="Apple SD Gothic Neo"/>
              </a:rPr>
              <a:t>E/O 2개</a:t>
            </a:r>
          </a:p>
        </p:txBody>
      </p:sp>
      <p:sp>
        <p:nvSpPr>
          <p:cNvPr id="109" name="selected-physical-page">
            <a:extLst xmlns:a="http://schemas.openxmlformats.org/drawingml/2006/main">
              <a:ext uri="{FF2B5EF4-FFF2-40B4-BE49-F238E27FC236}">
                <a16:creationId xmlns:a16="http://schemas.microsoft.com/office/drawing/2014/main" id="{8D2C603A-CA93-4183-8047-1A79B8E4F640}"/>
              </a:ext>
            </a:extLst>
          </p:cNvPr>
          <p:cNvSpPr>
            <a:spLocks xmlns:a="http://schemas.openxmlformats.org/drawingml/2006/main" noGrp="1"/>
          </p:cNvSpPr>
          <p:nvPr/>
        </p:nvSpPr>
        <p:spPr>
          <a:xfrm xmlns:a="http://schemas.openxmlformats.org/drawingml/2006/main">
            <a:off x="6572250" y="5972175"/>
            <a:ext cx="28003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008B82"/>
                </a:solidFill>
                <a:latin typeface="Apple SD Gothic Neo"/>
                <a:ea typeface="Apple SD Gothic Neo"/>
                <a:cs typeface="Apple SD Gothic Neo"/>
              </a:defRPr>
            </a:defPPr>
          </a:lstStyle>
          <a:p xmlns:a="http://schemas.openxmlformats.org/drawingml/2006/main">
            <a:pPr>
              <a:buNone/>
              <a:defRPr sz="1725" b="0">
                <a:solidFill>
                  <a:srgbClr val="008B82"/>
                </a:solidFill>
                <a:latin typeface="Apple SD Gothic Neo"/>
                <a:ea typeface="Apple SD Gothic Neo"/>
                <a:cs typeface="Apple SD Gothic Neo"/>
              </a:defRPr>
            </a:pPr>
            <a:r>
              <a:rPr sz="1725" b="0">
                <a:solidFill>
                  <a:srgbClr val="008B82"/>
                </a:solidFill>
                <a:latin typeface="Apple SD Gothic Neo"/>
                <a:ea typeface="Apple SD Gothic Neo"/>
                <a:cs typeface="Apple SD Gothic Neo"/>
              </a:rPr>
              <a:t>선택된 Page 16KiB</a:t>
            </a:r>
          </a:p>
        </p:txBody>
      </p:sp>
      <p:sp>
        <p:nvSpPr>
          <p:cNvPr id="110" name="one-page-buffer-per-plane">
            <a:extLst xmlns:a="http://schemas.openxmlformats.org/drawingml/2006/main">
              <a:ext uri="{FF2B5EF4-FFF2-40B4-BE49-F238E27FC236}">
                <a16:creationId xmlns:a16="http://schemas.microsoft.com/office/drawing/2014/main" id="{4026EB1C-D9F5-41EF-BE28-C70007577D13}"/>
              </a:ext>
            </a:extLst>
          </p:cNvPr>
          <p:cNvSpPr>
            <a:spLocks xmlns:a="http://schemas.openxmlformats.org/drawingml/2006/main" noGrp="1"/>
          </p:cNvSpPr>
          <p:nvPr/>
        </p:nvSpPr>
        <p:spPr>
          <a:xfrm xmlns:a="http://schemas.openxmlformats.org/drawingml/2006/main">
            <a:off x="9553575" y="5934075"/>
            <a:ext cx="1990725" cy="314325"/>
          </a:xfrm>
          <a:prstGeom xmlns:a="http://schemas.openxmlformats.org/drawingml/2006/main" prst="rect">
            <a:avLst/>
          </a:prstGeom>
          <a:solidFill xmlns:a="http://schemas.openxmlformats.org/drawingml/2006/main">
            <a:srgbClr val="E9F5F2"/>
          </a:solidFill>
          <a:ln xmlns:a="http://schemas.openxmlformats.org/drawingml/2006/main" w="14288">
            <a:solidFill>
              <a:srgbClr val="008B82"/>
            </a:solidFill>
            <a:prstDash val="solid"/>
          </a:ln>
        </p:spPr>
        <p:txBody>
          <a:bodyPr xmlns:a="http://schemas.openxmlformats.org/drawingml/2006/main"/>
          <a:lstStyle xmlns:a="http://schemas.openxmlformats.org/drawingml/2006/main"/>
          <a:p xmlns:a="http://schemas.openxmlformats.org/drawingml/2006/main">
            <a:endParaRPr/>
          </a:p>
        </p:txBody>
      </p:sp>
      <p:sp>
        <p:nvSpPr>
          <p:cNvPr id="111" name="page-buffer-count">
            <a:extLst xmlns:a="http://schemas.openxmlformats.org/drawingml/2006/main">
              <a:ext uri="{FF2B5EF4-FFF2-40B4-BE49-F238E27FC236}">
                <a16:creationId xmlns:a16="http://schemas.microsoft.com/office/drawing/2014/main" id="{A6624CBB-0202-4458-BDBF-E042CCB9390B}"/>
              </a:ext>
            </a:extLst>
          </p:cNvPr>
          <p:cNvSpPr>
            <a:spLocks xmlns:a="http://schemas.openxmlformats.org/drawingml/2006/main" noGrp="1"/>
          </p:cNvSpPr>
          <p:nvPr/>
        </p:nvSpPr>
        <p:spPr>
          <a:xfrm xmlns:a="http://schemas.openxmlformats.org/drawingml/2006/main">
            <a:off x="9677400" y="5972175"/>
            <a:ext cx="1828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008B82"/>
                </a:solidFill>
                <a:latin typeface="Apple SD Gothic Neo"/>
                <a:ea typeface="Apple SD Gothic Neo"/>
                <a:cs typeface="Apple SD Gothic Neo"/>
              </a:defRPr>
            </a:defPPr>
          </a:lstStyle>
          <a:p xmlns:a="http://schemas.openxmlformats.org/drawingml/2006/main">
            <a:pPr>
              <a:buNone/>
              <a:defRPr sz="1650" b="1">
                <a:solidFill>
                  <a:srgbClr val="008B82"/>
                </a:solidFill>
                <a:latin typeface="Apple SD Gothic Neo"/>
                <a:ea typeface="Apple SD Gothic Neo"/>
                <a:cs typeface="Apple SD Gothic Neo"/>
              </a:defRPr>
            </a:pPr>
            <a:r>
              <a:rPr sz="1650" b="1">
                <a:solidFill>
                  <a:srgbClr val="008B82"/>
                </a:solidFill>
                <a:latin typeface="Apple SD Gothic Neo"/>
                <a:ea typeface="Apple SD Gothic Neo"/>
                <a:cs typeface="Apple SD Gothic Neo"/>
              </a:rPr>
              <a:t>page buffer × 1</a:t>
            </a:r>
          </a:p>
        </p:txBody>
      </p:sp>
      <p:cxnSp>
        <p:nvCxnSpPr>
          <p:cNvPr id="112" name="page-sensing-to-buffer">
            <a:extLst xmlns:a="http://schemas.openxmlformats.org/drawingml/2006/main">
              <a:ext uri="{FF2B5EF4-FFF2-40B4-BE49-F238E27FC236}">
                <a16:creationId xmlns:a16="http://schemas.microsoft.com/office/drawing/2014/main" id="{EB7F4F8A-3DB0-4698-8B28-618B114EC7EC}"/>
              </a:ext>
            </a:extLst>
          </p:cNvPr>
          <p:cNvCxnSpPr/>
          <p:nvPr/>
        </p:nvCxnSpPr>
        <p:spPr>
          <a:xfrm xmlns:a="http://schemas.openxmlformats.org/drawingml/2006/main">
            <a:off x="11001375" y="5800725"/>
            <a:ext cx="0" cy="133350"/>
          </a:xfrm>
          <a:prstGeom xmlns:a="http://schemas.openxmlformats.org/drawingml/2006/main" prst="straightConnector1">
            <a:avLst/>
          </a:prstGeom>
          <a:ln xmlns:a="http://schemas.openxmlformats.org/drawingml/2006/main" w="19050">
            <a:solidFill>
              <a:srgbClr val="008B82"/>
            </a:solidFill>
            <a:prstDash val="solid"/>
            <a:tailEnd type="triangle" w="med" len="med"/>
          </a:ln>
        </p:spPr>
      </p:cxnSp>
    </p:spTree>
    <p:extLst>
      <p:ext uri="{BB962C8B-B14F-4D97-AF65-F5344CB8AC3E}">
        <p14:creationId xmlns:p14="http://schemas.microsoft.com/office/powerpoint/2010/main" val="5487589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729097A4-AC5E-4224-BB20-6A7B6FC7705A}"/>
              </a:ext>
            </a:extLst>
          </p:cNvPr>
          <p:cNvSpPr>
            <a:spLocks xmlns:a="http://schemas.openxmlformats.org/drawingml/2006/main" noGrp="1"/>
          </p:cNvSpPr>
          <p:nvPr/>
        </p:nvSpPr>
        <p:spPr>
          <a:xfrm xmlns:a="http://schemas.openxmlformats.org/drawingml/2006/main">
            <a:off x="533400" y="438150"/>
            <a:ext cx="11125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2738"/>
                </a:solidFill>
                <a:latin typeface="Apple SD Gothic Neo"/>
                <a:ea typeface="Apple SD Gothic Neo"/>
                <a:cs typeface="Apple SD Gothic Neo"/>
              </a:defRPr>
            </a:defPPr>
          </a:lstStyle>
          <a:p xmlns:a="http://schemas.openxmlformats.org/drawingml/2006/main">
            <a:pPr>
              <a:buNone/>
              <a:defRPr sz="3300" b="1">
                <a:solidFill>
                  <a:srgbClr val="172738"/>
                </a:solidFill>
                <a:latin typeface="Apple SD Gothic Neo"/>
                <a:ea typeface="Apple SD Gothic Neo"/>
                <a:cs typeface="Apple SD Gothic Neo"/>
              </a:defRPr>
            </a:pPr>
            <a:r>
              <a:rPr sz="3300" b="1">
                <a:solidFill>
                  <a:srgbClr val="172738"/>
                </a:solidFill>
                <a:latin typeface="Apple SD Gothic Neo"/>
                <a:ea typeface="Apple SD Gothic Neo"/>
                <a:cs typeface="Apple SD Gothic Neo"/>
              </a:rPr>
              <a:t>전체 구조와 데이터 흐름</a:t>
            </a:r>
          </a:p>
        </p:txBody>
      </p:sp>
      <p:sp>
        <p:nvSpPr>
          <p:cNvPr id="2" name="subtitle">
            <a:extLst xmlns:a="http://schemas.openxmlformats.org/drawingml/2006/main">
              <a:ext uri="{FF2B5EF4-FFF2-40B4-BE49-F238E27FC236}">
                <a16:creationId xmlns:a16="http://schemas.microsoft.com/office/drawing/2014/main" id="{4043A0BB-BFCB-4C36-83BB-52E9DE78234A}"/>
              </a:ext>
            </a:extLst>
          </p:cNvPr>
          <p:cNvSpPr>
            <a:spLocks xmlns:a="http://schemas.openxmlformats.org/drawingml/2006/main" noGrp="1"/>
          </p:cNvSpPr>
          <p:nvPr/>
        </p:nvSpPr>
        <p:spPr>
          <a:xfrm xmlns:a="http://schemas.openxmlformats.org/drawingml/2006/main">
            <a:off x="552450" y="1104900"/>
            <a:ext cx="110871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586875"/>
                </a:solidFill>
                <a:latin typeface="Apple SD Gothic Neo"/>
                <a:ea typeface="Apple SD Gothic Neo"/>
                <a:cs typeface="Apple SD Gothic Neo"/>
              </a:defRPr>
            </a:defPPr>
          </a:lstStyle>
          <a:p xmlns:a="http://schemas.openxmlformats.org/drawingml/2006/main">
            <a:pPr>
              <a:buNone/>
              <a:defRPr sz="1800" b="0">
                <a:solidFill>
                  <a:srgbClr val="586875"/>
                </a:solidFill>
                <a:latin typeface="Apple SD Gothic Neo"/>
                <a:ea typeface="Apple SD Gothic Neo"/>
                <a:cs typeface="Apple SD Gothic Neo"/>
              </a:defRPr>
            </a:pPr>
            <a:r>
              <a:rPr sz="1800" b="0">
                <a:solidFill>
                  <a:srgbClr val="586875"/>
                </a:solidFill>
                <a:latin typeface="Apple SD Gothic Neo"/>
                <a:ea typeface="Apple SD Gothic Neo"/>
                <a:cs typeface="Apple SD Gothic Neo"/>
              </a:rPr>
              <a:t>4개의 독립 Port가 4채널 전체를 공유하며, 읽기 주소가 Channel과 Plane을 결정합니다.</a:t>
            </a:r>
          </a:p>
        </p:txBody>
      </p:sp>
      <p:sp>
        <p:nvSpPr>
          <p:cNvPr id="3" name="footer">
            <a:extLst xmlns:a="http://schemas.openxmlformats.org/drawingml/2006/main">
              <a:ext uri="{FF2B5EF4-FFF2-40B4-BE49-F238E27FC236}">
                <a16:creationId xmlns:a16="http://schemas.microsoft.com/office/drawing/2014/main" id="{AC587C56-C286-4CD2-91B2-7865CC039870}"/>
              </a:ext>
            </a:extLst>
          </p:cNvPr>
          <p:cNvSpPr>
            <a:spLocks xmlns:a="http://schemas.openxmlformats.org/drawingml/2006/main" noGrp="1"/>
          </p:cNvSpPr>
          <p:nvPr/>
        </p:nvSpPr>
        <p:spPr>
          <a:xfrm xmlns:a="http://schemas.openxmlformats.org/drawingml/2006/main">
            <a:off x="533400" y="6419850"/>
            <a:ext cx="10477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86875"/>
                </a:solidFill>
                <a:latin typeface="Apple SD Gothic Neo"/>
                <a:ea typeface="Apple SD Gothic Neo"/>
                <a:cs typeface="Apple SD Gothic Neo"/>
              </a:defRPr>
            </a:defPPr>
          </a:lstStyle>
          <a:p xmlns:a="http://schemas.openxmlformats.org/drawingml/2006/main">
            <a:pPr>
              <a:buNone/>
              <a:defRPr sz="1200" b="0">
                <a:solidFill>
                  <a:srgbClr val="586875"/>
                </a:solidFill>
                <a:latin typeface="Apple SD Gothic Neo"/>
                <a:ea typeface="Apple SD Gothic Neo"/>
                <a:cs typeface="Apple SD Gothic Neo"/>
              </a:defRPr>
            </a:pPr>
            <a:r>
              <a:rPr sz="1200" b="0">
                <a:solidFill>
                  <a:srgbClr val="586875"/>
                </a:solidFill>
                <a:latin typeface="Apple SD Gothic Neo"/>
                <a:ea typeface="Apple SD Gothic Neo"/>
                <a:cs typeface="Apple SD Gothic Neo"/>
              </a:rPr>
              <a:t>현재 모델의 자원과 데이터 흐름. 총 64 Plane, PF OFF</a:t>
            </a:r>
          </a:p>
        </p:txBody>
      </p:sp>
      <p:sp>
        <p:nvSpPr>
          <p:cNvPr id="4" name="page">
            <a:extLst xmlns:a="http://schemas.openxmlformats.org/drawingml/2006/main">
              <a:ext uri="{FF2B5EF4-FFF2-40B4-BE49-F238E27FC236}">
                <a16:creationId xmlns:a16="http://schemas.microsoft.com/office/drawing/2014/main" id="{DA3751D0-F74B-4D6D-A806-1D764B1B3887}"/>
              </a:ext>
            </a:extLst>
          </p:cNvPr>
          <p:cNvSpPr>
            <a:spLocks xmlns:a="http://schemas.openxmlformats.org/drawingml/2006/main" noGrp="1"/>
          </p:cNvSpPr>
          <p:nvPr/>
        </p:nvSpPr>
        <p:spPr>
          <a:xfrm xmlns:a="http://schemas.openxmlformats.org/drawingml/2006/main">
            <a:off x="11144250" y="6419850"/>
            <a:ext cx="4953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86875"/>
                </a:solidFill>
                <a:latin typeface="Apple SD Gothic Neo"/>
                <a:ea typeface="Apple SD Gothic Neo"/>
                <a:cs typeface="Apple SD Gothic Neo"/>
              </a:defRPr>
            </a:defPPr>
          </a:lstStyle>
          <a:p xmlns:a="http://schemas.openxmlformats.org/drawingml/2006/main">
            <a:pPr>
              <a:buNone/>
              <a:defRPr sz="1200" b="0">
                <a:solidFill>
                  <a:srgbClr val="586875"/>
                </a:solidFill>
                <a:latin typeface="Apple SD Gothic Neo"/>
                <a:ea typeface="Apple SD Gothic Neo"/>
                <a:cs typeface="Apple SD Gothic Neo"/>
              </a:defRPr>
            </a:pPr>
            <a:r>
              <a:rPr sz="1200" b="0">
                <a:solidFill>
                  <a:srgbClr val="586875"/>
                </a:solidFill>
                <a:latin typeface="Apple SD Gothic Neo"/>
                <a:ea typeface="Apple SD Gothic Neo"/>
                <a:cs typeface="Apple SD Gothic Neo"/>
              </a:rPr>
              <a:t>04</a:t>
            </a:r>
          </a:p>
        </p:txBody>
      </p:sp>
      <p:graphicFrame>
        <p:nvGraphicFramePr>
          <p:cNvPr id="5" name="model-architecture">
            <a:extLst xmlns:a="http://schemas.openxmlformats.org/drawingml/2006/main">
              <a:ext uri="{FF2B5EF4-FFF2-40B4-BE49-F238E27FC236}">
                <a16:creationId xmlns:a16="http://schemas.microsoft.com/office/drawing/2014/main" id="{B971F563-8DE2-4819-B045-11ABD9A2E2A9}"/>
              </a:ext>
            </a:extLst>
          </p:cNvPr>
          <p:cNvGraphicFramePr/>
          <p:nvPr/>
        </p:nvGraphicFramePr>
        <p:xfrm>
          <a:off xmlns:a="http://schemas.openxmlformats.org/drawingml/2006/main" x="533400" y="1752600"/>
          <a:ext xmlns:a="http://schemas.openxmlformats.org/drawingml/2006/main" cx="11125200" cy="4276725"/>
        </p:xfrm>
        <a:graphic xmlns:a="http://schemas.openxmlformats.org/drawingml/2006/main">
          <a:graphicData uri="http://schemas.openxmlformats.org/drawingml/2006/table">
            <a:tbl>
              <a:tblPr/>
              <a:tblGrid>
                <a:gridCol w="2171700"/>
                <a:gridCol w="5372100"/>
                <a:gridCol w="3581400"/>
              </a:tblGrid>
              <a:tr h="695325">
                <a:tc>
                  <a:txBody>
                    <a:bodyPr/>
                    <a:lstStyle/>
                    <a:p>
                      <a:r>
                        <a:rPr sz="1725" b="1">
                          <a:solidFill>
                            <a:srgbClr val="FFFFFF"/>
                          </a:solidFill>
                          <a:latin typeface="Apple SD Gothic Neo"/>
                          <a:ea typeface="Apple SD Gothic Neo"/>
                          <a:cs typeface="Apple SD Gothic Neo"/>
                        </a:rPr>
                        <a:t>처리 구간</a:t>
                      </a:r>
                    </a:p>
                  </a:txBody>
                  <a:tcPr marL="133350" marR="133350" marT="95250" marB="95250" anchor="ctr">
                    <a:solidFill>
                      <a:srgbClr val="122C40"/>
                    </a:solidFill>
                  </a:tcPr>
                </a:tc>
                <a:tc>
                  <a:txBody>
                    <a:bodyPr/>
                    <a:lstStyle/>
                    <a:p>
                      <a:r>
                        <a:rPr sz="1725" b="1">
                          <a:solidFill>
                            <a:srgbClr val="FFFFFF"/>
                          </a:solidFill>
                          <a:latin typeface="Apple SD Gothic Neo"/>
                          <a:ea typeface="Apple SD Gothic Neo"/>
                          <a:cs typeface="Apple SD Gothic Neo"/>
                        </a:rPr>
                        <a:t>주요 동작</a:t>
                      </a:r>
                    </a:p>
                  </a:txBody>
                  <a:tcPr marL="133350" marR="133350" marT="95250" marB="95250" anchor="ctr">
                    <a:solidFill>
                      <a:srgbClr val="122C40"/>
                    </a:solidFill>
                  </a:tcPr>
                </a:tc>
                <a:tc>
                  <a:txBody>
                    <a:bodyPr/>
                    <a:lstStyle/>
                    <a:p>
                      <a:r>
                        <a:rPr sz="1725" b="1">
                          <a:solidFill>
                            <a:srgbClr val="FFFFFF"/>
                          </a:solidFill>
                          <a:latin typeface="Apple SD Gothic Neo"/>
                          <a:ea typeface="Apple SD Gothic Neo"/>
                          <a:cs typeface="Apple SD Gothic Neo"/>
                        </a:rPr>
                        <a:t>자원과 순서 규칙</a:t>
                      </a:r>
                    </a:p>
                  </a:txBody>
                  <a:tcPr marL="133350" marR="133350" marT="95250" marB="95250" anchor="ctr">
                    <a:solidFill>
                      <a:srgbClr val="122C40"/>
                    </a:solidFill>
                  </a:tcPr>
                </a:tc>
              </a:tr>
              <a:tr h="695325">
                <a:tc>
                  <a:txBody>
                    <a:bodyPr/>
                    <a:lstStyle/>
                    <a:p>
                      <a:r>
                        <a:rPr sz="1725" b="0">
                          <a:solidFill>
                            <a:srgbClr val="172738"/>
                          </a:solidFill>
                          <a:latin typeface="Apple SD Gothic Neo"/>
                          <a:ea typeface="Apple SD Gothic Neo"/>
                          <a:cs typeface="Apple SD Gothic Neo"/>
                        </a:rPr>
                        <a:t>1. Host IF</a:t>
                      </a:r>
                    </a:p>
                  </a:txBody>
                  <a:tcPr marL="133350" marR="133350" marT="95250" marB="95250" anchor="ctr">
                    <a:solidFill>
                      <a:srgbClr val="FFFFFF"/>
                    </a:solidFill>
                  </a:tcPr>
                </a:tc>
                <a:tc>
                  <a:txBody>
                    <a:bodyPr/>
                    <a:lstStyle/>
                    <a:p>
                      <a:r>
                        <a:rPr sz="1725" b="0">
                          <a:solidFill>
                            <a:srgbClr val="172738"/>
                          </a:solidFill>
                          <a:latin typeface="Apple SD Gothic Neo"/>
                          <a:ea typeface="Apple SD Gothic Neo"/>
                          <a:cs typeface="Apple SD Gothic Neo"/>
                        </a:rPr>
                        <a:t>Port 0–3에서 독립적으로 읽기 요청</a:t>
                      </a:r>
                    </a:p>
                  </a:txBody>
                  <a:tcPr marL="133350" marR="133350" marT="95250" marB="95250" anchor="ctr">
                    <a:solidFill>
                      <a:srgbClr val="FFFFFF"/>
                    </a:solidFill>
                  </a:tcPr>
                </a:tc>
                <a:tc>
                  <a:txBody>
                    <a:bodyPr/>
                    <a:lstStyle/>
                    <a:p>
                      <a:r>
                        <a:rPr sz="1725" b="0">
                          <a:solidFill>
                            <a:srgbClr val="172738"/>
                          </a:solidFill>
                          <a:latin typeface="Apple SD Gothic Neo"/>
                          <a:ea typeface="Apple SD Gothic Neo"/>
                          <a:cs typeface="Apple SD Gothic Neo"/>
                        </a:rPr>
                        <a:t>Port당 64GB/s</a:t>
                      </a:r>
                    </a:p>
                    <a:p>
                      <a:r>
                        <a:rPr sz="1725" b="0">
                          <a:solidFill>
                            <a:srgbClr val="172738"/>
                          </a:solidFill>
                          <a:latin typeface="Apple SD Gothic Neo"/>
                          <a:ea typeface="Apple SD Gothic Neo"/>
                          <a:cs typeface="Apple SD Gothic Neo"/>
                        </a:rPr>
                        <a:t>합계 256GB/s</a:t>
                      </a:r>
                    </a:p>
                  </a:txBody>
                  <a:tcPr marL="133350" marR="133350" marT="95250" marB="95250" anchor="ctr">
                    <a:solidFill>
                      <a:srgbClr val="FFFFFF"/>
                    </a:solidFill>
                  </a:tcPr>
                </a:tc>
              </a:tr>
              <a:tr h="695325">
                <a:tc>
                  <a:txBody>
                    <a:bodyPr/>
                    <a:lstStyle/>
                    <a:p>
                      <a:r>
                        <a:rPr sz="1725" b="0">
                          <a:solidFill>
                            <a:srgbClr val="172738"/>
                          </a:solidFill>
                          <a:latin typeface="Apple SD Gothic Neo"/>
                          <a:ea typeface="Apple SD Gothic Neo"/>
                          <a:cs typeface="Apple SD Gothic Neo"/>
                        </a:rPr>
                        <a:t>2. Controller 수락</a:t>
                      </a:r>
                    </a:p>
                  </a:txBody>
                  <a:tcPr marL="133350" marR="133350" marT="95250" marB="95250" anchor="ctr">
                    <a:solidFill>
                      <a:srgbClr val="F1F5F8"/>
                    </a:solidFill>
                  </a:tcPr>
                </a:tc>
                <a:tc>
                  <a:txBody>
                    <a:bodyPr/>
                    <a:lstStyle/>
                    <a:p>
                      <a:r>
                        <a:rPr sz="1725" b="0">
                          <a:solidFill>
                            <a:srgbClr val="172738"/>
                          </a:solidFill>
                          <a:latin typeface="Apple SD Gothic Neo"/>
                          <a:ea typeface="Apple SD Gothic Neo"/>
                          <a:cs typeface="Apple SD Gothic Neo"/>
                        </a:rPr>
                        <a:t>Port별 QD 확인, 공유 버퍼 예약</a:t>
                      </a:r>
                    </a:p>
                    <a:p>
                      <a:r>
                        <a:rPr sz="1725" b="0">
                          <a:solidFill>
                            <a:srgbClr val="172738"/>
                          </a:solidFill>
                          <a:latin typeface="Apple SD Gothic Neo"/>
                          <a:ea typeface="Apple SD Gothic Neo"/>
                          <a:cs typeface="Apple SD Gothic Neo"/>
                        </a:rPr>
                        <a:t>L2P 조회로 물리 주소 확인</a:t>
                      </a:r>
                    </a:p>
                  </a:txBody>
                  <a:tcPr marL="133350" marR="133350" marT="95250" marB="95250" anchor="ctr">
                    <a:solidFill>
                      <a:srgbClr val="F1F5F8"/>
                    </a:solidFill>
                  </a:tcPr>
                </a:tc>
                <a:tc>
                  <a:txBody>
                    <a:bodyPr/>
                    <a:lstStyle/>
                    <a:p>
                      <a:r>
                        <a:rPr sz="1725" b="0">
                          <a:solidFill>
                            <a:srgbClr val="172738"/>
                          </a:solidFill>
                          <a:latin typeface="Apple SD Gothic Neo"/>
                          <a:ea typeface="Apple SD Gothic Neo"/>
                          <a:cs typeface="Apple SD Gothic Neo"/>
                        </a:rPr>
                        <a:t>대표 설정: 8MiB</a:t>
                      </a:r>
                    </a:p>
                    <a:p>
                      <a:r>
                        <a:rPr sz="1725" b="0">
                          <a:solidFill>
                            <a:srgbClr val="172738"/>
                          </a:solidFill>
                          <a:latin typeface="Apple SD Gothic Neo"/>
                          <a:ea typeface="Apple SD Gothic Neo"/>
                          <a:cs typeface="Apple SD Gothic Neo"/>
                        </a:rPr>
                        <a:t>QD 512/Port</a:t>
                      </a:r>
                    </a:p>
                  </a:txBody>
                  <a:tcPr marL="133350" marR="133350" marT="95250" marB="95250" anchor="ctr">
                    <a:solidFill>
                      <a:srgbClr val="F1F5F8"/>
                    </a:solidFill>
                  </a:tcPr>
                </a:tc>
              </a:tr>
              <a:tr h="695325">
                <a:tc>
                  <a:txBody>
                    <a:bodyPr/>
                    <a:lstStyle/>
                    <a:p>
                      <a:r>
                        <a:rPr sz="1725" b="0">
                          <a:solidFill>
                            <a:srgbClr val="172738"/>
                          </a:solidFill>
                          <a:latin typeface="Apple SD Gothic Neo"/>
                          <a:ea typeface="Apple SD Gothic Neo"/>
                          <a:cs typeface="Apple SD Gothic Neo"/>
                        </a:rPr>
                        <a:t>3. CA 스케줄링</a:t>
                      </a:r>
                    </a:p>
                  </a:txBody>
                  <a:tcPr marL="133350" marR="133350" marT="95250" marB="95250" anchor="ctr">
                    <a:solidFill>
                      <a:srgbClr val="FFFFFF"/>
                    </a:solidFill>
                  </a:tcPr>
                </a:tc>
                <a:tc>
                  <a:txBody>
                    <a:bodyPr/>
                    <a:lstStyle/>
                    <a:p>
                      <a:r>
                        <a:rPr sz="1725" b="0">
                          <a:solidFill>
                            <a:srgbClr val="172738"/>
                          </a:solidFill>
                          <a:latin typeface="Apple SD Gothic Neo"/>
                          <a:ea typeface="Apple SD Gothic Neo"/>
                          <a:cs typeface="Apple SD Gothic Neo"/>
                        </a:rPr>
                        <a:t>발행 가능한 물리 페이지의 처리 순서 선택</a:t>
                      </a:r>
                    </a:p>
                  </a:txBody>
                  <a:tcPr marL="133350" marR="133350" marT="95250" marB="95250" anchor="ctr">
                    <a:solidFill>
                      <a:srgbClr val="FFFFFF"/>
                    </a:solidFill>
                  </a:tcPr>
                </a:tc>
                <a:tc>
                  <a:txBody>
                    <a:bodyPr/>
                    <a:lstStyle/>
                    <a:p>
                      <a:r>
                        <a:rPr sz="1725" b="0">
                          <a:solidFill>
                            <a:srgbClr val="172738"/>
                          </a:solidFill>
                          <a:latin typeface="Apple SD Gothic Neo"/>
                          <a:ea typeface="Apple SD Gothic Neo"/>
                          <a:cs typeface="Apple SD Gothic Neo"/>
                        </a:rPr>
                        <a:t>FIFO에서도 최고 성능</a:t>
                      </a:r>
                    </a:p>
                    <a:p>
                      <a:r>
                        <a:rPr sz="1725" b="0">
                          <a:solidFill>
                            <a:srgbClr val="172738"/>
                          </a:solidFill>
                          <a:latin typeface="Apple SD Gothic Neo"/>
                          <a:ea typeface="Apple SD Gothic Neo"/>
                          <a:cs typeface="Apple SD Gothic Neo"/>
                        </a:rPr>
                        <a:t>우회 기능은 필수 아님</a:t>
                      </a:r>
                    </a:p>
                  </a:txBody>
                  <a:tcPr marL="133350" marR="133350" marT="95250" marB="95250" anchor="ctr">
                    <a:solidFill>
                      <a:srgbClr val="FFFFFF"/>
                    </a:solidFill>
                  </a:tcPr>
                </a:tc>
              </a:tr>
              <a:tr h="695325">
                <a:tc>
                  <a:txBody>
                    <a:bodyPr/>
                    <a:lstStyle/>
                    <a:p>
                      <a:r>
                        <a:rPr sz="1725" b="0">
                          <a:solidFill>
                            <a:srgbClr val="172738"/>
                          </a:solidFill>
                          <a:latin typeface="Apple SD Gothic Neo"/>
                          <a:ea typeface="Apple SD Gothic Neo"/>
                          <a:cs typeface="Apple SD Gothic Neo"/>
                        </a:rPr>
                        <a:t>4. NAND Read</a:t>
                      </a:r>
                    </a:p>
                  </a:txBody>
                  <a:tcPr marL="133350" marR="133350" marT="95250" marB="95250" anchor="ctr">
                    <a:solidFill>
                      <a:srgbClr val="F1F5F8"/>
                    </a:solidFill>
                  </a:tcPr>
                </a:tc>
                <a:tc>
                  <a:txBody>
                    <a:bodyPr/>
                    <a:lstStyle/>
                    <a:p>
                      <a:r>
                        <a:rPr sz="1725" b="0">
                          <a:solidFill>
                            <a:srgbClr val="172738"/>
                          </a:solidFill>
                          <a:latin typeface="Apple SD Gothic Neo"/>
                          <a:ea typeface="Apple SD Gothic Neo"/>
                          <a:cs typeface="Apple SD Gothic Neo"/>
                        </a:rPr>
                        <a:t>4채널 × 16Plane에서 sensing</a:t>
                      </a:r>
                    </a:p>
                    <a:p>
                      <a:r>
                        <a:rPr sz="1725" b="0">
                          <a:solidFill>
                            <a:srgbClr val="172738"/>
                          </a:solidFill>
                          <a:latin typeface="Apple SD Gothic Neo"/>
                          <a:ea typeface="Apple SD Gothic Neo"/>
                          <a:cs typeface="Apple SD Gothic Neo"/>
                        </a:rPr>
                        <a:t>물리 페이지 크기는 16KiB</a:t>
                      </a:r>
                    </a:p>
                  </a:txBody>
                  <a:tcPr marL="133350" marR="133350" marT="95250" marB="95250" anchor="ctr">
                    <a:solidFill>
                      <a:srgbClr val="F1F5F8"/>
                    </a:solidFill>
                  </a:tcPr>
                </a:tc>
                <a:tc>
                  <a:txBody>
                    <a:bodyPr/>
                    <a:lstStyle/>
                    <a:p>
                      <a:r>
                        <a:rPr sz="1725" b="0">
                          <a:solidFill>
                            <a:srgbClr val="172738"/>
                          </a:solidFill>
                          <a:latin typeface="Apple SD Gothic Neo"/>
                          <a:ea typeface="Apple SD Gothic Neo"/>
                          <a:cs typeface="Apple SD Gothic Neo"/>
                        </a:rPr>
                        <a:t>Plane당 page buffer 1개</a:t>
                      </a:r>
                    </a:p>
                    <a:p>
                      <a:r>
                        <a:rPr sz="1725" b="0">
                          <a:solidFill>
                            <a:srgbClr val="172738"/>
                          </a:solidFill>
                          <a:latin typeface="Apple SD Gothic Neo"/>
                          <a:ea typeface="Apple SD Gothic Neo"/>
                          <a:cs typeface="Apple SD Gothic Neo"/>
                        </a:rPr>
                        <a:t>채널별 CA와 Data 경로</a:t>
                      </a:r>
                    </a:p>
                  </a:txBody>
                  <a:tcPr marL="133350" marR="133350" marT="95250" marB="95250" anchor="ctr">
                    <a:solidFill>
                      <a:srgbClr val="F1F5F8"/>
                    </a:solidFill>
                  </a:tcPr>
                </a:tc>
              </a:tr>
              <a:tr h="695325">
                <a:tc>
                  <a:txBody>
                    <a:bodyPr/>
                    <a:lstStyle/>
                    <a:p>
                      <a:r>
                        <a:rPr sz="1725" b="0">
                          <a:solidFill>
                            <a:srgbClr val="172738"/>
                          </a:solidFill>
                          <a:latin typeface="Apple SD Gothic Neo"/>
                          <a:ea typeface="Apple SD Gothic Neo"/>
                          <a:cs typeface="Apple SD Gothic Neo"/>
                        </a:rPr>
                        <a:t>5. Data와 반환</a:t>
                      </a:r>
                    </a:p>
                  </a:txBody>
                  <a:tcPr marL="133350" marR="133350" marT="95250" marB="95250" anchor="ctr">
                    <a:solidFill>
                      <a:srgbClr val="FFFFFF"/>
                    </a:solidFill>
                  </a:tcPr>
                </a:tc>
                <a:tc>
                  <a:txBody>
                    <a:bodyPr/>
                    <a:lstStyle/>
                    <a:p>
                      <a:r>
                        <a:rPr sz="1725" b="0">
                          <a:solidFill>
                            <a:srgbClr val="172738"/>
                          </a:solidFill>
                          <a:latin typeface="Apple SD Gothic Neo"/>
                          <a:ea typeface="Apple SD Gothic Neo"/>
                          <a:cs typeface="Apple SD Gothic Neo"/>
                        </a:rPr>
                        <a:t>NAND 출력과 ECC 후 Controller buffer 준비</a:t>
                      </a:r>
                    </a:p>
                    <a:p>
                      <a:r>
                        <a:rPr sz="1725" b="0">
                          <a:solidFill>
                            <a:srgbClr val="172738"/>
                          </a:solidFill>
                          <a:latin typeface="Apple SD Gothic Neo"/>
                          <a:ea typeface="Apple SD Gothic Neo"/>
                          <a:cs typeface="Apple SD Gothic Neo"/>
                        </a:rPr>
                        <a:t>Port별로 Host에 읽기 데이터 반환</a:t>
                      </a:r>
                    </a:p>
                  </a:txBody>
                  <a:tcPr marL="133350" marR="133350" marT="95250" marB="95250" anchor="ctr">
                    <a:solidFill>
                      <a:srgbClr val="FFFFFF"/>
                    </a:solidFill>
                  </a:tcPr>
                </a:tc>
                <a:tc>
                  <a:txBody>
                    <a:bodyPr/>
                    <a:lstStyle/>
                    <a:p>
                      <a:r>
                        <a:rPr sz="1725" b="0">
                          <a:solidFill>
                            <a:srgbClr val="172738"/>
                          </a:solidFill>
                          <a:latin typeface="Apple SD Gothic Neo"/>
                          <a:ea typeface="Apple SD Gothic Neo"/>
                          <a:cs typeface="Apple SD Gothic Neo"/>
                        </a:rPr>
                        <a:t>Port 내부 in-order</a:t>
                      </a:r>
                    </a:p>
                    <a:p>
                      <a:r>
                        <a:rPr sz="1725" b="0">
                          <a:solidFill>
                            <a:srgbClr val="172738"/>
                          </a:solidFill>
                          <a:latin typeface="Apple SD Gothic Neo"/>
                          <a:ea typeface="Apple SD Gothic Neo"/>
                          <a:cs typeface="Apple SD Gothic Neo"/>
                        </a:rPr>
                        <a:t>연결된 마지막 응답 후 버퍼 해제</a:t>
                      </a:r>
                    </a:p>
                  </a:txBody>
                  <a:tcPr marL="133350" marR="133350" marT="95250" marB="95250" anchor="ctr">
                    <a:solidFill>
                      <a:srgbClr val="FFFFFF"/>
                    </a:solidFill>
                  </a:tcPr>
                </a:tc>
              </a:tr>
            </a:tbl>
          </a:graphicData>
        </a:graphic>
      </p:graphicFrame>
      <p:sp>
        <p:nvSpPr>
          <p:cNvPr id="6" name="buffer-distinction">
            <a:extLst xmlns:a="http://schemas.openxmlformats.org/drawingml/2006/main">
              <a:ext uri="{FF2B5EF4-FFF2-40B4-BE49-F238E27FC236}">
                <a16:creationId xmlns:a16="http://schemas.microsoft.com/office/drawing/2014/main" id="{554C643E-5CB9-46FB-AD8E-B412C931BCB1}"/>
              </a:ext>
            </a:extLst>
          </p:cNvPr>
          <p:cNvSpPr>
            <a:spLocks xmlns:a="http://schemas.openxmlformats.org/drawingml/2006/main" noGrp="1"/>
          </p:cNvSpPr>
          <p:nvPr/>
        </p:nvSpPr>
        <p:spPr>
          <a:xfrm xmlns:a="http://schemas.openxmlformats.org/drawingml/2006/main">
            <a:off x="571500" y="6038850"/>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86875"/>
                </a:solidFill>
                <a:latin typeface="Apple SD Gothic Neo"/>
                <a:ea typeface="Apple SD Gothic Neo"/>
                <a:cs typeface="Apple SD Gothic Neo"/>
              </a:defRPr>
            </a:defPPr>
          </a:lstStyle>
          <a:p xmlns:a="http://schemas.openxmlformats.org/drawingml/2006/main">
            <a:pPr>
              <a:buNone/>
              <a:defRPr sz="1650" b="0">
                <a:solidFill>
                  <a:srgbClr val="586875"/>
                </a:solidFill>
                <a:latin typeface="Apple SD Gothic Neo"/>
                <a:ea typeface="Apple SD Gothic Neo"/>
                <a:cs typeface="Apple SD Gothic Neo"/>
              </a:defRPr>
            </a:pPr>
            <a:r>
              <a:rPr sz="1650" b="0">
                <a:solidFill>
                  <a:srgbClr val="586875"/>
                </a:solidFill>
                <a:latin typeface="Apple SD Gothic Neo"/>
                <a:ea typeface="Apple SD Gothic Neo"/>
                <a:cs typeface="Apple SD Gothic Neo"/>
              </a:rPr>
              <a:t>NAND page buffer는 Plane별 자원이며, Controller buffer는 여러 Port가 공유하는 임시 보관 공간입니다.</a:t>
            </a:r>
          </a:p>
        </p:txBody>
      </p:sp>
    </p:spTree>
    <p:extLst>
      <p:ext uri="{BB962C8B-B14F-4D97-AF65-F5344CB8AC3E}">
        <p14:creationId xmlns:p14="http://schemas.microsoft.com/office/powerpoint/2010/main" val="1028551357"/>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itle">
            <a:extLst xmlns:a="http://schemas.openxmlformats.org/drawingml/2006/main">
              <a:ext uri="{FF2B5EF4-FFF2-40B4-BE49-F238E27FC236}">
                <a16:creationId xmlns:a16="http://schemas.microsoft.com/office/drawing/2014/main" id="{8B7BCD15-B3BE-43D7-9CE5-569D0D19C4AC}"/>
              </a:ext>
            </a:extLst>
          </p:cNvPr>
          <p:cNvSpPr>
            <a:spLocks xmlns:a="http://schemas.openxmlformats.org/drawingml/2006/main" noGrp="1"/>
          </p:cNvSpPr>
          <p:nvPr/>
        </p:nvSpPr>
        <p:spPr>
          <a:xfrm xmlns:a="http://schemas.openxmlformats.org/drawingml/2006/main">
            <a:off x="533400" y="438150"/>
            <a:ext cx="11125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2738"/>
                </a:solidFill>
                <a:latin typeface="Apple SD Gothic Neo"/>
                <a:ea typeface="Apple SD Gothic Neo"/>
                <a:cs typeface="Apple SD Gothic Neo"/>
              </a:defRPr>
            </a:defPPr>
          </a:lstStyle>
          <a:p xmlns:a="http://schemas.openxmlformats.org/drawingml/2006/main">
            <a:pPr>
              <a:defRPr sz="3300" b="1">
                <a:solidFill>
                  <a:srgbClr val="172738"/>
                </a:solidFill>
                <a:latin typeface="Apple SD Gothic Neo"/>
                <a:ea typeface="Apple SD Gothic Neo"/>
                <a:cs typeface="Apple SD Gothic Neo"/>
              </a:defRPr>
            </a:pPr>
            <a:r>
              <a:rPr sz="3300" b="1">
                <a:solidFill>
                  <a:srgbClr val="172738"/>
                </a:solidFill>
                <a:latin typeface="Apple SD Gothic Neo"/>
                <a:ea typeface="Apple SD Gothic Neo"/>
                <a:cs typeface="Apple SD Gothic Neo"/>
              </a:rPr>
              <a:t>최대 처리량을 만드는 조건</a:t>
            </a:r>
          </a:p>
        </p:txBody>
      </p:sp>
      <p:sp>
        <p:nvSpPr>
          <p:cNvPr id="2" name="subtitle">
            <a:extLst xmlns:a="http://schemas.openxmlformats.org/drawingml/2006/main">
              <a:ext uri="{FF2B5EF4-FFF2-40B4-BE49-F238E27FC236}">
                <a16:creationId xmlns:a16="http://schemas.microsoft.com/office/drawing/2014/main" id="{9015325C-E15E-47AF-A292-DEA760FD3CA6}"/>
              </a:ext>
            </a:extLst>
          </p:cNvPr>
          <p:cNvSpPr>
            <a:spLocks xmlns:a="http://schemas.openxmlformats.org/drawingml/2006/main" noGrp="1"/>
          </p:cNvSpPr>
          <p:nvPr/>
        </p:nvSpPr>
        <p:spPr>
          <a:xfrm xmlns:a="http://schemas.openxmlformats.org/drawingml/2006/main">
            <a:off x="552450" y="1104900"/>
            <a:ext cx="110871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586875"/>
                </a:solidFill>
                <a:latin typeface="Apple SD Gothic Neo"/>
                <a:ea typeface="Apple SD Gothic Neo"/>
                <a:cs typeface="Apple SD Gothic Neo"/>
              </a:defRPr>
            </a:defPPr>
          </a:lstStyle>
          <a:p xmlns:a="http://schemas.openxmlformats.org/drawingml/2006/main">
            <a:pPr>
              <a:defRPr sz="1800" b="0">
                <a:solidFill>
                  <a:srgbClr val="586875"/>
                </a:solidFill>
                <a:latin typeface="Apple SD Gothic Neo"/>
                <a:ea typeface="Apple SD Gothic Neo"/>
                <a:cs typeface="Apple SD Gothic Neo"/>
              </a:defRPr>
            </a:pPr>
            <a:r>
              <a:rPr sz="1800" b="0">
                <a:solidFill>
                  <a:srgbClr val="586875"/>
                </a:solidFill>
                <a:latin typeface="Apple SD Gothic Neo"/>
                <a:ea typeface="Apple SD Gothic Neo"/>
                <a:cs typeface="Apple SD Gothic Neo"/>
              </a:rPr>
              <a:t>현재 64 Plane 모델에서는 데이터 배치와 Port별 요청 공급이 핵심입니다.</a:t>
            </a:r>
          </a:p>
        </p:txBody>
      </p:sp>
      <p:sp>
        <p:nvSpPr>
          <p:cNvPr id="3" name="footer">
            <a:extLst xmlns:a="http://schemas.openxmlformats.org/drawingml/2006/main">
              <a:ext uri="{FF2B5EF4-FFF2-40B4-BE49-F238E27FC236}">
                <a16:creationId xmlns:a16="http://schemas.microsoft.com/office/drawing/2014/main" id="{EB2E90E8-6860-4DEF-AC16-E15A7E278CD6}"/>
              </a:ext>
            </a:extLst>
          </p:cNvPr>
          <p:cNvSpPr>
            <a:spLocks xmlns:a="http://schemas.openxmlformats.org/drawingml/2006/main" noGrp="1"/>
          </p:cNvSpPr>
          <p:nvPr/>
        </p:nvSpPr>
        <p:spPr>
          <a:xfrm xmlns:a="http://schemas.openxmlformats.org/drawingml/2006/main">
            <a:off x="533400" y="6419850"/>
            <a:ext cx="10477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86875"/>
                </a:solidFill>
                <a:latin typeface="Apple SD Gothic Neo"/>
                <a:ea typeface="Apple SD Gothic Neo"/>
                <a:cs typeface="Apple SD Gothic Neo"/>
              </a:defRPr>
            </a:defPPr>
          </a:lstStyle>
          <a:p xmlns:a="http://schemas.openxmlformats.org/drawingml/2006/main">
            <a:pPr>
              <a:defRPr sz="1200" b="0">
                <a:solidFill>
                  <a:srgbClr val="586875"/>
                </a:solidFill>
                <a:latin typeface="Apple SD Gothic Neo"/>
                <a:ea typeface="Apple SD Gothic Neo"/>
                <a:cs typeface="Apple SD Gothic Neo"/>
              </a:defRPr>
            </a:pPr>
            <a:r>
              <a:rPr sz="1200" b="0">
                <a:solidFill>
                  <a:srgbClr val="586875"/>
                </a:solidFill>
                <a:latin typeface="Apple SD Gothic Neo"/>
                <a:ea typeface="Apple SD Gothic Neo"/>
                <a:cs typeface="Apple SD Gothic Neo"/>
              </a:rPr>
              <a:t>동일 조건 대조 실험. 처리량은 200–2,200µs의 고정 2ms 평균</a:t>
            </a:r>
          </a:p>
        </p:txBody>
      </p:sp>
      <p:sp>
        <p:nvSpPr>
          <p:cNvPr id="4" name="page">
            <a:extLst xmlns:a="http://schemas.openxmlformats.org/drawingml/2006/main">
              <a:ext uri="{FF2B5EF4-FFF2-40B4-BE49-F238E27FC236}">
                <a16:creationId xmlns:a16="http://schemas.microsoft.com/office/drawing/2014/main" id="{C2E9838A-50F2-469C-A963-DA07917DAE46}"/>
              </a:ext>
            </a:extLst>
          </p:cNvPr>
          <p:cNvSpPr>
            <a:spLocks xmlns:a="http://schemas.openxmlformats.org/drawingml/2006/main" noGrp="1"/>
          </p:cNvSpPr>
          <p:nvPr/>
        </p:nvSpPr>
        <p:spPr>
          <a:xfrm xmlns:a="http://schemas.openxmlformats.org/drawingml/2006/main">
            <a:off x="11144250" y="6419850"/>
            <a:ext cx="4953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86875"/>
                </a:solidFill>
                <a:latin typeface="Apple SD Gothic Neo"/>
                <a:ea typeface="Apple SD Gothic Neo"/>
                <a:cs typeface="Apple SD Gothic Neo"/>
              </a:defRPr>
            </a:defPPr>
          </a:lstStyle>
          <a:p xmlns:a="http://schemas.openxmlformats.org/drawingml/2006/main">
            <a:pPr>
              <a:defRPr sz="1200" b="0">
                <a:solidFill>
                  <a:srgbClr val="586875"/>
                </a:solidFill>
                <a:latin typeface="Apple SD Gothic Neo"/>
                <a:ea typeface="Apple SD Gothic Neo"/>
                <a:cs typeface="Apple SD Gothic Neo"/>
              </a:defRPr>
            </a:pPr>
            <a:r>
              <a:rPr sz="1200" b="0">
                <a:solidFill>
                  <a:srgbClr val="586875"/>
                </a:solidFill>
                <a:latin typeface="Apple SD Gothic Neo"/>
                <a:ea typeface="Apple SD Gothic Neo"/>
                <a:cs typeface="Apple SD Gothic Neo"/>
              </a:rPr>
              <a:t>05</a:t>
            </a:r>
          </a:p>
        </p:txBody>
      </p:sp>
      <p:graphicFrame>
        <p:nvGraphicFramePr>
          <p:cNvPr id="5" name="summary">
            <a:extLst xmlns:a="http://schemas.openxmlformats.org/drawingml/2006/main">
              <a:ext uri="{FF2B5EF4-FFF2-40B4-BE49-F238E27FC236}">
                <a16:creationId xmlns:a16="http://schemas.microsoft.com/office/drawing/2014/main" id="{DD211E00-8229-4E2E-930E-E8BDFE093673}"/>
              </a:ext>
            </a:extLst>
          </p:cNvPr>
          <p:cNvGraphicFramePr/>
          <p:nvPr/>
        </p:nvGraphicFramePr>
        <p:xfrm>
          <a:off xmlns:a="http://schemas.openxmlformats.org/drawingml/2006/main" x="533400" y="1857375"/>
          <a:ext xmlns:a="http://schemas.openxmlformats.org/drawingml/2006/main" cx="11125200" cy="3276600"/>
        </p:xfrm>
        <a:graphic xmlns:a="http://schemas.openxmlformats.org/drawingml/2006/main">
          <a:graphicData uri="http://schemas.openxmlformats.org/drawingml/2006/table">
            <a:tbl>
              <a:tblPr/>
              <a:tblGrid>
                <a:gridCol w="2571750"/>
                <a:gridCol w="4333875"/>
                <a:gridCol w="4219575"/>
              </a:tblGrid>
              <a:tr h="819150">
                <a:tc>
                  <a:txBody>
                    <a:bodyPr lIns="95250" tIns="95250" rIns="95250" bIns="95250"/>
                    <a:lstStyle/>
                    <a:p>
                      <a:r>
                        <a:rPr sz="1800" b="1">
                          <a:solidFill>
                            <a:srgbClr val="FFFFFF"/>
                          </a:solidFill>
                          <a:latin typeface="Apple SD Gothic Neo"/>
                          <a:ea typeface="Apple SD Gothic Neo"/>
                          <a:cs typeface="Apple SD Gothic Neo"/>
                        </a:rPr>
                        <a:t>항목</a:t>
                      </a:r>
                    </a:p>
                  </a:txBody>
                  <a:tcPr marL="114300" marR="114300" marT="76200" marB="76200" anchor="ctr">
                    <a:solidFill>
                      <a:srgbClr val="122C40"/>
                    </a:solidFill>
                  </a:tcPr>
                </a:tc>
                <a:tc>
                  <a:txBody>
                    <a:bodyPr lIns="95250" tIns="95250" rIns="95250" bIns="95250"/>
                    <a:lstStyle/>
                    <a:p>
                      <a:r>
                        <a:rPr sz="1800" b="1">
                          <a:solidFill>
                            <a:srgbClr val="FFFFFF"/>
                          </a:solidFill>
                          <a:latin typeface="Apple SD Gothic Neo"/>
                          <a:ea typeface="Apple SD Gothic Neo"/>
                          <a:cs typeface="Apple SD Gothic Neo"/>
                        </a:rPr>
                        <a:t>확인한 결과</a:t>
                      </a:r>
                    </a:p>
                  </a:txBody>
                  <a:tcPr marL="114300" marR="114300" marT="76200" marB="76200" anchor="ctr">
                    <a:solidFill>
                      <a:srgbClr val="122C40"/>
                    </a:solidFill>
                  </a:tcPr>
                </a:tc>
                <a:tc>
                  <a:txBody>
                    <a:bodyPr lIns="95250" tIns="95250" rIns="95250" bIns="95250"/>
                    <a:lstStyle/>
                    <a:p>
                      <a:r>
                        <a:rPr sz="1800" b="1">
                          <a:solidFill>
                            <a:srgbClr val="FFFFFF"/>
                          </a:solidFill>
                          <a:latin typeface="Apple SD Gothic Neo"/>
                          <a:ea typeface="Apple SD Gothic Neo"/>
                          <a:cs typeface="Apple SD Gothic Neo"/>
                        </a:rPr>
                        <a:t>해석</a:t>
                      </a:r>
                    </a:p>
                  </a:txBody>
                  <a:tcPr marL="114300" marR="114300" marT="76200" marB="76200" anchor="ctr">
                    <a:solidFill>
                      <a:srgbClr val="122C40"/>
                    </a:solidFill>
                  </a:tcPr>
                </a:tc>
              </a:tr>
              <a:tr h="819150">
                <a:tc>
                  <a:txBody>
                    <a:bodyPr lIns="95250" tIns="95250" rIns="95250" bIns="95250"/>
                    <a:lstStyle/>
                    <a:p>
                      <a:r>
                        <a:rPr sz="1800" b="0">
                          <a:solidFill>
                            <a:srgbClr val="172738"/>
                          </a:solidFill>
                          <a:latin typeface="Apple SD Gothic Neo"/>
                          <a:ea typeface="Apple SD Gothic Neo"/>
                          <a:cs typeface="Apple SD Gothic Neo"/>
                        </a:rPr>
                        <a:t>Data placement</a:t>
                      </a:r>
                    </a:p>
                  </a:txBody>
                  <a:tcPr marL="114300" marR="114300" marT="76200" marB="76200" anchor="ctr">
                    <a:solidFill>
                      <a:srgbClr val="FFFFFF"/>
                    </a:solidFill>
                  </a:tcPr>
                </a:tc>
                <a:tc>
                  <a:txBody>
                    <a:bodyPr lIns="95250" tIns="95250" rIns="95250" bIns="95250"/>
                    <a:lstStyle/>
                    <a:p>
                      <a:r>
                        <a:rPr sz="1800" b="0">
                          <a:solidFill>
                            <a:srgbClr val="172738"/>
                          </a:solidFill>
                          <a:latin typeface="Apple SD Gothic Neo"/>
                          <a:ea typeface="Apple SD Gothic Neo"/>
                          <a:cs typeface="Apple SD Gothic Neo"/>
                        </a:rPr>
                        <a:t>A1 71.20에서 255.37GB/s</a:t>
                      </a:r>
                    </a:p>
                    <a:p>
                      <a:r>
                        <a:rPr sz="1800" b="0">
                          <a:solidFill>
                            <a:srgbClr val="172738"/>
                          </a:solidFill>
                          <a:latin typeface="Apple SD Gothic Neo"/>
                          <a:ea typeface="Apple SD Gothic Neo"/>
                          <a:cs typeface="Apple SD Gothic Neo"/>
                        </a:rPr>
                        <a:t>FIFO와 QD512 고정, 배치만 변경</a:t>
                      </a:r>
                    </a:p>
                  </a:txBody>
                  <a:tcPr marL="114300" marR="114300" marT="76200" marB="76200" anchor="ctr">
                    <a:solidFill>
                      <a:srgbClr val="FFFFFF"/>
                    </a:solidFill>
                  </a:tcPr>
                </a:tc>
                <a:tc>
                  <a:txBody>
                    <a:bodyPr lIns="95250" tIns="95250" rIns="95250" bIns="95250"/>
                    <a:lstStyle/>
                    <a:p>
                      <a:r>
                        <a:rPr sz="1800" b="0">
                          <a:solidFill>
                            <a:srgbClr val="172738"/>
                          </a:solidFill>
                          <a:latin typeface="Apple SD Gothic Neo"/>
                          <a:ea typeface="Apple SD Gothic Neo"/>
                          <a:cs typeface="Apple SD Gothic Neo"/>
                        </a:rPr>
                        <a:t>Channel 분산과 Plane 내부</a:t>
                      </a:r>
                    </a:p>
                    <a:p>
                      <a:r>
                        <a:rPr sz="1800" b="0">
                          <a:solidFill>
                            <a:srgbClr val="172738"/>
                          </a:solidFill>
                          <a:latin typeface="Apple SD Gothic Neo"/>
                          <a:ea typeface="Apple SD Gothic Neo"/>
                          <a:cs typeface="Apple SD Gothic Neo"/>
                        </a:rPr>
                        <a:t>물리 주소 연속성이 핵심</a:t>
                      </a:r>
                    </a:p>
                  </a:txBody>
                  <a:tcPr marL="114300" marR="114300" marT="76200" marB="76200" anchor="ctr">
                    <a:solidFill>
                      <a:srgbClr val="FFFFFF"/>
                    </a:solidFill>
                  </a:tcPr>
                </a:tc>
              </a:tr>
              <a:tr h="819150">
                <a:tc>
                  <a:txBody>
                    <a:bodyPr lIns="95250" tIns="95250" rIns="95250" bIns="95250"/>
                    <a:lstStyle/>
                    <a:p>
                      <a:r>
                        <a:rPr sz="1800" b="0">
                          <a:solidFill>
                            <a:srgbClr val="172738"/>
                          </a:solidFill>
                          <a:latin typeface="Apple SD Gothic Neo"/>
                          <a:ea typeface="Apple SD Gothic Neo"/>
                          <a:cs typeface="Apple SD Gothic Neo"/>
                        </a:rPr>
                        <a:t>Port별 요청 공급</a:t>
                      </a:r>
                    </a:p>
                  </a:txBody>
                  <a:tcPr marL="114300" marR="114300" marT="76200" marB="76200" anchor="ctr">
                    <a:solidFill>
                      <a:srgbClr val="F1F5F8"/>
                    </a:solidFill>
                  </a:tcPr>
                </a:tc>
                <a:tc>
                  <a:txBody>
                    <a:bodyPr lIns="95250" tIns="95250" rIns="95250" bIns="95250"/>
                    <a:lstStyle/>
                    <a:p>
                      <a:r>
                        <a:rPr sz="1800" b="0">
                          <a:solidFill>
                            <a:srgbClr val="172738"/>
                          </a:solidFill>
                          <a:latin typeface="Apple SD Gothic Neo"/>
                          <a:ea typeface="Apple SD Gothic Neo"/>
                          <a:cs typeface="Apple SD Gothic Neo"/>
                        </a:rPr>
                        <a:t>A1 QD2,048 유지</a:t>
                      </a:r>
                    </a:p>
                    <a:p>
                      <a:r>
                        <a:rPr sz="1800" b="0">
                          <a:solidFill>
                            <a:srgbClr val="172738"/>
                          </a:solidFill>
                          <a:latin typeface="Apple SD Gothic Neo"/>
                          <a:ea typeface="Apple SD Gothic Neo"/>
                          <a:cs typeface="Apple SD Gothic Neo"/>
                        </a:rPr>
                        <a:t>수락 순환으로 68.86에서 255.34GB/s</a:t>
                      </a:r>
                    </a:p>
                  </a:txBody>
                  <a:tcPr marL="114300" marR="114300" marT="76200" marB="76200" anchor="ctr">
                    <a:solidFill>
                      <a:srgbClr val="F1F5F8"/>
                    </a:solidFill>
                  </a:tcPr>
                </a:tc>
                <a:tc>
                  <a:txBody>
                    <a:bodyPr lIns="95250" tIns="95250" rIns="95250" bIns="95250"/>
                    <a:lstStyle/>
                    <a:p>
                      <a:r>
                        <a:rPr sz="1800" b="0">
                          <a:solidFill>
                            <a:srgbClr val="172738"/>
                          </a:solidFill>
                          <a:latin typeface="Apple SD Gothic Neo"/>
                          <a:ea typeface="Apple SD Gothic Neo"/>
                          <a:cs typeface="Apple SD Gothic Neo"/>
                        </a:rPr>
                        <a:t>충분한 병렬 요청과</a:t>
                      </a:r>
                    </a:p>
                    <a:p>
                      <a:r>
                        <a:rPr sz="1800" b="0">
                          <a:solidFill>
                            <a:srgbClr val="172738"/>
                          </a:solidFill>
                          <a:latin typeface="Apple SD Gothic Neo"/>
                          <a:ea typeface="Apple SD Gothic Neo"/>
                          <a:cs typeface="Apple SD Gothic Neo"/>
                        </a:rPr>
                        <a:t>공유 버퍼의 편중 방지</a:t>
                      </a:r>
                    </a:p>
                  </a:txBody>
                  <a:tcPr marL="114300" marR="114300" marT="76200" marB="76200" anchor="ctr">
                    <a:solidFill>
                      <a:srgbClr val="F1F5F8"/>
                    </a:solidFill>
                  </a:tcPr>
                </a:tc>
              </a:tr>
              <a:tr h="819150">
                <a:tc>
                  <a:txBody>
                    <a:bodyPr lIns="95250" tIns="95250" rIns="95250" bIns="95250"/>
                    <a:lstStyle/>
                    <a:p>
                      <a:r>
                        <a:rPr sz="1800" b="0">
                          <a:solidFill>
                            <a:srgbClr val="172738"/>
                          </a:solidFill>
                          <a:latin typeface="Apple SD Gothic Neo"/>
                          <a:ea typeface="Apple SD Gothic Neo"/>
                          <a:cs typeface="Apple SD Gothic Neo"/>
                        </a:rPr>
                        <a:t>CA 우회32 기능</a:t>
                      </a:r>
                    </a:p>
                  </a:txBody>
                  <a:tcPr marL="114300" marR="114300" marT="76200" marB="76200" anchor="ctr">
                    <a:solidFill>
                      <a:srgbClr val="FFFFFF"/>
                    </a:solidFill>
                  </a:tcPr>
                </a:tc>
                <a:tc>
                  <a:txBody>
                    <a:bodyPr lIns="95250" tIns="95250" rIns="95250" bIns="95250"/>
                    <a:lstStyle/>
                    <a:p>
                      <a:r>
                        <a:rPr sz="1800" b="0">
                          <a:solidFill>
                            <a:srgbClr val="172738"/>
                          </a:solidFill>
                          <a:latin typeface="Apple SD Gothic Neo"/>
                          <a:ea typeface="Apple SD Gothic Neo"/>
                          <a:cs typeface="Apple SD Gothic Neo"/>
                        </a:rPr>
                        <a:t>A1 / A2 / B 모두 FIFO와 동일</a:t>
                      </a:r>
                    </a:p>
                    <a:p>
                      <a:r>
                        <a:rPr sz="1800" b="0">
                          <a:solidFill>
                            <a:srgbClr val="172738"/>
                          </a:solidFill>
                          <a:latin typeface="Apple SD Gothic Neo"/>
                          <a:ea typeface="Apple SD Gothic Neo"/>
                          <a:cs typeface="Apple SD Gothic Neo"/>
                        </a:rPr>
                        <a:t>기준 실행의 실제 우회 0회</a:t>
                      </a:r>
                    </a:p>
                  </a:txBody>
                  <a:tcPr marL="114300" marR="114300" marT="76200" marB="76200" anchor="ctr">
                    <a:solidFill>
                      <a:srgbClr val="FFFFFF"/>
                    </a:solidFill>
                  </a:tcPr>
                </a:tc>
                <a:tc>
                  <a:txBody>
                    <a:bodyPr lIns="95250" tIns="95250" rIns="95250" bIns="95250"/>
                    <a:lstStyle/>
                    <a:p>
                      <a:r>
                        <a:rPr sz="1800" b="0">
                          <a:solidFill>
                            <a:srgbClr val="172738"/>
                          </a:solidFill>
                          <a:latin typeface="Apple SD Gothic Neo"/>
                          <a:ea typeface="Apple SD Gothic Neo"/>
                          <a:cs typeface="Apple SD Gothic Neo"/>
                        </a:rPr>
                        <a:t>현재 배치의 최고 성능에</a:t>
                      </a:r>
                    </a:p>
                    <a:p>
                      <a:r>
                        <a:rPr sz="1800" b="0">
                          <a:solidFill>
                            <a:srgbClr val="172738"/>
                          </a:solidFill>
                          <a:latin typeface="Apple SD Gothic Neo"/>
                          <a:ea typeface="Apple SD Gothic Neo"/>
                          <a:cs typeface="Apple SD Gothic Neo"/>
                        </a:rPr>
                        <a:t>우회 기능은 필수 아님</a:t>
                      </a:r>
                    </a:p>
                  </a:txBody>
                  <a:tcPr marL="114300" marR="114300" marT="76200" marB="76200" anchor="ctr">
                    <a:solidFill>
                      <a:srgbClr val="FFFFFF"/>
                    </a:solidFill>
                  </a:tcPr>
                </a:tc>
              </a:tr>
            </a:tbl>
          </a:graphicData>
        </a:graphic>
      </p:graphicFrame>
      <p:sp>
        <p:nvSpPr>
          <p:cNvPr id="6" name="summary-note">
            <a:extLst xmlns:a="http://schemas.openxmlformats.org/drawingml/2006/main">
              <a:ext uri="{FF2B5EF4-FFF2-40B4-BE49-F238E27FC236}">
                <a16:creationId xmlns:a16="http://schemas.microsoft.com/office/drawing/2014/main" id="{33CBCF3A-BF09-41D5-AFF2-A40EABF249AB}"/>
              </a:ext>
            </a:extLst>
          </p:cNvPr>
          <p:cNvSpPr>
            <a:spLocks xmlns:a="http://schemas.openxmlformats.org/drawingml/2006/main" noGrp="1"/>
          </p:cNvSpPr>
          <p:nvPr/>
        </p:nvSpPr>
        <p:spPr>
          <a:xfrm xmlns:a="http://schemas.openxmlformats.org/drawingml/2006/main">
            <a:off x="571500" y="5419725"/>
            <a:ext cx="1104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126DCA"/>
                </a:solidFill>
                <a:latin typeface="Apple SD Gothic Neo"/>
                <a:ea typeface="Apple SD Gothic Neo"/>
                <a:cs typeface="Apple SD Gothic Neo"/>
              </a:defRPr>
            </a:defPPr>
          </a:lstStyle>
          <a:p xmlns:a="http://schemas.openxmlformats.org/drawingml/2006/main">
            <a:pPr>
              <a:defRPr sz="2100" b="1">
                <a:solidFill>
                  <a:srgbClr val="126DCA"/>
                </a:solidFill>
                <a:latin typeface="Apple SD Gothic Neo"/>
                <a:ea typeface="Apple SD Gothic Neo"/>
                <a:cs typeface="Apple SD Gothic Neo"/>
              </a:defRPr>
            </a:pPr>
            <a:r>
              <a:rPr sz="2100" b="1">
                <a:solidFill>
                  <a:srgbClr val="126DCA"/>
                </a:solidFill>
                <a:latin typeface="Apple SD Gothic Neo"/>
                <a:ea typeface="Apple SD Gothic Neo"/>
                <a:cs typeface="Apple SD Gothic Neo"/>
              </a:rPr>
              <a:t>QD의 적정값은 요청 크기와 버퍼 수락 정책에 따라 달라집니다.</a:t>
            </a:r>
          </a:p>
        </p:txBody>
      </p:sp>
      <p:sp>
        <p:nvSpPr>
          <p:cNvPr id="7" name="scope">
            <a:extLst xmlns:a="http://schemas.openxmlformats.org/drawingml/2006/main">
              <a:ext uri="{FF2B5EF4-FFF2-40B4-BE49-F238E27FC236}">
                <a16:creationId xmlns:a16="http://schemas.microsoft.com/office/drawing/2014/main" id="{0203064A-178A-413E-9245-86EF2FB50369}"/>
              </a:ext>
            </a:extLst>
          </p:cNvPr>
          <p:cNvSpPr>
            <a:spLocks xmlns:a="http://schemas.openxmlformats.org/drawingml/2006/main" noGrp="1"/>
          </p:cNvSpPr>
          <p:nvPr/>
        </p:nvSpPr>
        <p:spPr>
          <a:xfrm xmlns:a="http://schemas.openxmlformats.org/drawingml/2006/main">
            <a:off x="571500" y="5915025"/>
            <a:ext cx="1104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586875"/>
                </a:solidFill>
                <a:latin typeface="Apple SD Gothic Neo"/>
                <a:ea typeface="Apple SD Gothic Neo"/>
                <a:cs typeface="Apple SD Gothic Neo"/>
              </a:defRPr>
            </a:defPPr>
          </a:lstStyle>
          <a:p xmlns:a="http://schemas.openxmlformats.org/drawingml/2006/main">
            <a:pPr>
              <a:defRPr sz="1725" b="0">
                <a:solidFill>
                  <a:srgbClr val="586875"/>
                </a:solidFill>
                <a:latin typeface="Apple SD Gothic Neo"/>
                <a:ea typeface="Apple SD Gothic Neo"/>
                <a:cs typeface="Apple SD Gothic Neo"/>
              </a:defRPr>
            </a:pPr>
            <a:r>
              <a:rPr sz="1725" b="0">
                <a:solidFill>
                  <a:srgbClr val="586875"/>
                </a:solidFill>
                <a:latin typeface="Apple SD Gothic Neo"/>
                <a:ea typeface="Apple SD Gothic Neo"/>
                <a:cs typeface="Apple SD Gothic Neo"/>
              </a:rPr>
              <a:t>현재의 정적 배치와 네 Port의 독립 영역 읽기에서 확인한 결과입니다.</a:t>
            </a:r>
          </a:p>
        </p:txBody>
      </p:sp>
    </p:spTree>
    <p:extLst>
      <p:ext uri="{BB962C8B-B14F-4D97-AF65-F5344CB8AC3E}">
        <p14:creationId xmlns:p14="http://schemas.microsoft.com/office/powerpoint/2010/main" val="355043670"/>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itle">
            <a:extLst xmlns:a="http://schemas.openxmlformats.org/drawingml/2006/main">
              <a:ext uri="{FF2B5EF4-FFF2-40B4-BE49-F238E27FC236}">
                <a16:creationId xmlns:a16="http://schemas.microsoft.com/office/drawing/2014/main" id="{B3E452B0-D6D0-4D92-B855-42FABB1C144C}"/>
              </a:ext>
            </a:extLst>
          </p:cNvPr>
          <p:cNvSpPr>
            <a:spLocks xmlns:a="http://schemas.openxmlformats.org/drawingml/2006/main" noGrp="1"/>
          </p:cNvSpPr>
          <p:nvPr/>
        </p:nvSpPr>
        <p:spPr>
          <a:xfrm xmlns:a="http://schemas.openxmlformats.org/drawingml/2006/main">
            <a:off x="533400" y="438150"/>
            <a:ext cx="11125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2738"/>
                </a:solidFill>
                <a:latin typeface="Apple SD Gothic Neo"/>
                <a:ea typeface="Apple SD Gothic Neo"/>
                <a:cs typeface="Apple SD Gothic Neo"/>
              </a:defRPr>
            </a:defPPr>
          </a:lstStyle>
          <a:p xmlns:a="http://schemas.openxmlformats.org/drawingml/2006/main">
            <a:pPr>
              <a:defRPr sz="3300" b="1">
                <a:solidFill>
                  <a:srgbClr val="172738"/>
                </a:solidFill>
                <a:latin typeface="Apple SD Gothic Neo"/>
                <a:ea typeface="Apple SD Gothic Neo"/>
                <a:cs typeface="Apple SD Gothic Neo"/>
              </a:defRPr>
            </a:pPr>
            <a:r>
              <a:rPr sz="3300" b="1">
                <a:solidFill>
                  <a:srgbClr val="172738"/>
                </a:solidFill>
                <a:latin typeface="Apple SD Gothic Neo"/>
                <a:ea typeface="Apple SD Gothic Neo"/>
                <a:cs typeface="Apple SD Gothic Neo"/>
              </a:rPr>
              <a:t>Data placement만 바꾼 대조 실험</a:t>
            </a:r>
          </a:p>
        </p:txBody>
      </p:sp>
      <p:sp>
        <p:nvSpPr>
          <p:cNvPr id="2" name="subtitle">
            <a:extLst xmlns:a="http://schemas.openxmlformats.org/drawingml/2006/main">
              <a:ext uri="{FF2B5EF4-FFF2-40B4-BE49-F238E27FC236}">
                <a16:creationId xmlns:a16="http://schemas.microsoft.com/office/drawing/2014/main" id="{758C1B5E-89D6-4B6A-8305-50D264861834}"/>
              </a:ext>
            </a:extLst>
          </p:cNvPr>
          <p:cNvSpPr>
            <a:spLocks xmlns:a="http://schemas.openxmlformats.org/drawingml/2006/main" noGrp="1"/>
          </p:cNvSpPr>
          <p:nvPr/>
        </p:nvSpPr>
        <p:spPr>
          <a:xfrm xmlns:a="http://schemas.openxmlformats.org/drawingml/2006/main">
            <a:off x="552450" y="1104900"/>
            <a:ext cx="110871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586875"/>
                </a:solidFill>
                <a:latin typeface="Apple SD Gothic Neo"/>
                <a:ea typeface="Apple SD Gothic Neo"/>
                <a:cs typeface="Apple SD Gothic Neo"/>
              </a:defRPr>
            </a:defPPr>
          </a:lstStyle>
          <a:p xmlns:a="http://schemas.openxmlformats.org/drawingml/2006/main">
            <a:pPr>
              <a:defRPr sz="1800" b="0">
                <a:solidFill>
                  <a:srgbClr val="586875"/>
                </a:solidFill>
                <a:latin typeface="Apple SD Gothic Neo"/>
                <a:ea typeface="Apple SD Gothic Neo"/>
                <a:cs typeface="Apple SD Gothic Neo"/>
              </a:defRPr>
            </a:pPr>
            <a:r>
              <a:rPr sz="1800" b="0">
                <a:solidFill>
                  <a:srgbClr val="586875"/>
                </a:solidFill>
                <a:latin typeface="Apple SD Gothic Neo"/>
                <a:ea typeface="Apple SD Gothic Neo"/>
                <a:cs typeface="Apple SD Gothic Neo"/>
              </a:rPr>
              <a:t>CA는 FIFO, QD는 512/Port로 고정했습니다. 같은 64 Plane에서 배치만 비교합니다.</a:t>
            </a:r>
          </a:p>
        </p:txBody>
      </p:sp>
      <p:sp>
        <p:nvSpPr>
          <p:cNvPr id="3" name="footer">
            <a:extLst xmlns:a="http://schemas.openxmlformats.org/drawingml/2006/main">
              <a:ext uri="{FF2B5EF4-FFF2-40B4-BE49-F238E27FC236}">
                <a16:creationId xmlns:a16="http://schemas.microsoft.com/office/drawing/2014/main" id="{87F29B70-A1F8-4B13-9492-2C04D9A3B976}"/>
              </a:ext>
            </a:extLst>
          </p:cNvPr>
          <p:cNvSpPr>
            <a:spLocks xmlns:a="http://schemas.openxmlformats.org/drawingml/2006/main" noGrp="1"/>
          </p:cNvSpPr>
          <p:nvPr/>
        </p:nvSpPr>
        <p:spPr>
          <a:xfrm xmlns:a="http://schemas.openxmlformats.org/drawingml/2006/main">
            <a:off x="533400" y="6419850"/>
            <a:ext cx="10477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86875"/>
                </a:solidFill>
                <a:latin typeface="Apple SD Gothic Neo"/>
                <a:ea typeface="Apple SD Gothic Neo"/>
                <a:cs typeface="Apple SD Gothic Neo"/>
              </a:defRPr>
            </a:defPPr>
          </a:lstStyle>
          <a:p xmlns:a="http://schemas.openxmlformats.org/drawingml/2006/main">
            <a:pPr>
              <a:defRPr sz="1200" b="0">
                <a:solidFill>
                  <a:srgbClr val="586875"/>
                </a:solidFill>
                <a:latin typeface="Apple SD Gothic Neo"/>
                <a:ea typeface="Apple SD Gothic Neo"/>
                <a:cs typeface="Apple SD Gothic Neo"/>
              </a:defRPr>
            </a:pPr>
            <a:r>
              <a:rPr sz="1200" b="0">
                <a:solidFill>
                  <a:srgbClr val="586875"/>
                </a:solidFill>
                <a:latin typeface="Apple SD Gothic Neo"/>
                <a:ea typeface="Apple SD Gothic Neo"/>
                <a:cs typeface="Apple SD Gothic Neo"/>
              </a:rPr>
              <a:t>4 Port, 8MiB, PF OFF, 기존 tR 유지. 고정 2ms 평균</a:t>
            </a:r>
          </a:p>
        </p:txBody>
      </p:sp>
      <p:sp>
        <p:nvSpPr>
          <p:cNvPr id="4" name="page">
            <a:extLst xmlns:a="http://schemas.openxmlformats.org/drawingml/2006/main">
              <a:ext uri="{FF2B5EF4-FFF2-40B4-BE49-F238E27FC236}">
                <a16:creationId xmlns:a16="http://schemas.microsoft.com/office/drawing/2014/main" id="{A9635F73-70AA-4F58-9390-E299E4DB668F}"/>
              </a:ext>
            </a:extLst>
          </p:cNvPr>
          <p:cNvSpPr>
            <a:spLocks xmlns:a="http://schemas.openxmlformats.org/drawingml/2006/main" noGrp="1"/>
          </p:cNvSpPr>
          <p:nvPr/>
        </p:nvSpPr>
        <p:spPr>
          <a:xfrm xmlns:a="http://schemas.openxmlformats.org/drawingml/2006/main">
            <a:off x="11144250" y="6419850"/>
            <a:ext cx="4953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86875"/>
                </a:solidFill>
                <a:latin typeface="Apple SD Gothic Neo"/>
                <a:ea typeface="Apple SD Gothic Neo"/>
                <a:cs typeface="Apple SD Gothic Neo"/>
              </a:defRPr>
            </a:defPPr>
          </a:lstStyle>
          <a:p xmlns:a="http://schemas.openxmlformats.org/drawingml/2006/main">
            <a:pPr>
              <a:defRPr sz="1200" b="0">
                <a:solidFill>
                  <a:srgbClr val="586875"/>
                </a:solidFill>
                <a:latin typeface="Apple SD Gothic Neo"/>
                <a:ea typeface="Apple SD Gothic Neo"/>
                <a:cs typeface="Apple SD Gothic Neo"/>
              </a:defRPr>
            </a:pPr>
            <a:r>
              <a:rPr sz="1200" b="0">
                <a:solidFill>
                  <a:srgbClr val="586875"/>
                </a:solidFill>
                <a:latin typeface="Apple SD Gothic Neo"/>
                <a:ea typeface="Apple SD Gothic Neo"/>
                <a:cs typeface="Apple SD Gothic Neo"/>
              </a:rPr>
              <a:t>06</a:t>
            </a:r>
          </a:p>
        </p:txBody>
      </p:sp>
      <p:graphicFrame>
        <p:nvGraphicFramePr>
          <p:cNvPr id="5" name="Chart">
            <a:extLst xmlns:a="http://schemas.openxmlformats.org/drawingml/2006/main">
              <a:ext uri="{FF2B5EF4-FFF2-40B4-BE49-F238E27FC236}">
                <a16:creationId xmlns:a16="http://schemas.microsoft.com/office/drawing/2014/main" id="{7A2A67CF-95CD-452E-B57A-19282FC53DDD}"/>
              </a:ext>
            </a:extLst>
          </p:cNvPr>
          <p:cNvGraphicFramePr/>
          <p:nvPr/>
        </p:nvGraphicFramePr>
        <p:xfrm>
          <a:off xmlns:a="http://schemas.openxmlformats.org/drawingml/2006/main" x="533400" y="2076450"/>
          <a:ext xmlns:a="http://schemas.openxmlformats.org/drawingml/2006/main" cx="6762750" cy="3409950"/>
        </p:xfrm>
        <a:graphic xmlns:a="http://schemas.openxmlformats.org/drawingml/2006/main">
          <a:graphicData uri="http://schemas.openxmlformats.org/drawingml/2006/chart">
            <c:chart xmlns:r="http://schemas.openxmlformats.org/officeDocument/2006/relationships" xmlns:c="http://schemas.openxmlformats.org/drawingml/2006/chart" r:id="R5cd10e92721d4d21"/>
          </a:graphicData>
        </a:graphic>
      </p:graphicFrame>
      <p:sp>
        <p:nvSpPr>
          <p:cNvPr id="6" name="axis-label">
            <a:extLst xmlns:a="http://schemas.openxmlformats.org/drawingml/2006/main">
              <a:ext uri="{FF2B5EF4-FFF2-40B4-BE49-F238E27FC236}">
                <a16:creationId xmlns:a16="http://schemas.microsoft.com/office/drawing/2014/main" id="{E8CA821B-EB15-4531-A8F5-96C56C0D1FFC}"/>
              </a:ext>
            </a:extLst>
          </p:cNvPr>
          <p:cNvSpPr>
            <a:spLocks xmlns:a="http://schemas.openxmlformats.org/drawingml/2006/main" noGrp="1"/>
          </p:cNvSpPr>
          <p:nvPr/>
        </p:nvSpPr>
        <p:spPr>
          <a:xfrm xmlns:a="http://schemas.openxmlformats.org/drawingml/2006/main">
            <a:off x="571500" y="1743075"/>
            <a:ext cx="666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586875"/>
                </a:solidFill>
                <a:latin typeface="Apple SD Gothic Neo"/>
                <a:ea typeface="Apple SD Gothic Neo"/>
                <a:cs typeface="Apple SD Gothic Neo"/>
              </a:defRPr>
            </a:defPPr>
          </a:lstStyle>
          <a:p xmlns:a="http://schemas.openxmlformats.org/drawingml/2006/main">
            <a:pPr>
              <a:defRPr sz="1725" b="0">
                <a:solidFill>
                  <a:srgbClr val="586875"/>
                </a:solidFill>
                <a:latin typeface="Apple SD Gothic Neo"/>
                <a:ea typeface="Apple SD Gothic Neo"/>
                <a:cs typeface="Apple SD Gothic Neo"/>
              </a:defRPr>
            </a:pPr>
            <a:r>
              <a:rPr sz="1725" b="0">
                <a:solidFill>
                  <a:srgbClr val="586875"/>
                </a:solidFill>
                <a:latin typeface="Apple SD Gothic Neo"/>
                <a:ea typeface="Apple SD Gothic Neo"/>
                <a:cs typeface="Apple SD Gothic Neo"/>
              </a:rPr>
              <a:t>Host 처리량 (GB/s)</a:t>
            </a:r>
          </a:p>
        </p:txBody>
      </p:sp>
      <p:sp>
        <p:nvSpPr>
          <p:cNvPr id="7" name="takeaway">
            <a:extLst xmlns:a="http://schemas.openxmlformats.org/drawingml/2006/main">
              <a:ext uri="{FF2B5EF4-FFF2-40B4-BE49-F238E27FC236}">
                <a16:creationId xmlns:a16="http://schemas.microsoft.com/office/drawing/2014/main" id="{DD5BFE5F-B4D7-497A-A3E1-CF748E55C4E5}"/>
              </a:ext>
            </a:extLst>
          </p:cNvPr>
          <p:cNvSpPr>
            <a:spLocks xmlns:a="http://schemas.openxmlformats.org/drawingml/2006/main" noGrp="1"/>
          </p:cNvSpPr>
          <p:nvPr/>
        </p:nvSpPr>
        <p:spPr>
          <a:xfrm xmlns:a="http://schemas.openxmlformats.org/drawingml/2006/main">
            <a:off x="7620000" y="1971675"/>
            <a:ext cx="4000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126DCA"/>
                </a:solidFill>
                <a:latin typeface="Apple SD Gothic Neo"/>
                <a:ea typeface="Apple SD Gothic Neo"/>
                <a:cs typeface="Apple SD Gothic Neo"/>
              </a:defRPr>
            </a:defPPr>
          </a:lstStyle>
          <a:p xmlns:a="http://schemas.openxmlformats.org/drawingml/2006/main">
            <a:pPr>
              <a:defRPr sz="2100" b="1">
                <a:solidFill>
                  <a:srgbClr val="126DCA"/>
                </a:solidFill>
                <a:latin typeface="Apple SD Gothic Neo"/>
                <a:ea typeface="Apple SD Gothic Neo"/>
                <a:cs typeface="Apple SD Gothic Neo"/>
              </a:defRPr>
            </a:pPr>
            <a:r>
              <a:rPr sz="2100" b="1">
                <a:solidFill>
                  <a:srgbClr val="126DCA"/>
                </a:solidFill>
                <a:latin typeface="Apple SD Gothic Neo"/>
                <a:ea typeface="Apple SD Gothic Neo"/>
                <a:cs typeface="Apple SD Gothic Neo"/>
              </a:rPr>
              <a:t>균형 있는 요청 수만으로는 부족</a:t>
            </a:r>
          </a:p>
        </p:txBody>
      </p:sp>
      <p:sp>
        <p:nvSpPr>
          <p:cNvPr id="8" name="explanation">
            <a:extLst xmlns:a="http://schemas.openxmlformats.org/drawingml/2006/main">
              <a:ext uri="{FF2B5EF4-FFF2-40B4-BE49-F238E27FC236}">
                <a16:creationId xmlns:a16="http://schemas.microsoft.com/office/drawing/2014/main" id="{240679B1-B812-467E-982C-697EBA5219BB}"/>
              </a:ext>
            </a:extLst>
          </p:cNvPr>
          <p:cNvSpPr>
            <a:spLocks xmlns:a="http://schemas.openxmlformats.org/drawingml/2006/main" noGrp="1"/>
          </p:cNvSpPr>
          <p:nvPr/>
        </p:nvSpPr>
        <p:spPr>
          <a:xfrm xmlns:a="http://schemas.openxmlformats.org/drawingml/2006/main">
            <a:off x="7620000" y="2781300"/>
            <a:ext cx="40005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172738"/>
                </a:solidFill>
                <a:latin typeface="Apple SD Gothic Neo"/>
                <a:ea typeface="Apple SD Gothic Neo"/>
                <a:cs typeface="Apple SD Gothic Neo"/>
              </a:defRPr>
            </a:defPPr>
          </a:lstStyle>
          <a:p xmlns:a="http://schemas.openxmlformats.org/drawingml/2006/main">
            <a:pPr>
              <a:defRPr sz="1875" b="0">
                <a:solidFill>
                  <a:srgbClr val="172738"/>
                </a:solidFill>
                <a:latin typeface="Apple SD Gothic Neo"/>
                <a:ea typeface="Apple SD Gothic Neo"/>
                <a:cs typeface="Apple SD Gothic Neo"/>
              </a:defRPr>
            </a:pPr>
            <a:r>
              <a:rPr sz="1875" b="0">
                <a:solidFill>
                  <a:srgbClr val="172738"/>
                </a:solidFill>
                <a:latin typeface="Apple SD Gothic Neo"/>
                <a:ea typeface="Apple SD Gothic Neo"/>
                <a:cs typeface="Apple SD Gothic Neo"/>
              </a:rPr>
              <a:t>기존 배치의 A1도 Port별로</a:t>
            </a:r>
          </a:p>
          <a:p xmlns:a="http://schemas.openxmlformats.org/drawingml/2006/main">
            <a:pPr>
              <a:defRPr sz="1875" b="0">
                <a:solidFill>
                  <a:srgbClr val="172738"/>
                </a:solidFill>
                <a:latin typeface="Apple SD Gothic Neo"/>
                <a:ea typeface="Apple SD Gothic Neo"/>
                <a:cs typeface="Apple SD Gothic Neo"/>
              </a:defRPr>
            </a:pPr>
            <a:r>
              <a:rPr sz="1875" b="0">
                <a:solidFill>
                  <a:srgbClr val="172738"/>
                </a:solidFill>
                <a:latin typeface="Apple SD Gothic Neo"/>
                <a:ea typeface="Apple SD Gothic Neo"/>
                <a:cs typeface="Apple SD Gothic Neo"/>
              </a:rPr>
              <a:t>약 509~510개를 유지했지만</a:t>
            </a:r>
          </a:p>
          <a:p xmlns:a="http://schemas.openxmlformats.org/drawingml/2006/main">
            <a:pPr>
              <a:defRPr sz="1875" b="0">
                <a:solidFill>
                  <a:srgbClr val="172738"/>
                </a:solidFill>
                <a:latin typeface="Apple SD Gothic Neo"/>
                <a:ea typeface="Apple SD Gothic Neo"/>
                <a:cs typeface="Apple SD Gothic Neo"/>
              </a:defRPr>
            </a:pPr>
            <a:r>
              <a:rPr sz="1875" b="0">
                <a:solidFill>
                  <a:srgbClr val="172738"/>
                </a:solidFill>
                <a:latin typeface="Apple SD Gothic Neo"/>
                <a:ea typeface="Apple SD Gothic Neo"/>
                <a:cs typeface="Apple SD Gothic Neo"/>
              </a:rPr>
              <a:t>처리량은 71.20GB/s였습니다.</a:t>
            </a:r>
          </a:p>
          <a:p xmlns:a="http://schemas.openxmlformats.org/drawingml/2006/main">
            <a:r>
              <a:t/>
            </a:r>
          </a:p>
          <a:p xmlns:a="http://schemas.openxmlformats.org/drawingml/2006/main">
            <a:pPr>
              <a:defRPr sz="1875" b="0">
                <a:solidFill>
                  <a:srgbClr val="172738"/>
                </a:solidFill>
                <a:latin typeface="Apple SD Gothic Neo"/>
                <a:ea typeface="Apple SD Gothic Neo"/>
                <a:cs typeface="Apple SD Gothic Neo"/>
              </a:defRPr>
            </a:pPr>
            <a:r>
              <a:rPr sz="1875" b="0">
                <a:solidFill>
                  <a:srgbClr val="172738"/>
                </a:solidFill>
                <a:latin typeface="Apple SD Gothic Neo"/>
                <a:ea typeface="Apple SD Gothic Neo"/>
                <a:cs typeface="Apple SD Gothic Neo"/>
              </a:rPr>
              <a:t>영역별 Plane 분리가</a:t>
            </a:r>
          </a:p>
          <a:p xmlns:a="http://schemas.openxmlformats.org/drawingml/2006/main">
            <a:pPr>
              <a:defRPr sz="1875" b="0">
                <a:solidFill>
                  <a:srgbClr val="172738"/>
                </a:solidFill>
                <a:latin typeface="Apple SD Gothic Neo"/>
                <a:ea typeface="Apple SD Gothic Neo"/>
                <a:cs typeface="Apple SD Gothic Neo"/>
              </a:defRPr>
            </a:pPr>
            <a:r>
              <a:rPr sz="1875" b="0">
                <a:solidFill>
                  <a:srgbClr val="172738"/>
                </a:solidFill>
                <a:latin typeface="Apple SD Gothic Neo"/>
                <a:ea typeface="Apple SD Gothic Neo"/>
                <a:cs typeface="Apple SD Gothic Neo"/>
              </a:rPr>
              <a:t>물리 주소 점프를 줄입니다.</a:t>
            </a:r>
          </a:p>
        </p:txBody>
      </p:sp>
      <p:sp>
        <p:nvSpPr>
          <p:cNvPr id="9" name="placement-scope">
            <a:extLst xmlns:a="http://schemas.openxmlformats.org/drawingml/2006/main">
              <a:ext uri="{FF2B5EF4-FFF2-40B4-BE49-F238E27FC236}">
                <a16:creationId xmlns:a16="http://schemas.microsoft.com/office/drawing/2014/main" id="{67E1B78D-D042-4718-B09C-016A9B0DD2F3}"/>
              </a:ext>
            </a:extLst>
          </p:cNvPr>
          <p:cNvSpPr>
            <a:spLocks xmlns:a="http://schemas.openxmlformats.org/drawingml/2006/main" noGrp="1"/>
          </p:cNvSpPr>
          <p:nvPr/>
        </p:nvSpPr>
        <p:spPr>
          <a:xfrm xmlns:a="http://schemas.openxmlformats.org/drawingml/2006/main">
            <a:off x="571500" y="5810250"/>
            <a:ext cx="11049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586875"/>
                </a:solidFill>
                <a:latin typeface="Apple SD Gothic Neo"/>
                <a:ea typeface="Apple SD Gothic Neo"/>
                <a:cs typeface="Apple SD Gothic Neo"/>
              </a:defRPr>
            </a:defPPr>
          </a:lstStyle>
          <a:p xmlns:a="http://schemas.openxmlformats.org/drawingml/2006/main">
            <a:pPr>
              <a:defRPr sz="1725" b="0">
                <a:solidFill>
                  <a:srgbClr val="586875"/>
                </a:solidFill>
                <a:latin typeface="Apple SD Gothic Neo"/>
                <a:ea typeface="Apple SD Gothic Neo"/>
                <a:cs typeface="Apple SD Gothic Neo"/>
              </a:defRPr>
            </a:pPr>
            <a:r>
              <a:rPr sz="1725" b="0">
                <a:solidFill>
                  <a:srgbClr val="586875"/>
                </a:solidFill>
                <a:latin typeface="Apple SD Gothic Neo"/>
                <a:ea typeface="Apple SD Gothic Neo"/>
                <a:cs typeface="Apple SD Gothic Neo"/>
              </a:rPr>
              <a:t>변경 항목은 정적 L2P 배치뿐입니다. Channel 및 페이지 내 offset 규칙은 유지했습니다.</a:t>
            </a:r>
          </a:p>
        </p:txBody>
      </p:sp>
    </p:spTree>
    <p:extLst>
      <p:ext uri="{BB962C8B-B14F-4D97-AF65-F5344CB8AC3E}">
        <p14:creationId xmlns:p14="http://schemas.microsoft.com/office/powerpoint/2010/main" val="2138549421"/>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itle">
            <a:extLst xmlns:a="http://schemas.openxmlformats.org/drawingml/2006/main">
              <a:ext uri="{FF2B5EF4-FFF2-40B4-BE49-F238E27FC236}">
                <a16:creationId xmlns:a16="http://schemas.microsoft.com/office/drawing/2014/main" id="{4823A538-3960-49AC-A871-7FADB2C5E2CA}"/>
              </a:ext>
            </a:extLst>
          </p:cNvPr>
          <p:cNvSpPr>
            <a:spLocks xmlns:a="http://schemas.openxmlformats.org/drawingml/2006/main" noGrp="1"/>
          </p:cNvSpPr>
          <p:nvPr/>
        </p:nvSpPr>
        <p:spPr>
          <a:xfrm xmlns:a="http://schemas.openxmlformats.org/drawingml/2006/main">
            <a:off x="533400" y="438150"/>
            <a:ext cx="11125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2738"/>
                </a:solidFill>
                <a:latin typeface="Apple SD Gothic Neo"/>
                <a:ea typeface="Apple SD Gothic Neo"/>
                <a:cs typeface="Apple SD Gothic Neo"/>
              </a:defRPr>
            </a:defPPr>
          </a:lstStyle>
          <a:p xmlns:a="http://schemas.openxmlformats.org/drawingml/2006/main">
            <a:pPr>
              <a:defRPr sz="3300" b="1">
                <a:solidFill>
                  <a:srgbClr val="172738"/>
                </a:solidFill>
                <a:latin typeface="Apple SD Gothic Neo"/>
                <a:ea typeface="Apple SD Gothic Neo"/>
                <a:cs typeface="Apple SD Gothic Neo"/>
              </a:defRPr>
            </a:pPr>
            <a:r>
              <a:rPr sz="3300" b="1">
                <a:solidFill>
                  <a:srgbClr val="172738"/>
                </a:solidFill>
                <a:latin typeface="Apple SD Gothic Neo"/>
                <a:ea typeface="Apple SD Gothic Neo"/>
                <a:cs typeface="Apple SD Gothic Neo"/>
              </a:rPr>
              <a:t>CA 우회를 꺼도 최고 성능 유지</a:t>
            </a:r>
          </a:p>
        </p:txBody>
      </p:sp>
      <p:sp>
        <p:nvSpPr>
          <p:cNvPr id="2" name="subtitle">
            <a:extLst xmlns:a="http://schemas.openxmlformats.org/drawingml/2006/main">
              <a:ext uri="{FF2B5EF4-FFF2-40B4-BE49-F238E27FC236}">
                <a16:creationId xmlns:a16="http://schemas.microsoft.com/office/drawing/2014/main" id="{1C8CC2A8-F963-4721-8E9E-887604586C45}"/>
              </a:ext>
            </a:extLst>
          </p:cNvPr>
          <p:cNvSpPr>
            <a:spLocks xmlns:a="http://schemas.openxmlformats.org/drawingml/2006/main" noGrp="1"/>
          </p:cNvSpPr>
          <p:nvPr/>
        </p:nvSpPr>
        <p:spPr>
          <a:xfrm xmlns:a="http://schemas.openxmlformats.org/drawingml/2006/main">
            <a:off x="552450" y="1104900"/>
            <a:ext cx="110871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586875"/>
                </a:solidFill>
                <a:latin typeface="Apple SD Gothic Neo"/>
                <a:ea typeface="Apple SD Gothic Neo"/>
                <a:cs typeface="Apple SD Gothic Neo"/>
              </a:defRPr>
            </a:defPPr>
          </a:lstStyle>
          <a:p xmlns:a="http://schemas.openxmlformats.org/drawingml/2006/main">
            <a:pPr>
              <a:defRPr sz="1800" b="0">
                <a:solidFill>
                  <a:srgbClr val="586875"/>
                </a:solidFill>
                <a:latin typeface="Apple SD Gothic Neo"/>
                <a:ea typeface="Apple SD Gothic Neo"/>
                <a:cs typeface="Apple SD Gothic Neo"/>
              </a:defRPr>
            </a:pPr>
            <a:r>
              <a:rPr sz="1800" b="0">
                <a:solidFill>
                  <a:srgbClr val="586875"/>
                </a:solidFill>
                <a:latin typeface="Apple SD Gothic Neo"/>
                <a:ea typeface="Apple SD Gothic Neo"/>
                <a:cs typeface="Apple SD Gothic Neo"/>
              </a:rPr>
              <a:t>기존 우회32 설정과 FIFO를 비교했습니다. 다른 장치 조건은 모두 같습니다.</a:t>
            </a:r>
          </a:p>
        </p:txBody>
      </p:sp>
      <p:sp>
        <p:nvSpPr>
          <p:cNvPr id="3" name="footer">
            <a:extLst xmlns:a="http://schemas.openxmlformats.org/drawingml/2006/main">
              <a:ext uri="{FF2B5EF4-FFF2-40B4-BE49-F238E27FC236}">
                <a16:creationId xmlns:a16="http://schemas.microsoft.com/office/drawing/2014/main" id="{DD7FB23C-C4AF-4594-82EB-97AC002C2926}"/>
              </a:ext>
            </a:extLst>
          </p:cNvPr>
          <p:cNvSpPr>
            <a:spLocks xmlns:a="http://schemas.openxmlformats.org/drawingml/2006/main" noGrp="1"/>
          </p:cNvSpPr>
          <p:nvPr/>
        </p:nvSpPr>
        <p:spPr>
          <a:xfrm xmlns:a="http://schemas.openxmlformats.org/drawingml/2006/main">
            <a:off x="533400" y="6419850"/>
            <a:ext cx="10477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86875"/>
                </a:solidFill>
                <a:latin typeface="Apple SD Gothic Neo"/>
                <a:ea typeface="Apple SD Gothic Neo"/>
                <a:cs typeface="Apple SD Gothic Neo"/>
              </a:defRPr>
            </a:defPPr>
          </a:lstStyle>
          <a:p xmlns:a="http://schemas.openxmlformats.org/drawingml/2006/main">
            <a:pPr>
              <a:defRPr sz="1200" b="0">
                <a:solidFill>
                  <a:srgbClr val="586875"/>
                </a:solidFill>
                <a:latin typeface="Apple SD Gothic Neo"/>
                <a:ea typeface="Apple SD Gothic Neo"/>
                <a:cs typeface="Apple SD Gothic Neo"/>
              </a:defRPr>
            </a:pPr>
            <a:r>
              <a:rPr sz="1200" b="0">
                <a:solidFill>
                  <a:srgbClr val="586875"/>
                </a:solidFill>
                <a:latin typeface="Apple SD Gothic Neo"/>
                <a:ea typeface="Apple SD Gothic Neo"/>
                <a:cs typeface="Apple SD Gothic Neo"/>
              </a:rPr>
              <a:t>64 Plane, 8MiB, PF OFF. A1/A2 QD512, B QD32,768/Port</a:t>
            </a:r>
          </a:p>
        </p:txBody>
      </p:sp>
      <p:sp>
        <p:nvSpPr>
          <p:cNvPr id="4" name="page">
            <a:extLst xmlns:a="http://schemas.openxmlformats.org/drawingml/2006/main">
              <a:ext uri="{FF2B5EF4-FFF2-40B4-BE49-F238E27FC236}">
                <a16:creationId xmlns:a16="http://schemas.microsoft.com/office/drawing/2014/main" id="{71A1D020-7D2D-4887-B4D3-7690E5A9F3DA}"/>
              </a:ext>
            </a:extLst>
          </p:cNvPr>
          <p:cNvSpPr>
            <a:spLocks xmlns:a="http://schemas.openxmlformats.org/drawingml/2006/main" noGrp="1"/>
          </p:cNvSpPr>
          <p:nvPr/>
        </p:nvSpPr>
        <p:spPr>
          <a:xfrm xmlns:a="http://schemas.openxmlformats.org/drawingml/2006/main">
            <a:off x="11144250" y="6419850"/>
            <a:ext cx="4953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86875"/>
                </a:solidFill>
                <a:latin typeface="Apple SD Gothic Neo"/>
                <a:ea typeface="Apple SD Gothic Neo"/>
                <a:cs typeface="Apple SD Gothic Neo"/>
              </a:defRPr>
            </a:defPPr>
          </a:lstStyle>
          <a:p xmlns:a="http://schemas.openxmlformats.org/drawingml/2006/main">
            <a:pPr>
              <a:defRPr sz="1200" b="0">
                <a:solidFill>
                  <a:srgbClr val="586875"/>
                </a:solidFill>
                <a:latin typeface="Apple SD Gothic Neo"/>
                <a:ea typeface="Apple SD Gothic Neo"/>
                <a:cs typeface="Apple SD Gothic Neo"/>
              </a:defRPr>
            </a:pPr>
            <a:r>
              <a:rPr sz="1200" b="0">
                <a:solidFill>
                  <a:srgbClr val="586875"/>
                </a:solidFill>
                <a:latin typeface="Apple SD Gothic Neo"/>
                <a:ea typeface="Apple SD Gothic Neo"/>
                <a:cs typeface="Apple SD Gothic Neo"/>
              </a:rPr>
              <a:t>07</a:t>
            </a:r>
          </a:p>
        </p:txBody>
      </p:sp>
      <p:graphicFrame>
        <p:nvGraphicFramePr>
          <p:cNvPr id="5" name="bypass-ablation">
            <a:extLst xmlns:a="http://schemas.openxmlformats.org/drawingml/2006/main">
              <a:ext uri="{FF2B5EF4-FFF2-40B4-BE49-F238E27FC236}">
                <a16:creationId xmlns:a16="http://schemas.microsoft.com/office/drawing/2014/main" id="{78FBEBCF-C95E-4ABB-81D4-B07DB335CD84}"/>
              </a:ext>
            </a:extLst>
          </p:cNvPr>
          <p:cNvGraphicFramePr/>
          <p:nvPr/>
        </p:nvGraphicFramePr>
        <p:xfrm>
          <a:off xmlns:a="http://schemas.openxmlformats.org/drawingml/2006/main" x="533400" y="1876425"/>
          <a:ext xmlns:a="http://schemas.openxmlformats.org/drawingml/2006/main" cx="11125200" cy="2667000"/>
        </p:xfrm>
        <a:graphic xmlns:a="http://schemas.openxmlformats.org/drawingml/2006/main">
          <a:graphicData uri="http://schemas.openxmlformats.org/drawingml/2006/table">
            <a:tbl>
              <a:tblPr/>
              <a:tblGrid>
                <a:gridCol w="3333750"/>
                <a:gridCol w="2905125"/>
                <a:gridCol w="2905125"/>
                <a:gridCol w="1981200"/>
              </a:tblGrid>
              <a:tr h="666750">
                <a:tc>
                  <a:txBody>
                    <a:bodyPr lIns="95250" tIns="95250" rIns="95250" bIns="95250"/>
                    <a:lstStyle/>
                    <a:p>
                      <a:r>
                        <a:rPr sz="1875" b="1">
                          <a:solidFill>
                            <a:srgbClr val="FFFFFF"/>
                          </a:solidFill>
                          <a:latin typeface="Apple SD Gothic Neo"/>
                          <a:ea typeface="Apple SD Gothic Neo"/>
                          <a:cs typeface="Apple SD Gothic Neo"/>
                        </a:rPr>
                        <a:t>워크로드</a:t>
                      </a:r>
                    </a:p>
                  </a:txBody>
                  <a:tcPr marL="114300" marR="114300" marT="76200" marB="76200" anchor="ctr">
                    <a:solidFill>
                      <a:srgbClr val="122C40"/>
                    </a:solidFill>
                  </a:tcPr>
                </a:tc>
                <a:tc>
                  <a:txBody>
                    <a:bodyPr lIns="95250" tIns="95250" rIns="95250" bIns="95250"/>
                    <a:lstStyle/>
                    <a:p>
                      <a:r>
                        <a:rPr sz="1875" b="1">
                          <a:solidFill>
                            <a:srgbClr val="FFFFFF"/>
                          </a:solidFill>
                          <a:latin typeface="Apple SD Gothic Neo"/>
                          <a:ea typeface="Apple SD Gothic Neo"/>
                          <a:cs typeface="Apple SD Gothic Neo"/>
                        </a:rPr>
                        <a:t>기존 우회32 (GB/s)</a:t>
                      </a:r>
                    </a:p>
                  </a:txBody>
                  <a:tcPr marL="114300" marR="114300" marT="76200" marB="76200" anchor="ctr">
                    <a:solidFill>
                      <a:srgbClr val="122C40"/>
                    </a:solidFill>
                  </a:tcPr>
                </a:tc>
                <a:tc>
                  <a:txBody>
                    <a:bodyPr lIns="95250" tIns="95250" rIns="95250" bIns="95250"/>
                    <a:lstStyle/>
                    <a:p>
                      <a:r>
                        <a:rPr sz="1875" b="1">
                          <a:solidFill>
                            <a:srgbClr val="FFFFFF"/>
                          </a:solidFill>
                          <a:latin typeface="Apple SD Gothic Neo"/>
                          <a:ea typeface="Apple SD Gothic Neo"/>
                          <a:cs typeface="Apple SD Gothic Neo"/>
                        </a:rPr>
                        <a:t>FIFO (GB/s)</a:t>
                      </a:r>
                    </a:p>
                  </a:txBody>
                  <a:tcPr marL="114300" marR="114300" marT="76200" marB="76200" anchor="ctr">
                    <a:solidFill>
                      <a:srgbClr val="122C40"/>
                    </a:solidFill>
                  </a:tcPr>
                </a:tc>
                <a:tc>
                  <a:txBody>
                    <a:bodyPr lIns="95250" tIns="95250" rIns="95250" bIns="95250"/>
                    <a:lstStyle/>
                    <a:p>
                      <a:r>
                        <a:rPr sz="1875" b="1">
                          <a:solidFill>
                            <a:srgbClr val="FFFFFF"/>
                          </a:solidFill>
                          <a:latin typeface="Apple SD Gothic Neo"/>
                          <a:ea typeface="Apple SD Gothic Neo"/>
                          <a:cs typeface="Apple SD Gothic Neo"/>
                        </a:rPr>
                        <a:t>변화</a:t>
                      </a:r>
                    </a:p>
                  </a:txBody>
                  <a:tcPr marL="114300" marR="114300" marT="76200" marB="76200" anchor="ctr">
                    <a:solidFill>
                      <a:srgbClr val="122C40"/>
                    </a:solidFill>
                  </a:tcPr>
                </a:tc>
              </a:tr>
              <a:tr h="666750">
                <a:tc>
                  <a:txBody>
                    <a:bodyPr lIns="95250" tIns="95250" rIns="95250" bIns="95250"/>
                    <a:lstStyle/>
                    <a:p>
                      <a:r>
                        <a:rPr sz="1875" b="0">
                          <a:solidFill>
                            <a:srgbClr val="172738"/>
                          </a:solidFill>
                          <a:latin typeface="Apple SD Gothic Neo"/>
                          <a:ea typeface="Apple SD Gothic Neo"/>
                          <a:cs typeface="Apple SD Gothic Neo"/>
                        </a:rPr>
                        <a:t>A1</a:t>
                      </a:r>
                    </a:p>
                  </a:txBody>
                  <a:tcPr marL="114300" marR="114300" marT="76200" marB="76200" anchor="ctr">
                    <a:solidFill>
                      <a:srgbClr val="FFFFFF"/>
                    </a:solidFill>
                  </a:tcPr>
                </a:tc>
                <a:tc>
                  <a:txBody>
                    <a:bodyPr lIns="95250" tIns="95250" rIns="95250" bIns="95250"/>
                    <a:lstStyle/>
                    <a:p>
                      <a:r>
                        <a:rPr sz="1875" b="0">
                          <a:solidFill>
                            <a:srgbClr val="172738"/>
                          </a:solidFill>
                          <a:latin typeface="Apple SD Gothic Neo"/>
                          <a:ea typeface="Apple SD Gothic Neo"/>
                          <a:cs typeface="Apple SD Gothic Neo"/>
                        </a:rPr>
                        <a:t>255.366</a:t>
                      </a:r>
                    </a:p>
                  </a:txBody>
                  <a:tcPr marL="114300" marR="114300" marT="76200" marB="76200" anchor="ctr">
                    <a:solidFill>
                      <a:srgbClr val="FFFFFF"/>
                    </a:solidFill>
                  </a:tcPr>
                </a:tc>
                <a:tc>
                  <a:txBody>
                    <a:bodyPr lIns="95250" tIns="95250" rIns="95250" bIns="95250"/>
                    <a:lstStyle/>
                    <a:p>
                      <a:r>
                        <a:rPr sz="1875" b="0">
                          <a:solidFill>
                            <a:srgbClr val="172738"/>
                          </a:solidFill>
                          <a:latin typeface="Apple SD Gothic Neo"/>
                          <a:ea typeface="Apple SD Gothic Neo"/>
                          <a:cs typeface="Apple SD Gothic Neo"/>
                        </a:rPr>
                        <a:t>255.366</a:t>
                      </a:r>
                    </a:p>
                  </a:txBody>
                  <a:tcPr marL="114300" marR="114300" marT="76200" marB="76200" anchor="ctr">
                    <a:solidFill>
                      <a:srgbClr val="FFFFFF"/>
                    </a:solidFill>
                  </a:tcPr>
                </a:tc>
                <a:tc>
                  <a:txBody>
                    <a:bodyPr lIns="95250" tIns="95250" rIns="95250" bIns="95250"/>
                    <a:lstStyle/>
                    <a:p>
                      <a:r>
                        <a:rPr sz="1875" b="0">
                          <a:solidFill>
                            <a:srgbClr val="172738"/>
                          </a:solidFill>
                          <a:latin typeface="Apple SD Gothic Neo"/>
                          <a:ea typeface="Apple SD Gothic Neo"/>
                          <a:cs typeface="Apple SD Gothic Neo"/>
                        </a:rPr>
                        <a:t>0.000%</a:t>
                      </a:r>
                    </a:p>
                  </a:txBody>
                  <a:tcPr marL="114300" marR="114300" marT="76200" marB="76200" anchor="ctr">
                    <a:solidFill>
                      <a:srgbClr val="FFFFFF"/>
                    </a:solidFill>
                  </a:tcPr>
                </a:tc>
              </a:tr>
              <a:tr h="666750">
                <a:tc>
                  <a:txBody>
                    <a:bodyPr lIns="95250" tIns="95250" rIns="95250" bIns="95250"/>
                    <a:lstStyle/>
                    <a:p>
                      <a:r>
                        <a:rPr sz="1875" b="0">
                          <a:solidFill>
                            <a:srgbClr val="172738"/>
                          </a:solidFill>
                          <a:latin typeface="Apple SD Gothic Neo"/>
                          <a:ea typeface="Apple SD Gothic Neo"/>
                          <a:cs typeface="Apple SD Gothic Neo"/>
                        </a:rPr>
                        <a:t>A2</a:t>
                      </a:r>
                    </a:p>
                  </a:txBody>
                  <a:tcPr marL="114300" marR="114300" marT="76200" marB="76200" anchor="ctr">
                    <a:solidFill>
                      <a:srgbClr val="F1F5F8"/>
                    </a:solidFill>
                  </a:tcPr>
                </a:tc>
                <a:tc>
                  <a:txBody>
                    <a:bodyPr lIns="95250" tIns="95250" rIns="95250" bIns="95250"/>
                    <a:lstStyle/>
                    <a:p>
                      <a:r>
                        <a:rPr sz="1875" b="0">
                          <a:solidFill>
                            <a:srgbClr val="172738"/>
                          </a:solidFill>
                          <a:latin typeface="Apple SD Gothic Neo"/>
                          <a:ea typeface="Apple SD Gothic Neo"/>
                          <a:cs typeface="Apple SD Gothic Neo"/>
                        </a:rPr>
                        <a:t>255.058</a:t>
                      </a:r>
                    </a:p>
                  </a:txBody>
                  <a:tcPr marL="114300" marR="114300" marT="76200" marB="76200" anchor="ctr">
                    <a:solidFill>
                      <a:srgbClr val="F1F5F8"/>
                    </a:solidFill>
                  </a:tcPr>
                </a:tc>
                <a:tc>
                  <a:txBody>
                    <a:bodyPr lIns="95250" tIns="95250" rIns="95250" bIns="95250"/>
                    <a:lstStyle/>
                    <a:p>
                      <a:r>
                        <a:rPr sz="1875" b="0">
                          <a:solidFill>
                            <a:srgbClr val="172738"/>
                          </a:solidFill>
                          <a:latin typeface="Apple SD Gothic Neo"/>
                          <a:ea typeface="Apple SD Gothic Neo"/>
                          <a:cs typeface="Apple SD Gothic Neo"/>
                        </a:rPr>
                        <a:t>255.058</a:t>
                      </a:r>
                    </a:p>
                  </a:txBody>
                  <a:tcPr marL="114300" marR="114300" marT="76200" marB="76200" anchor="ctr">
                    <a:solidFill>
                      <a:srgbClr val="F1F5F8"/>
                    </a:solidFill>
                  </a:tcPr>
                </a:tc>
                <a:tc>
                  <a:txBody>
                    <a:bodyPr lIns="95250" tIns="95250" rIns="95250" bIns="95250"/>
                    <a:lstStyle/>
                    <a:p>
                      <a:r>
                        <a:rPr sz="1875" b="0">
                          <a:solidFill>
                            <a:srgbClr val="172738"/>
                          </a:solidFill>
                          <a:latin typeface="Apple SD Gothic Neo"/>
                          <a:ea typeface="Apple SD Gothic Neo"/>
                          <a:cs typeface="Apple SD Gothic Neo"/>
                        </a:rPr>
                        <a:t>0.000%</a:t>
                      </a:r>
                    </a:p>
                  </a:txBody>
                  <a:tcPr marL="114300" marR="114300" marT="76200" marB="76200" anchor="ctr">
                    <a:solidFill>
                      <a:srgbClr val="F1F5F8"/>
                    </a:solidFill>
                  </a:tcPr>
                </a:tc>
              </a:tr>
              <a:tr h="666750">
                <a:tc>
                  <a:txBody>
                    <a:bodyPr lIns="95250" tIns="95250" rIns="95250" bIns="95250"/>
                    <a:lstStyle/>
                    <a:p>
                      <a:r>
                        <a:rPr sz="1875" b="0">
                          <a:solidFill>
                            <a:srgbClr val="172738"/>
                          </a:solidFill>
                          <a:latin typeface="Apple SD Gothic Neo"/>
                          <a:ea typeface="Apple SD Gothic Neo"/>
                          <a:cs typeface="Apple SD Gothic Neo"/>
                        </a:rPr>
                        <a:t>B: 64B 페이지 전체 읽기</a:t>
                      </a:r>
                    </a:p>
                  </a:txBody>
                  <a:tcPr marL="114300" marR="114300" marT="76200" marB="76200" anchor="ctr">
                    <a:solidFill>
                      <a:srgbClr val="FFFFFF"/>
                    </a:solidFill>
                  </a:tcPr>
                </a:tc>
                <a:tc>
                  <a:txBody>
                    <a:bodyPr lIns="95250" tIns="95250" rIns="95250" bIns="95250"/>
                    <a:lstStyle/>
                    <a:p>
                      <a:r>
                        <a:rPr sz="1875" b="0">
                          <a:solidFill>
                            <a:srgbClr val="172738"/>
                          </a:solidFill>
                          <a:latin typeface="Apple SD Gothic Neo"/>
                          <a:ea typeface="Apple SD Gothic Neo"/>
                          <a:cs typeface="Apple SD Gothic Neo"/>
                        </a:rPr>
                        <a:t>255.335</a:t>
                      </a:r>
                    </a:p>
                  </a:txBody>
                  <a:tcPr marL="114300" marR="114300" marT="76200" marB="76200" anchor="ctr">
                    <a:solidFill>
                      <a:srgbClr val="FFFFFF"/>
                    </a:solidFill>
                  </a:tcPr>
                </a:tc>
                <a:tc>
                  <a:txBody>
                    <a:bodyPr lIns="95250" tIns="95250" rIns="95250" bIns="95250"/>
                    <a:lstStyle/>
                    <a:p>
                      <a:r>
                        <a:rPr sz="1875" b="0">
                          <a:solidFill>
                            <a:srgbClr val="172738"/>
                          </a:solidFill>
                          <a:latin typeface="Apple SD Gothic Neo"/>
                          <a:ea typeface="Apple SD Gothic Neo"/>
                          <a:cs typeface="Apple SD Gothic Neo"/>
                        </a:rPr>
                        <a:t>255.335</a:t>
                      </a:r>
                    </a:p>
                  </a:txBody>
                  <a:tcPr marL="114300" marR="114300" marT="76200" marB="76200" anchor="ctr">
                    <a:solidFill>
                      <a:srgbClr val="FFFFFF"/>
                    </a:solidFill>
                  </a:tcPr>
                </a:tc>
                <a:tc>
                  <a:txBody>
                    <a:bodyPr lIns="95250" tIns="95250" rIns="95250" bIns="95250"/>
                    <a:lstStyle/>
                    <a:p>
                      <a:r>
                        <a:rPr sz="1875" b="0">
                          <a:solidFill>
                            <a:srgbClr val="172738"/>
                          </a:solidFill>
                          <a:latin typeface="Apple SD Gothic Neo"/>
                          <a:ea typeface="Apple SD Gothic Neo"/>
                          <a:cs typeface="Apple SD Gothic Neo"/>
                        </a:rPr>
                        <a:t>0.000%</a:t>
                      </a:r>
                    </a:p>
                  </a:txBody>
                  <a:tcPr marL="114300" marR="114300" marT="76200" marB="76200" anchor="ctr">
                    <a:solidFill>
                      <a:srgbClr val="FFFFFF"/>
                    </a:solidFill>
                  </a:tcPr>
                </a:tc>
              </a:tr>
            </a:tbl>
          </a:graphicData>
        </a:graphic>
      </p:graphicFrame>
      <p:sp>
        <p:nvSpPr>
          <p:cNvPr id="6" name="zero-bypass">
            <a:extLst xmlns:a="http://schemas.openxmlformats.org/drawingml/2006/main">
              <a:ext uri="{FF2B5EF4-FFF2-40B4-BE49-F238E27FC236}">
                <a16:creationId xmlns:a16="http://schemas.microsoft.com/office/drawing/2014/main" id="{62826399-2E8D-4E3C-A990-9E13A92F68D3}"/>
              </a:ext>
            </a:extLst>
          </p:cNvPr>
          <p:cNvSpPr>
            <a:spLocks xmlns:a="http://schemas.openxmlformats.org/drawingml/2006/main" noGrp="1"/>
          </p:cNvSpPr>
          <p:nvPr/>
        </p:nvSpPr>
        <p:spPr>
          <a:xfrm xmlns:a="http://schemas.openxmlformats.org/drawingml/2006/main">
            <a:off x="571500" y="4924425"/>
            <a:ext cx="11049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126DCA"/>
                </a:solidFill>
                <a:latin typeface="Apple SD Gothic Neo"/>
                <a:ea typeface="Apple SD Gothic Neo"/>
                <a:cs typeface="Apple SD Gothic Neo"/>
              </a:defRPr>
            </a:defPPr>
          </a:lstStyle>
          <a:p xmlns:a="http://schemas.openxmlformats.org/drawingml/2006/main">
            <a:pPr>
              <a:defRPr sz="2250" b="1">
                <a:solidFill>
                  <a:srgbClr val="126DCA"/>
                </a:solidFill>
                <a:latin typeface="Apple SD Gothic Neo"/>
                <a:ea typeface="Apple SD Gothic Neo"/>
                <a:cs typeface="Apple SD Gothic Neo"/>
              </a:defRPr>
            </a:pPr>
            <a:r>
              <a:rPr sz="2250" b="1">
                <a:solidFill>
                  <a:srgbClr val="126DCA"/>
                </a:solidFill>
                <a:latin typeface="Apple SD Gothic Neo"/>
                <a:ea typeface="Apple SD Gothic Neo"/>
                <a:cs typeface="Apple SD Gothic Neo"/>
              </a:rPr>
              <a:t>기존 설정에서도 세 조건 모두 실제 우회는 0회였습니다.</a:t>
            </a:r>
          </a:p>
        </p:txBody>
      </p:sp>
      <p:sp>
        <p:nvSpPr>
          <p:cNvPr id="7" name="equality">
            <a:extLst xmlns:a="http://schemas.openxmlformats.org/drawingml/2006/main">
              <a:ext uri="{FF2B5EF4-FFF2-40B4-BE49-F238E27FC236}">
                <a16:creationId xmlns:a16="http://schemas.microsoft.com/office/drawing/2014/main" id="{2A48505F-1BE0-4965-8B41-E5082EE947B7}"/>
              </a:ext>
            </a:extLst>
          </p:cNvPr>
          <p:cNvSpPr>
            <a:spLocks xmlns:a="http://schemas.openxmlformats.org/drawingml/2006/main" noGrp="1"/>
          </p:cNvSpPr>
          <p:nvPr/>
        </p:nvSpPr>
        <p:spPr>
          <a:xfrm xmlns:a="http://schemas.openxmlformats.org/drawingml/2006/main">
            <a:off x="571500" y="5514975"/>
            <a:ext cx="110490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172738"/>
                </a:solidFill>
                <a:latin typeface="Apple SD Gothic Neo"/>
                <a:ea typeface="Apple SD Gothic Neo"/>
                <a:cs typeface="Apple SD Gothic Neo"/>
              </a:defRPr>
            </a:defPPr>
          </a:lstStyle>
          <a:p xmlns:a="http://schemas.openxmlformats.org/drawingml/2006/main">
            <a:pPr>
              <a:defRPr sz="1875" b="0">
                <a:solidFill>
                  <a:srgbClr val="172738"/>
                </a:solidFill>
                <a:latin typeface="Apple SD Gothic Neo"/>
                <a:ea typeface="Apple SD Gothic Neo"/>
                <a:cs typeface="Apple SD Gothic Neo"/>
              </a:defRPr>
            </a:pPr>
            <a:r>
              <a:rPr sz="1875" b="0">
                <a:solidFill>
                  <a:srgbClr val="172738"/>
                </a:solidFill>
                <a:latin typeface="Apple SD Gothic Neo"/>
                <a:ea typeface="Apple SD Gothic Neo"/>
                <a:cs typeface="Apple SD Gothic Neo"/>
              </a:rPr>
              <a:t>시간대별 처리량과 완료 요청의 평균·p99 지연도 같았습니다.</a:t>
            </a:r>
          </a:p>
          <a:p xmlns:a="http://schemas.openxmlformats.org/drawingml/2006/main">
            <a:pPr>
              <a:defRPr sz="1875" b="0">
                <a:solidFill>
                  <a:srgbClr val="172738"/>
                </a:solidFill>
                <a:latin typeface="Apple SD Gothic Neo"/>
                <a:ea typeface="Apple SD Gothic Neo"/>
                <a:cs typeface="Apple SD Gothic Neo"/>
              </a:defRPr>
            </a:pPr>
            <a:r>
              <a:rPr sz="1875" b="0">
                <a:solidFill>
                  <a:srgbClr val="172738"/>
                </a:solidFill>
                <a:latin typeface="Apple SD Gothic Neo"/>
                <a:ea typeface="Apple SD Gothic Neo"/>
                <a:cs typeface="Apple SD Gothic Neo"/>
              </a:rPr>
              <a:t>이 결론은 현재의 개선된 배치와 워크로드에 적용합니다.</a:t>
            </a:r>
          </a:p>
        </p:txBody>
      </p:sp>
    </p:spTree>
    <p:extLst>
      <p:ext uri="{BB962C8B-B14F-4D97-AF65-F5344CB8AC3E}">
        <p14:creationId xmlns:p14="http://schemas.microsoft.com/office/powerpoint/2010/main" val="1714267672"/>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itle">
            <a:extLst xmlns:a="http://schemas.openxmlformats.org/drawingml/2006/main">
              <a:ext uri="{FF2B5EF4-FFF2-40B4-BE49-F238E27FC236}">
                <a16:creationId xmlns:a16="http://schemas.microsoft.com/office/drawing/2014/main" id="{6DE5C3F3-3DE2-447C-B7B2-87C3E358AAA4}"/>
              </a:ext>
            </a:extLst>
          </p:cNvPr>
          <p:cNvSpPr>
            <a:spLocks xmlns:a="http://schemas.openxmlformats.org/drawingml/2006/main" noGrp="1"/>
          </p:cNvSpPr>
          <p:nvPr/>
        </p:nvSpPr>
        <p:spPr>
          <a:xfrm xmlns:a="http://schemas.openxmlformats.org/drawingml/2006/main">
            <a:off x="533400" y="438150"/>
            <a:ext cx="11125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2738"/>
                </a:solidFill>
                <a:latin typeface="Apple SD Gothic Neo"/>
                <a:ea typeface="Apple SD Gothic Neo"/>
                <a:cs typeface="Apple SD Gothic Neo"/>
              </a:defRPr>
            </a:defPPr>
          </a:lstStyle>
          <a:p xmlns:a="http://schemas.openxmlformats.org/drawingml/2006/main">
            <a:pPr>
              <a:buNone/>
              <a:defRPr sz="3300" b="1">
                <a:solidFill>
                  <a:srgbClr val="172738"/>
                </a:solidFill>
                <a:latin typeface="Apple SD Gothic Neo"/>
                <a:ea typeface="Apple SD Gothic Neo"/>
                <a:cs typeface="Apple SD Gothic Neo"/>
              </a:defRPr>
            </a:pPr>
            <a:r>
              <a:rPr sz="3300" b="1">
                <a:solidFill>
                  <a:srgbClr val="172738"/>
                </a:solidFill>
                <a:latin typeface="Apple SD Gothic Neo"/>
                <a:ea typeface="Apple SD Gothic Neo"/>
                <a:cs typeface="Apple SD Gothic Neo"/>
              </a:rPr>
              <a:t>데이터 배치가 Long tR를 줄이는 원리</a:t>
            </a:r>
          </a:p>
        </p:txBody>
      </p:sp>
      <p:sp>
        <p:nvSpPr>
          <p:cNvPr id="2" name="subtitle">
            <a:extLst xmlns:a="http://schemas.openxmlformats.org/drawingml/2006/main">
              <a:ext uri="{FF2B5EF4-FFF2-40B4-BE49-F238E27FC236}">
                <a16:creationId xmlns:a16="http://schemas.microsoft.com/office/drawing/2014/main" id="{1AD61FDD-E354-454D-B2DC-B537BA66638A}"/>
              </a:ext>
            </a:extLst>
          </p:cNvPr>
          <p:cNvSpPr>
            <a:spLocks xmlns:a="http://schemas.openxmlformats.org/drawingml/2006/main" noGrp="1"/>
          </p:cNvSpPr>
          <p:nvPr/>
        </p:nvSpPr>
        <p:spPr>
          <a:xfrm xmlns:a="http://schemas.openxmlformats.org/drawingml/2006/main">
            <a:off x="552450" y="1104900"/>
            <a:ext cx="110871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586875"/>
                </a:solidFill>
                <a:latin typeface="Apple SD Gothic Neo"/>
                <a:ea typeface="Apple SD Gothic Neo"/>
                <a:cs typeface="Apple SD Gothic Neo"/>
              </a:defRPr>
            </a:defPPr>
          </a:lstStyle>
          <a:p xmlns:a="http://schemas.openxmlformats.org/drawingml/2006/main">
            <a:pPr>
              <a:buNone/>
              <a:defRPr sz="1800" b="0">
                <a:solidFill>
                  <a:srgbClr val="586875"/>
                </a:solidFill>
                <a:latin typeface="Apple SD Gothic Neo"/>
                <a:ea typeface="Apple SD Gothic Neo"/>
                <a:cs typeface="Apple SD Gothic Neo"/>
              </a:defRPr>
            </a:pPr>
            <a:r>
              <a:rPr sz="1800" b="0">
                <a:solidFill>
                  <a:srgbClr val="586875"/>
                </a:solidFill>
                <a:latin typeface="Apple SD Gothic Neo"/>
                <a:ea typeface="Apple SD Gothic Neo"/>
                <a:cs typeface="Apple SD Gothic Neo"/>
              </a:rPr>
              <a:t>각 논리 영역은 4채널을 모두 쓰되, 채널 안에서 서로 다른 Plane 묶음을 사용합니다.</a:t>
            </a:r>
          </a:p>
        </p:txBody>
      </p:sp>
      <p:sp>
        <p:nvSpPr>
          <p:cNvPr id="3" name="footer">
            <a:extLst xmlns:a="http://schemas.openxmlformats.org/drawingml/2006/main">
              <a:ext uri="{FF2B5EF4-FFF2-40B4-BE49-F238E27FC236}">
                <a16:creationId xmlns:a16="http://schemas.microsoft.com/office/drawing/2014/main" id="{2F380B73-1850-4AE4-A66E-815965249173}"/>
              </a:ext>
            </a:extLst>
          </p:cNvPr>
          <p:cNvSpPr>
            <a:spLocks xmlns:a="http://schemas.openxmlformats.org/drawingml/2006/main" noGrp="1"/>
          </p:cNvSpPr>
          <p:nvPr/>
        </p:nvSpPr>
        <p:spPr>
          <a:xfrm xmlns:a="http://schemas.openxmlformats.org/drawingml/2006/main">
            <a:off x="533400" y="6419850"/>
            <a:ext cx="10477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86875"/>
                </a:solidFill>
                <a:latin typeface="Apple SD Gothic Neo"/>
                <a:ea typeface="Apple SD Gothic Neo"/>
                <a:cs typeface="Apple SD Gothic Neo"/>
              </a:defRPr>
            </a:defPPr>
          </a:lstStyle>
          <a:p xmlns:a="http://schemas.openxmlformats.org/drawingml/2006/main">
            <a:pPr>
              <a:buNone/>
              <a:defRPr sz="1200" b="0">
                <a:solidFill>
                  <a:srgbClr val="586875"/>
                </a:solidFill>
                <a:latin typeface="Apple SD Gothic Neo"/>
                <a:ea typeface="Apple SD Gothic Neo"/>
                <a:cs typeface="Apple SD Gothic Neo"/>
              </a:defRPr>
            </a:pPr>
            <a:r>
              <a:rPr sz="1200" b="0">
                <a:solidFill>
                  <a:srgbClr val="586875"/>
                </a:solidFill>
                <a:latin typeface="Apple SD Gothic Neo"/>
                <a:ea typeface="Apple SD Gothic Neo"/>
                <a:cs typeface="Apple SD Gothic Neo"/>
              </a:rPr>
              <a:t>근거: host_ceiling의 영역별 L2P snapshot. 총 64 Plane 구성의 설명용 배치 표</a:t>
            </a:r>
          </a:p>
        </p:txBody>
      </p:sp>
      <p:sp>
        <p:nvSpPr>
          <p:cNvPr id="4" name="page">
            <a:extLst xmlns:a="http://schemas.openxmlformats.org/drawingml/2006/main">
              <a:ext uri="{FF2B5EF4-FFF2-40B4-BE49-F238E27FC236}">
                <a16:creationId xmlns:a16="http://schemas.microsoft.com/office/drawing/2014/main" id="{1C4C5CBF-6238-4AF9-9038-2C5AFDD5AFCB}"/>
              </a:ext>
            </a:extLst>
          </p:cNvPr>
          <p:cNvSpPr>
            <a:spLocks xmlns:a="http://schemas.openxmlformats.org/drawingml/2006/main" noGrp="1"/>
          </p:cNvSpPr>
          <p:nvPr/>
        </p:nvSpPr>
        <p:spPr>
          <a:xfrm xmlns:a="http://schemas.openxmlformats.org/drawingml/2006/main">
            <a:off x="11144250" y="6419850"/>
            <a:ext cx="4953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86875"/>
                </a:solidFill>
                <a:latin typeface="Apple SD Gothic Neo"/>
                <a:ea typeface="Apple SD Gothic Neo"/>
                <a:cs typeface="Apple SD Gothic Neo"/>
              </a:defRPr>
            </a:defPPr>
          </a:lstStyle>
          <a:p xmlns:a="http://schemas.openxmlformats.org/drawingml/2006/main">
            <a:pPr>
              <a:buNone/>
              <a:defRPr sz="1200" b="0">
                <a:solidFill>
                  <a:srgbClr val="586875"/>
                </a:solidFill>
                <a:latin typeface="Apple SD Gothic Neo"/>
                <a:ea typeface="Apple SD Gothic Neo"/>
                <a:cs typeface="Apple SD Gothic Neo"/>
              </a:defRPr>
            </a:pPr>
            <a:r>
              <a:rPr sz="1200" b="0">
                <a:solidFill>
                  <a:srgbClr val="586875"/>
                </a:solidFill>
                <a:latin typeface="Apple SD Gothic Neo"/>
                <a:ea typeface="Apple SD Gothic Neo"/>
                <a:cs typeface="Apple SD Gothic Neo"/>
              </a:rPr>
              <a:t>08</a:t>
            </a:r>
          </a:p>
        </p:txBody>
      </p:sp>
      <p:graphicFrame>
        <p:nvGraphicFramePr>
          <p:cNvPr id="5" name="region-mapping">
            <a:extLst xmlns:a="http://schemas.openxmlformats.org/drawingml/2006/main">
              <a:ext uri="{FF2B5EF4-FFF2-40B4-BE49-F238E27FC236}">
                <a16:creationId xmlns:a16="http://schemas.microsoft.com/office/drawing/2014/main" id="{FC498952-1FCC-4D8B-9280-D717D5FCF06E}"/>
              </a:ext>
            </a:extLst>
          </p:cNvPr>
          <p:cNvGraphicFramePr/>
          <p:nvPr/>
        </p:nvGraphicFramePr>
        <p:xfrm>
          <a:off xmlns:a="http://schemas.openxmlformats.org/drawingml/2006/main" x="533400" y="1905000"/>
          <a:ext xmlns:a="http://schemas.openxmlformats.org/drawingml/2006/main" cx="11125200" cy="2476500"/>
        </p:xfrm>
        <a:graphic xmlns:a="http://schemas.openxmlformats.org/drawingml/2006/main">
          <a:graphicData uri="http://schemas.openxmlformats.org/drawingml/2006/table">
            <a:tbl>
              <a:tblPr/>
              <a:tblGrid>
                <a:gridCol w="2209800"/>
                <a:gridCol w="2228850"/>
                <a:gridCol w="2228850"/>
                <a:gridCol w="2228850"/>
                <a:gridCol w="2228850"/>
              </a:tblGrid>
              <a:tr h="495300">
                <a:tc>
                  <a:txBody>
                    <a:bodyPr/>
                    <a:lstStyle/>
                    <a:p>
                      <a:r>
                        <a:rPr sz="1800" b="1">
                          <a:solidFill>
                            <a:srgbClr val="FFFFFF"/>
                          </a:solidFill>
                          <a:latin typeface="Apple SD Gothic Neo"/>
                          <a:ea typeface="Apple SD Gothic Neo"/>
                          <a:cs typeface="Apple SD Gothic Neo"/>
                        </a:rPr>
                        <a:t>논리 영역</a:t>
                      </a:r>
                    </a:p>
                  </a:txBody>
                  <a:tcPr marL="133350" marR="133350" marT="95250" marB="95250" anchor="ctr">
                    <a:solidFill>
                      <a:srgbClr val="122C40"/>
                    </a:solidFill>
                  </a:tcPr>
                </a:tc>
                <a:tc>
                  <a:txBody>
                    <a:bodyPr/>
                    <a:lstStyle/>
                    <a:p>
                      <a:r>
                        <a:rPr sz="1800" b="1">
                          <a:solidFill>
                            <a:srgbClr val="FFFFFF"/>
                          </a:solidFill>
                          <a:latin typeface="Apple SD Gothic Neo"/>
                          <a:ea typeface="Apple SD Gothic Neo"/>
                          <a:cs typeface="Apple SD Gothic Neo"/>
                        </a:rPr>
                        <a:t>Channel 0</a:t>
                      </a:r>
                    </a:p>
                  </a:txBody>
                  <a:tcPr marL="133350" marR="133350" marT="95250" marB="95250" anchor="ctr">
                    <a:solidFill>
                      <a:srgbClr val="122C40"/>
                    </a:solidFill>
                  </a:tcPr>
                </a:tc>
                <a:tc>
                  <a:txBody>
                    <a:bodyPr/>
                    <a:lstStyle/>
                    <a:p>
                      <a:r>
                        <a:rPr sz="1800" b="1">
                          <a:solidFill>
                            <a:srgbClr val="FFFFFF"/>
                          </a:solidFill>
                          <a:latin typeface="Apple SD Gothic Neo"/>
                          <a:ea typeface="Apple SD Gothic Neo"/>
                          <a:cs typeface="Apple SD Gothic Neo"/>
                        </a:rPr>
                        <a:t>Channel 1</a:t>
                      </a:r>
                    </a:p>
                  </a:txBody>
                  <a:tcPr marL="133350" marR="133350" marT="95250" marB="95250" anchor="ctr">
                    <a:solidFill>
                      <a:srgbClr val="122C40"/>
                    </a:solidFill>
                  </a:tcPr>
                </a:tc>
                <a:tc>
                  <a:txBody>
                    <a:bodyPr/>
                    <a:lstStyle/>
                    <a:p>
                      <a:r>
                        <a:rPr sz="1800" b="1">
                          <a:solidFill>
                            <a:srgbClr val="FFFFFF"/>
                          </a:solidFill>
                          <a:latin typeface="Apple SD Gothic Neo"/>
                          <a:ea typeface="Apple SD Gothic Neo"/>
                          <a:cs typeface="Apple SD Gothic Neo"/>
                        </a:rPr>
                        <a:t>Channel 2</a:t>
                      </a:r>
                    </a:p>
                  </a:txBody>
                  <a:tcPr marL="133350" marR="133350" marT="95250" marB="95250" anchor="ctr">
                    <a:solidFill>
                      <a:srgbClr val="122C40"/>
                    </a:solidFill>
                  </a:tcPr>
                </a:tc>
                <a:tc>
                  <a:txBody>
                    <a:bodyPr/>
                    <a:lstStyle/>
                    <a:p>
                      <a:r>
                        <a:rPr sz="1800" b="1">
                          <a:solidFill>
                            <a:srgbClr val="FFFFFF"/>
                          </a:solidFill>
                          <a:latin typeface="Apple SD Gothic Neo"/>
                          <a:ea typeface="Apple SD Gothic Neo"/>
                          <a:cs typeface="Apple SD Gothic Neo"/>
                        </a:rPr>
                        <a:t>Channel 3</a:t>
                      </a:r>
                    </a:p>
                  </a:txBody>
                  <a:tcPr marL="133350" marR="133350" marT="95250" marB="95250" anchor="ctr">
                    <a:solidFill>
                      <a:srgbClr val="122C40"/>
                    </a:solidFill>
                  </a:tcPr>
                </a:tc>
              </a:tr>
              <a:tr h="495300">
                <a:tc>
                  <a:txBody>
                    <a:bodyPr/>
                    <a:lstStyle/>
                    <a:p>
                      <a:r>
                        <a:rPr sz="1800" b="0">
                          <a:solidFill>
                            <a:srgbClr val="172738"/>
                          </a:solidFill>
                          <a:latin typeface="Apple SD Gothic Neo"/>
                          <a:ea typeface="Apple SD Gothic Neo"/>
                          <a:cs typeface="Apple SD Gothic Neo"/>
                        </a:rPr>
                        <a:t>영역 0</a:t>
                      </a:r>
                    </a:p>
                  </a:txBody>
                  <a:tcPr marL="133350" marR="133350" marT="95250" marB="95250" anchor="ctr">
                    <a:solidFill>
                      <a:srgbClr val="FFFFFF"/>
                    </a:solidFill>
                  </a:tcPr>
                </a:tc>
                <a:tc>
                  <a:txBody>
                    <a:bodyPr/>
                    <a:lstStyle/>
                    <a:p>
                      <a:r>
                        <a:rPr sz="1800" b="0">
                          <a:solidFill>
                            <a:srgbClr val="172738"/>
                          </a:solidFill>
                          <a:latin typeface="Apple SD Gothic Neo"/>
                          <a:ea typeface="Apple SD Gothic Neo"/>
                          <a:cs typeface="Apple SD Gothic Neo"/>
                        </a:rPr>
                        <a:t>Plane 0–3</a:t>
                      </a:r>
                    </a:p>
                  </a:txBody>
                  <a:tcPr marL="133350" marR="133350" marT="95250" marB="95250" anchor="ctr">
                    <a:solidFill>
                      <a:srgbClr val="FFFFFF"/>
                    </a:solidFill>
                  </a:tcPr>
                </a:tc>
                <a:tc>
                  <a:txBody>
                    <a:bodyPr/>
                    <a:lstStyle/>
                    <a:p>
                      <a:r>
                        <a:rPr sz="1800" b="0">
                          <a:solidFill>
                            <a:srgbClr val="172738"/>
                          </a:solidFill>
                          <a:latin typeface="Apple SD Gothic Neo"/>
                          <a:ea typeface="Apple SD Gothic Neo"/>
                          <a:cs typeface="Apple SD Gothic Neo"/>
                        </a:rPr>
                        <a:t>Plane 0–3</a:t>
                      </a:r>
                    </a:p>
                  </a:txBody>
                  <a:tcPr marL="133350" marR="133350" marT="95250" marB="95250" anchor="ctr">
                    <a:solidFill>
                      <a:srgbClr val="FFFFFF"/>
                    </a:solidFill>
                  </a:tcPr>
                </a:tc>
                <a:tc>
                  <a:txBody>
                    <a:bodyPr/>
                    <a:lstStyle/>
                    <a:p>
                      <a:r>
                        <a:rPr sz="1800" b="0">
                          <a:solidFill>
                            <a:srgbClr val="172738"/>
                          </a:solidFill>
                          <a:latin typeface="Apple SD Gothic Neo"/>
                          <a:ea typeface="Apple SD Gothic Neo"/>
                          <a:cs typeface="Apple SD Gothic Neo"/>
                        </a:rPr>
                        <a:t>Plane 0–3</a:t>
                      </a:r>
                    </a:p>
                  </a:txBody>
                  <a:tcPr marL="133350" marR="133350" marT="95250" marB="95250" anchor="ctr">
                    <a:solidFill>
                      <a:srgbClr val="FFFFFF"/>
                    </a:solidFill>
                  </a:tcPr>
                </a:tc>
                <a:tc>
                  <a:txBody>
                    <a:bodyPr/>
                    <a:lstStyle/>
                    <a:p>
                      <a:r>
                        <a:rPr sz="1800" b="0">
                          <a:solidFill>
                            <a:srgbClr val="172738"/>
                          </a:solidFill>
                          <a:latin typeface="Apple SD Gothic Neo"/>
                          <a:ea typeface="Apple SD Gothic Neo"/>
                          <a:cs typeface="Apple SD Gothic Neo"/>
                        </a:rPr>
                        <a:t>Plane 0–3</a:t>
                      </a:r>
                    </a:p>
                  </a:txBody>
                  <a:tcPr marL="133350" marR="133350" marT="95250" marB="95250" anchor="ctr">
                    <a:solidFill>
                      <a:srgbClr val="FFFFFF"/>
                    </a:solidFill>
                  </a:tcPr>
                </a:tc>
              </a:tr>
              <a:tr h="495300">
                <a:tc>
                  <a:txBody>
                    <a:bodyPr/>
                    <a:lstStyle/>
                    <a:p>
                      <a:r>
                        <a:rPr sz="1800" b="0">
                          <a:solidFill>
                            <a:srgbClr val="172738"/>
                          </a:solidFill>
                          <a:latin typeface="Apple SD Gothic Neo"/>
                          <a:ea typeface="Apple SD Gothic Neo"/>
                          <a:cs typeface="Apple SD Gothic Neo"/>
                        </a:rPr>
                        <a:t>영역 1</a:t>
                      </a:r>
                    </a:p>
                  </a:txBody>
                  <a:tcPr marL="133350" marR="133350" marT="95250" marB="95250" anchor="ctr">
                    <a:solidFill>
                      <a:srgbClr val="F1F5F8"/>
                    </a:solidFill>
                  </a:tcPr>
                </a:tc>
                <a:tc>
                  <a:txBody>
                    <a:bodyPr/>
                    <a:lstStyle/>
                    <a:p>
                      <a:r>
                        <a:rPr sz="1800" b="0">
                          <a:solidFill>
                            <a:srgbClr val="172738"/>
                          </a:solidFill>
                          <a:latin typeface="Apple SD Gothic Neo"/>
                          <a:ea typeface="Apple SD Gothic Neo"/>
                          <a:cs typeface="Apple SD Gothic Neo"/>
                        </a:rPr>
                        <a:t>Plane 4–7</a:t>
                      </a:r>
                    </a:p>
                  </a:txBody>
                  <a:tcPr marL="133350" marR="133350" marT="95250" marB="95250" anchor="ctr">
                    <a:solidFill>
                      <a:srgbClr val="F1F5F8"/>
                    </a:solidFill>
                  </a:tcPr>
                </a:tc>
                <a:tc>
                  <a:txBody>
                    <a:bodyPr/>
                    <a:lstStyle/>
                    <a:p>
                      <a:r>
                        <a:rPr sz="1800" b="0">
                          <a:solidFill>
                            <a:srgbClr val="172738"/>
                          </a:solidFill>
                          <a:latin typeface="Apple SD Gothic Neo"/>
                          <a:ea typeface="Apple SD Gothic Neo"/>
                          <a:cs typeface="Apple SD Gothic Neo"/>
                        </a:rPr>
                        <a:t>Plane 4–7</a:t>
                      </a:r>
                    </a:p>
                  </a:txBody>
                  <a:tcPr marL="133350" marR="133350" marT="95250" marB="95250" anchor="ctr">
                    <a:solidFill>
                      <a:srgbClr val="F1F5F8"/>
                    </a:solidFill>
                  </a:tcPr>
                </a:tc>
                <a:tc>
                  <a:txBody>
                    <a:bodyPr/>
                    <a:lstStyle/>
                    <a:p>
                      <a:r>
                        <a:rPr sz="1800" b="0">
                          <a:solidFill>
                            <a:srgbClr val="172738"/>
                          </a:solidFill>
                          <a:latin typeface="Apple SD Gothic Neo"/>
                          <a:ea typeface="Apple SD Gothic Neo"/>
                          <a:cs typeface="Apple SD Gothic Neo"/>
                        </a:rPr>
                        <a:t>Plane 4–7</a:t>
                      </a:r>
                    </a:p>
                  </a:txBody>
                  <a:tcPr marL="133350" marR="133350" marT="95250" marB="95250" anchor="ctr">
                    <a:solidFill>
                      <a:srgbClr val="F1F5F8"/>
                    </a:solidFill>
                  </a:tcPr>
                </a:tc>
                <a:tc>
                  <a:txBody>
                    <a:bodyPr/>
                    <a:lstStyle/>
                    <a:p>
                      <a:r>
                        <a:rPr sz="1800" b="0">
                          <a:solidFill>
                            <a:srgbClr val="172738"/>
                          </a:solidFill>
                          <a:latin typeface="Apple SD Gothic Neo"/>
                          <a:ea typeface="Apple SD Gothic Neo"/>
                          <a:cs typeface="Apple SD Gothic Neo"/>
                        </a:rPr>
                        <a:t>Plane 4–7</a:t>
                      </a:r>
                    </a:p>
                  </a:txBody>
                  <a:tcPr marL="133350" marR="133350" marT="95250" marB="95250" anchor="ctr">
                    <a:solidFill>
                      <a:srgbClr val="F1F5F8"/>
                    </a:solidFill>
                  </a:tcPr>
                </a:tc>
              </a:tr>
              <a:tr h="495300">
                <a:tc>
                  <a:txBody>
                    <a:bodyPr/>
                    <a:lstStyle/>
                    <a:p>
                      <a:r>
                        <a:rPr sz="1800" b="0">
                          <a:solidFill>
                            <a:srgbClr val="172738"/>
                          </a:solidFill>
                          <a:latin typeface="Apple SD Gothic Neo"/>
                          <a:ea typeface="Apple SD Gothic Neo"/>
                          <a:cs typeface="Apple SD Gothic Neo"/>
                        </a:rPr>
                        <a:t>영역 2</a:t>
                      </a:r>
                    </a:p>
                  </a:txBody>
                  <a:tcPr marL="133350" marR="133350" marT="95250" marB="95250" anchor="ctr">
                    <a:solidFill>
                      <a:srgbClr val="FFFFFF"/>
                    </a:solidFill>
                  </a:tcPr>
                </a:tc>
                <a:tc>
                  <a:txBody>
                    <a:bodyPr/>
                    <a:lstStyle/>
                    <a:p>
                      <a:r>
                        <a:rPr sz="1800" b="0">
                          <a:solidFill>
                            <a:srgbClr val="172738"/>
                          </a:solidFill>
                          <a:latin typeface="Apple SD Gothic Neo"/>
                          <a:ea typeface="Apple SD Gothic Neo"/>
                          <a:cs typeface="Apple SD Gothic Neo"/>
                        </a:rPr>
                        <a:t>Plane 8–11</a:t>
                      </a:r>
                    </a:p>
                  </a:txBody>
                  <a:tcPr marL="133350" marR="133350" marT="95250" marB="95250" anchor="ctr">
                    <a:solidFill>
                      <a:srgbClr val="FFFFFF"/>
                    </a:solidFill>
                  </a:tcPr>
                </a:tc>
                <a:tc>
                  <a:txBody>
                    <a:bodyPr/>
                    <a:lstStyle/>
                    <a:p>
                      <a:r>
                        <a:rPr sz="1800" b="0">
                          <a:solidFill>
                            <a:srgbClr val="172738"/>
                          </a:solidFill>
                          <a:latin typeface="Apple SD Gothic Neo"/>
                          <a:ea typeface="Apple SD Gothic Neo"/>
                          <a:cs typeface="Apple SD Gothic Neo"/>
                        </a:rPr>
                        <a:t>Plane 8–11</a:t>
                      </a:r>
                    </a:p>
                  </a:txBody>
                  <a:tcPr marL="133350" marR="133350" marT="95250" marB="95250" anchor="ctr">
                    <a:solidFill>
                      <a:srgbClr val="FFFFFF"/>
                    </a:solidFill>
                  </a:tcPr>
                </a:tc>
                <a:tc>
                  <a:txBody>
                    <a:bodyPr/>
                    <a:lstStyle/>
                    <a:p>
                      <a:r>
                        <a:rPr sz="1800" b="0">
                          <a:solidFill>
                            <a:srgbClr val="172738"/>
                          </a:solidFill>
                          <a:latin typeface="Apple SD Gothic Neo"/>
                          <a:ea typeface="Apple SD Gothic Neo"/>
                          <a:cs typeface="Apple SD Gothic Neo"/>
                        </a:rPr>
                        <a:t>Plane 8–11</a:t>
                      </a:r>
                    </a:p>
                  </a:txBody>
                  <a:tcPr marL="133350" marR="133350" marT="95250" marB="95250" anchor="ctr">
                    <a:solidFill>
                      <a:srgbClr val="FFFFFF"/>
                    </a:solidFill>
                  </a:tcPr>
                </a:tc>
                <a:tc>
                  <a:txBody>
                    <a:bodyPr/>
                    <a:lstStyle/>
                    <a:p>
                      <a:r>
                        <a:rPr sz="1800" b="0">
                          <a:solidFill>
                            <a:srgbClr val="172738"/>
                          </a:solidFill>
                          <a:latin typeface="Apple SD Gothic Neo"/>
                          <a:ea typeface="Apple SD Gothic Neo"/>
                          <a:cs typeface="Apple SD Gothic Neo"/>
                        </a:rPr>
                        <a:t>Plane 8–11</a:t>
                      </a:r>
                    </a:p>
                  </a:txBody>
                  <a:tcPr marL="133350" marR="133350" marT="95250" marB="95250" anchor="ctr">
                    <a:solidFill>
                      <a:srgbClr val="FFFFFF"/>
                    </a:solidFill>
                  </a:tcPr>
                </a:tc>
              </a:tr>
              <a:tr h="495300">
                <a:tc>
                  <a:txBody>
                    <a:bodyPr/>
                    <a:lstStyle/>
                    <a:p>
                      <a:r>
                        <a:rPr sz="1800" b="0">
                          <a:solidFill>
                            <a:srgbClr val="172738"/>
                          </a:solidFill>
                          <a:latin typeface="Apple SD Gothic Neo"/>
                          <a:ea typeface="Apple SD Gothic Neo"/>
                          <a:cs typeface="Apple SD Gothic Neo"/>
                        </a:rPr>
                        <a:t>영역 3</a:t>
                      </a:r>
                    </a:p>
                  </a:txBody>
                  <a:tcPr marL="133350" marR="133350" marT="95250" marB="95250" anchor="ctr">
                    <a:solidFill>
                      <a:srgbClr val="F1F5F8"/>
                    </a:solidFill>
                  </a:tcPr>
                </a:tc>
                <a:tc>
                  <a:txBody>
                    <a:bodyPr/>
                    <a:lstStyle/>
                    <a:p>
                      <a:r>
                        <a:rPr sz="1800" b="0">
                          <a:solidFill>
                            <a:srgbClr val="172738"/>
                          </a:solidFill>
                          <a:latin typeface="Apple SD Gothic Neo"/>
                          <a:ea typeface="Apple SD Gothic Neo"/>
                          <a:cs typeface="Apple SD Gothic Neo"/>
                        </a:rPr>
                        <a:t>Plane 12–15</a:t>
                      </a:r>
                    </a:p>
                  </a:txBody>
                  <a:tcPr marL="133350" marR="133350" marT="95250" marB="95250" anchor="ctr">
                    <a:solidFill>
                      <a:srgbClr val="F1F5F8"/>
                    </a:solidFill>
                  </a:tcPr>
                </a:tc>
                <a:tc>
                  <a:txBody>
                    <a:bodyPr/>
                    <a:lstStyle/>
                    <a:p>
                      <a:r>
                        <a:rPr sz="1800" b="0">
                          <a:solidFill>
                            <a:srgbClr val="172738"/>
                          </a:solidFill>
                          <a:latin typeface="Apple SD Gothic Neo"/>
                          <a:ea typeface="Apple SD Gothic Neo"/>
                          <a:cs typeface="Apple SD Gothic Neo"/>
                        </a:rPr>
                        <a:t>Plane 12–15</a:t>
                      </a:r>
                    </a:p>
                  </a:txBody>
                  <a:tcPr marL="133350" marR="133350" marT="95250" marB="95250" anchor="ctr">
                    <a:solidFill>
                      <a:srgbClr val="F1F5F8"/>
                    </a:solidFill>
                  </a:tcPr>
                </a:tc>
                <a:tc>
                  <a:txBody>
                    <a:bodyPr/>
                    <a:lstStyle/>
                    <a:p>
                      <a:r>
                        <a:rPr sz="1800" b="0">
                          <a:solidFill>
                            <a:srgbClr val="172738"/>
                          </a:solidFill>
                          <a:latin typeface="Apple SD Gothic Neo"/>
                          <a:ea typeface="Apple SD Gothic Neo"/>
                          <a:cs typeface="Apple SD Gothic Neo"/>
                        </a:rPr>
                        <a:t>Plane 12–15</a:t>
                      </a:r>
                    </a:p>
                  </a:txBody>
                  <a:tcPr marL="133350" marR="133350" marT="95250" marB="95250" anchor="ctr">
                    <a:solidFill>
                      <a:srgbClr val="F1F5F8"/>
                    </a:solidFill>
                  </a:tcPr>
                </a:tc>
                <a:tc>
                  <a:txBody>
                    <a:bodyPr/>
                    <a:lstStyle/>
                    <a:p>
                      <a:r>
                        <a:rPr sz="1800" b="0">
                          <a:solidFill>
                            <a:srgbClr val="172738"/>
                          </a:solidFill>
                          <a:latin typeface="Apple SD Gothic Neo"/>
                          <a:ea typeface="Apple SD Gothic Neo"/>
                          <a:cs typeface="Apple SD Gothic Neo"/>
                        </a:rPr>
                        <a:t>Plane 12–15</a:t>
                      </a:r>
                    </a:p>
                  </a:txBody>
                  <a:tcPr marL="133350" marR="133350" marT="95250" marB="95250" anchor="ctr">
                    <a:solidFill>
                      <a:srgbClr val="F1F5F8"/>
                    </a:solidFill>
                  </a:tcPr>
                </a:tc>
              </a:tr>
            </a:tbl>
          </a:graphicData>
        </a:graphic>
      </p:graphicFrame>
      <p:sp>
        <p:nvSpPr>
          <p:cNvPr id="6" name="placement-why">
            <a:extLst xmlns:a="http://schemas.openxmlformats.org/drawingml/2006/main">
              <a:ext uri="{FF2B5EF4-FFF2-40B4-BE49-F238E27FC236}">
                <a16:creationId xmlns:a16="http://schemas.microsoft.com/office/drawing/2014/main" id="{40E3109C-CA6A-4814-9319-93A705A43125}"/>
              </a:ext>
            </a:extLst>
          </p:cNvPr>
          <p:cNvSpPr>
            <a:spLocks xmlns:a="http://schemas.openxmlformats.org/drawingml/2006/main" noGrp="1"/>
          </p:cNvSpPr>
          <p:nvPr/>
        </p:nvSpPr>
        <p:spPr>
          <a:xfrm xmlns:a="http://schemas.openxmlformats.org/drawingml/2006/main">
            <a:off x="571500" y="4695825"/>
            <a:ext cx="10953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172738"/>
                </a:solidFill>
                <a:latin typeface="Apple SD Gothic Neo"/>
                <a:ea typeface="Apple SD Gothic Neo"/>
                <a:cs typeface="Apple SD Gothic Neo"/>
              </a:defRPr>
            </a:defPPr>
          </a:lstStyle>
          <a:p xmlns:a="http://schemas.openxmlformats.org/drawingml/2006/main">
            <a:pPr>
              <a:buNone/>
              <a:defRPr sz="1875" b="0">
                <a:solidFill>
                  <a:srgbClr val="172738"/>
                </a:solidFill>
                <a:latin typeface="Apple SD Gothic Neo"/>
                <a:ea typeface="Apple SD Gothic Neo"/>
                <a:cs typeface="Apple SD Gothic Neo"/>
              </a:defRPr>
            </a:pPr>
            <a:r>
              <a:rPr sz="1875" b="0">
                <a:solidFill>
                  <a:srgbClr val="172738"/>
                </a:solidFill>
                <a:latin typeface="Apple SD Gothic Neo"/>
                <a:ea typeface="Apple SD Gothic Neo"/>
                <a:cs typeface="Apple SD Gothic Neo"/>
              </a:rPr>
              <a:t>한 Plane에 서로 먼 영역의 요청이 섞이면 물리 페이지 순서가 자주 끊깁니다.</a:t>
            </a:r>
          </a:p>
          <a:p xmlns:a="http://schemas.openxmlformats.org/drawingml/2006/main">
            <a:pPr>
              <a:buNone/>
              <a:defRPr sz="1875" b="0">
                <a:solidFill>
                  <a:srgbClr val="172738"/>
                </a:solidFill>
                <a:latin typeface="Apple SD Gothic Neo"/>
                <a:ea typeface="Apple SD Gothic Neo"/>
                <a:cs typeface="Apple SD Gothic Neo"/>
              </a:defRPr>
            </a:pPr>
            <a:r>
              <a:rPr sz="1875" b="0">
                <a:solidFill>
                  <a:srgbClr val="172738"/>
                </a:solidFill>
                <a:latin typeface="Apple SD Gothic Neo"/>
                <a:ea typeface="Apple SD Gothic Neo"/>
                <a:cs typeface="Apple SD Gothic Neo"/>
              </a:rPr>
              <a:t>영역별 Plane 묶음을 분리하면 각 Plane에서 다음 페이지로 진행하기 쉬워집니다.</a:t>
            </a:r>
          </a:p>
        </p:txBody>
      </p:sp>
      <p:sp>
        <p:nvSpPr>
          <p:cNvPr id="7" name="mapping-not-wiring">
            <a:extLst xmlns:a="http://schemas.openxmlformats.org/drawingml/2006/main">
              <a:ext uri="{FF2B5EF4-FFF2-40B4-BE49-F238E27FC236}">
                <a16:creationId xmlns:a16="http://schemas.microsoft.com/office/drawing/2014/main" id="{170064C2-A64C-46F5-821F-30DFB6DAE6B9}"/>
              </a:ext>
            </a:extLst>
          </p:cNvPr>
          <p:cNvSpPr>
            <a:spLocks xmlns:a="http://schemas.openxmlformats.org/drawingml/2006/main" noGrp="1"/>
          </p:cNvSpPr>
          <p:nvPr/>
        </p:nvSpPr>
        <p:spPr>
          <a:xfrm xmlns:a="http://schemas.openxmlformats.org/drawingml/2006/main">
            <a:off x="571500" y="5638800"/>
            <a:ext cx="10953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586875"/>
                </a:solidFill>
                <a:latin typeface="Apple SD Gothic Neo"/>
                <a:ea typeface="Apple SD Gothic Neo"/>
                <a:cs typeface="Apple SD Gothic Neo"/>
              </a:defRPr>
            </a:defPPr>
          </a:lstStyle>
          <a:p xmlns:a="http://schemas.openxmlformats.org/drawingml/2006/main">
            <a:pPr>
              <a:buNone/>
              <a:defRPr sz="1725" b="0">
                <a:solidFill>
                  <a:srgbClr val="586875"/>
                </a:solidFill>
                <a:latin typeface="Apple SD Gothic Neo"/>
                <a:ea typeface="Apple SD Gothic Neo"/>
                <a:cs typeface="Apple SD Gothic Neo"/>
              </a:defRPr>
            </a:pPr>
            <a:r>
              <a:rPr sz="1725" b="0">
                <a:solidFill>
                  <a:srgbClr val="586875"/>
                </a:solidFill>
                <a:latin typeface="Apple SD Gothic Neo"/>
                <a:ea typeface="Apple SD Gothic Neo"/>
                <a:cs typeface="Apple SD Gothic Neo"/>
              </a:rPr>
              <a:t>이 실험은 Port별로 다른 논리 영역을 읽습니다. Channel과 Plane 선택은 주소가 결정하며,</a:t>
            </a:r>
          </a:p>
          <a:p xmlns:a="http://schemas.openxmlformats.org/drawingml/2006/main">
            <a:pPr>
              <a:buNone/>
              <a:defRPr sz="1725" b="0">
                <a:solidFill>
                  <a:srgbClr val="586875"/>
                </a:solidFill>
                <a:latin typeface="Apple SD Gothic Neo"/>
                <a:ea typeface="Apple SD Gothic Neo"/>
                <a:cs typeface="Apple SD Gothic Neo"/>
              </a:defRPr>
            </a:pPr>
            <a:r>
              <a:rPr sz="1725" b="0">
                <a:solidFill>
                  <a:srgbClr val="586875"/>
                </a:solidFill>
                <a:latin typeface="Apple SD Gothic Neo"/>
                <a:ea typeface="Apple SD Gothic Neo"/>
                <a:cs typeface="Apple SD Gothic Neo"/>
              </a:rPr>
              <a:t>Port를 특정 Channel에 고정하는 구조가 아닙니다.</a:t>
            </a:r>
          </a:p>
        </p:txBody>
      </p:sp>
    </p:spTree>
    <p:extLst>
      <p:ext uri="{BB962C8B-B14F-4D97-AF65-F5344CB8AC3E}">
        <p14:creationId xmlns:p14="http://schemas.microsoft.com/office/powerpoint/2010/main" val="1615964145"/>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title">
            <a:extLst xmlns:a="http://schemas.openxmlformats.org/drawingml/2006/main">
              <a:ext uri="{FF2B5EF4-FFF2-40B4-BE49-F238E27FC236}">
                <a16:creationId xmlns:a16="http://schemas.microsoft.com/office/drawing/2014/main" id="{A8DE21D7-411E-4DEB-8DE7-35589ACB1382}"/>
              </a:ext>
            </a:extLst>
          </p:cNvPr>
          <p:cNvSpPr>
            <a:spLocks xmlns:a="http://schemas.openxmlformats.org/drawingml/2006/main" noGrp="1"/>
          </p:cNvSpPr>
          <p:nvPr/>
        </p:nvSpPr>
        <p:spPr>
          <a:xfrm xmlns:a="http://schemas.openxmlformats.org/drawingml/2006/main">
            <a:off x="533400" y="438150"/>
            <a:ext cx="11125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2738"/>
                </a:solidFill>
                <a:latin typeface="Apple SD Gothic Neo"/>
                <a:ea typeface="Apple SD Gothic Neo"/>
                <a:cs typeface="Apple SD Gothic Neo"/>
              </a:defRPr>
            </a:defPPr>
          </a:lstStyle>
          <a:p xmlns:a="http://schemas.openxmlformats.org/drawingml/2006/main">
            <a:pPr>
              <a:buNone/>
              <a:defRPr sz="3300" b="1">
                <a:solidFill>
                  <a:srgbClr val="172738"/>
                </a:solidFill>
                <a:latin typeface="Apple SD Gothic Neo"/>
                <a:ea typeface="Apple SD Gothic Neo"/>
                <a:cs typeface="Apple SD Gothic Neo"/>
              </a:defRPr>
            </a:pPr>
            <a:r>
              <a:rPr sz="3300" b="1">
                <a:solidFill>
                  <a:srgbClr val="172738"/>
                </a:solidFill>
                <a:latin typeface="Apple SD Gothic Neo"/>
                <a:ea typeface="Apple SD Gothic Neo"/>
                <a:cs typeface="Apple SD Gothic Neo"/>
              </a:rPr>
              <a:t>고정 수락 순서에서의 QD와 버퍼 편중</a:t>
            </a:r>
          </a:p>
        </p:txBody>
      </p:sp>
      <p:sp>
        <p:nvSpPr>
          <p:cNvPr id="2" name="subtitle">
            <a:extLst xmlns:a="http://schemas.openxmlformats.org/drawingml/2006/main">
              <a:ext uri="{FF2B5EF4-FFF2-40B4-BE49-F238E27FC236}">
                <a16:creationId xmlns:a16="http://schemas.microsoft.com/office/drawing/2014/main" id="{019C64FC-16FF-4147-8E4F-67CA51C1E87E}"/>
              </a:ext>
            </a:extLst>
          </p:cNvPr>
          <p:cNvSpPr>
            <a:spLocks xmlns:a="http://schemas.openxmlformats.org/drawingml/2006/main" noGrp="1"/>
          </p:cNvSpPr>
          <p:nvPr/>
        </p:nvSpPr>
        <p:spPr>
          <a:xfrm xmlns:a="http://schemas.openxmlformats.org/drawingml/2006/main">
            <a:off x="552450" y="1104900"/>
            <a:ext cx="110871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586875"/>
                </a:solidFill>
                <a:latin typeface="Apple SD Gothic Neo"/>
                <a:ea typeface="Apple SD Gothic Neo"/>
                <a:cs typeface="Apple SD Gothic Neo"/>
              </a:defRPr>
            </a:defPPr>
          </a:lstStyle>
          <a:p xmlns:a="http://schemas.openxmlformats.org/drawingml/2006/main">
            <a:pPr>
              <a:buNone/>
              <a:defRPr sz="1800" b="0">
                <a:solidFill>
                  <a:srgbClr val="586875"/>
                </a:solidFill>
                <a:latin typeface="Apple SD Gothic Neo"/>
                <a:ea typeface="Apple SD Gothic Neo"/>
                <a:cs typeface="Apple SD Gothic Neo"/>
              </a:defRPr>
            </a:pPr>
            <a:r>
              <a:rPr sz="1800" b="0">
                <a:solidFill>
                  <a:srgbClr val="586875"/>
                </a:solidFill>
                <a:latin typeface="Apple SD Gothic Neo"/>
                <a:ea typeface="Apple SD Gothic Neo"/>
                <a:cs typeface="Apple SD Gothic Neo"/>
              </a:rPr>
              <a:t>4KiB 읽기와 Port 0부터 수락하는 현재 정책에서는 QD512/Port가 유효했습니다.</a:t>
            </a:r>
          </a:p>
        </p:txBody>
      </p:sp>
      <p:sp>
        <p:nvSpPr>
          <p:cNvPr id="3" name="footer">
            <a:extLst xmlns:a="http://schemas.openxmlformats.org/drawingml/2006/main">
              <a:ext uri="{FF2B5EF4-FFF2-40B4-BE49-F238E27FC236}">
                <a16:creationId xmlns:a16="http://schemas.microsoft.com/office/drawing/2014/main" id="{CDDD334E-5723-41C3-83BF-5D60F7B8C17B}"/>
              </a:ext>
            </a:extLst>
          </p:cNvPr>
          <p:cNvSpPr>
            <a:spLocks xmlns:a="http://schemas.openxmlformats.org/drawingml/2006/main" noGrp="1"/>
          </p:cNvSpPr>
          <p:nvPr/>
        </p:nvSpPr>
        <p:spPr>
          <a:xfrm xmlns:a="http://schemas.openxmlformats.org/drawingml/2006/main">
            <a:off x="533400" y="6419850"/>
            <a:ext cx="10477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86875"/>
                </a:solidFill>
                <a:latin typeface="Apple SD Gothic Neo"/>
                <a:ea typeface="Apple SD Gothic Neo"/>
                <a:cs typeface="Apple SD Gothic Neo"/>
              </a:defRPr>
            </a:defPPr>
          </a:lstStyle>
          <a:p xmlns:a="http://schemas.openxmlformats.org/drawingml/2006/main">
            <a:pPr>
              <a:buNone/>
              <a:defRPr sz="1200" b="0">
                <a:solidFill>
                  <a:srgbClr val="586875"/>
                </a:solidFill>
                <a:latin typeface="Apple SD Gothic Neo"/>
                <a:ea typeface="Apple SD Gothic Neo"/>
                <a:cs typeface="Apple SD Gothic Neo"/>
              </a:defRPr>
            </a:pPr>
            <a:r>
              <a:rPr sz="1200" b="0">
                <a:solidFill>
                  <a:srgbClr val="586875"/>
                </a:solidFill>
                <a:latin typeface="Apple SD Gothic Neo"/>
                <a:ea typeface="Apple SD Gothic Neo"/>
                <a:cs typeface="Apple SD Gothic Neo"/>
              </a:rPr>
              <a:t>조건: 64 Plane, 영역 배치, PF OFF. 초기 200µs 제외 후 200–2,200µs 고정 평균</a:t>
            </a:r>
          </a:p>
        </p:txBody>
      </p:sp>
      <p:sp>
        <p:nvSpPr>
          <p:cNvPr id="4" name="page">
            <a:extLst xmlns:a="http://schemas.openxmlformats.org/drawingml/2006/main">
              <a:ext uri="{FF2B5EF4-FFF2-40B4-BE49-F238E27FC236}">
                <a16:creationId xmlns:a16="http://schemas.microsoft.com/office/drawing/2014/main" id="{9A6FB43E-9AE0-4C46-AEBF-7D6AD0475985}"/>
              </a:ext>
            </a:extLst>
          </p:cNvPr>
          <p:cNvSpPr>
            <a:spLocks xmlns:a="http://schemas.openxmlformats.org/drawingml/2006/main" noGrp="1"/>
          </p:cNvSpPr>
          <p:nvPr/>
        </p:nvSpPr>
        <p:spPr>
          <a:xfrm xmlns:a="http://schemas.openxmlformats.org/drawingml/2006/main">
            <a:off x="11144250" y="6419850"/>
            <a:ext cx="4953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86875"/>
                </a:solidFill>
                <a:latin typeface="Apple SD Gothic Neo"/>
                <a:ea typeface="Apple SD Gothic Neo"/>
                <a:cs typeface="Apple SD Gothic Neo"/>
              </a:defRPr>
            </a:defPPr>
          </a:lstStyle>
          <a:p xmlns:a="http://schemas.openxmlformats.org/drawingml/2006/main">
            <a:pPr>
              <a:buNone/>
              <a:defRPr sz="1200" b="0">
                <a:solidFill>
                  <a:srgbClr val="586875"/>
                </a:solidFill>
                <a:latin typeface="Apple SD Gothic Neo"/>
                <a:ea typeface="Apple SD Gothic Neo"/>
                <a:cs typeface="Apple SD Gothic Neo"/>
              </a:defRPr>
            </a:pPr>
            <a:r>
              <a:rPr sz="1200" b="0">
                <a:solidFill>
                  <a:srgbClr val="586875"/>
                </a:solidFill>
                <a:latin typeface="Apple SD Gothic Neo"/>
                <a:ea typeface="Apple SD Gothic Neo"/>
                <a:cs typeface="Apple SD Gothic Neo"/>
              </a:rPr>
              <a:t>09</a:t>
            </a:r>
          </a:p>
        </p:txBody>
      </p:sp>
      <p:sp>
        <p:nvSpPr>
          <p:cNvPr id="5" name="chart-unit">
            <a:extLst xmlns:a="http://schemas.openxmlformats.org/drawingml/2006/main">
              <a:ext uri="{FF2B5EF4-FFF2-40B4-BE49-F238E27FC236}">
                <a16:creationId xmlns:a16="http://schemas.microsoft.com/office/drawing/2014/main" id="{5762372C-5FF8-4C80-9E4E-E07264370F2A}"/>
              </a:ext>
            </a:extLst>
          </p:cNvPr>
          <p:cNvSpPr>
            <a:spLocks xmlns:a="http://schemas.openxmlformats.org/drawingml/2006/main" noGrp="1"/>
          </p:cNvSpPr>
          <p:nvPr/>
        </p:nvSpPr>
        <p:spPr>
          <a:xfrm xmlns:a="http://schemas.openxmlformats.org/drawingml/2006/main">
            <a:off x="571500" y="1724025"/>
            <a:ext cx="6572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86875"/>
                </a:solidFill>
                <a:latin typeface="Apple SD Gothic Neo"/>
                <a:ea typeface="Apple SD Gothic Neo"/>
                <a:cs typeface="Apple SD Gothic Neo"/>
              </a:defRPr>
            </a:defPPr>
          </a:lstStyle>
          <a:p xmlns:a="http://schemas.openxmlformats.org/drawingml/2006/main">
            <a:pPr>
              <a:buNone/>
              <a:defRPr sz="1650" b="0">
                <a:solidFill>
                  <a:srgbClr val="586875"/>
                </a:solidFill>
                <a:latin typeface="Apple SD Gothic Neo"/>
                <a:ea typeface="Apple SD Gothic Neo"/>
                <a:cs typeface="Apple SD Gothic Neo"/>
              </a:defRPr>
            </a:pPr>
            <a:r>
              <a:rPr sz="1650" b="0">
                <a:solidFill>
                  <a:srgbClr val="586875"/>
                </a:solidFill>
                <a:latin typeface="Apple SD Gothic Neo"/>
                <a:ea typeface="Apple SD Gothic Neo"/>
                <a:cs typeface="Apple SD Gothic Neo"/>
              </a:rPr>
              <a:t>8MiB 버퍼의 처리량 (GB/s)</a:t>
            </a:r>
          </a:p>
        </p:txBody>
      </p:sp>
      <p:graphicFrame>
        <p:nvGraphicFramePr>
          <p:cNvPr id="6" name="Chart">
            <a:extLst xmlns:a="http://schemas.openxmlformats.org/drawingml/2006/main">
              <a:ext uri="{FF2B5EF4-FFF2-40B4-BE49-F238E27FC236}">
                <a16:creationId xmlns:a16="http://schemas.microsoft.com/office/drawing/2014/main" id="{513A1D6B-FF2B-4A56-8CB9-2C6E8A733439}"/>
              </a:ext>
            </a:extLst>
          </p:cNvPr>
          <p:cNvGraphicFramePr/>
          <p:nvPr/>
        </p:nvGraphicFramePr>
        <p:xfrm>
          <a:off xmlns:a="http://schemas.openxmlformats.org/drawingml/2006/main" x="533400" y="2047875"/>
          <a:ext xmlns:a="http://schemas.openxmlformats.org/drawingml/2006/main" cx="6629400" cy="2686050"/>
        </p:xfrm>
        <a:graphic xmlns:a="http://schemas.openxmlformats.org/drawingml/2006/main">
          <a:graphicData uri="http://schemas.openxmlformats.org/drawingml/2006/chart">
            <c:chart xmlns:r="http://schemas.openxmlformats.org/officeDocument/2006/relationships" xmlns:c="http://schemas.openxmlformats.org/drawingml/2006/chart" r:id="Rcf55b71ff0384d96"/>
          </a:graphicData>
        </a:graphic>
      </p:graphicFrame>
      <p:sp>
        <p:nvSpPr>
          <p:cNvPr id="7" name="qd-effect">
            <a:extLst xmlns:a="http://schemas.openxmlformats.org/drawingml/2006/main">
              <a:ext uri="{FF2B5EF4-FFF2-40B4-BE49-F238E27FC236}">
                <a16:creationId xmlns:a16="http://schemas.microsoft.com/office/drawing/2014/main" id="{0D2353CC-B97B-4F36-A0C4-CD9D8E2FF1F7}"/>
              </a:ext>
            </a:extLst>
          </p:cNvPr>
          <p:cNvSpPr>
            <a:spLocks xmlns:a="http://schemas.openxmlformats.org/drawingml/2006/main" noGrp="1"/>
          </p:cNvSpPr>
          <p:nvPr/>
        </p:nvSpPr>
        <p:spPr>
          <a:xfrm xmlns:a="http://schemas.openxmlformats.org/drawingml/2006/main">
            <a:off x="7572375" y="1819275"/>
            <a:ext cx="40671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1">
                <a:solidFill>
                  <a:srgbClr val="126DCA"/>
                </a:solidFill>
                <a:latin typeface="Apple SD Gothic Neo"/>
                <a:ea typeface="Apple SD Gothic Neo"/>
                <a:cs typeface="Apple SD Gothic Neo"/>
              </a:defRPr>
            </a:defPPr>
          </a:lstStyle>
          <a:p xmlns:a="http://schemas.openxmlformats.org/drawingml/2006/main">
            <a:pPr>
              <a:buNone/>
              <a:defRPr sz="1950" b="1">
                <a:solidFill>
                  <a:srgbClr val="126DCA"/>
                </a:solidFill>
                <a:latin typeface="Apple SD Gothic Neo"/>
                <a:ea typeface="Apple SD Gothic Neo"/>
                <a:cs typeface="Apple SD Gothic Neo"/>
              </a:defRPr>
            </a:pPr>
            <a:r>
              <a:rPr sz="1950" b="1">
                <a:solidFill>
                  <a:srgbClr val="126DCA"/>
                </a:solidFill>
                <a:latin typeface="Apple SD Gothic Neo"/>
                <a:ea typeface="Apple SD Gothic Neo"/>
                <a:cs typeface="Apple SD Gothic Neo"/>
              </a:rPr>
              <a:t>QD가 작으면 준비할 요청이 부족합니다.</a:t>
            </a:r>
          </a:p>
        </p:txBody>
      </p:sp>
      <p:sp>
        <p:nvSpPr>
          <p:cNvPr id="8" name="qd-effect-2">
            <a:extLst xmlns:a="http://schemas.openxmlformats.org/drawingml/2006/main">
              <a:ext uri="{FF2B5EF4-FFF2-40B4-BE49-F238E27FC236}">
                <a16:creationId xmlns:a16="http://schemas.microsoft.com/office/drawing/2014/main" id="{48E12F9D-0A34-4754-9695-56B857F9A4B2}"/>
              </a:ext>
            </a:extLst>
          </p:cNvPr>
          <p:cNvSpPr>
            <a:spLocks xmlns:a="http://schemas.openxmlformats.org/drawingml/2006/main" noGrp="1"/>
          </p:cNvSpPr>
          <p:nvPr/>
        </p:nvSpPr>
        <p:spPr>
          <a:xfrm xmlns:a="http://schemas.openxmlformats.org/drawingml/2006/main">
            <a:off x="7572375" y="2705100"/>
            <a:ext cx="4067175"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172738"/>
                </a:solidFill>
                <a:latin typeface="Apple SD Gothic Neo"/>
                <a:ea typeface="Apple SD Gothic Neo"/>
                <a:cs typeface="Apple SD Gothic Neo"/>
              </a:defRPr>
            </a:defPPr>
          </a:lstStyle>
          <a:p xmlns:a="http://schemas.openxmlformats.org/drawingml/2006/main">
            <a:pPr>
              <a:buNone/>
              <a:defRPr sz="1800" b="0">
                <a:solidFill>
                  <a:srgbClr val="172738"/>
                </a:solidFill>
                <a:latin typeface="Apple SD Gothic Neo"/>
                <a:ea typeface="Apple SD Gothic Neo"/>
                <a:cs typeface="Apple SD Gothic Neo"/>
              </a:defRPr>
            </a:pPr>
            <a:r>
              <a:rPr sz="1800" b="0">
                <a:solidFill>
                  <a:srgbClr val="172738"/>
                </a:solidFill>
                <a:latin typeface="Apple SD Gothic Neo"/>
                <a:ea typeface="Apple SD Gothic Neo"/>
                <a:cs typeface="Apple SD Gothic Neo"/>
              </a:rPr>
              <a:t>고정 수락 순서에서 큰 QD는</a:t>
            </a:r>
          </a:p>
          <a:p xmlns:a="http://schemas.openxmlformats.org/drawingml/2006/main">
            <a:pPr>
              <a:buNone/>
              <a:defRPr sz="1800" b="0">
                <a:solidFill>
                  <a:srgbClr val="172738"/>
                </a:solidFill>
                <a:latin typeface="Apple SD Gothic Neo"/>
                <a:ea typeface="Apple SD Gothic Neo"/>
                <a:cs typeface="Apple SD Gothic Neo"/>
              </a:defRPr>
            </a:pPr>
            <a:r>
              <a:rPr sz="1800" b="0">
                <a:solidFill>
                  <a:srgbClr val="172738"/>
                </a:solidFill>
                <a:latin typeface="Apple SD Gothic Neo"/>
                <a:ea typeface="Apple SD Gothic Neo"/>
                <a:cs typeface="Apple SD Gothic Neo"/>
              </a:rPr>
              <a:t>앞선 Port의 버퍼 선점을 허용합니다.</a:t>
            </a:r>
          </a:p>
          <a:p xmlns:a="http://schemas.openxmlformats.org/drawingml/2006/main">
            <a:pPr>
              <a:buNone/>
              <a:defRPr sz="1800" b="0">
                <a:solidFill>
                  <a:srgbClr val="172738"/>
                </a:solidFill>
                <a:latin typeface="Apple SD Gothic Neo"/>
                <a:ea typeface="Apple SD Gothic Neo"/>
                <a:cs typeface="Apple SD Gothic Neo"/>
              </a:defRPr>
            </a:pPr>
            <a:r>
              <a:rPr sz="1800" b="0">
                <a:solidFill>
                  <a:srgbClr val="172738"/>
                </a:solidFill>
                <a:latin typeface="Apple SD Gothic Neo"/>
                <a:ea typeface="Apple SD Gothic Neo"/>
                <a:cs typeface="Apple SD Gothic Neo"/>
              </a:rPr>
              <a:t>다른 Port의 실제 요청 수가 줄어</a:t>
            </a:r>
          </a:p>
          <a:p xmlns:a="http://schemas.openxmlformats.org/drawingml/2006/main">
            <a:pPr>
              <a:buNone/>
              <a:defRPr sz="1800" b="0">
                <a:solidFill>
                  <a:srgbClr val="172738"/>
                </a:solidFill>
                <a:latin typeface="Apple SD Gothic Neo"/>
                <a:ea typeface="Apple SD Gothic Neo"/>
                <a:cs typeface="Apple SD Gothic Neo"/>
              </a:defRPr>
            </a:pPr>
            <a:r>
              <a:rPr sz="1800" b="0">
                <a:solidFill>
                  <a:srgbClr val="172738"/>
                </a:solidFill>
                <a:latin typeface="Apple SD Gothic Neo"/>
                <a:ea typeface="Apple SD Gothic Neo"/>
                <a:cs typeface="Apple SD Gothic Neo"/>
              </a:rPr>
              <a:t>처리량이 떨어질 수 있습니다.</a:t>
            </a:r>
          </a:p>
        </p:txBody>
      </p:sp>
      <p:sp>
        <p:nvSpPr>
          <p:cNvPr id="9" name="actual-qd-caption">
            <a:extLst xmlns:a="http://schemas.openxmlformats.org/drawingml/2006/main">
              <a:ext uri="{FF2B5EF4-FFF2-40B4-BE49-F238E27FC236}">
                <a16:creationId xmlns:a16="http://schemas.microsoft.com/office/drawing/2014/main" id="{0921D1BA-53AF-4809-9C6C-002CC3EA1E34}"/>
              </a:ext>
            </a:extLst>
          </p:cNvPr>
          <p:cNvSpPr>
            <a:spLocks xmlns:a="http://schemas.openxmlformats.org/drawingml/2006/main" noGrp="1"/>
          </p:cNvSpPr>
          <p:nvPr/>
        </p:nvSpPr>
        <p:spPr>
          <a:xfrm xmlns:a="http://schemas.openxmlformats.org/drawingml/2006/main">
            <a:off x="7572375" y="4438650"/>
            <a:ext cx="40671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586875"/>
                </a:solidFill>
                <a:latin typeface="Apple SD Gothic Neo"/>
                <a:ea typeface="Apple SD Gothic Neo"/>
                <a:cs typeface="Apple SD Gothic Neo"/>
              </a:defRPr>
            </a:defPPr>
          </a:lstStyle>
          <a:p xmlns:a="http://schemas.openxmlformats.org/drawingml/2006/main">
            <a:pPr>
              <a:buNone/>
              <a:defRPr sz="1575" b="0">
                <a:solidFill>
                  <a:srgbClr val="586875"/>
                </a:solidFill>
                <a:latin typeface="Apple SD Gothic Neo"/>
                <a:ea typeface="Apple SD Gothic Neo"/>
                <a:cs typeface="Apple SD Gothic Neo"/>
              </a:defRPr>
            </a:pPr>
            <a:r>
              <a:rPr sz="1575" b="0">
                <a:solidFill>
                  <a:srgbClr val="586875"/>
                </a:solidFill>
                <a:latin typeface="Apple SD Gothic Neo"/>
                <a:ea typeface="Apple SD Gothic Neo"/>
                <a:cs typeface="Apple SD Gothic Neo"/>
              </a:rPr>
              <a:t>아래 표: 실제 outstanding 평균 (개)</a:t>
            </a:r>
          </a:p>
        </p:txBody>
      </p:sp>
      <p:graphicFrame>
        <p:nvGraphicFramePr>
          <p:cNvPr id="10" name="actual-qd">
            <a:extLst xmlns:a="http://schemas.openxmlformats.org/drawingml/2006/main">
              <a:ext uri="{FF2B5EF4-FFF2-40B4-BE49-F238E27FC236}">
                <a16:creationId xmlns:a16="http://schemas.microsoft.com/office/drawing/2014/main" id="{A3A974B1-57BE-4AE0-975C-DC7B2B9E5951}"/>
              </a:ext>
            </a:extLst>
          </p:cNvPr>
          <p:cNvGraphicFramePr/>
          <p:nvPr/>
        </p:nvGraphicFramePr>
        <p:xfrm>
          <a:off xmlns:a="http://schemas.openxmlformats.org/drawingml/2006/main" x="533400" y="4867275"/>
          <a:ext xmlns:a="http://schemas.openxmlformats.org/drawingml/2006/main" cx="11125200" cy="1325880"/>
        </p:xfrm>
        <a:graphic xmlns:a="http://schemas.openxmlformats.org/drawingml/2006/main">
          <a:graphicData uri="http://schemas.openxmlformats.org/drawingml/2006/table">
            <a:tbl>
              <a:tblPr/>
              <a:tblGrid>
                <a:gridCol w="2552700"/>
                <a:gridCol w="2143125"/>
                <a:gridCol w="2143125"/>
                <a:gridCol w="2143125"/>
                <a:gridCol w="2143125"/>
              </a:tblGrid>
              <a:tr h="419100">
                <a:tc>
                  <a:txBody>
                    <a:bodyPr/>
                    <a:lstStyle/>
                    <a:p>
                      <a:r>
                        <a:rPr sz="1650" b="1">
                          <a:solidFill>
                            <a:srgbClr val="FFFFFF"/>
                          </a:solidFill>
                          <a:latin typeface="Apple SD Gothic Neo"/>
                          <a:ea typeface="Apple SD Gothic Neo"/>
                          <a:cs typeface="Apple SD Gothic Neo"/>
                        </a:rPr>
                        <a:t>A1 설정 QD/Port</a:t>
                      </a:r>
                    </a:p>
                  </a:txBody>
                  <a:tcPr marL="133350" marR="133350" marT="95250" marB="95250" anchor="ctr">
                    <a:solidFill>
                      <a:srgbClr val="122C40"/>
                    </a:solidFill>
                  </a:tcPr>
                </a:tc>
                <a:tc>
                  <a:txBody>
                    <a:bodyPr/>
                    <a:lstStyle/>
                    <a:p>
                      <a:r>
                        <a:rPr sz="1650" b="1">
                          <a:solidFill>
                            <a:srgbClr val="FFFFFF"/>
                          </a:solidFill>
                          <a:latin typeface="Apple SD Gothic Neo"/>
                          <a:ea typeface="Apple SD Gothic Neo"/>
                          <a:cs typeface="Apple SD Gothic Neo"/>
                        </a:rPr>
                        <a:t>Port 0 평균</a:t>
                      </a:r>
                    </a:p>
                  </a:txBody>
                  <a:tcPr marL="133350" marR="133350" marT="95250" marB="95250" anchor="ctr">
                    <a:solidFill>
                      <a:srgbClr val="122C40"/>
                    </a:solidFill>
                  </a:tcPr>
                </a:tc>
                <a:tc>
                  <a:txBody>
                    <a:bodyPr/>
                    <a:lstStyle/>
                    <a:p>
                      <a:r>
                        <a:rPr sz="1650" b="1">
                          <a:solidFill>
                            <a:srgbClr val="FFFFFF"/>
                          </a:solidFill>
                          <a:latin typeface="Apple SD Gothic Neo"/>
                          <a:ea typeface="Apple SD Gothic Neo"/>
                          <a:cs typeface="Apple SD Gothic Neo"/>
                        </a:rPr>
                        <a:t>Port 1 평균</a:t>
                      </a:r>
                    </a:p>
                  </a:txBody>
                  <a:tcPr marL="133350" marR="133350" marT="95250" marB="95250" anchor="ctr">
                    <a:solidFill>
                      <a:srgbClr val="122C40"/>
                    </a:solidFill>
                  </a:tcPr>
                </a:tc>
                <a:tc>
                  <a:txBody>
                    <a:bodyPr/>
                    <a:lstStyle/>
                    <a:p>
                      <a:r>
                        <a:rPr sz="1650" b="1">
                          <a:solidFill>
                            <a:srgbClr val="FFFFFF"/>
                          </a:solidFill>
                          <a:latin typeface="Apple SD Gothic Neo"/>
                          <a:ea typeface="Apple SD Gothic Neo"/>
                          <a:cs typeface="Apple SD Gothic Neo"/>
                        </a:rPr>
                        <a:t>Port 2 평균</a:t>
                      </a:r>
                    </a:p>
                  </a:txBody>
                  <a:tcPr marL="133350" marR="133350" marT="95250" marB="95250" anchor="ctr">
                    <a:solidFill>
                      <a:srgbClr val="122C40"/>
                    </a:solidFill>
                  </a:tcPr>
                </a:tc>
                <a:tc>
                  <a:txBody>
                    <a:bodyPr/>
                    <a:lstStyle/>
                    <a:p>
                      <a:r>
                        <a:rPr sz="1650" b="1">
                          <a:solidFill>
                            <a:srgbClr val="FFFFFF"/>
                          </a:solidFill>
                          <a:latin typeface="Apple SD Gothic Neo"/>
                          <a:ea typeface="Apple SD Gothic Neo"/>
                          <a:cs typeface="Apple SD Gothic Neo"/>
                        </a:rPr>
                        <a:t>Port 3 평균</a:t>
                      </a:r>
                    </a:p>
                  </a:txBody>
                  <a:tcPr marL="133350" marR="133350" marT="95250" marB="95250" anchor="ctr">
                    <a:solidFill>
                      <a:srgbClr val="122C40"/>
                    </a:solidFill>
                  </a:tcPr>
                </a:tc>
              </a:tr>
              <a:tr h="419100">
                <a:tc>
                  <a:txBody>
                    <a:bodyPr/>
                    <a:lstStyle/>
                    <a:p>
                      <a:r>
                        <a:rPr sz="1650" b="0">
                          <a:solidFill>
                            <a:srgbClr val="172738"/>
                          </a:solidFill>
                          <a:latin typeface="Apple SD Gothic Neo"/>
                          <a:ea typeface="Apple SD Gothic Neo"/>
                          <a:cs typeface="Apple SD Gothic Neo"/>
                        </a:rPr>
                        <a:t>512</a:t>
                      </a:r>
                    </a:p>
                  </a:txBody>
                  <a:tcPr marL="133350" marR="133350" marT="95250" marB="95250" anchor="ctr">
                    <a:solidFill>
                      <a:srgbClr val="FFFFFF"/>
                    </a:solidFill>
                  </a:tcPr>
                </a:tc>
                <a:tc>
                  <a:txBody>
                    <a:bodyPr/>
                    <a:lstStyle/>
                    <a:p>
                      <a:r>
                        <a:rPr sz="1650" b="0">
                          <a:solidFill>
                            <a:srgbClr val="172738"/>
                          </a:solidFill>
                          <a:latin typeface="Apple SD Gothic Neo"/>
                          <a:ea typeface="Apple SD Gothic Neo"/>
                          <a:cs typeface="Apple SD Gothic Neo"/>
                        </a:rPr>
                        <a:t>511.4</a:t>
                      </a:r>
                    </a:p>
                  </a:txBody>
                  <a:tcPr marL="133350" marR="133350" marT="95250" marB="95250" anchor="ctr">
                    <a:solidFill>
                      <a:srgbClr val="FFFFFF"/>
                    </a:solidFill>
                  </a:tcPr>
                </a:tc>
                <a:tc>
                  <a:txBody>
                    <a:bodyPr/>
                    <a:lstStyle/>
                    <a:p>
                      <a:r>
                        <a:rPr sz="1650" b="0">
                          <a:solidFill>
                            <a:srgbClr val="172738"/>
                          </a:solidFill>
                          <a:latin typeface="Apple SD Gothic Neo"/>
                          <a:ea typeface="Apple SD Gothic Neo"/>
                          <a:cs typeface="Apple SD Gothic Neo"/>
                        </a:rPr>
                        <a:t>510.6</a:t>
                      </a:r>
                    </a:p>
                  </a:txBody>
                  <a:tcPr marL="133350" marR="133350" marT="95250" marB="95250" anchor="ctr">
                    <a:solidFill>
                      <a:srgbClr val="FFFFFF"/>
                    </a:solidFill>
                  </a:tcPr>
                </a:tc>
                <a:tc>
                  <a:txBody>
                    <a:bodyPr/>
                    <a:lstStyle/>
                    <a:p>
                      <a:r>
                        <a:rPr sz="1650" b="0">
                          <a:solidFill>
                            <a:srgbClr val="172738"/>
                          </a:solidFill>
                          <a:latin typeface="Apple SD Gothic Neo"/>
                          <a:ea typeface="Apple SD Gothic Neo"/>
                          <a:cs typeface="Apple SD Gothic Neo"/>
                        </a:rPr>
                        <a:t>510.3</a:t>
                      </a:r>
                    </a:p>
                  </a:txBody>
                  <a:tcPr marL="133350" marR="133350" marT="95250" marB="95250" anchor="ctr">
                    <a:solidFill>
                      <a:srgbClr val="FFFFFF"/>
                    </a:solidFill>
                  </a:tcPr>
                </a:tc>
                <a:tc>
                  <a:txBody>
                    <a:bodyPr/>
                    <a:lstStyle/>
                    <a:p>
                      <a:r>
                        <a:rPr sz="1650" b="0">
                          <a:solidFill>
                            <a:srgbClr val="172738"/>
                          </a:solidFill>
                          <a:latin typeface="Apple SD Gothic Neo"/>
                          <a:ea typeface="Apple SD Gothic Neo"/>
                          <a:cs typeface="Apple SD Gothic Neo"/>
                        </a:rPr>
                        <a:t>474.5</a:t>
                      </a:r>
                    </a:p>
                  </a:txBody>
                  <a:tcPr marL="133350" marR="133350" marT="95250" marB="95250" anchor="ctr">
                    <a:solidFill>
                      <a:srgbClr val="FFFFFF"/>
                    </a:solidFill>
                  </a:tcPr>
                </a:tc>
              </a:tr>
              <a:tr h="419100">
                <a:tc>
                  <a:txBody>
                    <a:bodyPr/>
                    <a:lstStyle/>
                    <a:p>
                      <a:r>
                        <a:rPr sz="1650" b="0">
                          <a:solidFill>
                            <a:srgbClr val="172738"/>
                          </a:solidFill>
                          <a:latin typeface="Apple SD Gothic Neo"/>
                          <a:ea typeface="Apple SD Gothic Neo"/>
                          <a:cs typeface="Apple SD Gothic Neo"/>
                        </a:rPr>
                        <a:t>2,048</a:t>
                      </a:r>
                    </a:p>
                  </a:txBody>
                  <a:tcPr marL="133350" marR="133350" marT="95250" marB="95250" anchor="ctr">
                    <a:solidFill>
                      <a:srgbClr val="F1F5F8"/>
                    </a:solidFill>
                  </a:tcPr>
                </a:tc>
                <a:tc>
                  <a:txBody>
                    <a:bodyPr/>
                    <a:lstStyle/>
                    <a:p>
                      <a:r>
                        <a:rPr sz="1650" b="0">
                          <a:solidFill>
                            <a:srgbClr val="172738"/>
                          </a:solidFill>
                          <a:latin typeface="Apple SD Gothic Neo"/>
                          <a:ea typeface="Apple SD Gothic Neo"/>
                          <a:cs typeface="Apple SD Gothic Neo"/>
                        </a:rPr>
                        <a:t>2026.5</a:t>
                      </a:r>
                    </a:p>
                  </a:txBody>
                  <a:tcPr marL="133350" marR="133350" marT="95250" marB="95250" anchor="ctr">
                    <a:solidFill>
                      <a:srgbClr val="F1F5F8"/>
                    </a:solidFill>
                  </a:tcPr>
                </a:tc>
                <a:tc>
                  <a:txBody>
                    <a:bodyPr/>
                    <a:lstStyle/>
                    <a:p>
                      <a:r>
                        <a:rPr sz="1650" b="0">
                          <a:solidFill>
                            <a:srgbClr val="172738"/>
                          </a:solidFill>
                          <a:latin typeface="Apple SD Gothic Neo"/>
                          <a:ea typeface="Apple SD Gothic Neo"/>
                          <a:cs typeface="Apple SD Gothic Neo"/>
                        </a:rPr>
                        <a:t>1.0</a:t>
                      </a:r>
                    </a:p>
                  </a:txBody>
                  <a:tcPr marL="133350" marR="133350" marT="95250" marB="95250" anchor="ctr">
                    <a:solidFill>
                      <a:srgbClr val="F1F5F8"/>
                    </a:solidFill>
                  </a:tcPr>
                </a:tc>
                <a:tc>
                  <a:txBody>
                    <a:bodyPr/>
                    <a:lstStyle/>
                    <a:p>
                      <a:r>
                        <a:rPr sz="1650" b="0">
                          <a:solidFill>
                            <a:srgbClr val="172738"/>
                          </a:solidFill>
                          <a:latin typeface="Apple SD Gothic Neo"/>
                          <a:ea typeface="Apple SD Gothic Neo"/>
                          <a:cs typeface="Apple SD Gothic Neo"/>
                        </a:rPr>
                        <a:t>1.0</a:t>
                      </a:r>
                    </a:p>
                  </a:txBody>
                  <a:tcPr marL="133350" marR="133350" marT="95250" marB="95250" anchor="ctr">
                    <a:solidFill>
                      <a:srgbClr val="F1F5F8"/>
                    </a:solidFill>
                  </a:tcPr>
                </a:tc>
                <a:tc>
                  <a:txBody>
                    <a:bodyPr/>
                    <a:lstStyle/>
                    <a:p>
                      <a:r>
                        <a:rPr sz="1650" b="0">
                          <a:solidFill>
                            <a:srgbClr val="172738"/>
                          </a:solidFill>
                          <a:latin typeface="Apple SD Gothic Neo"/>
                          <a:ea typeface="Apple SD Gothic Neo"/>
                          <a:cs typeface="Apple SD Gothic Neo"/>
                        </a:rPr>
                        <a:t>1.0</a:t>
                      </a:r>
                    </a:p>
                  </a:txBody>
                  <a:tcPr marL="133350" marR="133350" marT="95250" marB="95250" anchor="ctr">
                    <a:solidFill>
                      <a:srgbClr val="F1F5F8"/>
                    </a:solidFill>
                  </a:tcPr>
                </a:tc>
              </a:tr>
            </a:tbl>
          </a:graphicData>
        </a:graphic>
      </p:graphicFrame>
    </p:spTree>
    <p:extLst>
      <p:ext uri="{BB962C8B-B14F-4D97-AF65-F5344CB8AC3E}">
        <p14:creationId xmlns:p14="http://schemas.microsoft.com/office/powerpoint/2010/main" val="327954987"/>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itle">
            <a:extLst xmlns:a="http://schemas.openxmlformats.org/drawingml/2006/main">
              <a:ext uri="{FF2B5EF4-FFF2-40B4-BE49-F238E27FC236}">
                <a16:creationId xmlns:a16="http://schemas.microsoft.com/office/drawing/2014/main" id="{CFE0F642-ADF1-45FF-B886-B9770B8CD176}"/>
              </a:ext>
            </a:extLst>
          </p:cNvPr>
          <p:cNvSpPr>
            <a:spLocks xmlns:a="http://schemas.openxmlformats.org/drawingml/2006/main" noGrp="1"/>
          </p:cNvSpPr>
          <p:nvPr/>
        </p:nvSpPr>
        <p:spPr>
          <a:xfrm xmlns:a="http://schemas.openxmlformats.org/drawingml/2006/main">
            <a:off x="533400" y="438150"/>
            <a:ext cx="11125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2738"/>
                </a:solidFill>
                <a:latin typeface="Apple SD Gothic Neo"/>
                <a:ea typeface="Apple SD Gothic Neo"/>
                <a:cs typeface="Apple SD Gothic Neo"/>
              </a:defRPr>
            </a:defPPr>
          </a:lstStyle>
          <a:p xmlns:a="http://schemas.openxmlformats.org/drawingml/2006/main">
            <a:pPr>
              <a:buNone/>
              <a:defRPr sz="3300" b="1">
                <a:solidFill>
                  <a:srgbClr val="172738"/>
                </a:solidFill>
                <a:latin typeface="Apple SD Gothic Neo"/>
                <a:ea typeface="Apple SD Gothic Neo"/>
                <a:cs typeface="Apple SD Gothic Neo"/>
              </a:defRPr>
            </a:pPr>
            <a:r>
              <a:rPr sz="3300" b="1">
                <a:solidFill>
                  <a:srgbClr val="172738"/>
                </a:solidFill>
                <a:latin typeface="Apple SD Gothic Neo"/>
                <a:ea typeface="Apple SD Gothic Neo"/>
                <a:cs typeface="Apple SD Gothic Neo"/>
              </a:rPr>
              <a:t>4KiB 읽기의 버퍼와 QD 기준</a:t>
            </a:r>
          </a:p>
        </p:txBody>
      </p:sp>
      <p:sp>
        <p:nvSpPr>
          <p:cNvPr id="2" name="subtitle">
            <a:extLst xmlns:a="http://schemas.openxmlformats.org/drawingml/2006/main">
              <a:ext uri="{FF2B5EF4-FFF2-40B4-BE49-F238E27FC236}">
                <a16:creationId xmlns:a16="http://schemas.microsoft.com/office/drawing/2014/main" id="{CA027FDD-FE48-45B6-96B3-3C7D30C007B0}"/>
              </a:ext>
            </a:extLst>
          </p:cNvPr>
          <p:cNvSpPr>
            <a:spLocks xmlns:a="http://schemas.openxmlformats.org/drawingml/2006/main" noGrp="1"/>
          </p:cNvSpPr>
          <p:nvPr/>
        </p:nvSpPr>
        <p:spPr>
          <a:xfrm xmlns:a="http://schemas.openxmlformats.org/drawingml/2006/main">
            <a:off x="552450" y="1104900"/>
            <a:ext cx="110871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586875"/>
                </a:solidFill>
                <a:latin typeface="Apple SD Gothic Neo"/>
                <a:ea typeface="Apple SD Gothic Neo"/>
                <a:cs typeface="Apple SD Gothic Neo"/>
              </a:defRPr>
            </a:defPPr>
          </a:lstStyle>
          <a:p xmlns:a="http://schemas.openxmlformats.org/drawingml/2006/main">
            <a:pPr>
              <a:buNone/>
              <a:defRPr sz="1800" b="0">
                <a:solidFill>
                  <a:srgbClr val="586875"/>
                </a:solidFill>
                <a:latin typeface="Apple SD Gothic Neo"/>
                <a:ea typeface="Apple SD Gothic Neo"/>
                <a:cs typeface="Apple SD Gothic Neo"/>
              </a:defRPr>
            </a:pPr>
            <a:r>
              <a:rPr sz="1800" b="0">
                <a:solidFill>
                  <a:srgbClr val="586875"/>
                </a:solidFill>
                <a:latin typeface="Apple SD Gothic Neo"/>
                <a:ea typeface="Apple SD Gothic Neo"/>
                <a:cs typeface="Apple SD Gothic Neo"/>
              </a:rPr>
              <a:t>8MiB와 QD 512/Port의 조합으로 A1/A2가 Host IF 256GB/s에 근접했습니다.</a:t>
            </a:r>
          </a:p>
        </p:txBody>
      </p:sp>
      <p:sp>
        <p:nvSpPr>
          <p:cNvPr id="3" name="footer">
            <a:extLst xmlns:a="http://schemas.openxmlformats.org/drawingml/2006/main">
              <a:ext uri="{FF2B5EF4-FFF2-40B4-BE49-F238E27FC236}">
                <a16:creationId xmlns:a16="http://schemas.microsoft.com/office/drawing/2014/main" id="{73205BCE-169E-43BC-89E2-02BA9D7F154F}"/>
              </a:ext>
            </a:extLst>
          </p:cNvPr>
          <p:cNvSpPr>
            <a:spLocks xmlns:a="http://schemas.openxmlformats.org/drawingml/2006/main" noGrp="1"/>
          </p:cNvSpPr>
          <p:nvPr/>
        </p:nvSpPr>
        <p:spPr>
          <a:xfrm xmlns:a="http://schemas.openxmlformats.org/drawingml/2006/main">
            <a:off x="533400" y="6419850"/>
            <a:ext cx="10477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86875"/>
                </a:solidFill>
                <a:latin typeface="Apple SD Gothic Neo"/>
                <a:ea typeface="Apple SD Gothic Neo"/>
                <a:cs typeface="Apple SD Gothic Neo"/>
              </a:defRPr>
            </a:defPPr>
          </a:lstStyle>
          <a:p xmlns:a="http://schemas.openxmlformats.org/drawingml/2006/main">
            <a:pPr>
              <a:buNone/>
              <a:defRPr sz="1200" b="0">
                <a:solidFill>
                  <a:srgbClr val="586875"/>
                </a:solidFill>
                <a:latin typeface="Apple SD Gothic Neo"/>
                <a:ea typeface="Apple SD Gothic Neo"/>
                <a:cs typeface="Apple SD Gothic Neo"/>
              </a:defRPr>
            </a:pPr>
            <a:r>
              <a:rPr sz="1200" b="0">
                <a:solidFill>
                  <a:srgbClr val="586875"/>
                </a:solidFill>
                <a:latin typeface="Apple SD Gothic Neo"/>
                <a:ea typeface="Apple SD Gothic Neo"/>
                <a:cs typeface="Apple SD Gothic Neo"/>
              </a:rPr>
              <a:t>관측 범위: seed 7, 지속 부하 2.2ms. 아래 처리량은 초기 200µs를 제외한 고정 2ms 평균</a:t>
            </a:r>
          </a:p>
        </p:txBody>
      </p:sp>
      <p:sp>
        <p:nvSpPr>
          <p:cNvPr id="4" name="page">
            <a:extLst xmlns:a="http://schemas.openxmlformats.org/drawingml/2006/main">
              <a:ext uri="{FF2B5EF4-FFF2-40B4-BE49-F238E27FC236}">
                <a16:creationId xmlns:a16="http://schemas.microsoft.com/office/drawing/2014/main" id="{D98881DD-DC6E-4387-A458-C7A37683D145}"/>
              </a:ext>
            </a:extLst>
          </p:cNvPr>
          <p:cNvSpPr>
            <a:spLocks xmlns:a="http://schemas.openxmlformats.org/drawingml/2006/main" noGrp="1"/>
          </p:cNvSpPr>
          <p:nvPr/>
        </p:nvSpPr>
        <p:spPr>
          <a:xfrm xmlns:a="http://schemas.openxmlformats.org/drawingml/2006/main">
            <a:off x="11144250" y="6419850"/>
            <a:ext cx="4953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86875"/>
                </a:solidFill>
                <a:latin typeface="Apple SD Gothic Neo"/>
                <a:ea typeface="Apple SD Gothic Neo"/>
                <a:cs typeface="Apple SD Gothic Neo"/>
              </a:defRPr>
            </a:defPPr>
          </a:lstStyle>
          <a:p xmlns:a="http://schemas.openxmlformats.org/drawingml/2006/main">
            <a:pPr>
              <a:buNone/>
              <a:defRPr sz="1200" b="0">
                <a:solidFill>
                  <a:srgbClr val="586875"/>
                </a:solidFill>
                <a:latin typeface="Apple SD Gothic Neo"/>
                <a:ea typeface="Apple SD Gothic Neo"/>
                <a:cs typeface="Apple SD Gothic Neo"/>
              </a:defRPr>
            </a:pPr>
            <a:r>
              <a:rPr sz="1200" b="0">
                <a:solidFill>
                  <a:srgbClr val="586875"/>
                </a:solidFill>
                <a:latin typeface="Apple SD Gothic Neo"/>
                <a:ea typeface="Apple SD Gothic Neo"/>
                <a:cs typeface="Apple SD Gothic Neo"/>
              </a:rPr>
              <a:t>10</a:t>
            </a:r>
          </a:p>
        </p:txBody>
      </p:sp>
      <p:graphicFrame>
        <p:nvGraphicFramePr>
          <p:cNvPr id="5" name="buffer-choices">
            <a:extLst xmlns:a="http://schemas.openxmlformats.org/drawingml/2006/main">
              <a:ext uri="{FF2B5EF4-FFF2-40B4-BE49-F238E27FC236}">
                <a16:creationId xmlns:a16="http://schemas.microsoft.com/office/drawing/2014/main" id="{4BC011E3-B41A-4CB7-B875-98FC17B43130}"/>
              </a:ext>
            </a:extLst>
          </p:cNvPr>
          <p:cNvGraphicFramePr/>
          <p:nvPr/>
        </p:nvGraphicFramePr>
        <p:xfrm>
          <a:off xmlns:a="http://schemas.openxmlformats.org/drawingml/2006/main" x="533400" y="1943100"/>
          <a:ext xmlns:a="http://schemas.openxmlformats.org/drawingml/2006/main" cx="7410450" cy="2171700"/>
        </p:xfrm>
        <a:graphic xmlns:a="http://schemas.openxmlformats.org/drawingml/2006/main">
          <a:graphicData uri="http://schemas.openxmlformats.org/drawingml/2006/table">
            <a:tbl>
              <a:tblPr/>
              <a:tblGrid>
                <a:gridCol w="2609850"/>
                <a:gridCol w="1562100"/>
                <a:gridCol w="1619250"/>
                <a:gridCol w="1619250"/>
              </a:tblGrid>
              <a:tr h="542925">
                <a:tc>
                  <a:txBody>
                    <a:bodyPr/>
                    <a:lstStyle/>
                    <a:p>
                      <a:r>
                        <a:rPr sz="1800" b="1">
                          <a:solidFill>
                            <a:srgbClr val="FFFFFF"/>
                          </a:solidFill>
                          <a:latin typeface="Apple SD Gothic Neo"/>
                          <a:ea typeface="Apple SD Gothic Neo"/>
                          <a:cs typeface="Apple SD Gothic Neo"/>
                        </a:rPr>
                        <a:t>Controller buffer</a:t>
                      </a:r>
                    </a:p>
                  </a:txBody>
                  <a:tcPr marL="133350" marR="133350" marT="95250" marB="95250" anchor="ctr">
                    <a:solidFill>
                      <a:srgbClr val="122C40"/>
                    </a:solidFill>
                  </a:tcPr>
                </a:tc>
                <a:tc>
                  <a:txBody>
                    <a:bodyPr/>
                    <a:lstStyle/>
                    <a:p>
                      <a:r>
                        <a:rPr sz="1800" b="1">
                          <a:solidFill>
                            <a:srgbClr val="FFFFFF"/>
                          </a:solidFill>
                          <a:latin typeface="Apple SD Gothic Neo"/>
                          <a:ea typeface="Apple SD Gothic Neo"/>
                          <a:cs typeface="Apple SD Gothic Neo"/>
                        </a:rPr>
                        <a:t>QD / Port</a:t>
                      </a:r>
                    </a:p>
                  </a:txBody>
                  <a:tcPr marL="133350" marR="133350" marT="95250" marB="95250" anchor="ctr">
                    <a:solidFill>
                      <a:srgbClr val="122C40"/>
                    </a:solidFill>
                  </a:tcPr>
                </a:tc>
                <a:tc>
                  <a:txBody>
                    <a:bodyPr/>
                    <a:lstStyle/>
                    <a:p>
                      <a:r>
                        <a:rPr sz="1800" b="1">
                          <a:solidFill>
                            <a:srgbClr val="FFFFFF"/>
                          </a:solidFill>
                          <a:latin typeface="Apple SD Gothic Neo"/>
                          <a:ea typeface="Apple SD Gothic Neo"/>
                          <a:cs typeface="Apple SD Gothic Neo"/>
                        </a:rPr>
                        <a:t>A1 (GB/s)</a:t>
                      </a:r>
                    </a:p>
                  </a:txBody>
                  <a:tcPr marL="133350" marR="133350" marT="95250" marB="95250" anchor="ctr">
                    <a:solidFill>
                      <a:srgbClr val="122C40"/>
                    </a:solidFill>
                  </a:tcPr>
                </a:tc>
                <a:tc>
                  <a:txBody>
                    <a:bodyPr/>
                    <a:lstStyle/>
                    <a:p>
                      <a:r>
                        <a:rPr sz="1800" b="1">
                          <a:solidFill>
                            <a:srgbClr val="FFFFFF"/>
                          </a:solidFill>
                          <a:latin typeface="Apple SD Gothic Neo"/>
                          <a:ea typeface="Apple SD Gothic Neo"/>
                          <a:cs typeface="Apple SD Gothic Neo"/>
                        </a:rPr>
                        <a:t>A2 (GB/s)</a:t>
                      </a:r>
                    </a:p>
                  </a:txBody>
                  <a:tcPr marL="133350" marR="133350" marT="95250" marB="95250" anchor="ctr">
                    <a:solidFill>
                      <a:srgbClr val="122C40"/>
                    </a:solidFill>
                  </a:tcPr>
                </a:tc>
              </a:tr>
              <a:tr h="542925">
                <a:tc>
                  <a:txBody>
                    <a:bodyPr/>
                    <a:lstStyle/>
                    <a:p>
                      <a:r>
                        <a:rPr sz="1800" b="0">
                          <a:solidFill>
                            <a:srgbClr val="172738"/>
                          </a:solidFill>
                          <a:latin typeface="Apple SD Gothic Neo"/>
                          <a:ea typeface="Apple SD Gothic Neo"/>
                          <a:cs typeface="Apple SD Gothic Neo"/>
                        </a:rPr>
                        <a:t>4MiB</a:t>
                      </a:r>
                    </a:p>
                  </a:txBody>
                  <a:tcPr marL="133350" marR="133350" marT="95250" marB="95250" anchor="ctr">
                    <a:solidFill>
                      <a:srgbClr val="FFFFFF"/>
                    </a:solidFill>
                  </a:tcPr>
                </a:tc>
                <a:tc>
                  <a:txBody>
                    <a:bodyPr/>
                    <a:lstStyle/>
                    <a:p>
                      <a:r>
                        <a:rPr sz="1800" b="0">
                          <a:solidFill>
                            <a:srgbClr val="172738"/>
                          </a:solidFill>
                          <a:latin typeface="Apple SD Gothic Neo"/>
                          <a:ea typeface="Apple SD Gothic Neo"/>
                          <a:cs typeface="Apple SD Gothic Neo"/>
                        </a:rPr>
                        <a:t>256</a:t>
                      </a:r>
                    </a:p>
                  </a:txBody>
                  <a:tcPr marL="133350" marR="133350" marT="95250" marB="95250" anchor="ctr">
                    <a:solidFill>
                      <a:srgbClr val="FFFFFF"/>
                    </a:solidFill>
                  </a:tcPr>
                </a:tc>
                <a:tc>
                  <a:txBody>
                    <a:bodyPr/>
                    <a:lstStyle/>
                    <a:p>
                      <a:r>
                        <a:rPr sz="1800" b="0">
                          <a:solidFill>
                            <a:srgbClr val="172738"/>
                          </a:solidFill>
                          <a:latin typeface="Apple SD Gothic Neo"/>
                          <a:ea typeface="Apple SD Gothic Neo"/>
                          <a:cs typeface="Apple SD Gothic Neo"/>
                        </a:rPr>
                        <a:t>234.48</a:t>
                      </a:r>
                    </a:p>
                  </a:txBody>
                  <a:tcPr marL="133350" marR="133350" marT="95250" marB="95250" anchor="ctr">
                    <a:solidFill>
                      <a:srgbClr val="FFFFFF"/>
                    </a:solidFill>
                  </a:tcPr>
                </a:tc>
                <a:tc>
                  <a:txBody>
                    <a:bodyPr/>
                    <a:lstStyle/>
                    <a:p>
                      <a:r>
                        <a:rPr sz="1800" b="0">
                          <a:solidFill>
                            <a:srgbClr val="172738"/>
                          </a:solidFill>
                          <a:latin typeface="Apple SD Gothic Neo"/>
                          <a:ea typeface="Apple SD Gothic Neo"/>
                          <a:cs typeface="Apple SD Gothic Neo"/>
                        </a:rPr>
                        <a:t>239.90</a:t>
                      </a:r>
                    </a:p>
                  </a:txBody>
                  <a:tcPr marL="133350" marR="133350" marT="95250" marB="95250" anchor="ctr">
                    <a:solidFill>
                      <a:srgbClr val="FFFFFF"/>
                    </a:solidFill>
                  </a:tcPr>
                </a:tc>
              </a:tr>
              <a:tr h="542925">
                <a:tc>
                  <a:txBody>
                    <a:bodyPr/>
                    <a:lstStyle/>
                    <a:p>
                      <a:r>
                        <a:rPr sz="1800" b="0">
                          <a:solidFill>
                            <a:srgbClr val="172738"/>
                          </a:solidFill>
                          <a:latin typeface="Apple SD Gothic Neo"/>
                          <a:ea typeface="Apple SD Gothic Neo"/>
                          <a:cs typeface="Apple SD Gothic Neo"/>
                        </a:rPr>
                        <a:t>8MiB</a:t>
                      </a:r>
                    </a:p>
                  </a:txBody>
                  <a:tcPr marL="133350" marR="133350" marT="95250" marB="95250" anchor="ctr">
                    <a:solidFill>
                      <a:srgbClr val="F1F5F8"/>
                    </a:solidFill>
                  </a:tcPr>
                </a:tc>
                <a:tc>
                  <a:txBody>
                    <a:bodyPr/>
                    <a:lstStyle/>
                    <a:p>
                      <a:r>
                        <a:rPr sz="1800" b="0">
                          <a:solidFill>
                            <a:srgbClr val="172738"/>
                          </a:solidFill>
                          <a:latin typeface="Apple SD Gothic Neo"/>
                          <a:ea typeface="Apple SD Gothic Neo"/>
                          <a:cs typeface="Apple SD Gothic Neo"/>
                        </a:rPr>
                        <a:t>512</a:t>
                      </a:r>
                    </a:p>
                  </a:txBody>
                  <a:tcPr marL="133350" marR="133350" marT="95250" marB="95250" anchor="ctr">
                    <a:solidFill>
                      <a:srgbClr val="F1F5F8"/>
                    </a:solidFill>
                  </a:tcPr>
                </a:tc>
                <a:tc>
                  <a:txBody>
                    <a:bodyPr/>
                    <a:lstStyle/>
                    <a:p>
                      <a:r>
                        <a:rPr sz="1800" b="0">
                          <a:solidFill>
                            <a:srgbClr val="172738"/>
                          </a:solidFill>
                          <a:latin typeface="Apple SD Gothic Neo"/>
                          <a:ea typeface="Apple SD Gothic Neo"/>
                          <a:cs typeface="Apple SD Gothic Neo"/>
                        </a:rPr>
                        <a:t>255.37</a:t>
                      </a:r>
                    </a:p>
                  </a:txBody>
                  <a:tcPr marL="133350" marR="133350" marT="95250" marB="95250" anchor="ctr">
                    <a:solidFill>
                      <a:srgbClr val="F1F5F8"/>
                    </a:solidFill>
                  </a:tcPr>
                </a:tc>
                <a:tc>
                  <a:txBody>
                    <a:bodyPr/>
                    <a:lstStyle/>
                    <a:p>
                      <a:r>
                        <a:rPr sz="1800" b="0">
                          <a:solidFill>
                            <a:srgbClr val="172738"/>
                          </a:solidFill>
                          <a:latin typeface="Apple SD Gothic Neo"/>
                          <a:ea typeface="Apple SD Gothic Neo"/>
                          <a:cs typeface="Apple SD Gothic Neo"/>
                        </a:rPr>
                        <a:t>255.06</a:t>
                      </a:r>
                    </a:p>
                  </a:txBody>
                  <a:tcPr marL="133350" marR="133350" marT="95250" marB="95250" anchor="ctr">
                    <a:solidFill>
                      <a:srgbClr val="F1F5F8"/>
                    </a:solidFill>
                  </a:tcPr>
                </a:tc>
              </a:tr>
              <a:tr h="542925">
                <a:tc>
                  <a:txBody>
                    <a:bodyPr/>
                    <a:lstStyle/>
                    <a:p>
                      <a:r>
                        <a:rPr sz="1800" b="0">
                          <a:solidFill>
                            <a:srgbClr val="172738"/>
                          </a:solidFill>
                          <a:latin typeface="Apple SD Gothic Neo"/>
                          <a:ea typeface="Apple SD Gothic Neo"/>
                          <a:cs typeface="Apple SD Gothic Neo"/>
                        </a:rPr>
                        <a:t>16MiB</a:t>
                      </a:r>
                    </a:p>
                  </a:txBody>
                  <a:tcPr marL="133350" marR="133350" marT="95250" marB="95250" anchor="ctr">
                    <a:solidFill>
                      <a:srgbClr val="FFFFFF"/>
                    </a:solidFill>
                  </a:tcPr>
                </a:tc>
                <a:tc>
                  <a:txBody>
                    <a:bodyPr/>
                    <a:lstStyle/>
                    <a:p>
                      <a:r>
                        <a:rPr sz="1800" b="0">
                          <a:solidFill>
                            <a:srgbClr val="172738"/>
                          </a:solidFill>
                          <a:latin typeface="Apple SD Gothic Neo"/>
                          <a:ea typeface="Apple SD Gothic Neo"/>
                          <a:cs typeface="Apple SD Gothic Neo"/>
                        </a:rPr>
                        <a:t>512</a:t>
                      </a:r>
                    </a:p>
                  </a:txBody>
                  <a:tcPr marL="133350" marR="133350" marT="95250" marB="95250" anchor="ctr">
                    <a:solidFill>
                      <a:srgbClr val="FFFFFF"/>
                    </a:solidFill>
                  </a:tcPr>
                </a:tc>
                <a:tc>
                  <a:txBody>
                    <a:bodyPr/>
                    <a:lstStyle/>
                    <a:p>
                      <a:r>
                        <a:rPr sz="1800" b="0">
                          <a:solidFill>
                            <a:srgbClr val="172738"/>
                          </a:solidFill>
                          <a:latin typeface="Apple SD Gothic Neo"/>
                          <a:ea typeface="Apple SD Gothic Neo"/>
                          <a:cs typeface="Apple SD Gothic Neo"/>
                        </a:rPr>
                        <a:t>255.37</a:t>
                      </a:r>
                    </a:p>
                  </a:txBody>
                  <a:tcPr marL="133350" marR="133350" marT="95250" marB="95250" anchor="ctr">
                    <a:solidFill>
                      <a:srgbClr val="FFFFFF"/>
                    </a:solidFill>
                  </a:tcPr>
                </a:tc>
                <a:tc>
                  <a:txBody>
                    <a:bodyPr/>
                    <a:lstStyle/>
                    <a:p>
                      <a:r>
                        <a:rPr sz="1800" b="0">
                          <a:solidFill>
                            <a:srgbClr val="172738"/>
                          </a:solidFill>
                          <a:latin typeface="Apple SD Gothic Neo"/>
                          <a:ea typeface="Apple SD Gothic Neo"/>
                          <a:cs typeface="Apple SD Gothic Neo"/>
                        </a:rPr>
                        <a:t>255.21</a:t>
                      </a:r>
                    </a:p>
                  </a:txBody>
                  <a:tcPr marL="133350" marR="133350" marT="95250" marB="95250" anchor="ctr">
                    <a:solidFill>
                      <a:srgbClr val="FFFFFF"/>
                    </a:solidFill>
                  </a:tcPr>
                </a:tc>
              </a:tr>
            </a:tbl>
          </a:graphicData>
        </a:graphic>
      </p:graphicFrame>
      <p:sp>
        <p:nvSpPr>
          <p:cNvPr id="6" name="current-configuration">
            <a:extLst xmlns:a="http://schemas.openxmlformats.org/drawingml/2006/main">
              <a:ext uri="{FF2B5EF4-FFF2-40B4-BE49-F238E27FC236}">
                <a16:creationId xmlns:a16="http://schemas.microsoft.com/office/drawing/2014/main" id="{90BCAF51-5CD3-43EE-B775-2DFDAD8130BA}"/>
              </a:ext>
            </a:extLst>
          </p:cNvPr>
          <p:cNvSpPr>
            <a:spLocks xmlns:a="http://schemas.openxmlformats.org/drawingml/2006/main" noGrp="1"/>
          </p:cNvSpPr>
          <p:nvPr/>
        </p:nvSpPr>
        <p:spPr>
          <a:xfrm xmlns:a="http://schemas.openxmlformats.org/drawingml/2006/main">
            <a:off x="8382000" y="1943100"/>
            <a:ext cx="32289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126DCA"/>
                </a:solidFill>
                <a:latin typeface="Apple SD Gothic Neo"/>
                <a:ea typeface="Apple SD Gothic Neo"/>
                <a:cs typeface="Apple SD Gothic Neo"/>
              </a:defRPr>
            </a:defPPr>
          </a:lstStyle>
          <a:p xmlns:a="http://schemas.openxmlformats.org/drawingml/2006/main">
            <a:pPr>
              <a:buNone/>
              <a:defRPr sz="2100" b="1">
                <a:solidFill>
                  <a:srgbClr val="126DCA"/>
                </a:solidFill>
                <a:latin typeface="Apple SD Gothic Neo"/>
                <a:ea typeface="Apple SD Gothic Neo"/>
                <a:cs typeface="Apple SD Gothic Neo"/>
              </a:defRPr>
            </a:pPr>
            <a:r>
              <a:rPr sz="2100" b="1">
                <a:solidFill>
                  <a:srgbClr val="126DCA"/>
                </a:solidFill>
                <a:latin typeface="Apple SD Gothic Neo"/>
                <a:ea typeface="Apple SD Gothic Neo"/>
                <a:cs typeface="Apple SD Gothic Neo"/>
              </a:rPr>
              <a:t>공통 조건</a:t>
            </a:r>
          </a:p>
        </p:txBody>
      </p:sp>
      <p:sp>
        <p:nvSpPr>
          <p:cNvPr id="7" name="current-configuration-detail">
            <a:extLst xmlns:a="http://schemas.openxmlformats.org/drawingml/2006/main">
              <a:ext uri="{FF2B5EF4-FFF2-40B4-BE49-F238E27FC236}">
                <a16:creationId xmlns:a16="http://schemas.microsoft.com/office/drawing/2014/main" id="{14BA4A00-A069-4B0D-879A-9F5770D976BE}"/>
              </a:ext>
            </a:extLst>
          </p:cNvPr>
          <p:cNvSpPr>
            <a:spLocks xmlns:a="http://schemas.openxmlformats.org/drawingml/2006/main" noGrp="1"/>
          </p:cNvSpPr>
          <p:nvPr/>
        </p:nvSpPr>
        <p:spPr>
          <a:xfrm xmlns:a="http://schemas.openxmlformats.org/drawingml/2006/main">
            <a:off x="8382000" y="2514600"/>
            <a:ext cx="3228975"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172738"/>
                </a:solidFill>
                <a:latin typeface="Apple SD Gothic Neo"/>
                <a:ea typeface="Apple SD Gothic Neo"/>
                <a:cs typeface="Apple SD Gothic Neo"/>
              </a:defRPr>
            </a:defPPr>
          </a:lstStyle>
          <a:p xmlns:a="http://schemas.openxmlformats.org/drawingml/2006/main">
            <a:pPr>
              <a:buNone/>
              <a:defRPr sz="1800" b="0">
                <a:solidFill>
                  <a:srgbClr val="172738"/>
                </a:solidFill>
                <a:latin typeface="Apple SD Gothic Neo"/>
                <a:ea typeface="Apple SD Gothic Neo"/>
                <a:cs typeface="Apple SD Gothic Neo"/>
              </a:defRPr>
            </a:pPr>
            <a:r>
              <a:rPr sz="1800" b="0">
                <a:solidFill>
                  <a:srgbClr val="172738"/>
                </a:solidFill>
                <a:latin typeface="Apple SD Gothic Neo"/>
                <a:ea typeface="Apple SD Gothic Neo"/>
                <a:cs typeface="Apple SD Gothic Neo"/>
              </a:rPr>
              <a:t>4 Port, 4 Channel</a:t>
            </a:r>
          </a:p>
          <a:p xmlns:a="http://schemas.openxmlformats.org/drawingml/2006/main">
            <a:pPr>
              <a:buNone/>
              <a:defRPr sz="1800" b="0">
                <a:solidFill>
                  <a:srgbClr val="172738"/>
                </a:solidFill>
                <a:latin typeface="Apple SD Gothic Neo"/>
                <a:ea typeface="Apple SD Gothic Neo"/>
                <a:cs typeface="Apple SD Gothic Neo"/>
              </a:defRPr>
            </a:pPr>
            <a:r>
              <a:rPr sz="1800" b="0">
                <a:solidFill>
                  <a:srgbClr val="172738"/>
                </a:solidFill>
                <a:latin typeface="Apple SD Gothic Neo"/>
                <a:ea typeface="Apple SD Gothic Neo"/>
                <a:cs typeface="Apple SD Gothic Neo"/>
              </a:rPr>
              <a:t>채널당 16 Plane</a:t>
            </a:r>
          </a:p>
          <a:p xmlns:a="http://schemas.openxmlformats.org/drawingml/2006/main">
            <a:pPr>
              <a:buNone/>
              <a:defRPr sz="1800" b="0">
                <a:solidFill>
                  <a:srgbClr val="172738"/>
                </a:solidFill>
                <a:latin typeface="Apple SD Gothic Neo"/>
                <a:ea typeface="Apple SD Gothic Neo"/>
                <a:cs typeface="Apple SD Gothic Neo"/>
              </a:defRPr>
            </a:pPr>
            <a:r>
              <a:rPr sz="1800" b="0">
                <a:solidFill>
                  <a:srgbClr val="172738"/>
                </a:solidFill>
                <a:latin typeface="Apple SD Gothic Neo"/>
                <a:ea typeface="Apple SD Gothic Neo"/>
                <a:cs typeface="Apple SD Gothic Neo"/>
              </a:rPr>
              <a:t>영역별 L2P 배치</a:t>
            </a:r>
          </a:p>
          <a:p xmlns:a="http://schemas.openxmlformats.org/drawingml/2006/main">
            <a:pPr>
              <a:buNone/>
              <a:defRPr sz="1800" b="0">
                <a:solidFill>
                  <a:srgbClr val="172738"/>
                </a:solidFill>
                <a:latin typeface="Apple SD Gothic Neo"/>
                <a:ea typeface="Apple SD Gothic Neo"/>
                <a:cs typeface="Apple SD Gothic Neo"/>
              </a:defRPr>
            </a:pPr>
            <a:r>
              <a:rPr sz="1800" b="0">
                <a:solidFill>
                  <a:srgbClr val="172738"/>
                </a:solidFill>
                <a:latin typeface="Apple SD Gothic Neo"/>
                <a:ea typeface="Apple SD Gothic Neo"/>
                <a:cs typeface="Apple SD Gothic Neo"/>
              </a:rPr>
              <a:t>PF OFF</a:t>
            </a:r>
          </a:p>
          <a:p xmlns:a="http://schemas.openxmlformats.org/drawingml/2006/main">
            <a:pPr>
              <a:buNone/>
              <a:defRPr sz="1800" b="0">
                <a:solidFill>
                  <a:srgbClr val="172738"/>
                </a:solidFill>
                <a:latin typeface="Apple SD Gothic Neo"/>
                <a:ea typeface="Apple SD Gothic Neo"/>
                <a:cs typeface="Apple SD Gothic Neo"/>
              </a:defRPr>
            </a:pPr>
            <a:r>
              <a:rPr sz="1800" b="0">
                <a:solidFill>
                  <a:srgbClr val="172738"/>
                </a:solidFill>
                <a:latin typeface="Apple SD Gothic Neo"/>
                <a:ea typeface="Apple SD Gothic Neo"/>
                <a:cs typeface="Apple SD Gothic Neo"/>
              </a:rPr>
              <a:t>Port 내부 in-order</a:t>
            </a:r>
          </a:p>
        </p:txBody>
      </p:sp>
      <p:sp>
        <p:nvSpPr>
          <p:cNvPr id="8" name="buffer-choice-explanation">
            <a:extLst xmlns:a="http://schemas.openxmlformats.org/drawingml/2006/main">
              <a:ext uri="{FF2B5EF4-FFF2-40B4-BE49-F238E27FC236}">
                <a16:creationId xmlns:a16="http://schemas.microsoft.com/office/drawing/2014/main" id="{7691E53A-EE92-41B6-A45E-67854C11798A}"/>
              </a:ext>
            </a:extLst>
          </p:cNvPr>
          <p:cNvSpPr>
            <a:spLocks xmlns:a="http://schemas.openxmlformats.org/drawingml/2006/main" noGrp="1"/>
          </p:cNvSpPr>
          <p:nvPr/>
        </p:nvSpPr>
        <p:spPr>
          <a:xfrm xmlns:a="http://schemas.openxmlformats.org/drawingml/2006/main">
            <a:off x="571500" y="4543425"/>
            <a:ext cx="109918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172738"/>
                </a:solidFill>
                <a:latin typeface="Apple SD Gothic Neo"/>
                <a:ea typeface="Apple SD Gothic Neo"/>
                <a:cs typeface="Apple SD Gothic Neo"/>
              </a:defRPr>
            </a:defPPr>
          </a:lstStyle>
          <a:p xmlns:a="http://schemas.openxmlformats.org/drawingml/2006/main">
            <a:pPr>
              <a:buNone/>
              <a:defRPr sz="1875" b="0">
                <a:solidFill>
                  <a:srgbClr val="172738"/>
                </a:solidFill>
                <a:latin typeface="Apple SD Gothic Neo"/>
                <a:ea typeface="Apple SD Gothic Neo"/>
                <a:cs typeface="Apple SD Gothic Neo"/>
              </a:defRPr>
            </a:pPr>
            <a:r>
              <a:rPr sz="1875" b="0">
                <a:solidFill>
                  <a:srgbClr val="172738"/>
                </a:solidFill>
                <a:latin typeface="Apple SD Gothic Neo"/>
                <a:ea typeface="Apple SD Gothic Neo"/>
                <a:cs typeface="Apple SD Gothic Neo"/>
              </a:rPr>
              <a:t>측정한 조합에서는 4MiB도 200GB/s를 넘었습니다.</a:t>
            </a:r>
          </a:p>
          <a:p xmlns:a="http://schemas.openxmlformats.org/drawingml/2006/main">
            <a:pPr>
              <a:buNone/>
              <a:defRPr sz="1875" b="0">
                <a:solidFill>
                  <a:srgbClr val="172738"/>
                </a:solidFill>
                <a:latin typeface="Apple SD Gothic Neo"/>
                <a:ea typeface="Apple SD Gothic Neo"/>
                <a:cs typeface="Apple SD Gothic Neo"/>
              </a:defRPr>
            </a:pPr>
            <a:r>
              <a:rPr sz="1875" b="0">
                <a:solidFill>
                  <a:srgbClr val="172738"/>
                </a:solidFill>
                <a:latin typeface="Apple SD Gothic Neo"/>
                <a:ea typeface="Apple SD Gothic Neo"/>
                <a:cs typeface="Apple SD Gothic Neo"/>
              </a:rPr>
              <a:t>16MiB는 8MiB와 처리량이 비슷하므로, 현재 부하에서는 8MiB가 유효한 기준점입니다.</a:t>
            </a:r>
          </a:p>
        </p:txBody>
      </p:sp>
      <p:sp>
        <p:nvSpPr>
          <p:cNvPr id="9" name="partial-read-limit">
            <a:extLst xmlns:a="http://schemas.openxmlformats.org/drawingml/2006/main">
              <a:ext uri="{FF2B5EF4-FFF2-40B4-BE49-F238E27FC236}">
                <a16:creationId xmlns:a16="http://schemas.microsoft.com/office/drawing/2014/main" id="{37BF2D31-4BAD-4B59-B839-A6051A93BD4A}"/>
              </a:ext>
            </a:extLst>
          </p:cNvPr>
          <p:cNvSpPr>
            <a:spLocks xmlns:a="http://schemas.openxmlformats.org/drawingml/2006/main" noGrp="1"/>
          </p:cNvSpPr>
          <p:nvPr/>
        </p:nvSpPr>
        <p:spPr>
          <a:xfrm xmlns:a="http://schemas.openxmlformats.org/drawingml/2006/main">
            <a:off x="571500" y="5505450"/>
            <a:ext cx="110013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586875"/>
                </a:solidFill>
                <a:latin typeface="Apple SD Gothic Neo"/>
                <a:ea typeface="Apple SD Gothic Neo"/>
                <a:cs typeface="Apple SD Gothic Neo"/>
              </a:defRPr>
            </a:defPPr>
          </a:lstStyle>
          <a:p xmlns:a="http://schemas.openxmlformats.org/drawingml/2006/main">
            <a:pPr>
              <a:buNone/>
              <a:defRPr sz="1725" b="0">
                <a:solidFill>
                  <a:srgbClr val="586875"/>
                </a:solidFill>
                <a:latin typeface="Apple SD Gothic Neo"/>
                <a:ea typeface="Apple SD Gothic Neo"/>
                <a:cs typeface="Apple SD Gothic Neo"/>
              </a:defRPr>
            </a:pPr>
            <a:r>
              <a:rPr sz="1725" b="0">
                <a:solidFill>
                  <a:srgbClr val="586875"/>
                </a:solidFill>
                <a:latin typeface="Apple SD Gothic Neo"/>
                <a:ea typeface="Apple SD Gothic Neo"/>
                <a:cs typeface="Apple SD Gothic Neo"/>
              </a:rPr>
              <a:t>64B 부분 읽기 C1/C2는 같은 8MiB·QD512에서 약 4GB/s입니다.</a:t>
            </a:r>
          </a:p>
          <a:p xmlns:a="http://schemas.openxmlformats.org/drawingml/2006/main">
            <a:pPr>
              <a:buNone/>
              <a:defRPr sz="1725" b="0">
                <a:solidFill>
                  <a:srgbClr val="586875"/>
                </a:solidFill>
                <a:latin typeface="Apple SD Gothic Neo"/>
                <a:ea typeface="Apple SD Gothic Neo"/>
                <a:cs typeface="Apple SD Gothic Neo"/>
              </a:defRPr>
            </a:pPr>
            <a:r>
              <a:rPr sz="1725" b="0">
                <a:solidFill>
                  <a:srgbClr val="586875"/>
                </a:solidFill>
                <a:latin typeface="Apple SD Gothic Neo"/>
                <a:ea typeface="Apple SD Gothic Neo"/>
                <a:cs typeface="Apple SD Gothic Neo"/>
              </a:rPr>
              <a:t>현재 모델의 전체 16KiB NAND 전송 중 유효 데이터가 256B여서, A의 수치를 그대로 적용할 수 없습니다.</a:t>
            </a:r>
          </a:p>
        </p:txBody>
      </p:sp>
    </p:spTree>
    <p:extLst>
      <p:ext uri="{BB962C8B-B14F-4D97-AF65-F5344CB8AC3E}">
        <p14:creationId xmlns:p14="http://schemas.microsoft.com/office/powerpoint/2010/main" val="996841360"/>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itle">
            <a:extLst xmlns:a="http://schemas.openxmlformats.org/drawingml/2006/main">
              <a:ext uri="{FF2B5EF4-FFF2-40B4-BE49-F238E27FC236}">
                <a16:creationId xmlns:a16="http://schemas.microsoft.com/office/drawing/2014/main" id="{3D06D794-4122-4BDB-AAAF-7C44D7FED1E5}"/>
              </a:ext>
            </a:extLst>
          </p:cNvPr>
          <p:cNvSpPr>
            <a:spLocks xmlns:a="http://schemas.openxmlformats.org/drawingml/2006/main" noGrp="1"/>
          </p:cNvSpPr>
          <p:nvPr/>
        </p:nvSpPr>
        <p:spPr>
          <a:xfrm xmlns:a="http://schemas.openxmlformats.org/drawingml/2006/main">
            <a:off x="533400" y="438150"/>
            <a:ext cx="11125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2738"/>
                </a:solidFill>
                <a:latin typeface="Apple SD Gothic Neo"/>
                <a:ea typeface="Apple SD Gothic Neo"/>
                <a:cs typeface="Apple SD Gothic Neo"/>
              </a:defRPr>
            </a:defPPr>
          </a:lstStyle>
          <a:p xmlns:a="http://schemas.openxmlformats.org/drawingml/2006/main">
            <a:pPr>
              <a:defRPr sz="3300" b="1">
                <a:solidFill>
                  <a:srgbClr val="172738"/>
                </a:solidFill>
                <a:latin typeface="Apple SD Gothic Neo"/>
                <a:ea typeface="Apple SD Gothic Neo"/>
                <a:cs typeface="Apple SD Gothic Neo"/>
              </a:defRPr>
            </a:pPr>
            <a:r>
              <a:rPr sz="3300" b="1">
                <a:solidFill>
                  <a:srgbClr val="172738"/>
                </a:solidFill>
                <a:latin typeface="Apple SD Gothic Neo"/>
                <a:ea typeface="Apple SD Gothic Neo"/>
                <a:cs typeface="Apple SD Gothic Neo"/>
              </a:rPr>
              <a:t>비교 조건과 적용 범위</a:t>
            </a:r>
          </a:p>
        </p:txBody>
      </p:sp>
      <p:sp>
        <p:nvSpPr>
          <p:cNvPr id="2" name="subtitle">
            <a:extLst xmlns:a="http://schemas.openxmlformats.org/drawingml/2006/main">
              <a:ext uri="{FF2B5EF4-FFF2-40B4-BE49-F238E27FC236}">
                <a16:creationId xmlns:a16="http://schemas.microsoft.com/office/drawing/2014/main" id="{73CA8DD2-5713-4EFE-91BF-51AF965D012C}"/>
              </a:ext>
            </a:extLst>
          </p:cNvPr>
          <p:cNvSpPr>
            <a:spLocks xmlns:a="http://schemas.openxmlformats.org/drawingml/2006/main" noGrp="1"/>
          </p:cNvSpPr>
          <p:nvPr/>
        </p:nvSpPr>
        <p:spPr>
          <a:xfrm xmlns:a="http://schemas.openxmlformats.org/drawingml/2006/main">
            <a:off x="552450" y="1104900"/>
            <a:ext cx="110871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586875"/>
                </a:solidFill>
                <a:latin typeface="Apple SD Gothic Neo"/>
                <a:ea typeface="Apple SD Gothic Neo"/>
                <a:cs typeface="Apple SD Gothic Neo"/>
              </a:defRPr>
            </a:defPPr>
          </a:lstStyle>
          <a:p xmlns:a="http://schemas.openxmlformats.org/drawingml/2006/main">
            <a:pPr>
              <a:defRPr sz="1800" b="0">
                <a:solidFill>
                  <a:srgbClr val="586875"/>
                </a:solidFill>
                <a:latin typeface="Apple SD Gothic Neo"/>
                <a:ea typeface="Apple SD Gothic Neo"/>
                <a:cs typeface="Apple SD Gothic Neo"/>
              </a:defRPr>
            </a:pPr>
            <a:r>
              <a:rPr sz="1800" b="0">
                <a:solidFill>
                  <a:srgbClr val="586875"/>
                </a:solidFill>
                <a:latin typeface="Apple SD Gothic Neo"/>
                <a:ea typeface="Apple SD Gothic Neo"/>
                <a:cs typeface="Apple SD Gothic Neo"/>
              </a:rPr>
              <a:t>배치, CA 정책, QD, 수락 순서를 각각 분리해 비교했습니다.</a:t>
            </a:r>
          </a:p>
        </p:txBody>
      </p:sp>
      <p:sp>
        <p:nvSpPr>
          <p:cNvPr id="3" name="footer">
            <a:extLst xmlns:a="http://schemas.openxmlformats.org/drawingml/2006/main">
              <a:ext uri="{FF2B5EF4-FFF2-40B4-BE49-F238E27FC236}">
                <a16:creationId xmlns:a16="http://schemas.microsoft.com/office/drawing/2014/main" id="{D6292D32-99D8-4A16-906B-5846F523C1F9}"/>
              </a:ext>
            </a:extLst>
          </p:cNvPr>
          <p:cNvSpPr>
            <a:spLocks xmlns:a="http://schemas.openxmlformats.org/drawingml/2006/main" noGrp="1"/>
          </p:cNvSpPr>
          <p:nvPr/>
        </p:nvSpPr>
        <p:spPr>
          <a:xfrm xmlns:a="http://schemas.openxmlformats.org/drawingml/2006/main">
            <a:off x="533400" y="6419850"/>
            <a:ext cx="10477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86875"/>
                </a:solidFill>
                <a:latin typeface="Apple SD Gothic Neo"/>
                <a:ea typeface="Apple SD Gothic Neo"/>
                <a:cs typeface="Apple SD Gothic Neo"/>
              </a:defRPr>
            </a:defPPr>
          </a:lstStyle>
          <a:p xmlns:a="http://schemas.openxmlformats.org/drawingml/2006/main">
            <a:pPr>
              <a:defRPr sz="1200" b="0">
                <a:solidFill>
                  <a:srgbClr val="586875"/>
                </a:solidFill>
                <a:latin typeface="Apple SD Gothic Neo"/>
                <a:ea typeface="Apple SD Gothic Neo"/>
                <a:cs typeface="Apple SD Gothic Neo"/>
              </a:defRPr>
            </a:pPr>
            <a:r>
              <a:rPr sz="1200" b="0">
                <a:solidFill>
                  <a:srgbClr val="586875"/>
                </a:solidFill>
                <a:latin typeface="Apple SD Gothic Neo"/>
                <a:ea typeface="Apple SD Gothic Neo"/>
                <a:cs typeface="Apple SD Gothic Neo"/>
              </a:rPr>
              <a:t>기존 원자료와 추가 대조 실험의 경로는 슬라이드 노트에 기록</a:t>
            </a:r>
          </a:p>
        </p:txBody>
      </p:sp>
      <p:sp>
        <p:nvSpPr>
          <p:cNvPr id="4" name="page">
            <a:extLst xmlns:a="http://schemas.openxmlformats.org/drawingml/2006/main">
              <a:ext uri="{FF2B5EF4-FFF2-40B4-BE49-F238E27FC236}">
                <a16:creationId xmlns:a16="http://schemas.microsoft.com/office/drawing/2014/main" id="{A9278BE9-38D1-4B1A-9E52-0CDEE794AC76}"/>
              </a:ext>
            </a:extLst>
          </p:cNvPr>
          <p:cNvSpPr>
            <a:spLocks xmlns:a="http://schemas.openxmlformats.org/drawingml/2006/main" noGrp="1"/>
          </p:cNvSpPr>
          <p:nvPr/>
        </p:nvSpPr>
        <p:spPr>
          <a:xfrm xmlns:a="http://schemas.openxmlformats.org/drawingml/2006/main">
            <a:off x="11144250" y="6419850"/>
            <a:ext cx="4953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86875"/>
                </a:solidFill>
                <a:latin typeface="Apple SD Gothic Neo"/>
                <a:ea typeface="Apple SD Gothic Neo"/>
                <a:cs typeface="Apple SD Gothic Neo"/>
              </a:defRPr>
            </a:defPPr>
          </a:lstStyle>
          <a:p xmlns:a="http://schemas.openxmlformats.org/drawingml/2006/main">
            <a:pPr>
              <a:defRPr sz="1200" b="0">
                <a:solidFill>
                  <a:srgbClr val="586875"/>
                </a:solidFill>
                <a:latin typeface="Apple SD Gothic Neo"/>
                <a:ea typeface="Apple SD Gothic Neo"/>
                <a:cs typeface="Apple SD Gothic Neo"/>
              </a:defRPr>
            </a:pPr>
            <a:r>
              <a:rPr sz="1200" b="0">
                <a:solidFill>
                  <a:srgbClr val="586875"/>
                </a:solidFill>
                <a:latin typeface="Apple SD Gothic Neo"/>
                <a:ea typeface="Apple SD Gothic Neo"/>
                <a:cs typeface="Apple SD Gothic Neo"/>
              </a:rPr>
              <a:t>11</a:t>
            </a:r>
          </a:p>
        </p:txBody>
      </p:sp>
      <p:graphicFrame>
        <p:nvGraphicFramePr>
          <p:cNvPr id="5" name="scope">
            <a:extLst xmlns:a="http://schemas.openxmlformats.org/drawingml/2006/main">
              <a:ext uri="{FF2B5EF4-FFF2-40B4-BE49-F238E27FC236}">
                <a16:creationId xmlns:a16="http://schemas.microsoft.com/office/drawing/2014/main" id="{1903282D-94EC-48D7-866F-AF9DFEB614EA}"/>
              </a:ext>
            </a:extLst>
          </p:cNvPr>
          <p:cNvGraphicFramePr/>
          <p:nvPr/>
        </p:nvGraphicFramePr>
        <p:xfrm>
          <a:off xmlns:a="http://schemas.openxmlformats.org/drawingml/2006/main" x="533400" y="1866900"/>
          <a:ext xmlns:a="http://schemas.openxmlformats.org/drawingml/2006/main" cx="11125200" cy="2857500"/>
        </p:xfrm>
        <a:graphic xmlns:a="http://schemas.openxmlformats.org/drawingml/2006/main">
          <a:graphicData uri="http://schemas.openxmlformats.org/drawingml/2006/table">
            <a:tbl>
              <a:tblPr/>
              <a:tblGrid>
                <a:gridCol w="2667000"/>
                <a:gridCol w="4191000"/>
                <a:gridCol w="4267200"/>
              </a:tblGrid>
              <a:tr h="571500">
                <a:tc>
                  <a:txBody>
                    <a:bodyPr lIns="95250" tIns="95250" rIns="95250" bIns="95250"/>
                    <a:lstStyle/>
                    <a:p>
                      <a:r>
                        <a:rPr sz="1725" b="1">
                          <a:solidFill>
                            <a:srgbClr val="FFFFFF"/>
                          </a:solidFill>
                          <a:latin typeface="Apple SD Gothic Neo"/>
                          <a:ea typeface="Apple SD Gothic Neo"/>
                          <a:cs typeface="Apple SD Gothic Neo"/>
                        </a:rPr>
                        <a:t>대조 항목</a:t>
                      </a:r>
                    </a:p>
                  </a:txBody>
                  <a:tcPr marL="114300" marR="114300" marT="76200" marB="76200" anchor="ctr">
                    <a:solidFill>
                      <a:srgbClr val="122C40"/>
                    </a:solidFill>
                  </a:tcPr>
                </a:tc>
                <a:tc>
                  <a:txBody>
                    <a:bodyPr lIns="95250" tIns="95250" rIns="95250" bIns="95250"/>
                    <a:lstStyle/>
                    <a:p>
                      <a:r>
                        <a:rPr sz="1725" b="1">
                          <a:solidFill>
                            <a:srgbClr val="FFFFFF"/>
                          </a:solidFill>
                          <a:latin typeface="Apple SD Gothic Neo"/>
                          <a:ea typeface="Apple SD Gothic Neo"/>
                          <a:cs typeface="Apple SD Gothic Neo"/>
                        </a:rPr>
                        <a:t>바꾼 요소</a:t>
                      </a:r>
                    </a:p>
                  </a:txBody>
                  <a:tcPr marL="114300" marR="114300" marT="76200" marB="76200" anchor="ctr">
                    <a:solidFill>
                      <a:srgbClr val="122C40"/>
                    </a:solidFill>
                  </a:tcPr>
                </a:tc>
                <a:tc>
                  <a:txBody>
                    <a:bodyPr lIns="95250" tIns="95250" rIns="95250" bIns="95250"/>
                    <a:lstStyle/>
                    <a:p>
                      <a:r>
                        <a:rPr sz="1725" b="1">
                          <a:solidFill>
                            <a:srgbClr val="FFFFFF"/>
                          </a:solidFill>
                          <a:latin typeface="Apple SD Gothic Neo"/>
                          <a:ea typeface="Apple SD Gothic Neo"/>
                          <a:cs typeface="Apple SD Gothic Neo"/>
                        </a:rPr>
                        <a:t>유지한 요소</a:t>
                      </a:r>
                    </a:p>
                  </a:txBody>
                  <a:tcPr marL="114300" marR="114300" marT="76200" marB="76200" anchor="ctr">
                    <a:solidFill>
                      <a:srgbClr val="122C40"/>
                    </a:solidFill>
                  </a:tcPr>
                </a:tc>
              </a:tr>
              <a:tr h="571500">
                <a:tc>
                  <a:txBody>
                    <a:bodyPr lIns="95250" tIns="95250" rIns="95250" bIns="95250"/>
                    <a:lstStyle/>
                    <a:p>
                      <a:r>
                        <a:rPr sz="1725" b="0">
                          <a:solidFill>
                            <a:srgbClr val="172738"/>
                          </a:solidFill>
                          <a:latin typeface="Apple SD Gothic Neo"/>
                          <a:ea typeface="Apple SD Gothic Neo"/>
                          <a:cs typeface="Apple SD Gothic Neo"/>
                        </a:rPr>
                        <a:t>Data placement</a:t>
                      </a:r>
                    </a:p>
                  </a:txBody>
                  <a:tcPr marL="114300" marR="114300" marT="76200" marB="76200" anchor="ctr">
                    <a:solidFill>
                      <a:srgbClr val="FFFFFF"/>
                    </a:solidFill>
                  </a:tcPr>
                </a:tc>
                <a:tc>
                  <a:txBody>
                    <a:bodyPr lIns="95250" tIns="95250" rIns="95250" bIns="95250"/>
                    <a:lstStyle/>
                    <a:p>
                      <a:r>
                        <a:rPr sz="1725" b="0">
                          <a:solidFill>
                            <a:srgbClr val="172738"/>
                          </a:solidFill>
                          <a:latin typeface="Apple SD Gothic Neo"/>
                          <a:ea typeface="Apple SD Gothic Neo"/>
                          <a:cs typeface="Apple SD Gothic Neo"/>
                        </a:rPr>
                        <a:t>기본 매핑 / 영역별 Plane 배치</a:t>
                      </a:r>
                    </a:p>
                  </a:txBody>
                  <a:tcPr marL="114300" marR="114300" marT="76200" marB="76200" anchor="ctr">
                    <a:solidFill>
                      <a:srgbClr val="FFFFFF"/>
                    </a:solidFill>
                  </a:tcPr>
                </a:tc>
                <a:tc>
                  <a:txBody>
                    <a:bodyPr lIns="95250" tIns="95250" rIns="95250" bIns="95250"/>
                    <a:lstStyle/>
                    <a:p>
                      <a:r>
                        <a:rPr sz="1725" b="0">
                          <a:solidFill>
                            <a:srgbClr val="172738"/>
                          </a:solidFill>
                          <a:latin typeface="Apple SD Gothic Neo"/>
                          <a:ea typeface="Apple SD Gothic Neo"/>
                          <a:cs typeface="Apple SD Gothic Neo"/>
                        </a:rPr>
                        <a:t>FIFO, QD512, 64Plane, 8MiB</a:t>
                      </a:r>
                    </a:p>
                  </a:txBody>
                  <a:tcPr marL="114300" marR="114300" marT="76200" marB="76200" anchor="ctr">
                    <a:solidFill>
                      <a:srgbClr val="FFFFFF"/>
                    </a:solidFill>
                  </a:tcPr>
                </a:tc>
              </a:tr>
              <a:tr h="571500">
                <a:tc>
                  <a:txBody>
                    <a:bodyPr lIns="95250" tIns="95250" rIns="95250" bIns="95250"/>
                    <a:lstStyle/>
                    <a:p>
                      <a:r>
                        <a:rPr sz="1725" b="0">
                          <a:solidFill>
                            <a:srgbClr val="172738"/>
                          </a:solidFill>
                          <a:latin typeface="Apple SD Gothic Neo"/>
                          <a:ea typeface="Apple SD Gothic Neo"/>
                          <a:cs typeface="Apple SD Gothic Neo"/>
                        </a:rPr>
                        <a:t>CA 우회</a:t>
                      </a:r>
                    </a:p>
                  </a:txBody>
                  <a:tcPr marL="114300" marR="114300" marT="76200" marB="76200" anchor="ctr">
                    <a:solidFill>
                      <a:srgbClr val="F1F5F8"/>
                    </a:solidFill>
                  </a:tcPr>
                </a:tc>
                <a:tc>
                  <a:txBody>
                    <a:bodyPr lIns="95250" tIns="95250" rIns="95250" bIns="95250"/>
                    <a:lstStyle/>
                    <a:p>
                      <a:r>
                        <a:rPr sz="1725" b="0">
                          <a:solidFill>
                            <a:srgbClr val="172738"/>
                          </a:solidFill>
                          <a:latin typeface="Apple SD Gothic Neo"/>
                          <a:ea typeface="Apple SD Gothic Neo"/>
                          <a:cs typeface="Apple SD Gothic Neo"/>
                        </a:rPr>
                        <a:t>기존 우회32 정책 / FIFO</a:t>
                      </a:r>
                    </a:p>
                  </a:txBody>
                  <a:tcPr marL="114300" marR="114300" marT="76200" marB="76200" anchor="ctr">
                    <a:solidFill>
                      <a:srgbClr val="F1F5F8"/>
                    </a:solidFill>
                  </a:tcPr>
                </a:tc>
                <a:tc>
                  <a:txBody>
                    <a:bodyPr lIns="95250" tIns="95250" rIns="95250" bIns="95250"/>
                    <a:lstStyle/>
                    <a:p>
                      <a:r>
                        <a:rPr sz="1725" b="0">
                          <a:solidFill>
                            <a:srgbClr val="172738"/>
                          </a:solidFill>
                          <a:latin typeface="Apple SD Gothic Neo"/>
                          <a:ea typeface="Apple SD Gothic Neo"/>
                          <a:cs typeface="Apple SD Gothic Neo"/>
                        </a:rPr>
                        <a:t>배치, QD, 버퍼, tR</a:t>
                      </a:r>
                    </a:p>
                  </a:txBody>
                  <a:tcPr marL="114300" marR="114300" marT="76200" marB="76200" anchor="ctr">
                    <a:solidFill>
                      <a:srgbClr val="F1F5F8"/>
                    </a:solidFill>
                  </a:tcPr>
                </a:tc>
              </a:tr>
              <a:tr h="571500">
                <a:tc>
                  <a:txBody>
                    <a:bodyPr lIns="95250" tIns="95250" rIns="95250" bIns="95250"/>
                    <a:lstStyle/>
                    <a:p>
                      <a:r>
                        <a:rPr sz="1725" b="0">
                          <a:solidFill>
                            <a:srgbClr val="172738"/>
                          </a:solidFill>
                          <a:latin typeface="Apple SD Gothic Neo"/>
                          <a:ea typeface="Apple SD Gothic Neo"/>
                          <a:cs typeface="Apple SD Gothic Neo"/>
                        </a:rPr>
                        <a:t>큰 QD의 영향</a:t>
                      </a:r>
                    </a:p>
                  </a:txBody>
                  <a:tcPr marL="114300" marR="114300" marT="76200" marB="76200" anchor="ctr">
                    <a:solidFill>
                      <a:srgbClr val="FFFFFF"/>
                    </a:solidFill>
                  </a:tcPr>
                </a:tc>
                <a:tc>
                  <a:txBody>
                    <a:bodyPr lIns="95250" tIns="95250" rIns="95250" bIns="95250"/>
                    <a:lstStyle/>
                    <a:p>
                      <a:r>
                        <a:rPr sz="1725" b="0">
                          <a:solidFill>
                            <a:srgbClr val="172738"/>
                          </a:solidFill>
                          <a:latin typeface="Apple SD Gothic Neo"/>
                          <a:ea typeface="Apple SD Gothic Neo"/>
                          <a:cs typeface="Apple SD Gothic Neo"/>
                        </a:rPr>
                        <a:t>QD512 / 2,048 또는 32,768 / 65,536</a:t>
                      </a:r>
                    </a:p>
                  </a:txBody>
                  <a:tcPr marL="114300" marR="114300" marT="76200" marB="76200" anchor="ctr">
                    <a:solidFill>
                      <a:srgbClr val="FFFFFF"/>
                    </a:solidFill>
                  </a:tcPr>
                </a:tc>
                <a:tc>
                  <a:txBody>
                    <a:bodyPr lIns="95250" tIns="95250" rIns="95250" bIns="95250"/>
                    <a:lstStyle/>
                    <a:p>
                      <a:r>
                        <a:rPr sz="1725" b="0">
                          <a:solidFill>
                            <a:srgbClr val="172738"/>
                          </a:solidFill>
                          <a:latin typeface="Apple SD Gothic Neo"/>
                          <a:ea typeface="Apple SD Gothic Neo"/>
                          <a:cs typeface="Apple SD Gothic Neo"/>
                        </a:rPr>
                        <a:t>배치, FIFO, 8MiB</a:t>
                      </a:r>
                    </a:p>
                  </a:txBody>
                  <a:tcPr marL="114300" marR="114300" marT="76200" marB="76200" anchor="ctr">
                    <a:solidFill>
                      <a:srgbClr val="FFFFFF"/>
                    </a:solidFill>
                  </a:tcPr>
                </a:tc>
              </a:tr>
              <a:tr h="571500">
                <a:tc>
                  <a:txBody>
                    <a:bodyPr lIns="95250" tIns="95250" rIns="95250" bIns="95250"/>
                    <a:lstStyle/>
                    <a:p>
                      <a:r>
                        <a:rPr sz="1725" b="0">
                          <a:solidFill>
                            <a:srgbClr val="172738"/>
                          </a:solidFill>
                          <a:latin typeface="Apple SD Gothic Neo"/>
                          <a:ea typeface="Apple SD Gothic Neo"/>
                          <a:cs typeface="Apple SD Gothic Neo"/>
                        </a:rPr>
                        <a:t>Port별 수락 공정성</a:t>
                      </a:r>
                    </a:p>
                  </a:txBody>
                  <a:tcPr marL="114300" marR="114300" marT="76200" marB="76200" anchor="ctr">
                    <a:solidFill>
                      <a:srgbClr val="F1F5F8"/>
                    </a:solidFill>
                  </a:tcPr>
                </a:tc>
                <a:tc>
                  <a:txBody>
                    <a:bodyPr lIns="95250" tIns="95250" rIns="95250" bIns="95250"/>
                    <a:lstStyle/>
                    <a:p>
                      <a:r>
                        <a:rPr sz="1725" b="0">
                          <a:solidFill>
                            <a:srgbClr val="172738"/>
                          </a:solidFill>
                          <a:latin typeface="Apple SD Gothic Neo"/>
                          <a:ea typeface="Apple SD Gothic Neo"/>
                          <a:cs typeface="Apple SD Gothic Neo"/>
                        </a:rPr>
                        <a:t>고정 시작 Port / 순환 시작 Port</a:t>
                      </a:r>
                    </a:p>
                  </a:txBody>
                  <a:tcPr marL="114300" marR="114300" marT="76200" marB="76200" anchor="ctr">
                    <a:solidFill>
                      <a:srgbClr val="F1F5F8"/>
                    </a:solidFill>
                  </a:tcPr>
                </a:tc>
                <a:tc>
                  <a:txBody>
                    <a:bodyPr lIns="95250" tIns="95250" rIns="95250" bIns="95250"/>
                    <a:lstStyle/>
                    <a:p>
                      <a:r>
                        <a:rPr sz="1725" b="0">
                          <a:solidFill>
                            <a:srgbClr val="172738"/>
                          </a:solidFill>
                          <a:latin typeface="Apple SD Gothic Neo"/>
                          <a:ea typeface="Apple SD Gothic Neo"/>
                          <a:cs typeface="Apple SD Gothic Neo"/>
                        </a:rPr>
                        <a:t>QD 상한, FIFO, 배치, 버퍼</a:t>
                      </a:r>
                    </a:p>
                  </a:txBody>
                  <a:tcPr marL="114300" marR="114300" marT="76200" marB="76200" anchor="ctr">
                    <a:solidFill>
                      <a:srgbClr val="F1F5F8"/>
                    </a:solidFill>
                  </a:tcPr>
                </a:tc>
              </a:tr>
            </a:tbl>
          </a:graphicData>
        </a:graphic>
      </p:graphicFrame>
      <p:sp>
        <p:nvSpPr>
          <p:cNvPr id="6" name="timing">
            <a:extLst xmlns:a="http://schemas.openxmlformats.org/drawingml/2006/main">
              <a:ext uri="{FF2B5EF4-FFF2-40B4-BE49-F238E27FC236}">
                <a16:creationId xmlns:a16="http://schemas.microsoft.com/office/drawing/2014/main" id="{8AC0E761-5B67-4B04-955F-8321287CB22F}"/>
              </a:ext>
            </a:extLst>
          </p:cNvPr>
          <p:cNvSpPr>
            <a:spLocks xmlns:a="http://schemas.openxmlformats.org/drawingml/2006/main" noGrp="1"/>
          </p:cNvSpPr>
          <p:nvPr/>
        </p:nvSpPr>
        <p:spPr>
          <a:xfrm xmlns:a="http://schemas.openxmlformats.org/drawingml/2006/main">
            <a:off x="571500" y="5019675"/>
            <a:ext cx="1104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1">
                <a:solidFill>
                  <a:srgbClr val="126DCA"/>
                </a:solidFill>
                <a:latin typeface="Apple SD Gothic Neo"/>
                <a:ea typeface="Apple SD Gothic Neo"/>
                <a:cs typeface="Apple SD Gothic Neo"/>
              </a:defRPr>
            </a:defPPr>
          </a:lstStyle>
          <a:p xmlns:a="http://schemas.openxmlformats.org/drawingml/2006/main">
            <a:pPr>
              <a:defRPr sz="1875" b="1">
                <a:solidFill>
                  <a:srgbClr val="126DCA"/>
                </a:solidFill>
                <a:latin typeface="Apple SD Gothic Neo"/>
                <a:ea typeface="Apple SD Gothic Neo"/>
                <a:cs typeface="Apple SD Gothic Neo"/>
              </a:defRPr>
            </a:pPr>
            <a:r>
              <a:rPr sz="1875" b="1">
                <a:solidFill>
                  <a:srgbClr val="126DCA"/>
                </a:solidFill>
                <a:latin typeface="Apple SD Gothic Neo"/>
                <a:ea typeface="Apple SD Gothic Neo"/>
                <a:cs typeface="Apple SD Gothic Neo"/>
              </a:rPr>
              <a:t>tR: Short 2.00µs, Mid 2.08µs, Long 12.16µs, First/Group 20.69µs</a:t>
            </a:r>
          </a:p>
        </p:txBody>
      </p:sp>
      <p:sp>
        <p:nvSpPr>
          <p:cNvPr id="7" name="limits">
            <a:extLst xmlns:a="http://schemas.openxmlformats.org/drawingml/2006/main">
              <a:ext uri="{FF2B5EF4-FFF2-40B4-BE49-F238E27FC236}">
                <a16:creationId xmlns:a16="http://schemas.microsoft.com/office/drawing/2014/main" id="{39C77290-E9A6-4922-82E6-31B592E8912B}"/>
              </a:ext>
            </a:extLst>
          </p:cNvPr>
          <p:cNvSpPr>
            <a:spLocks xmlns:a="http://schemas.openxmlformats.org/drawingml/2006/main" noGrp="1"/>
          </p:cNvSpPr>
          <p:nvPr/>
        </p:nvSpPr>
        <p:spPr>
          <a:xfrm xmlns:a="http://schemas.openxmlformats.org/drawingml/2006/main">
            <a:off x="571500" y="5610225"/>
            <a:ext cx="11049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586875"/>
                </a:solidFill>
                <a:latin typeface="Apple SD Gothic Neo"/>
                <a:ea typeface="Apple SD Gothic Neo"/>
                <a:cs typeface="Apple SD Gothic Neo"/>
              </a:defRPr>
            </a:defPPr>
          </a:lstStyle>
          <a:p xmlns:a="http://schemas.openxmlformats.org/drawingml/2006/main">
            <a:pPr>
              <a:defRPr sz="1725" b="0">
                <a:solidFill>
                  <a:srgbClr val="586875"/>
                </a:solidFill>
                <a:latin typeface="Apple SD Gothic Neo"/>
                <a:ea typeface="Apple SD Gothic Neo"/>
                <a:cs typeface="Apple SD Gothic Neo"/>
              </a:defRPr>
            </a:pPr>
            <a:r>
              <a:rPr sz="1725" b="0">
                <a:solidFill>
                  <a:srgbClr val="586875"/>
                </a:solidFill>
                <a:latin typeface="Apple SD Gothic Neo"/>
                <a:ea typeface="Apple SD Gothic Neo"/>
                <a:cs typeface="Apple SD Gothic Neo"/>
              </a:rPr>
              <a:t>4 Port 지속 공급, 가용률 85%, PF OFF, Port 내부 in-order를 유지했습니다.</a:t>
            </a:r>
          </a:p>
          <a:p xmlns:a="http://schemas.openxmlformats.org/drawingml/2006/main">
            <a:pPr>
              <a:defRPr sz="1725" b="0">
                <a:solidFill>
                  <a:srgbClr val="586875"/>
                </a:solidFill>
                <a:latin typeface="Apple SD Gothic Neo"/>
                <a:ea typeface="Apple SD Gothic Neo"/>
                <a:cs typeface="Apple SD Gothic Neo"/>
              </a:defRPr>
            </a:pPr>
            <a:r>
              <a:rPr sz="1725" b="0">
                <a:solidFill>
                  <a:srgbClr val="586875"/>
                </a:solidFill>
                <a:latin typeface="Apple SD Gothic Neo"/>
                <a:ea typeface="Apple SD Gothic Neo"/>
                <a:cs typeface="Apple SD Gothic Neo"/>
              </a:rPr>
              <a:t>실제 UCIe 경로, Die/LUN 공유 제약과 동적 L2P를 포함한 제품 실측은 아닙니다.</a:t>
            </a:r>
          </a:p>
        </p:txBody>
      </p:sp>
    </p:spTree>
    <p:extLst>
      <p:ext uri="{BB962C8B-B14F-4D97-AF65-F5344CB8AC3E}">
        <p14:creationId xmlns:p14="http://schemas.microsoft.com/office/powerpoint/2010/main" val="1898510770"/>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itle">
            <a:extLst xmlns:a="http://schemas.openxmlformats.org/drawingml/2006/main">
              <a:ext uri="{FF2B5EF4-FFF2-40B4-BE49-F238E27FC236}">
                <a16:creationId xmlns:a16="http://schemas.microsoft.com/office/drawing/2014/main" id="{BFFD28BB-7F11-44B8-86C1-19F98D55D69A}"/>
              </a:ext>
            </a:extLst>
          </p:cNvPr>
          <p:cNvSpPr>
            <a:spLocks xmlns:a="http://schemas.openxmlformats.org/drawingml/2006/main" noGrp="1"/>
          </p:cNvSpPr>
          <p:nvPr/>
        </p:nvSpPr>
        <p:spPr>
          <a:xfrm xmlns:a="http://schemas.openxmlformats.org/drawingml/2006/main">
            <a:off x="533400" y="438150"/>
            <a:ext cx="11125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2738"/>
                </a:solidFill>
                <a:latin typeface="Apple SD Gothic Neo"/>
                <a:ea typeface="Apple SD Gothic Neo"/>
                <a:cs typeface="Apple SD Gothic Neo"/>
              </a:defRPr>
            </a:defPPr>
          </a:lstStyle>
          <a:p xmlns:a="http://schemas.openxmlformats.org/drawingml/2006/main">
            <a:pPr>
              <a:buNone/>
              <a:defRPr sz="3300" b="1">
                <a:solidFill>
                  <a:srgbClr val="172738"/>
                </a:solidFill>
                <a:latin typeface="Apple SD Gothic Neo"/>
                <a:ea typeface="Apple SD Gothic Neo"/>
                <a:cs typeface="Apple SD Gothic Neo"/>
              </a:defRPr>
            </a:pPr>
            <a:r>
              <a:rPr sz="3300" b="1">
                <a:solidFill>
                  <a:srgbClr val="172738"/>
                </a:solidFill>
                <a:latin typeface="Apple SD Gothic Neo"/>
                <a:ea typeface="Apple SD Gothic Neo"/>
                <a:cs typeface="Apple SD Gothic Neo"/>
              </a:rPr>
              <a:t>A·B·C 워크로드의 요청 크기와 접근 순서</a:t>
            </a:r>
          </a:p>
        </p:txBody>
      </p:sp>
      <p:sp>
        <p:nvSpPr>
          <p:cNvPr id="2" name="subtitle">
            <a:extLst xmlns:a="http://schemas.openxmlformats.org/drawingml/2006/main">
              <a:ext uri="{FF2B5EF4-FFF2-40B4-BE49-F238E27FC236}">
                <a16:creationId xmlns:a16="http://schemas.microsoft.com/office/drawing/2014/main" id="{7B043E99-AC1E-4C8C-8517-51025F313BD3}"/>
              </a:ext>
            </a:extLst>
          </p:cNvPr>
          <p:cNvSpPr>
            <a:spLocks xmlns:a="http://schemas.openxmlformats.org/drawingml/2006/main" noGrp="1"/>
          </p:cNvSpPr>
          <p:nvPr/>
        </p:nvSpPr>
        <p:spPr>
          <a:xfrm xmlns:a="http://schemas.openxmlformats.org/drawingml/2006/main">
            <a:off x="552450" y="1104900"/>
            <a:ext cx="110871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586875"/>
                </a:solidFill>
                <a:latin typeface="Apple SD Gothic Neo"/>
                <a:ea typeface="Apple SD Gothic Neo"/>
                <a:cs typeface="Apple SD Gothic Neo"/>
              </a:defRPr>
            </a:defPPr>
          </a:lstStyle>
          <a:p xmlns:a="http://schemas.openxmlformats.org/drawingml/2006/main">
            <a:pPr>
              <a:buNone/>
              <a:defRPr sz="1800" b="0">
                <a:solidFill>
                  <a:srgbClr val="586875"/>
                </a:solidFill>
                <a:latin typeface="Apple SD Gothic Neo"/>
                <a:ea typeface="Apple SD Gothic Neo"/>
                <a:cs typeface="Apple SD Gothic Neo"/>
              </a:defRPr>
            </a:pPr>
            <a:r>
              <a:rPr sz="1800" b="0">
                <a:solidFill>
                  <a:srgbClr val="586875"/>
                </a:solidFill>
                <a:latin typeface="Apple SD Gothic Neo"/>
                <a:ea typeface="Apple SD Gothic Neo"/>
                <a:cs typeface="Apple SD Gothic Neo"/>
              </a:rPr>
              <a:t>P는 4KiB 논리 페이지입니다. 새 B는 페이지 전체를 64B씩 읽고, 기존 B1/B2/B3는 C로 옮겼습니다.</a:t>
            </a:r>
          </a:p>
        </p:txBody>
      </p:sp>
      <p:sp>
        <p:nvSpPr>
          <p:cNvPr id="3" name="footer">
            <a:extLst xmlns:a="http://schemas.openxmlformats.org/drawingml/2006/main">
              <a:ext uri="{FF2B5EF4-FFF2-40B4-BE49-F238E27FC236}">
                <a16:creationId xmlns:a16="http://schemas.microsoft.com/office/drawing/2014/main" id="{C5F92798-A483-4299-9F86-8BF298D586A1}"/>
              </a:ext>
            </a:extLst>
          </p:cNvPr>
          <p:cNvSpPr>
            <a:spLocks xmlns:a="http://schemas.openxmlformats.org/drawingml/2006/main" noGrp="1"/>
          </p:cNvSpPr>
          <p:nvPr/>
        </p:nvSpPr>
        <p:spPr>
          <a:xfrm xmlns:a="http://schemas.openxmlformats.org/drawingml/2006/main">
            <a:off x="533400" y="6419850"/>
            <a:ext cx="10477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86875"/>
                </a:solidFill>
                <a:latin typeface="Apple SD Gothic Neo"/>
                <a:ea typeface="Apple SD Gothic Neo"/>
                <a:cs typeface="Apple SD Gothic Neo"/>
              </a:defRPr>
            </a:defPPr>
          </a:lstStyle>
          <a:p xmlns:a="http://schemas.openxmlformats.org/drawingml/2006/main">
            <a:pPr>
              <a:buNone/>
              <a:defRPr sz="1200" b="0">
                <a:solidFill>
                  <a:srgbClr val="586875"/>
                </a:solidFill>
                <a:latin typeface="Apple SD Gothic Neo"/>
                <a:ea typeface="Apple SD Gothic Neo"/>
                <a:cs typeface="Apple SD Gothic Neo"/>
              </a:defRPr>
            </a:pPr>
            <a:r>
              <a:rPr sz="1200" b="0">
                <a:solidFill>
                  <a:srgbClr val="586875"/>
                </a:solidFill>
                <a:latin typeface="Apple SD Gothic Neo"/>
                <a:ea typeface="Apple SD Gothic Neo"/>
                <a:cs typeface="Apple SD Gothic Neo"/>
              </a:rPr>
              <a:t>현재 이름(schema 2)    기존 원자료의 B1/B2/B3 = 현재 C1/C2/C3</a:t>
            </a:r>
          </a:p>
        </p:txBody>
      </p:sp>
      <p:sp>
        <p:nvSpPr>
          <p:cNvPr id="4" name="page">
            <a:extLst xmlns:a="http://schemas.openxmlformats.org/drawingml/2006/main">
              <a:ext uri="{FF2B5EF4-FFF2-40B4-BE49-F238E27FC236}">
                <a16:creationId xmlns:a16="http://schemas.microsoft.com/office/drawing/2014/main" id="{E0E1A577-E748-4712-8D1C-6CB36D858A1B}"/>
              </a:ext>
            </a:extLst>
          </p:cNvPr>
          <p:cNvSpPr>
            <a:spLocks xmlns:a="http://schemas.openxmlformats.org/drawingml/2006/main" noGrp="1"/>
          </p:cNvSpPr>
          <p:nvPr/>
        </p:nvSpPr>
        <p:spPr>
          <a:xfrm xmlns:a="http://schemas.openxmlformats.org/drawingml/2006/main">
            <a:off x="11144250" y="6419850"/>
            <a:ext cx="4953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86875"/>
                </a:solidFill>
                <a:latin typeface="Apple SD Gothic Neo"/>
                <a:ea typeface="Apple SD Gothic Neo"/>
                <a:cs typeface="Apple SD Gothic Neo"/>
              </a:defRPr>
            </a:defPPr>
          </a:lstStyle>
          <a:p xmlns:a="http://schemas.openxmlformats.org/drawingml/2006/main">
            <a:pPr>
              <a:buNone/>
              <a:defRPr sz="1200" b="0">
                <a:solidFill>
                  <a:srgbClr val="586875"/>
                </a:solidFill>
                <a:latin typeface="Apple SD Gothic Neo"/>
                <a:ea typeface="Apple SD Gothic Neo"/>
                <a:cs typeface="Apple SD Gothic Neo"/>
              </a:defRPr>
            </a:pPr>
            <a:r>
              <a:rPr sz="1200" b="0">
                <a:solidFill>
                  <a:srgbClr val="586875"/>
                </a:solidFill>
                <a:latin typeface="Apple SD Gothic Neo"/>
                <a:ea typeface="Apple SD Gothic Neo"/>
                <a:cs typeface="Apple SD Gothic Neo"/>
              </a:rPr>
              <a:t>12</a:t>
            </a:r>
          </a:p>
        </p:txBody>
      </p:sp>
      <p:graphicFrame>
        <p:nvGraphicFramePr>
          <p:cNvPr id="5" name="표 4">
            <a:extLst xmlns:a="http://schemas.openxmlformats.org/drawingml/2006/main">
              <a:ext uri="{FF2B5EF4-FFF2-40B4-BE49-F238E27FC236}">
                <a16:creationId xmlns:a16="http://schemas.microsoft.com/office/drawing/2014/main" id="{E5E0D830-6E94-4461-9B06-437689D5ED5D}"/>
              </a:ext>
            </a:extLst>
          </p:cNvPr>
          <p:cNvGraphicFramePr/>
          <p:nvPr/>
        </p:nvGraphicFramePr>
        <p:xfrm>
          <a:off xmlns:a="http://schemas.openxmlformats.org/drawingml/2006/main" x="533400" y="1847850"/>
          <a:ext xmlns:a="http://schemas.openxmlformats.org/drawingml/2006/main" cx="11125200" cy="3581400"/>
        </p:xfrm>
        <a:graphic xmlns:a="http://schemas.openxmlformats.org/drawingml/2006/main">
          <a:graphicData uri="http://schemas.openxmlformats.org/drawingml/2006/table">
            <a:tbl>
              <a:tblPr/>
              <a:tblGrid>
                <a:gridCol w="1352550"/>
                <a:gridCol w="1504950"/>
                <a:gridCol w="4495800"/>
                <a:gridCol w="3771900"/>
              </a:tblGrid>
              <a:tr h="511629">
                <a:tc>
                  <a:txBody>
                    <a:bodyPr/>
                    <a:lstStyle/>
                    <a:p>
                      <a:r>
                        <a:rPr sz="1650" b="1">
                          <a:solidFill>
                            <a:srgbClr val="FFFFFF"/>
                          </a:solidFill>
                          <a:latin typeface="Apple SD Gothic Neo"/>
                          <a:ea typeface="Apple SD Gothic Neo"/>
                          <a:cs typeface="Apple SD Gothic Neo"/>
                        </a:rPr>
                        <a:t>패턴</a:t>
                      </a:r>
                    </a:p>
                  </a:txBody>
                  <a:tcPr marL="114300" marR="114300" marT="76200" marB="76200" anchor="ctr">
                    <a:solidFill>
                      <a:srgbClr val="122C40"/>
                    </a:solidFill>
                  </a:tcPr>
                </a:tc>
                <a:tc>
                  <a:txBody>
                    <a:bodyPr/>
                    <a:lstStyle/>
                    <a:p>
                      <a:r>
                        <a:rPr sz="1650" b="1">
                          <a:solidFill>
                            <a:srgbClr val="FFFFFF"/>
                          </a:solidFill>
                          <a:latin typeface="Apple SD Gothic Neo"/>
                          <a:ea typeface="Apple SD Gothic Neo"/>
                          <a:cs typeface="Apple SD Gothic Neo"/>
                        </a:rPr>
                        <a:t>요청당 반환</a:t>
                      </a:r>
                    </a:p>
                  </a:txBody>
                  <a:tcPr marL="114300" marR="114300" marT="76200" marB="76200" anchor="ctr">
                    <a:solidFill>
                      <a:srgbClr val="122C40"/>
                    </a:solidFill>
                  </a:tcPr>
                </a:tc>
                <a:tc>
                  <a:txBody>
                    <a:bodyPr/>
                    <a:lstStyle/>
                    <a:p>
                      <a:r>
                        <a:rPr sz="1650" b="1">
                          <a:solidFill>
                            <a:srgbClr val="FFFFFF"/>
                          </a:solidFill>
                          <a:latin typeface="Apple SD Gothic Neo"/>
                          <a:ea typeface="Apple SD Gothic Neo"/>
                          <a:cs typeface="Apple SD Gothic Neo"/>
                        </a:rPr>
                        <a:t>접근 순서</a:t>
                      </a:r>
                    </a:p>
                  </a:txBody>
                  <a:tcPr marL="114300" marR="114300" marT="76200" marB="76200" anchor="ctr">
                    <a:solidFill>
                      <a:srgbClr val="122C40"/>
                    </a:solidFill>
                  </a:tcPr>
                </a:tc>
                <a:tc>
                  <a:txBody>
                    <a:bodyPr/>
                    <a:lstStyle/>
                    <a:p>
                      <a:r>
                        <a:rPr sz="1650" b="1">
                          <a:solidFill>
                            <a:srgbClr val="FFFFFF"/>
                          </a:solidFill>
                          <a:latin typeface="Apple SD Gothic Neo"/>
                          <a:ea typeface="Apple SD Gothic Neo"/>
                          <a:cs typeface="Apple SD Gothic Neo"/>
                        </a:rPr>
                        <a:t>한 논리 페이지에서 읽는 양</a:t>
                      </a:r>
                    </a:p>
                  </a:txBody>
                  <a:tcPr marL="114300" marR="114300" marT="76200" marB="76200" anchor="ctr">
                    <a:solidFill>
                      <a:srgbClr val="122C40"/>
                    </a:solidFill>
                  </a:tcPr>
                </a:tc>
              </a:tr>
              <a:tr h="511629">
                <a:tc>
                  <a:txBody>
                    <a:bodyPr/>
                    <a:lstStyle/>
                    <a:p>
                      <a:r>
                        <a:rPr sz="1650" b="0">
                          <a:solidFill>
                            <a:srgbClr val="172738"/>
                          </a:solidFill>
                          <a:latin typeface="Apple SD Gothic Neo"/>
                          <a:ea typeface="Apple SD Gothic Neo"/>
                          <a:cs typeface="Apple SD Gothic Neo"/>
                        </a:rPr>
                        <a:t>A1</a:t>
                      </a:r>
                    </a:p>
                  </a:txBody>
                  <a:tcPr marL="114300" marR="114300" marT="76200" marB="76200" anchor="ctr">
                    <a:solidFill>
                      <a:srgbClr val="FFFFFF"/>
                    </a:solidFill>
                  </a:tcPr>
                </a:tc>
                <a:tc>
                  <a:txBody>
                    <a:bodyPr/>
                    <a:lstStyle/>
                    <a:p>
                      <a:r>
                        <a:rPr sz="1650" b="0">
                          <a:solidFill>
                            <a:srgbClr val="172738"/>
                          </a:solidFill>
                          <a:latin typeface="Apple SD Gothic Neo"/>
                          <a:ea typeface="Apple SD Gothic Neo"/>
                          <a:cs typeface="Apple SD Gothic Neo"/>
                        </a:rPr>
                        <a:t>4KiB</a:t>
                      </a:r>
                    </a:p>
                  </a:txBody>
                  <a:tcPr marL="114300" marR="114300" marT="76200" marB="76200" anchor="ctr">
                    <a:solidFill>
                      <a:srgbClr val="FFFFFF"/>
                    </a:solidFill>
                  </a:tcPr>
                </a:tc>
                <a:tc>
                  <a:txBody>
                    <a:bodyPr/>
                    <a:lstStyle/>
                    <a:p>
                      <a:r>
                        <a:rPr sz="1650" b="0">
                          <a:solidFill>
                            <a:srgbClr val="172738"/>
                          </a:solidFill>
                          <a:latin typeface="Apple SD Gothic Neo"/>
                          <a:ea typeface="Apple SD Gothic Neo"/>
                          <a:cs typeface="Apple SD Gothic Neo"/>
                        </a:rPr>
                        <a:t>P1, P2, P3, P4, …</a:t>
                      </a:r>
                    </a:p>
                  </a:txBody>
                  <a:tcPr marL="114300" marR="114300" marT="76200" marB="76200" anchor="ctr">
                    <a:solidFill>
                      <a:srgbClr val="FFFFFF"/>
                    </a:solidFill>
                  </a:tcPr>
                </a:tc>
                <a:tc>
                  <a:txBody>
                    <a:bodyPr/>
                    <a:lstStyle/>
                    <a:p>
                      <a:r>
                        <a:rPr sz="1650" b="0">
                          <a:solidFill>
                            <a:srgbClr val="172738"/>
                          </a:solidFill>
                          <a:latin typeface="Apple SD Gothic Neo"/>
                          <a:ea typeface="Apple SD Gothic Neo"/>
                          <a:cs typeface="Apple SD Gothic Neo"/>
                        </a:rPr>
                        <a:t>전체 4KiB를 요청 1개로</a:t>
                      </a:r>
                    </a:p>
                  </a:txBody>
                  <a:tcPr marL="114300" marR="114300" marT="76200" marB="76200" anchor="ctr">
                    <a:solidFill>
                      <a:srgbClr val="FFFFFF"/>
                    </a:solidFill>
                  </a:tcPr>
                </a:tc>
              </a:tr>
              <a:tr h="511629">
                <a:tc>
                  <a:txBody>
                    <a:bodyPr/>
                    <a:lstStyle/>
                    <a:p>
                      <a:r>
                        <a:rPr sz="1650" b="0">
                          <a:solidFill>
                            <a:srgbClr val="172738"/>
                          </a:solidFill>
                          <a:latin typeface="Apple SD Gothic Neo"/>
                          <a:ea typeface="Apple SD Gothic Neo"/>
                          <a:cs typeface="Apple SD Gothic Neo"/>
                        </a:rPr>
                        <a:t>A2</a:t>
                      </a:r>
                    </a:p>
                  </a:txBody>
                  <a:tcPr marL="114300" marR="114300" marT="76200" marB="76200" anchor="ctr">
                    <a:solidFill>
                      <a:srgbClr val="F1F5F8"/>
                    </a:solidFill>
                  </a:tcPr>
                </a:tc>
                <a:tc>
                  <a:txBody>
                    <a:bodyPr/>
                    <a:lstStyle/>
                    <a:p>
                      <a:r>
                        <a:rPr sz="1650" b="0">
                          <a:solidFill>
                            <a:srgbClr val="172738"/>
                          </a:solidFill>
                          <a:latin typeface="Apple SD Gothic Neo"/>
                          <a:ea typeface="Apple SD Gothic Neo"/>
                          <a:cs typeface="Apple SD Gothic Neo"/>
                        </a:rPr>
                        <a:t>4KiB</a:t>
                      </a:r>
                    </a:p>
                  </a:txBody>
                  <a:tcPr marL="114300" marR="114300" marT="76200" marB="76200" anchor="ctr">
                    <a:solidFill>
                      <a:srgbClr val="F1F5F8"/>
                    </a:solidFill>
                  </a:tcPr>
                </a:tc>
                <a:tc>
                  <a:txBody>
                    <a:bodyPr/>
                    <a:lstStyle/>
                    <a:p>
                      <a:r>
                        <a:rPr sz="1650" b="0">
                          <a:solidFill>
                            <a:srgbClr val="172738"/>
                          </a:solidFill>
                          <a:latin typeface="Apple SD Gothic Neo"/>
                          <a:ea typeface="Apple SD Gothic Neo"/>
                          <a:cs typeface="Apple SD Gothic Neo"/>
                        </a:rPr>
                        <a:t>P1, P3, P2, P4, P6, P5, …</a:t>
                      </a:r>
                    </a:p>
                  </a:txBody>
                  <a:tcPr marL="114300" marR="114300" marT="76200" marB="76200" anchor="ctr">
                    <a:solidFill>
                      <a:srgbClr val="F1F5F8"/>
                    </a:solidFill>
                  </a:tcPr>
                </a:tc>
                <a:tc>
                  <a:txBody>
                    <a:bodyPr/>
                    <a:lstStyle/>
                    <a:p>
                      <a:r>
                        <a:rPr sz="1650" b="0">
                          <a:solidFill>
                            <a:srgbClr val="172738"/>
                          </a:solidFill>
                          <a:latin typeface="Apple SD Gothic Neo"/>
                          <a:ea typeface="Apple SD Gothic Neo"/>
                          <a:cs typeface="Apple SD Gothic Neo"/>
                        </a:rPr>
                        <a:t>전체 4KiB, 페이지 순서 변경</a:t>
                      </a:r>
                    </a:p>
                  </a:txBody>
                  <a:tcPr marL="114300" marR="114300" marT="76200" marB="76200" anchor="ctr">
                    <a:solidFill>
                      <a:srgbClr val="F1F5F8"/>
                    </a:solidFill>
                  </a:tcPr>
                </a:tc>
              </a:tr>
              <a:tr h="511629">
                <a:tc>
                  <a:txBody>
                    <a:bodyPr/>
                    <a:lstStyle/>
                    <a:p>
                      <a:r>
                        <a:rPr sz="1650" b="0">
                          <a:solidFill>
                            <a:srgbClr val="172738"/>
                          </a:solidFill>
                          <a:latin typeface="Apple SD Gothic Neo"/>
                          <a:ea typeface="Apple SD Gothic Neo"/>
                          <a:cs typeface="Apple SD Gothic Neo"/>
                        </a:rPr>
                        <a:t>B (신규)</a:t>
                      </a:r>
                    </a:p>
                  </a:txBody>
                  <a:tcPr marL="114300" marR="114300" marT="76200" marB="76200" anchor="ctr">
                    <a:solidFill>
                      <a:srgbClr val="FFFFFF"/>
                    </a:solidFill>
                  </a:tcPr>
                </a:tc>
                <a:tc>
                  <a:txBody>
                    <a:bodyPr/>
                    <a:lstStyle/>
                    <a:p>
                      <a:r>
                        <a:rPr sz="1650" b="0">
                          <a:solidFill>
                            <a:srgbClr val="172738"/>
                          </a:solidFill>
                          <a:latin typeface="Apple SD Gothic Neo"/>
                          <a:ea typeface="Apple SD Gothic Neo"/>
                          <a:cs typeface="Apple SD Gothic Neo"/>
                        </a:rPr>
                        <a:t>64B</a:t>
                      </a:r>
                    </a:p>
                  </a:txBody>
                  <a:tcPr marL="114300" marR="114300" marT="76200" marB="76200" anchor="ctr">
                    <a:solidFill>
                      <a:srgbClr val="FFFFFF"/>
                    </a:solidFill>
                  </a:tcPr>
                </a:tc>
                <a:tc>
                  <a:txBody>
                    <a:bodyPr/>
                    <a:lstStyle/>
                    <a:p>
                      <a:r>
                        <a:rPr sz="1650" b="0">
                          <a:solidFill>
                            <a:srgbClr val="172738"/>
                          </a:solidFill>
                          <a:latin typeface="Apple SD Gothic Neo"/>
                          <a:ea typeface="Apple SD Gothic Neo"/>
                          <a:cs typeface="Apple SD Gothic Neo"/>
                        </a:rPr>
                        <a:t>P1: offset 0, 64, …, 4032</a:t>
                      </a:r>
                    </a:p>
                    <a:p>
                      <a:r>
                        <a:rPr sz="1650" b="0">
                          <a:solidFill>
                            <a:srgbClr val="172738"/>
                          </a:solidFill>
                          <a:latin typeface="Apple SD Gothic Neo"/>
                          <a:ea typeface="Apple SD Gothic Neo"/>
                          <a:cs typeface="Apple SD Gothic Neo"/>
                        </a:rPr>
                        <a:t>이후 P2, P3, …</a:t>
                      </a:r>
                    </a:p>
                  </a:txBody>
                  <a:tcPr marL="114300" marR="114300" marT="76200" marB="76200" anchor="ctr">
                    <a:solidFill>
                      <a:srgbClr val="FFFFFF"/>
                    </a:solidFill>
                  </a:tcPr>
                </a:tc>
                <a:tc>
                  <a:txBody>
                    <a:bodyPr/>
                    <a:lstStyle/>
                    <a:p>
                      <a:r>
                        <a:rPr sz="1650" b="0">
                          <a:solidFill>
                            <a:srgbClr val="172738"/>
                          </a:solidFill>
                          <a:latin typeface="Apple SD Gothic Neo"/>
                          <a:ea typeface="Apple SD Gothic Neo"/>
                          <a:cs typeface="Apple SD Gothic Neo"/>
                        </a:rPr>
                        <a:t>전체 4KiB를 요청 64개로</a:t>
                      </a:r>
                    </a:p>
                  </a:txBody>
                  <a:tcPr marL="114300" marR="114300" marT="76200" marB="76200" anchor="ctr">
                    <a:solidFill>
                      <a:srgbClr val="FFFFFF"/>
                    </a:solidFill>
                  </a:tcPr>
                </a:tc>
              </a:tr>
              <a:tr h="511629">
                <a:tc>
                  <a:txBody>
                    <a:bodyPr/>
                    <a:lstStyle/>
                    <a:p>
                      <a:r>
                        <a:rPr sz="1650" b="0">
                          <a:solidFill>
                            <a:srgbClr val="172738"/>
                          </a:solidFill>
                          <a:latin typeface="Apple SD Gothic Neo"/>
                          <a:ea typeface="Apple SD Gothic Neo"/>
                          <a:cs typeface="Apple SD Gothic Neo"/>
                        </a:rPr>
                        <a:t>C1</a:t>
                      </a:r>
                    </a:p>
                  </a:txBody>
                  <a:tcPr marL="114300" marR="114300" marT="76200" marB="76200" anchor="ctr">
                    <a:solidFill>
                      <a:srgbClr val="F1F5F8"/>
                    </a:solidFill>
                  </a:tcPr>
                </a:tc>
                <a:tc>
                  <a:txBody>
                    <a:bodyPr/>
                    <a:lstStyle/>
                    <a:p>
                      <a:r>
                        <a:rPr sz="1650" b="0">
                          <a:solidFill>
                            <a:srgbClr val="172738"/>
                          </a:solidFill>
                          <a:latin typeface="Apple SD Gothic Neo"/>
                          <a:ea typeface="Apple SD Gothic Neo"/>
                          <a:cs typeface="Apple SD Gothic Neo"/>
                        </a:rPr>
                        <a:t>64B</a:t>
                      </a:r>
                    </a:p>
                  </a:txBody>
                  <a:tcPr marL="114300" marR="114300" marT="76200" marB="76200" anchor="ctr">
                    <a:solidFill>
                      <a:srgbClr val="F1F5F8"/>
                    </a:solidFill>
                  </a:tcPr>
                </a:tc>
                <a:tc>
                  <a:txBody>
                    <a:bodyPr/>
                    <a:lstStyle/>
                    <a:p>
                      <a:r>
                        <a:rPr sz="1650" b="0">
                          <a:solidFill>
                            <a:srgbClr val="172738"/>
                          </a:solidFill>
                          <a:latin typeface="Apple SD Gothic Neo"/>
                          <a:ea typeface="Apple SD Gothic Neo"/>
                          <a:cs typeface="Apple SD Gothic Neo"/>
                        </a:rPr>
                        <a:t>P1, P2, P3, P4, …</a:t>
                      </a:r>
                    </a:p>
                  </a:txBody>
                  <a:tcPr marL="114300" marR="114300" marT="76200" marB="76200" anchor="ctr">
                    <a:solidFill>
                      <a:srgbClr val="F1F5F8"/>
                    </a:solidFill>
                  </a:tcPr>
                </a:tc>
                <a:tc>
                  <a:txBody>
                    <a:bodyPr/>
                    <a:lstStyle/>
                    <a:p>
                      <a:r>
                        <a:rPr sz="1650" b="0">
                          <a:solidFill>
                            <a:srgbClr val="172738"/>
                          </a:solidFill>
                          <a:latin typeface="Apple SD Gothic Neo"/>
                          <a:ea typeface="Apple SD Gothic Neo"/>
                          <a:cs typeface="Apple SD Gothic Neo"/>
                        </a:rPr>
                        <a:t>각 페이지의 시작 64B</a:t>
                      </a:r>
                    </a:p>
                  </a:txBody>
                  <a:tcPr marL="114300" marR="114300" marT="76200" marB="76200" anchor="ctr">
                    <a:solidFill>
                      <a:srgbClr val="F1F5F8"/>
                    </a:solidFill>
                  </a:tcPr>
                </a:tc>
              </a:tr>
              <a:tr h="511629">
                <a:tc>
                  <a:txBody>
                    <a:bodyPr/>
                    <a:lstStyle/>
                    <a:p>
                      <a:r>
                        <a:rPr sz="1650" b="0">
                          <a:solidFill>
                            <a:srgbClr val="172738"/>
                          </a:solidFill>
                          <a:latin typeface="Apple SD Gothic Neo"/>
                          <a:ea typeface="Apple SD Gothic Neo"/>
                          <a:cs typeface="Apple SD Gothic Neo"/>
                        </a:rPr>
                        <a:t>C2</a:t>
                      </a:r>
                    </a:p>
                  </a:txBody>
                  <a:tcPr marL="114300" marR="114300" marT="76200" marB="76200" anchor="ctr">
                    <a:solidFill>
                      <a:srgbClr val="FFFFFF"/>
                    </a:solidFill>
                  </a:tcPr>
                </a:tc>
                <a:tc>
                  <a:txBody>
                    <a:bodyPr/>
                    <a:lstStyle/>
                    <a:p>
                      <a:r>
                        <a:rPr sz="1650" b="0">
                          <a:solidFill>
                            <a:srgbClr val="172738"/>
                          </a:solidFill>
                          <a:latin typeface="Apple SD Gothic Neo"/>
                          <a:ea typeface="Apple SD Gothic Neo"/>
                          <a:cs typeface="Apple SD Gothic Neo"/>
                        </a:rPr>
                        <a:t>64B</a:t>
                      </a:r>
                    </a:p>
                  </a:txBody>
                  <a:tcPr marL="114300" marR="114300" marT="76200" marB="76200" anchor="ctr">
                    <a:solidFill>
                      <a:srgbClr val="FFFFFF"/>
                    </a:solidFill>
                  </a:tcPr>
                </a:tc>
                <a:tc>
                  <a:txBody>
                    <a:bodyPr/>
                    <a:lstStyle/>
                    <a:p>
                      <a:r>
                        <a:rPr sz="1650" b="0">
                          <a:solidFill>
                            <a:srgbClr val="172738"/>
                          </a:solidFill>
                          <a:latin typeface="Apple SD Gothic Neo"/>
                          <a:ea typeface="Apple SD Gothic Neo"/>
                          <a:cs typeface="Apple SD Gothic Neo"/>
                        </a:rPr>
                        <a:t>P1, P3, P2, P4, P6, P5, …</a:t>
                      </a:r>
                    </a:p>
                  </a:txBody>
                  <a:tcPr marL="114300" marR="114300" marT="76200" marB="76200" anchor="ctr">
                    <a:solidFill>
                      <a:srgbClr val="FFFFFF"/>
                    </a:solidFill>
                  </a:tcPr>
                </a:tc>
                <a:tc>
                  <a:txBody>
                    <a:bodyPr/>
                    <a:lstStyle/>
                    <a:p>
                      <a:r>
                        <a:rPr sz="1650" b="0">
                          <a:solidFill>
                            <a:srgbClr val="172738"/>
                          </a:solidFill>
                          <a:latin typeface="Apple SD Gothic Neo"/>
                          <a:ea typeface="Apple SD Gothic Neo"/>
                          <a:cs typeface="Apple SD Gothic Neo"/>
                        </a:rPr>
                        <a:t>각 페이지의 시작 64B</a:t>
                      </a:r>
                    </a:p>
                  </a:txBody>
                  <a:tcPr marL="114300" marR="114300" marT="76200" marB="76200" anchor="ctr">
                    <a:solidFill>
                      <a:srgbClr val="FFFFFF"/>
                    </a:solidFill>
                  </a:tcPr>
                </a:tc>
              </a:tr>
              <a:tr h="511629">
                <a:tc>
                  <a:txBody>
                    <a:bodyPr/>
                    <a:lstStyle/>
                    <a:p>
                      <a:r>
                        <a:rPr sz="1650" b="0">
                          <a:solidFill>
                            <a:srgbClr val="172738"/>
                          </a:solidFill>
                          <a:latin typeface="Apple SD Gothic Neo"/>
                          <a:ea typeface="Apple SD Gothic Neo"/>
                          <a:cs typeface="Apple SD Gothic Neo"/>
                        </a:rPr>
                        <a:t>C3</a:t>
                      </a:r>
                    </a:p>
                  </a:txBody>
                  <a:tcPr marL="114300" marR="114300" marT="76200" marB="76200" anchor="ctr">
                    <a:solidFill>
                      <a:srgbClr val="F1F5F8"/>
                    </a:solidFill>
                  </a:tcPr>
                </a:tc>
                <a:tc>
                  <a:txBody>
                    <a:bodyPr/>
                    <a:lstStyle/>
                    <a:p>
                      <a:r>
                        <a:rPr sz="1650" b="0">
                          <a:solidFill>
                            <a:srgbClr val="172738"/>
                          </a:solidFill>
                          <a:latin typeface="Apple SD Gothic Neo"/>
                          <a:ea typeface="Apple SD Gothic Neo"/>
                          <a:cs typeface="Apple SD Gothic Neo"/>
                        </a:rPr>
                        <a:t>64B</a:t>
                      </a:r>
                    </a:p>
                  </a:txBody>
                  <a:tcPr marL="114300" marR="114300" marT="76200" marB="76200" anchor="ctr">
                    <a:solidFill>
                      <a:srgbClr val="F1F5F8"/>
                    </a:solidFill>
                  </a:tcPr>
                </a:tc>
                <a:tc>
                  <a:txBody>
                    <a:bodyPr/>
                    <a:lstStyle/>
                    <a:p>
                      <a:r>
                        <a:rPr sz="1650" b="0">
                          <a:solidFill>
                            <a:srgbClr val="172738"/>
                          </a:solidFill>
                          <a:latin typeface="Apple SD Gothic Neo"/>
                          <a:ea typeface="Apple SD Gothic Neo"/>
                          <a:cs typeface="Apple SD Gothic Neo"/>
                        </a:rPr>
                        <a:t>P1, P3, P1(offset +64B), P2, …</a:t>
                      </a:r>
                    </a:p>
                  </a:txBody>
                  <a:tcPr marL="114300" marR="114300" marT="76200" marB="76200" anchor="ctr">
                    <a:solidFill>
                      <a:srgbClr val="F1F5F8"/>
                    </a:solidFill>
                  </a:tcPr>
                </a:tc>
                <a:tc>
                  <a:txBody>
                    <a:bodyPr/>
                    <a:lstStyle/>
                    <a:p>
                      <a:r>
                        <a:rPr sz="1650" b="0">
                          <a:solidFill>
                            <a:srgbClr val="172738"/>
                          </a:solidFill>
                          <a:latin typeface="Apple SD Gothic Neo"/>
                          <a:ea typeface="Apple SD Gothic Neo"/>
                          <a:cs typeface="Apple SD Gothic Neo"/>
                        </a:rPr>
                        <a:t>P1 재방문에서 다른 64B</a:t>
                      </a:r>
                    </a:p>
                  </a:txBody>
                  <a:tcPr marL="114300" marR="114300" marT="76200" marB="76200" anchor="ctr">
                    <a:solidFill>
                      <a:srgbClr val="F1F5F8"/>
                    </a:solidFill>
                  </a:tcPr>
                </a:tc>
              </a:tr>
            </a:tbl>
          </a:graphicData>
        </a:graphic>
      </p:graphicFrame>
      <p:sp>
        <p:nvSpPr>
          <p:cNvPr id="6" name="new-b-scope">
            <a:extLst xmlns:a="http://schemas.openxmlformats.org/drawingml/2006/main">
              <a:ext uri="{FF2B5EF4-FFF2-40B4-BE49-F238E27FC236}">
                <a16:creationId xmlns:a16="http://schemas.microsoft.com/office/drawing/2014/main" id="{1FB0EC7E-A97B-4BA0-A76C-3001501D1155}"/>
              </a:ext>
            </a:extLst>
          </p:cNvPr>
          <p:cNvSpPr>
            <a:spLocks xmlns:a="http://schemas.openxmlformats.org/drawingml/2006/main" noGrp="1"/>
          </p:cNvSpPr>
          <p:nvPr/>
        </p:nvSpPr>
        <p:spPr>
          <a:xfrm xmlns:a="http://schemas.openxmlformats.org/drawingml/2006/main">
            <a:off x="571500" y="5629275"/>
            <a:ext cx="1104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1">
                <a:solidFill>
                  <a:srgbClr val="126DCA"/>
                </a:solidFill>
                <a:latin typeface="Apple SD Gothic Neo"/>
                <a:ea typeface="Apple SD Gothic Neo"/>
                <a:cs typeface="Apple SD Gothic Neo"/>
              </a:defRPr>
            </a:defPPr>
          </a:lstStyle>
          <a:p xmlns:a="http://schemas.openxmlformats.org/drawingml/2006/main">
            <a:pPr>
              <a:buNone/>
              <a:defRPr sz="1875" b="1">
                <a:solidFill>
                  <a:srgbClr val="126DCA"/>
                </a:solidFill>
                <a:latin typeface="Apple SD Gothic Neo"/>
                <a:ea typeface="Apple SD Gothic Neo"/>
                <a:cs typeface="Apple SD Gothic Neo"/>
              </a:defRPr>
            </a:pPr>
            <a:r>
              <a:rPr sz="1875" b="1">
                <a:solidFill>
                  <a:srgbClr val="126DCA"/>
                </a:solidFill>
                <a:latin typeface="Apple SD Gothic Neo"/>
                <a:ea typeface="Apple SD Gothic Neo"/>
                <a:cs typeface="Apple SD Gothic Neo"/>
              </a:rPr>
              <a:t>B는 페이지 내 연속 읽기입니다. C1/C2는 페이지마다 일부만 읽습니다.</a:t>
            </a:r>
          </a:p>
        </p:txBody>
      </p:sp>
      <p:sp>
        <p:nvSpPr>
          <p:cNvPr id="7" name="state-rule">
            <a:extLst xmlns:a="http://schemas.openxmlformats.org/drawingml/2006/main">
              <a:ext uri="{FF2B5EF4-FFF2-40B4-BE49-F238E27FC236}">
                <a16:creationId xmlns:a16="http://schemas.microsoft.com/office/drawing/2014/main" id="{4E6B917B-02F0-485F-BF0C-715AE6B07876}"/>
              </a:ext>
            </a:extLst>
          </p:cNvPr>
          <p:cNvSpPr>
            <a:spLocks xmlns:a="http://schemas.openxmlformats.org/drawingml/2006/main" noGrp="1"/>
          </p:cNvSpPr>
          <p:nvPr/>
        </p:nvSpPr>
        <p:spPr>
          <a:xfrm xmlns:a="http://schemas.openxmlformats.org/drawingml/2006/main">
            <a:off x="571500" y="6038850"/>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86875"/>
                </a:solidFill>
                <a:latin typeface="Apple SD Gothic Neo"/>
                <a:ea typeface="Apple SD Gothic Neo"/>
                <a:cs typeface="Apple SD Gothic Neo"/>
              </a:defRPr>
            </a:defPPr>
          </a:lstStyle>
          <a:p xmlns:a="http://schemas.openxmlformats.org/drawingml/2006/main">
            <a:pPr>
              <a:buNone/>
              <a:defRPr sz="1650" b="0">
                <a:solidFill>
                  <a:srgbClr val="586875"/>
                </a:solidFill>
                <a:latin typeface="Apple SD Gothic Neo"/>
                <a:ea typeface="Apple SD Gothic Neo"/>
                <a:cs typeface="Apple SD Gothic Neo"/>
              </a:defRPr>
            </a:pPr>
            <a:r>
              <a:rPr sz="1650" b="0">
                <a:solidFill>
                  <a:srgbClr val="586875"/>
                </a:solidFill>
                <a:latin typeface="Apple SD Gothic Neo"/>
                <a:ea typeface="Apple SD Gothic Neo"/>
                <a:cs typeface="Apple SD Gothic Neo"/>
              </a:rPr>
              <a:t>버퍼 재사용과 tR 발생 여부는 기존 모델 상태로 결정합니다. 항상 hit을 가정하지 않습니다.</a:t>
            </a:r>
          </a:p>
        </p:txBody>
      </p:sp>
    </p:spTree>
    <p:extLst>
      <p:ext uri="{BB962C8B-B14F-4D97-AF65-F5344CB8AC3E}">
        <p14:creationId xmlns:p14="http://schemas.microsoft.com/office/powerpoint/2010/main" val="2054765215"/>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itle">
            <a:extLst xmlns:a="http://schemas.openxmlformats.org/drawingml/2006/main">
              <a:ext uri="{FF2B5EF4-FFF2-40B4-BE49-F238E27FC236}">
                <a16:creationId xmlns:a16="http://schemas.microsoft.com/office/drawing/2014/main" id="{E2E1D410-9095-4D24-A70F-3E956581C241}"/>
              </a:ext>
            </a:extLst>
          </p:cNvPr>
          <p:cNvSpPr>
            <a:spLocks xmlns:a="http://schemas.openxmlformats.org/drawingml/2006/main" noGrp="1"/>
          </p:cNvSpPr>
          <p:nvPr/>
        </p:nvSpPr>
        <p:spPr>
          <a:xfrm xmlns:a="http://schemas.openxmlformats.org/drawingml/2006/main">
            <a:off x="533400" y="438150"/>
            <a:ext cx="11125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2738"/>
                </a:solidFill>
                <a:latin typeface="Apple SD Gothic Neo"/>
                <a:ea typeface="Apple SD Gothic Neo"/>
                <a:cs typeface="Apple SD Gothic Neo"/>
              </a:defRPr>
            </a:defPPr>
          </a:lstStyle>
          <a:p xmlns:a="http://schemas.openxmlformats.org/drawingml/2006/main">
            <a:pPr>
              <a:buNone/>
              <a:defRPr sz="3300" b="1">
                <a:solidFill>
                  <a:srgbClr val="172738"/>
                </a:solidFill>
                <a:latin typeface="Apple SD Gothic Neo"/>
                <a:ea typeface="Apple SD Gothic Neo"/>
                <a:cs typeface="Apple SD Gothic Neo"/>
              </a:defRPr>
            </a:pPr>
            <a:r>
              <a:rPr sz="3300" b="1">
                <a:solidFill>
                  <a:srgbClr val="172738"/>
                </a:solidFill>
                <a:latin typeface="Apple SD Gothic Neo"/>
                <a:ea typeface="Apple SD Gothic Neo"/>
                <a:cs typeface="Apple SD Gothic Neo"/>
              </a:rPr>
              <a:t>A·B·C의 유효 데이터량과 측정 결과</a:t>
            </a:r>
          </a:p>
        </p:txBody>
      </p:sp>
      <p:sp>
        <p:nvSpPr>
          <p:cNvPr id="2" name="subtitle">
            <a:extLst xmlns:a="http://schemas.openxmlformats.org/drawingml/2006/main">
              <a:ext uri="{FF2B5EF4-FFF2-40B4-BE49-F238E27FC236}">
                <a16:creationId xmlns:a16="http://schemas.microsoft.com/office/drawing/2014/main" id="{698BCB06-0931-494F-A964-BE179F82E5A8}"/>
              </a:ext>
            </a:extLst>
          </p:cNvPr>
          <p:cNvSpPr>
            <a:spLocks xmlns:a="http://schemas.openxmlformats.org/drawingml/2006/main" noGrp="1"/>
          </p:cNvSpPr>
          <p:nvPr/>
        </p:nvSpPr>
        <p:spPr>
          <a:xfrm xmlns:a="http://schemas.openxmlformats.org/drawingml/2006/main">
            <a:off x="552450" y="1104900"/>
            <a:ext cx="110871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586875"/>
                </a:solidFill>
                <a:latin typeface="Apple SD Gothic Neo"/>
                <a:ea typeface="Apple SD Gothic Neo"/>
                <a:cs typeface="Apple SD Gothic Neo"/>
              </a:defRPr>
            </a:defPPr>
          </a:lstStyle>
          <a:p xmlns:a="http://schemas.openxmlformats.org/drawingml/2006/main">
            <a:pPr>
              <a:buNone/>
              <a:defRPr sz="1800" b="0">
                <a:solidFill>
                  <a:srgbClr val="586875"/>
                </a:solidFill>
                <a:latin typeface="Apple SD Gothic Neo"/>
                <a:ea typeface="Apple SD Gothic Neo"/>
                <a:cs typeface="Apple SD Gothic Neo"/>
              </a:defRPr>
            </a:pPr>
            <a:r>
              <a:rPr sz="1800" b="0">
                <a:solidFill>
                  <a:srgbClr val="586875"/>
                </a:solidFill>
                <a:latin typeface="Apple SD Gothic Neo"/>
                <a:ea typeface="Apple SD Gothic Neo"/>
                <a:cs typeface="Apple SD Gothic Neo"/>
              </a:rPr>
              <a:t>새 B와 C는 모두 64B 요청이지만, 준비한 페이지에서 실제 소비하는 데이터량이 다릅니다.</a:t>
            </a:r>
          </a:p>
        </p:txBody>
      </p:sp>
      <p:sp>
        <p:nvSpPr>
          <p:cNvPr id="3" name="footer">
            <a:extLst xmlns:a="http://schemas.openxmlformats.org/drawingml/2006/main">
              <a:ext uri="{FF2B5EF4-FFF2-40B4-BE49-F238E27FC236}">
                <a16:creationId xmlns:a16="http://schemas.microsoft.com/office/drawing/2014/main" id="{6E7DB24E-B6D8-4B59-A749-8163A1A6CCFF}"/>
              </a:ext>
            </a:extLst>
          </p:cNvPr>
          <p:cNvSpPr>
            <a:spLocks xmlns:a="http://schemas.openxmlformats.org/drawingml/2006/main" noGrp="1"/>
          </p:cNvSpPr>
          <p:nvPr/>
        </p:nvSpPr>
        <p:spPr>
          <a:xfrm xmlns:a="http://schemas.openxmlformats.org/drawingml/2006/main">
            <a:off x="533400" y="6419850"/>
            <a:ext cx="10477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86875"/>
                </a:solidFill>
                <a:latin typeface="Apple SD Gothic Neo"/>
                <a:ea typeface="Apple SD Gothic Neo"/>
                <a:cs typeface="Apple SD Gothic Neo"/>
              </a:defRPr>
            </a:defPPr>
          </a:lstStyle>
          <a:p xmlns:a="http://schemas.openxmlformats.org/drawingml/2006/main">
            <a:pPr>
              <a:buNone/>
              <a:defRPr sz="1200" b="0">
                <a:solidFill>
                  <a:srgbClr val="586875"/>
                </a:solidFill>
                <a:latin typeface="Apple SD Gothic Neo"/>
                <a:ea typeface="Apple SD Gothic Neo"/>
                <a:cs typeface="Apple SD Gothic Neo"/>
              </a:defRPr>
            </a:pPr>
            <a:r>
              <a:rPr sz="1200" b="0">
                <a:solidFill>
                  <a:srgbClr val="586875"/>
                </a:solidFill>
                <a:latin typeface="Apple SD Gothic Neo"/>
                <a:ea typeface="Apple SD Gothic Neo"/>
                <a:cs typeface="Apple SD Gothic Neo"/>
              </a:rPr>
              <a:t>64 Plane, 8MiB, PF OFF, 고정 2ms 평균. 각 셀에 표시한 QD 조건을 구분</a:t>
            </a:r>
          </a:p>
        </p:txBody>
      </p:sp>
      <p:sp>
        <p:nvSpPr>
          <p:cNvPr id="4" name="page">
            <a:extLst xmlns:a="http://schemas.openxmlformats.org/drawingml/2006/main">
              <a:ext uri="{FF2B5EF4-FFF2-40B4-BE49-F238E27FC236}">
                <a16:creationId xmlns:a16="http://schemas.microsoft.com/office/drawing/2014/main" id="{5F980D6D-246A-49F0-B917-6E5342D405D5}"/>
              </a:ext>
            </a:extLst>
          </p:cNvPr>
          <p:cNvSpPr>
            <a:spLocks xmlns:a="http://schemas.openxmlformats.org/drawingml/2006/main" noGrp="1"/>
          </p:cNvSpPr>
          <p:nvPr/>
        </p:nvSpPr>
        <p:spPr>
          <a:xfrm xmlns:a="http://schemas.openxmlformats.org/drawingml/2006/main">
            <a:off x="11144250" y="6419850"/>
            <a:ext cx="4953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86875"/>
                </a:solidFill>
                <a:latin typeface="Apple SD Gothic Neo"/>
                <a:ea typeface="Apple SD Gothic Neo"/>
                <a:cs typeface="Apple SD Gothic Neo"/>
              </a:defRPr>
            </a:defPPr>
          </a:lstStyle>
          <a:p xmlns:a="http://schemas.openxmlformats.org/drawingml/2006/main">
            <a:pPr>
              <a:buNone/>
              <a:defRPr sz="1200" b="0">
                <a:solidFill>
                  <a:srgbClr val="586875"/>
                </a:solidFill>
                <a:latin typeface="Apple SD Gothic Neo"/>
                <a:ea typeface="Apple SD Gothic Neo"/>
                <a:cs typeface="Apple SD Gothic Neo"/>
              </a:defRPr>
            </a:pPr>
            <a:r>
              <a:rPr sz="1200" b="0">
                <a:solidFill>
                  <a:srgbClr val="586875"/>
                </a:solidFill>
                <a:latin typeface="Apple SD Gothic Neo"/>
                <a:ea typeface="Apple SD Gothic Neo"/>
                <a:cs typeface="Apple SD Gothic Neo"/>
              </a:rPr>
              <a:t>13</a:t>
            </a:r>
          </a:p>
        </p:txBody>
      </p:sp>
      <p:graphicFrame>
        <p:nvGraphicFramePr>
          <p:cNvPr id="5" name="표 4">
            <a:extLst xmlns:a="http://schemas.openxmlformats.org/drawingml/2006/main">
              <a:ext uri="{FF2B5EF4-FFF2-40B4-BE49-F238E27FC236}">
                <a16:creationId xmlns:a16="http://schemas.microsoft.com/office/drawing/2014/main" id="{5977F009-2C86-40B2-8B91-F24798215BE8}"/>
              </a:ext>
            </a:extLst>
          </p:cNvPr>
          <p:cNvGraphicFramePr/>
          <p:nvPr/>
        </p:nvGraphicFramePr>
        <p:xfrm>
          <a:off xmlns:a="http://schemas.openxmlformats.org/drawingml/2006/main" x="533400" y="1819275"/>
          <a:ext xmlns:a="http://schemas.openxmlformats.org/drawingml/2006/main" cx="11125200" cy="3257550"/>
        </p:xfrm>
        <a:graphic xmlns:a="http://schemas.openxmlformats.org/drawingml/2006/main">
          <a:graphicData uri="http://schemas.openxmlformats.org/drawingml/2006/table">
            <a:tbl>
              <a:tblPr/>
              <a:tblGrid>
                <a:gridCol w="3429000"/>
                <a:gridCol w="2562225"/>
                <a:gridCol w="2571750"/>
                <a:gridCol w="2562225"/>
              </a:tblGrid>
              <a:tr h="542925">
                <a:tc>
                  <a:txBody>
                    <a:bodyPr/>
                    <a:lstStyle/>
                    <a:p>
                      <a:r>
                        <a:rPr sz="1650" b="1">
                          <a:solidFill>
                            <a:srgbClr val="FFFFFF"/>
                          </a:solidFill>
                          <a:latin typeface="Apple SD Gothic Neo"/>
                          <a:ea typeface="Apple SD Gothic Neo"/>
                          <a:cs typeface="Apple SD Gothic Neo"/>
                        </a:rPr>
                        <a:t>비교 항목</a:t>
                      </a:r>
                    </a:p>
                  </a:txBody>
                  <a:tcPr marL="114300" marR="114300" marT="76200" marB="76200" anchor="ctr">
                    <a:solidFill>
                      <a:srgbClr val="122C40"/>
                    </a:solidFill>
                  </a:tcPr>
                </a:tc>
                <a:tc>
                  <a:txBody>
                    <a:bodyPr/>
                    <a:lstStyle/>
                    <a:p>
                      <a:r>
                        <a:rPr sz="1650" b="1">
                          <a:solidFill>
                            <a:srgbClr val="FFFFFF"/>
                          </a:solidFill>
                          <a:latin typeface="Apple SD Gothic Neo"/>
                          <a:ea typeface="Apple SD Gothic Neo"/>
                          <a:cs typeface="Apple SD Gothic Neo"/>
                        </a:rPr>
                        <a:t>A1 / A2</a:t>
                      </a:r>
                    </a:p>
                  </a:txBody>
                  <a:tcPr marL="114300" marR="114300" marT="76200" marB="76200" anchor="ctr">
                    <a:solidFill>
                      <a:srgbClr val="122C40"/>
                    </a:solidFill>
                  </a:tcPr>
                </a:tc>
                <a:tc>
                  <a:txBody>
                    <a:bodyPr/>
                    <a:lstStyle/>
                    <a:p>
                      <a:r>
                        <a:rPr sz="1650" b="1">
                          <a:solidFill>
                            <a:srgbClr val="FFFFFF"/>
                          </a:solidFill>
                          <a:latin typeface="Apple SD Gothic Neo"/>
                          <a:ea typeface="Apple SD Gothic Neo"/>
                          <a:cs typeface="Apple SD Gothic Neo"/>
                        </a:rPr>
                        <a:t>B (신규)</a:t>
                      </a:r>
                    </a:p>
                  </a:txBody>
                  <a:tcPr marL="114300" marR="114300" marT="76200" marB="76200" anchor="ctr">
                    <a:solidFill>
                      <a:srgbClr val="122C40"/>
                    </a:solidFill>
                  </a:tcPr>
                </a:tc>
                <a:tc>
                  <a:txBody>
                    <a:bodyPr/>
                    <a:lstStyle/>
                    <a:p>
                      <a:r>
                        <a:rPr sz="1650" b="1">
                          <a:solidFill>
                            <a:srgbClr val="FFFFFF"/>
                          </a:solidFill>
                          <a:latin typeface="Apple SD Gothic Neo"/>
                          <a:ea typeface="Apple SD Gothic Neo"/>
                          <a:cs typeface="Apple SD Gothic Neo"/>
                        </a:rPr>
                        <a:t>C1 / C2</a:t>
                      </a:r>
                    </a:p>
                  </a:txBody>
                  <a:tcPr marL="114300" marR="114300" marT="76200" marB="76200" anchor="ctr">
                    <a:solidFill>
                      <a:srgbClr val="122C40"/>
                    </a:solidFill>
                  </a:tcPr>
                </a:tc>
              </a:tr>
              <a:tr h="542925">
                <a:tc>
                  <a:txBody>
                    <a:bodyPr/>
                    <a:lstStyle/>
                    <a:p>
                      <a:r>
                        <a:rPr sz="1650" b="0">
                          <a:solidFill>
                            <a:srgbClr val="172738"/>
                          </a:solidFill>
                          <a:latin typeface="Apple SD Gothic Neo"/>
                          <a:ea typeface="Apple SD Gothic Neo"/>
                          <a:cs typeface="Apple SD Gothic Neo"/>
                        </a:rPr>
                        <a:t>Host 요청당 반환량</a:t>
                      </a:r>
                    </a:p>
                  </a:txBody>
                  <a:tcPr marL="114300" marR="114300" marT="76200" marB="76200" anchor="ctr">
                    <a:solidFill>
                      <a:srgbClr val="FFFFFF"/>
                    </a:solidFill>
                  </a:tcPr>
                </a:tc>
                <a:tc>
                  <a:txBody>
                    <a:bodyPr/>
                    <a:lstStyle/>
                    <a:p>
                      <a:r>
                        <a:rPr sz="1650" b="0">
                          <a:solidFill>
                            <a:srgbClr val="172738"/>
                          </a:solidFill>
                          <a:latin typeface="Apple SD Gothic Neo"/>
                          <a:ea typeface="Apple SD Gothic Neo"/>
                          <a:cs typeface="Apple SD Gothic Neo"/>
                        </a:rPr>
                        <a:t>4KiB</a:t>
                      </a:r>
                    </a:p>
                  </a:txBody>
                  <a:tcPr marL="114300" marR="114300" marT="76200" marB="76200" anchor="ctr">
                    <a:solidFill>
                      <a:srgbClr val="FFFFFF"/>
                    </a:solidFill>
                  </a:tcPr>
                </a:tc>
                <a:tc>
                  <a:txBody>
                    <a:bodyPr/>
                    <a:lstStyle/>
                    <a:p>
                      <a:r>
                        <a:rPr sz="1650" b="0">
                          <a:solidFill>
                            <a:srgbClr val="172738"/>
                          </a:solidFill>
                          <a:latin typeface="Apple SD Gothic Neo"/>
                          <a:ea typeface="Apple SD Gothic Neo"/>
                          <a:cs typeface="Apple SD Gothic Neo"/>
                        </a:rPr>
                        <a:t>64B</a:t>
                      </a:r>
                    </a:p>
                  </a:txBody>
                  <a:tcPr marL="114300" marR="114300" marT="76200" marB="76200" anchor="ctr">
                    <a:solidFill>
                      <a:srgbClr val="FFFFFF"/>
                    </a:solidFill>
                  </a:tcPr>
                </a:tc>
                <a:tc>
                  <a:txBody>
                    <a:bodyPr/>
                    <a:lstStyle/>
                    <a:p>
                      <a:r>
                        <a:rPr sz="1650" b="0">
                          <a:solidFill>
                            <a:srgbClr val="172738"/>
                          </a:solidFill>
                          <a:latin typeface="Apple SD Gothic Neo"/>
                          <a:ea typeface="Apple SD Gothic Neo"/>
                          <a:cs typeface="Apple SD Gothic Neo"/>
                        </a:rPr>
                        <a:t>64B</a:t>
                      </a:r>
                    </a:p>
                  </a:txBody>
                  <a:tcPr marL="114300" marR="114300" marT="76200" marB="76200" anchor="ctr">
                    <a:solidFill>
                      <a:srgbClr val="FFFFFF"/>
                    </a:solidFill>
                  </a:tcPr>
                </a:tc>
              </a:tr>
              <a:tr h="542925">
                <a:tc>
                  <a:txBody>
                    <a:bodyPr/>
                    <a:lstStyle/>
                    <a:p>
                      <a:r>
                        <a:rPr sz="1650" b="0">
                          <a:solidFill>
                            <a:srgbClr val="172738"/>
                          </a:solidFill>
                          <a:latin typeface="Apple SD Gothic Neo"/>
                          <a:ea typeface="Apple SD Gothic Neo"/>
                          <a:cs typeface="Apple SD Gothic Neo"/>
                        </a:rPr>
                        <a:t>논리 4KiB당 요청 수</a:t>
                      </a:r>
                    </a:p>
                  </a:txBody>
                  <a:tcPr marL="114300" marR="114300" marT="76200" marB="76200" anchor="ctr">
                    <a:solidFill>
                      <a:srgbClr val="F1F5F8"/>
                    </a:solidFill>
                  </a:tcPr>
                </a:tc>
                <a:tc>
                  <a:txBody>
                    <a:bodyPr/>
                    <a:lstStyle/>
                    <a:p>
                      <a:r>
                        <a:rPr sz="1650" b="0">
                          <a:solidFill>
                            <a:srgbClr val="172738"/>
                          </a:solidFill>
                          <a:latin typeface="Apple SD Gothic Neo"/>
                          <a:ea typeface="Apple SD Gothic Neo"/>
                          <a:cs typeface="Apple SD Gothic Neo"/>
                        </a:rPr>
                        <a:t>1개</a:t>
                      </a:r>
                    </a:p>
                  </a:txBody>
                  <a:tcPr marL="114300" marR="114300" marT="76200" marB="76200" anchor="ctr">
                    <a:solidFill>
                      <a:srgbClr val="F1F5F8"/>
                    </a:solidFill>
                  </a:tcPr>
                </a:tc>
                <a:tc>
                  <a:txBody>
                    <a:bodyPr/>
                    <a:lstStyle/>
                    <a:p>
                      <a:r>
                        <a:rPr sz="1650" b="0">
                          <a:solidFill>
                            <a:srgbClr val="172738"/>
                          </a:solidFill>
                          <a:latin typeface="Apple SD Gothic Neo"/>
                          <a:ea typeface="Apple SD Gothic Neo"/>
                          <a:cs typeface="Apple SD Gothic Neo"/>
                        </a:rPr>
                        <a:t>64개</a:t>
                      </a:r>
                    </a:p>
                  </a:txBody>
                  <a:tcPr marL="114300" marR="114300" marT="76200" marB="76200" anchor="ctr">
                    <a:solidFill>
                      <a:srgbClr val="F1F5F8"/>
                    </a:solidFill>
                  </a:tcPr>
                </a:tc>
                <a:tc>
                  <a:txBody>
                    <a:bodyPr/>
                    <a:lstStyle/>
                    <a:p>
                      <a:r>
                        <a:rPr sz="1650" b="0">
                          <a:solidFill>
                            <a:srgbClr val="172738"/>
                          </a:solidFill>
                          <a:latin typeface="Apple SD Gothic Neo"/>
                          <a:ea typeface="Apple SD Gothic Neo"/>
                          <a:cs typeface="Apple SD Gothic Neo"/>
                        </a:rPr>
                        <a:t>1개</a:t>
                      </a:r>
                    </a:p>
                  </a:txBody>
                  <a:tcPr marL="114300" marR="114300" marT="76200" marB="76200" anchor="ctr">
                    <a:solidFill>
                      <a:srgbClr val="F1F5F8"/>
                    </a:solidFill>
                  </a:tcPr>
                </a:tc>
              </a:tr>
              <a:tr h="542925">
                <a:tc>
                  <a:txBody>
                    <a:bodyPr/>
                    <a:lstStyle/>
                    <a:p>
                      <a:r>
                        <a:rPr sz="1650" b="0">
                          <a:solidFill>
                            <a:srgbClr val="172738"/>
                          </a:solidFill>
                          <a:latin typeface="Apple SD Gothic Neo"/>
                          <a:ea typeface="Apple SD Gothic Neo"/>
                          <a:cs typeface="Apple SD Gothic Neo"/>
                        </a:rPr>
                        <a:t>물리 16KiB당 유효 데이터</a:t>
                      </a:r>
                    </a:p>
                  </a:txBody>
                  <a:tcPr marL="114300" marR="114300" marT="76200" marB="76200" anchor="ctr">
                    <a:solidFill>
                      <a:srgbClr val="FFFFFF"/>
                    </a:solidFill>
                  </a:tcPr>
                </a:tc>
                <a:tc>
                  <a:txBody>
                    <a:bodyPr/>
                    <a:lstStyle/>
                    <a:p>
                      <a:r>
                        <a:rPr sz="1650" b="0">
                          <a:solidFill>
                            <a:srgbClr val="172738"/>
                          </a:solidFill>
                          <a:latin typeface="Apple SD Gothic Neo"/>
                          <a:ea typeface="Apple SD Gothic Neo"/>
                          <a:cs typeface="Apple SD Gothic Neo"/>
                        </a:rPr>
                        <a:t>16KiB</a:t>
                      </a:r>
                    </a:p>
                  </a:txBody>
                  <a:tcPr marL="114300" marR="114300" marT="76200" marB="76200" anchor="ctr">
                    <a:solidFill>
                      <a:srgbClr val="FFFFFF"/>
                    </a:solidFill>
                  </a:tcPr>
                </a:tc>
                <a:tc>
                  <a:txBody>
                    <a:bodyPr/>
                    <a:lstStyle/>
                    <a:p>
                      <a:r>
                        <a:rPr sz="1650" b="0">
                          <a:solidFill>
                            <a:srgbClr val="172738"/>
                          </a:solidFill>
                          <a:latin typeface="Apple SD Gothic Neo"/>
                          <a:ea typeface="Apple SD Gothic Neo"/>
                          <a:cs typeface="Apple SD Gothic Neo"/>
                        </a:rPr>
                        <a:t>16KiB</a:t>
                      </a:r>
                    </a:p>
                  </a:txBody>
                  <a:tcPr marL="114300" marR="114300" marT="76200" marB="76200" anchor="ctr">
                    <a:solidFill>
                      <a:srgbClr val="FFFFFF"/>
                    </a:solidFill>
                  </a:tcPr>
                </a:tc>
                <a:tc>
                  <a:txBody>
                    <a:bodyPr/>
                    <a:lstStyle/>
                    <a:p>
                      <a:r>
                        <a:rPr sz="1650" b="0">
                          <a:solidFill>
                            <a:srgbClr val="172738"/>
                          </a:solidFill>
                          <a:latin typeface="Apple SD Gothic Neo"/>
                          <a:ea typeface="Apple SD Gothic Neo"/>
                          <a:cs typeface="Apple SD Gothic Neo"/>
                        </a:rPr>
                        <a:t>256B</a:t>
                      </a:r>
                    </a:p>
                  </a:txBody>
                  <a:tcPr marL="114300" marR="114300" marT="76200" marB="76200" anchor="ctr">
                    <a:solidFill>
                      <a:srgbClr val="FFFFFF"/>
                    </a:solidFill>
                  </a:tcPr>
                </a:tc>
              </a:tr>
              <a:tr h="542925">
                <a:tc>
                  <a:txBody>
                    <a:bodyPr/>
                    <a:lstStyle/>
                    <a:p>
                      <a:r>
                        <a:rPr sz="1650" b="0">
                          <a:solidFill>
                            <a:srgbClr val="172738"/>
                          </a:solidFill>
                          <a:latin typeface="Apple SD Gothic Neo"/>
                          <a:ea typeface="Apple SD Gothic Neo"/>
                          <a:cs typeface="Apple SD Gothic Neo"/>
                        </a:rPr>
                        <a:t>명목 유효 데이터 비율</a:t>
                      </a:r>
                    </a:p>
                  </a:txBody>
                  <a:tcPr marL="114300" marR="114300" marT="76200" marB="76200" anchor="ctr">
                    <a:solidFill>
                      <a:srgbClr val="F1F5F8"/>
                    </a:solidFill>
                  </a:tcPr>
                </a:tc>
                <a:tc>
                  <a:txBody>
                    <a:bodyPr/>
                    <a:lstStyle/>
                    <a:p>
                      <a:r>
                        <a:rPr sz="1650" b="0">
                          <a:solidFill>
                            <a:srgbClr val="172738"/>
                          </a:solidFill>
                          <a:latin typeface="Apple SD Gothic Neo"/>
                          <a:ea typeface="Apple SD Gothic Neo"/>
                          <a:cs typeface="Apple SD Gothic Neo"/>
                        </a:rPr>
                        <a:t>100%</a:t>
                      </a:r>
                    </a:p>
                  </a:txBody>
                  <a:tcPr marL="114300" marR="114300" marT="76200" marB="76200" anchor="ctr">
                    <a:solidFill>
                      <a:srgbClr val="F1F5F8"/>
                    </a:solidFill>
                  </a:tcPr>
                </a:tc>
                <a:tc>
                  <a:txBody>
                    <a:bodyPr/>
                    <a:lstStyle/>
                    <a:p>
                      <a:r>
                        <a:rPr sz="1650" b="0">
                          <a:solidFill>
                            <a:srgbClr val="172738"/>
                          </a:solidFill>
                          <a:latin typeface="Apple SD Gothic Neo"/>
                          <a:ea typeface="Apple SD Gothic Neo"/>
                          <a:cs typeface="Apple SD Gothic Neo"/>
                        </a:rPr>
                        <a:t>100%</a:t>
                      </a:r>
                    </a:p>
                  </a:txBody>
                  <a:tcPr marL="114300" marR="114300" marT="76200" marB="76200" anchor="ctr">
                    <a:solidFill>
                      <a:srgbClr val="F1F5F8"/>
                    </a:solidFill>
                  </a:tcPr>
                </a:tc>
                <a:tc>
                  <a:txBody>
                    <a:bodyPr/>
                    <a:lstStyle/>
                    <a:p>
                      <a:r>
                        <a:rPr sz="1650" b="0">
                          <a:solidFill>
                            <a:srgbClr val="172738"/>
                          </a:solidFill>
                          <a:latin typeface="Apple SD Gothic Neo"/>
                          <a:ea typeface="Apple SD Gothic Neo"/>
                          <a:cs typeface="Apple SD Gothic Neo"/>
                        </a:rPr>
                        <a:t>1/64 = 1.5625%</a:t>
                      </a:r>
                    </a:p>
                  </a:txBody>
                  <a:tcPr marL="114300" marR="114300" marT="76200" marB="76200" anchor="ctr">
                    <a:solidFill>
                      <a:srgbClr val="F1F5F8"/>
                    </a:solidFill>
                  </a:tcPr>
                </a:tc>
              </a:tr>
              <a:tr h="542925">
                <a:tc>
                  <a:txBody>
                    <a:bodyPr/>
                    <a:lstStyle/>
                    <a:p>
                      <a:r>
                        <a:rPr sz="1650" b="0">
                          <a:solidFill>
                            <a:srgbClr val="172738"/>
                          </a:solidFill>
                          <a:latin typeface="Apple SD Gothic Neo"/>
                          <a:ea typeface="Apple SD Gothic Neo"/>
                          <a:cs typeface="Apple SD Gothic Neo"/>
                        </a:rPr>
                        <a:t>Host 평균 (GB/s)</a:t>
                      </a:r>
                    </a:p>
                  </a:txBody>
                  <a:tcPr marL="114300" marR="114300" marT="76200" marB="76200" anchor="ctr">
                    <a:solidFill>
                      <a:srgbClr val="FFFFFF"/>
                    </a:solidFill>
                  </a:tcPr>
                </a:tc>
                <a:tc>
                  <a:txBody>
                    <a:bodyPr/>
                    <a:lstStyle/>
                    <a:p>
                      <a:r>
                        <a:rPr sz="1650" b="0">
                          <a:solidFill>
                            <a:srgbClr val="172738"/>
                          </a:solidFill>
                          <a:latin typeface="Apple SD Gothic Neo"/>
                          <a:ea typeface="Apple SD Gothic Neo"/>
                          <a:cs typeface="Apple SD Gothic Neo"/>
                        </a:rPr>
                        <a:t>A1 255.366</a:t>
                      </a:r>
                    </a:p>
                    <a:p>
                      <a:r>
                        <a:rPr sz="1650" b="0">
                          <a:solidFill>
                            <a:srgbClr val="172738"/>
                          </a:solidFill>
                          <a:latin typeface="Apple SD Gothic Neo"/>
                          <a:ea typeface="Apple SD Gothic Neo"/>
                          <a:cs typeface="Apple SD Gothic Neo"/>
                        </a:rPr>
                        <a:t>A2 255.058</a:t>
                      </a:r>
                    </a:p>
                  </a:txBody>
                  <a:tcPr marL="114300" marR="114300" marT="76200" marB="76200" anchor="ctr">
                    <a:solidFill>
                      <a:srgbClr val="FFFFFF"/>
                    </a:solidFill>
                  </a:tcPr>
                </a:tc>
                <a:tc>
                  <a:txBody>
                    <a:bodyPr/>
                    <a:lstStyle/>
                    <a:p>
                      <a:r>
                        <a:rPr sz="1650" b="0">
                          <a:solidFill>
                            <a:srgbClr val="172738"/>
                          </a:solidFill>
                          <a:latin typeface="Apple SD Gothic Neo"/>
                          <a:ea typeface="Apple SD Gothic Neo"/>
                          <a:cs typeface="Apple SD Gothic Neo"/>
                        </a:rPr>
                        <a:t>31.457 (QD512)</a:t>
                      </a:r>
                    </a:p>
                    <a:p>
                      <a:r>
                        <a:rPr sz="1650" b="0">
                          <a:solidFill>
                            <a:srgbClr val="172738"/>
                          </a:solidFill>
                          <a:latin typeface="Apple SD Gothic Neo"/>
                          <a:ea typeface="Apple SD Gothic Neo"/>
                          <a:cs typeface="Apple SD Gothic Neo"/>
                        </a:rPr>
                        <a:t>255.335 (QD32,768)</a:t>
                      </a:r>
                    </a:p>
                  </a:txBody>
                  <a:tcPr marL="114300" marR="114300" marT="76200" marB="76200" anchor="ctr">
                    <a:solidFill>
                      <a:srgbClr val="FFFFFF"/>
                    </a:solidFill>
                  </a:tcPr>
                </a:tc>
                <a:tc>
                  <a:txBody>
                    <a:bodyPr/>
                    <a:lstStyle/>
                    <a:p>
                      <a:r>
                        <a:rPr sz="1650" b="0">
                          <a:solidFill>
                            <a:srgbClr val="172738"/>
                          </a:solidFill>
                          <a:latin typeface="Apple SD Gothic Neo"/>
                          <a:ea typeface="Apple SD Gothic Neo"/>
                          <a:cs typeface="Apple SD Gothic Neo"/>
                        </a:rPr>
                        <a:t>C1 3.995</a:t>
                      </a:r>
                    </a:p>
                    <a:p>
                      <a:r>
                        <a:rPr sz="1650" b="0">
                          <a:solidFill>
                            <a:srgbClr val="172738"/>
                          </a:solidFill>
                          <a:latin typeface="Apple SD Gothic Neo"/>
                          <a:ea typeface="Apple SD Gothic Neo"/>
                          <a:cs typeface="Apple SD Gothic Neo"/>
                        </a:rPr>
                        <a:t>C2 4.001</a:t>
                      </a:r>
                    </a:p>
                  </a:txBody>
                  <a:tcPr marL="114300" marR="114300" marT="76200" marB="76200" anchor="ctr">
                    <a:solidFill>
                      <a:srgbClr val="FFFFFF"/>
                    </a:solidFill>
                  </a:tcPr>
                </a:tc>
              </a:tr>
            </a:tbl>
          </a:graphicData>
        </a:graphic>
      </p:graphicFrame>
      <p:sp>
        <p:nvSpPr>
          <p:cNvPr id="6" name="new-b-qd">
            <a:extLst xmlns:a="http://schemas.openxmlformats.org/drawingml/2006/main">
              <a:ext uri="{FF2B5EF4-FFF2-40B4-BE49-F238E27FC236}">
                <a16:creationId xmlns:a16="http://schemas.microsoft.com/office/drawing/2014/main" id="{218C3543-5827-4416-8167-3503298FCCF9}"/>
              </a:ext>
            </a:extLst>
          </p:cNvPr>
          <p:cNvSpPr>
            <a:spLocks xmlns:a="http://schemas.openxmlformats.org/drawingml/2006/main" noGrp="1"/>
          </p:cNvSpPr>
          <p:nvPr/>
        </p:nvSpPr>
        <p:spPr>
          <a:xfrm xmlns:a="http://schemas.openxmlformats.org/drawingml/2006/main">
            <a:off x="571500" y="5314950"/>
            <a:ext cx="1104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1">
                <a:solidFill>
                  <a:srgbClr val="126DCA"/>
                </a:solidFill>
                <a:latin typeface="Apple SD Gothic Neo"/>
                <a:ea typeface="Apple SD Gothic Neo"/>
                <a:cs typeface="Apple SD Gothic Neo"/>
              </a:defRPr>
            </a:defPPr>
          </a:lstStyle>
          <a:p xmlns:a="http://schemas.openxmlformats.org/drawingml/2006/main">
            <a:pPr>
              <a:buNone/>
              <a:defRPr sz="1875" b="1">
                <a:solidFill>
                  <a:srgbClr val="126DCA"/>
                </a:solidFill>
                <a:latin typeface="Apple SD Gothic Neo"/>
                <a:ea typeface="Apple SD Gothic Neo"/>
                <a:cs typeface="Apple SD Gothic Neo"/>
              </a:defRPr>
            </a:pPr>
            <a:r>
              <a:rPr sz="1875" b="1">
                <a:solidFill>
                  <a:srgbClr val="126DCA"/>
                </a:solidFill>
                <a:latin typeface="Apple SD Gothic Neo"/>
                <a:ea typeface="Apple SD Gothic Neo"/>
                <a:cs typeface="Apple SD Gothic Neo"/>
              </a:rPr>
              <a:t>같은 QD512/Port에서도 대기 payload는 A가 2MiB, B/C가 32KiB입니다.</a:t>
            </a:r>
          </a:p>
        </p:txBody>
      </p:sp>
      <p:sp>
        <p:nvSpPr>
          <p:cNvPr id="7" name="new-b-parallel">
            <a:extLst xmlns:a="http://schemas.openxmlformats.org/drawingml/2006/main">
              <a:ext uri="{FF2B5EF4-FFF2-40B4-BE49-F238E27FC236}">
                <a16:creationId xmlns:a16="http://schemas.microsoft.com/office/drawing/2014/main" id="{2AFCF115-5C12-4829-BEA4-0606791E2035}"/>
              </a:ext>
            </a:extLst>
          </p:cNvPr>
          <p:cNvSpPr>
            <a:spLocks xmlns:a="http://schemas.openxmlformats.org/drawingml/2006/main" noGrp="1"/>
          </p:cNvSpPr>
          <p:nvPr/>
        </p:nvSpPr>
        <p:spPr>
          <a:xfrm xmlns:a="http://schemas.openxmlformats.org/drawingml/2006/main">
            <a:off x="571500" y="5734050"/>
            <a:ext cx="1104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172738"/>
                </a:solidFill>
                <a:latin typeface="Apple SD Gothic Neo"/>
                <a:ea typeface="Apple SD Gothic Neo"/>
                <a:cs typeface="Apple SD Gothic Neo"/>
              </a:defRPr>
            </a:defPPr>
          </a:lstStyle>
          <a:p xmlns:a="http://schemas.openxmlformats.org/drawingml/2006/main">
            <a:pPr>
              <a:buNone/>
              <a:defRPr sz="1650" b="0">
                <a:solidFill>
                  <a:srgbClr val="172738"/>
                </a:solidFill>
                <a:latin typeface="Apple SD Gothic Neo"/>
                <a:ea typeface="Apple SD Gothic Neo"/>
                <a:cs typeface="Apple SD Gothic Neo"/>
              </a:defRPr>
            </a:pPr>
            <a:r>
              <a:rPr sz="1650" b="0">
                <a:solidFill>
                  <a:srgbClr val="172738"/>
                </a:solidFill>
                <a:latin typeface="Apple SD Gothic Neo"/>
                <a:ea typeface="Apple SD Gothic Neo"/>
                <a:cs typeface="Apple SD Gothic Neo"/>
              </a:rPr>
              <a:t>B의 QD32,768 × 64B와 A의 QD512 × 4KiB는 모두 Port당 2MiB입니다.</a:t>
            </a:r>
          </a:p>
        </p:txBody>
      </p:sp>
      <p:sp>
        <p:nvSpPr>
          <p:cNvPr id="8" name="new-b-results">
            <a:extLst xmlns:a="http://schemas.openxmlformats.org/drawingml/2006/main">
              <a:ext uri="{FF2B5EF4-FFF2-40B4-BE49-F238E27FC236}">
                <a16:creationId xmlns:a16="http://schemas.microsoft.com/office/drawing/2014/main" id="{4035910D-65E2-46ED-B2A1-E7F49E7290E6}"/>
              </a:ext>
            </a:extLst>
          </p:cNvPr>
          <p:cNvSpPr>
            <a:spLocks xmlns:a="http://schemas.openxmlformats.org/drawingml/2006/main" noGrp="1"/>
          </p:cNvSpPr>
          <p:nvPr/>
        </p:nvSpPr>
        <p:spPr>
          <a:xfrm xmlns:a="http://schemas.openxmlformats.org/drawingml/2006/main">
            <a:off x="571500" y="6105525"/>
            <a:ext cx="11049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86875"/>
                </a:solidFill>
                <a:latin typeface="Apple SD Gothic Neo"/>
                <a:ea typeface="Apple SD Gothic Neo"/>
                <a:cs typeface="Apple SD Gothic Neo"/>
              </a:defRPr>
            </a:defPPr>
          </a:lstStyle>
          <a:p xmlns:a="http://schemas.openxmlformats.org/drawingml/2006/main">
            <a:pPr>
              <a:buNone/>
              <a:defRPr sz="1650" b="0">
                <a:solidFill>
                  <a:srgbClr val="586875"/>
                </a:solidFill>
                <a:latin typeface="Apple SD Gothic Neo"/>
                <a:ea typeface="Apple SD Gothic Neo"/>
                <a:cs typeface="Apple SD Gothic Neo"/>
              </a:defRPr>
            </a:pPr>
            <a:r>
              <a:rPr sz="1650" b="0">
                <a:solidFill>
                  <a:srgbClr val="586875"/>
                </a:solidFill>
                <a:latin typeface="Apple SD Gothic Neo"/>
                <a:ea typeface="Apple SD Gothic Neo"/>
                <a:cs typeface="Apple SD Gothic Neo"/>
              </a:rPr>
              <a:t>C1/C2의 약4GB/s는 물리 페이지의 일부만 사용하는 조건의 결과입니다.</a:t>
            </a:r>
          </a:p>
        </p:txBody>
      </p:sp>
    </p:spTree>
    <p:extLst>
      <p:ext uri="{BB962C8B-B14F-4D97-AF65-F5344CB8AC3E}">
        <p14:creationId xmlns:p14="http://schemas.microsoft.com/office/powerpoint/2010/main" val="942500381"/>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title">
            <a:extLst xmlns:a="http://schemas.openxmlformats.org/drawingml/2006/main">
              <a:ext uri="{FF2B5EF4-FFF2-40B4-BE49-F238E27FC236}">
                <a16:creationId xmlns:a16="http://schemas.microsoft.com/office/drawing/2014/main" id="{B84B65B1-86DF-48E2-BFFE-6A7AEB3511B2}"/>
              </a:ext>
            </a:extLst>
          </p:cNvPr>
          <p:cNvSpPr>
            <a:spLocks xmlns:a="http://schemas.openxmlformats.org/drawingml/2006/main" noGrp="1"/>
          </p:cNvSpPr>
          <p:nvPr/>
        </p:nvSpPr>
        <p:spPr>
          <a:xfrm xmlns:a="http://schemas.openxmlformats.org/drawingml/2006/main">
            <a:off x="533400" y="438150"/>
            <a:ext cx="11125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2738"/>
                </a:solidFill>
                <a:latin typeface="Apple SD Gothic Neo"/>
                <a:ea typeface="Apple SD Gothic Neo"/>
                <a:cs typeface="Apple SD Gothic Neo"/>
              </a:defRPr>
            </a:defPPr>
          </a:lstStyle>
          <a:p xmlns:a="http://schemas.openxmlformats.org/drawingml/2006/main">
            <a:pPr>
              <a:buNone/>
              <a:defRPr sz="3300" b="1">
                <a:solidFill>
                  <a:srgbClr val="172738"/>
                </a:solidFill>
                <a:latin typeface="Apple SD Gothic Neo"/>
                <a:ea typeface="Apple SD Gothic Neo"/>
                <a:cs typeface="Apple SD Gothic Neo"/>
              </a:defRPr>
            </a:pPr>
            <a:r>
              <a:rPr sz="3300" b="1">
                <a:solidFill>
                  <a:srgbClr val="172738"/>
                </a:solidFill>
                <a:latin typeface="Apple SD Gothic Neo"/>
                <a:ea typeface="Apple SD Gothic Neo"/>
                <a:cs typeface="Apple SD Gothic Neo"/>
              </a:rPr>
              <a:t>시간별 성능과 A·C의 병목</a:t>
            </a:r>
          </a:p>
        </p:txBody>
      </p:sp>
      <p:sp>
        <p:nvSpPr>
          <p:cNvPr id="2" name="conditions">
            <a:extLst xmlns:a="http://schemas.openxmlformats.org/drawingml/2006/main">
              <a:ext uri="{FF2B5EF4-FFF2-40B4-BE49-F238E27FC236}">
                <a16:creationId xmlns:a16="http://schemas.microsoft.com/office/drawing/2014/main" id="{2E72F62E-C1A3-4F90-9D9C-30B0B48B4CFE}"/>
              </a:ext>
            </a:extLst>
          </p:cNvPr>
          <p:cNvSpPr>
            <a:spLocks xmlns:a="http://schemas.openxmlformats.org/drawingml/2006/main" noGrp="1"/>
          </p:cNvSpPr>
          <p:nvPr/>
        </p:nvSpPr>
        <p:spPr>
          <a:xfrm xmlns:a="http://schemas.openxmlformats.org/drawingml/2006/main">
            <a:off x="552450" y="1104900"/>
            <a:ext cx="110871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586875"/>
                </a:solidFill>
                <a:latin typeface="Apple SD Gothic Neo"/>
                <a:ea typeface="Apple SD Gothic Neo"/>
                <a:cs typeface="Apple SD Gothic Neo"/>
              </a:defRPr>
            </a:defPPr>
          </a:lstStyle>
          <a:p xmlns:a="http://schemas.openxmlformats.org/drawingml/2006/main">
            <a:pPr>
              <a:buNone/>
              <a:defRPr sz="1725" b="0">
                <a:solidFill>
                  <a:srgbClr val="586875"/>
                </a:solidFill>
                <a:latin typeface="Apple SD Gothic Neo"/>
                <a:ea typeface="Apple SD Gothic Neo"/>
                <a:cs typeface="Apple SD Gothic Neo"/>
              </a:defRPr>
            </a:pPr>
            <a:r>
              <a:rPr sz="1725" b="0">
                <a:solidFill>
                  <a:srgbClr val="586875"/>
                </a:solidFill>
                <a:latin typeface="Apple SD Gothic Neo"/>
                <a:ea typeface="Apple SD Gothic Neo"/>
                <a:cs typeface="Apple SD Gothic Neo"/>
              </a:rPr>
              <a:t>4 Port / 64 Plane / 8MiB / QD512/Port / PF OFF / 가용률 85% / 기존 tR 유지</a:t>
            </a:r>
          </a:p>
        </p:txBody>
      </p:sp>
      <p:sp>
        <p:nvSpPr>
          <p:cNvPr id="3" name="measurement">
            <a:extLst xmlns:a="http://schemas.openxmlformats.org/drawingml/2006/main">
              <a:ext uri="{FF2B5EF4-FFF2-40B4-BE49-F238E27FC236}">
                <a16:creationId xmlns:a16="http://schemas.microsoft.com/office/drawing/2014/main" id="{40A5A0B9-476C-4C00-936E-5E5A9C8D80EF}"/>
              </a:ext>
            </a:extLst>
          </p:cNvPr>
          <p:cNvSpPr>
            <a:spLocks xmlns:a="http://schemas.openxmlformats.org/drawingml/2006/main" noGrp="1"/>
          </p:cNvSpPr>
          <p:nvPr/>
        </p:nvSpPr>
        <p:spPr>
          <a:xfrm xmlns:a="http://schemas.openxmlformats.org/drawingml/2006/main">
            <a:off x="552450" y="1457325"/>
            <a:ext cx="110871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86875"/>
                </a:solidFill>
                <a:latin typeface="Apple SD Gothic Neo"/>
                <a:ea typeface="Apple SD Gothic Neo"/>
                <a:cs typeface="Apple SD Gothic Neo"/>
              </a:defRPr>
            </a:defPPr>
          </a:lstStyle>
          <a:p xmlns:a="http://schemas.openxmlformats.org/drawingml/2006/main">
            <a:pPr>
              <a:buNone/>
              <a:defRPr sz="1650" b="0">
                <a:solidFill>
                  <a:srgbClr val="586875"/>
                </a:solidFill>
                <a:latin typeface="Apple SD Gothic Neo"/>
                <a:ea typeface="Apple SD Gothic Neo"/>
                <a:cs typeface="Apple SD Gothic Neo"/>
              </a:defRPr>
            </a:pPr>
            <a:r>
              <a:rPr sz="1650" b="0">
                <a:solidFill>
                  <a:srgbClr val="586875"/>
                </a:solidFill>
                <a:latin typeface="Apple SD Gothic Neo"/>
                <a:ea typeface="Apple SD Gothic Neo"/>
                <a:cs typeface="Apple SD Gothic Neo"/>
              </a:rPr>
              <a:t>초기 200µs 제외, 0.2–2.2ms 지속 부하. 곡선은 25µs 평균이며 종료 drain은 없습니다.</a:t>
            </a:r>
          </a:p>
        </p:txBody>
      </p:sp>
      <p:sp>
        <p:nvSpPr>
          <p:cNvPr id="4" name="a-heading">
            <a:extLst xmlns:a="http://schemas.openxmlformats.org/drawingml/2006/main">
              <a:ext uri="{FF2B5EF4-FFF2-40B4-BE49-F238E27FC236}">
                <a16:creationId xmlns:a16="http://schemas.microsoft.com/office/drawing/2014/main" id="{EAFC6426-B297-4E2F-98FA-D80B4A891A1C}"/>
              </a:ext>
            </a:extLst>
          </p:cNvPr>
          <p:cNvSpPr>
            <a:spLocks xmlns:a="http://schemas.openxmlformats.org/drawingml/2006/main" noGrp="1"/>
          </p:cNvSpPr>
          <p:nvPr/>
        </p:nvSpPr>
        <p:spPr>
          <a:xfrm xmlns:a="http://schemas.openxmlformats.org/drawingml/2006/main">
            <a:off x="552450" y="1866900"/>
            <a:ext cx="5381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172738"/>
                </a:solidFill>
                <a:latin typeface="Apple SD Gothic Neo"/>
                <a:ea typeface="Apple SD Gothic Neo"/>
                <a:cs typeface="Apple SD Gothic Neo"/>
              </a:defRPr>
            </a:defPPr>
          </a:lstStyle>
          <a:p xmlns:a="http://schemas.openxmlformats.org/drawingml/2006/main">
            <a:pPr>
              <a:buNone/>
              <a:defRPr sz="2100" b="1">
                <a:solidFill>
                  <a:srgbClr val="172738"/>
                </a:solidFill>
                <a:latin typeface="Apple SD Gothic Neo"/>
                <a:ea typeface="Apple SD Gothic Neo"/>
                <a:cs typeface="Apple SD Gothic Neo"/>
              </a:defRPr>
            </a:pPr>
            <a:r>
              <a:rPr sz="2100" b="1">
                <a:solidFill>
                  <a:srgbClr val="172738"/>
                </a:solidFill>
                <a:latin typeface="Apple SD Gothic Neo"/>
                <a:ea typeface="Apple SD Gothic Neo"/>
                <a:cs typeface="Apple SD Gothic Neo"/>
              </a:rPr>
              <a:t>A1 / A2  ·  4KiB 반환</a:t>
            </a:r>
          </a:p>
        </p:txBody>
      </p:sp>
      <p:sp>
        <p:nvSpPr>
          <p:cNvPr id="5" name="b-heading">
            <a:extLst xmlns:a="http://schemas.openxmlformats.org/drawingml/2006/main">
              <a:ext uri="{FF2B5EF4-FFF2-40B4-BE49-F238E27FC236}">
                <a16:creationId xmlns:a16="http://schemas.microsoft.com/office/drawing/2014/main" id="{8029F7C9-4608-4CCC-884B-285DF1C9C4F7}"/>
              </a:ext>
            </a:extLst>
          </p:cNvPr>
          <p:cNvSpPr>
            <a:spLocks xmlns:a="http://schemas.openxmlformats.org/drawingml/2006/main" noGrp="1"/>
          </p:cNvSpPr>
          <p:nvPr/>
        </p:nvSpPr>
        <p:spPr>
          <a:xfrm xmlns:a="http://schemas.openxmlformats.org/drawingml/2006/main">
            <a:off x="6267450" y="1866900"/>
            <a:ext cx="5381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172738"/>
                </a:solidFill>
                <a:latin typeface="Apple SD Gothic Neo"/>
                <a:ea typeface="Apple SD Gothic Neo"/>
                <a:cs typeface="Apple SD Gothic Neo"/>
              </a:defRPr>
            </a:defPPr>
          </a:lstStyle>
          <a:p xmlns:a="http://schemas.openxmlformats.org/drawingml/2006/main">
            <a:pPr>
              <a:buNone/>
              <a:defRPr sz="2100" b="1">
                <a:solidFill>
                  <a:srgbClr val="172738"/>
                </a:solidFill>
                <a:latin typeface="Apple SD Gothic Neo"/>
                <a:ea typeface="Apple SD Gothic Neo"/>
                <a:cs typeface="Apple SD Gothic Neo"/>
              </a:defRPr>
            </a:pPr>
            <a:r>
              <a:rPr sz="2100" b="1">
                <a:solidFill>
                  <a:srgbClr val="172738"/>
                </a:solidFill>
                <a:latin typeface="Apple SD Gothic Neo"/>
                <a:ea typeface="Apple SD Gothic Neo"/>
                <a:cs typeface="Apple SD Gothic Neo"/>
              </a:rPr>
              <a:t>C1 / C2  ·  64B 반환</a:t>
            </a:r>
          </a:p>
        </p:txBody>
      </p:sp>
      <p:graphicFrame>
        <p:nvGraphicFramePr>
          <p:cNvPr id="6" name="Chart">
            <a:extLst xmlns:a="http://schemas.openxmlformats.org/drawingml/2006/main">
              <a:ext uri="{FF2B5EF4-FFF2-40B4-BE49-F238E27FC236}">
                <a16:creationId xmlns:a16="http://schemas.microsoft.com/office/drawing/2014/main" id="{1573AEB6-5A6C-4113-A47E-36D38B91B39B}"/>
              </a:ext>
            </a:extLst>
          </p:cNvPr>
          <p:cNvGraphicFramePr/>
          <p:nvPr/>
        </p:nvGraphicFramePr>
        <p:xfrm>
          <a:off xmlns:a="http://schemas.openxmlformats.org/drawingml/2006/main" x="533400" y="2238375"/>
          <a:ext xmlns:a="http://schemas.openxmlformats.org/drawingml/2006/main" cx="5391150" cy="2447925"/>
        </p:xfrm>
        <a:graphic xmlns:a="http://schemas.openxmlformats.org/drawingml/2006/main">
          <a:graphicData uri="http://schemas.openxmlformats.org/drawingml/2006/chart">
            <c:chart xmlns:r="http://schemas.openxmlformats.org/officeDocument/2006/relationships" xmlns:c="http://schemas.openxmlformats.org/drawingml/2006/chart" r:id="R3cd7dfb64c904eec"/>
          </a:graphicData>
        </a:graphic>
      </p:graphicFrame>
      <p:graphicFrame>
        <p:nvGraphicFramePr>
          <p:cNvPr id="7" name="Chart">
            <a:extLst xmlns:a="http://schemas.openxmlformats.org/drawingml/2006/main">
              <a:ext uri="{FF2B5EF4-FFF2-40B4-BE49-F238E27FC236}">
                <a16:creationId xmlns:a16="http://schemas.microsoft.com/office/drawing/2014/main" id="{DAF62B49-ACD7-4A08-805C-AA0D284A4CE1}"/>
              </a:ext>
            </a:extLst>
          </p:cNvPr>
          <p:cNvGraphicFramePr/>
          <p:nvPr/>
        </p:nvGraphicFramePr>
        <p:xfrm>
          <a:off xmlns:a="http://schemas.openxmlformats.org/drawingml/2006/main" x="6248400" y="2238375"/>
          <a:ext xmlns:a="http://schemas.openxmlformats.org/drawingml/2006/main" cx="5391150" cy="2447925"/>
        </p:xfrm>
        <a:graphic xmlns:a="http://schemas.openxmlformats.org/drawingml/2006/main">
          <a:graphicData uri="http://schemas.openxmlformats.org/drawingml/2006/chart">
            <c:chart xmlns:r="http://schemas.openxmlformats.org/officeDocument/2006/relationships" xmlns:c="http://schemas.openxmlformats.org/drawingml/2006/chart" r:id="Rb80713da4ad64a2f"/>
          </a:graphicData>
        </a:graphic>
      </p:graphicFrame>
      <p:sp>
        <p:nvSpPr>
          <p:cNvPr id="8" name="a-mean">
            <a:extLst xmlns:a="http://schemas.openxmlformats.org/drawingml/2006/main">
              <a:ext uri="{FF2B5EF4-FFF2-40B4-BE49-F238E27FC236}">
                <a16:creationId xmlns:a16="http://schemas.microsoft.com/office/drawing/2014/main" id="{6C82D796-258A-459D-B679-EB5BAD2C3711}"/>
              </a:ext>
            </a:extLst>
          </p:cNvPr>
          <p:cNvSpPr>
            <a:spLocks xmlns:a="http://schemas.openxmlformats.org/drawingml/2006/main" noGrp="1"/>
          </p:cNvSpPr>
          <p:nvPr/>
        </p:nvSpPr>
        <p:spPr>
          <a:xfrm xmlns:a="http://schemas.openxmlformats.org/drawingml/2006/main">
            <a:off x="571500" y="4743450"/>
            <a:ext cx="542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1">
                <a:solidFill>
                  <a:srgbClr val="126DCA"/>
                </a:solidFill>
                <a:latin typeface="Apple SD Gothic Neo"/>
                <a:ea typeface="Apple SD Gothic Neo"/>
                <a:cs typeface="Apple SD Gothic Neo"/>
              </a:defRPr>
            </a:defPPr>
          </a:lstStyle>
          <a:p xmlns:a="http://schemas.openxmlformats.org/drawingml/2006/main">
            <a:pPr>
              <a:buNone/>
              <a:defRPr sz="1725" b="1">
                <a:solidFill>
                  <a:srgbClr val="126DCA"/>
                </a:solidFill>
                <a:latin typeface="Apple SD Gothic Neo"/>
                <a:ea typeface="Apple SD Gothic Neo"/>
                <a:cs typeface="Apple SD Gothic Neo"/>
              </a:defRPr>
            </a:pPr>
            <a:r>
              <a:rPr sz="1725" b="1">
                <a:solidFill>
                  <a:srgbClr val="126DCA"/>
                </a:solidFill>
                <a:latin typeface="Apple SD Gothic Neo"/>
                <a:ea typeface="Apple SD Gothic Neo"/>
                <a:cs typeface="Apple SD Gothic Neo"/>
              </a:rPr>
              <a:t>2ms 평균  A1 255.37 / A2 255.06 GB/s</a:t>
            </a:r>
          </a:p>
        </p:txBody>
      </p:sp>
      <p:sp>
        <p:nvSpPr>
          <p:cNvPr id="9" name="b-mean">
            <a:extLst xmlns:a="http://schemas.openxmlformats.org/drawingml/2006/main">
              <a:ext uri="{FF2B5EF4-FFF2-40B4-BE49-F238E27FC236}">
                <a16:creationId xmlns:a16="http://schemas.microsoft.com/office/drawing/2014/main" id="{2BAC634F-AEAF-46F4-95B0-D91BA8D7DC38}"/>
              </a:ext>
            </a:extLst>
          </p:cNvPr>
          <p:cNvSpPr>
            <a:spLocks xmlns:a="http://schemas.openxmlformats.org/drawingml/2006/main" noGrp="1"/>
          </p:cNvSpPr>
          <p:nvPr/>
        </p:nvSpPr>
        <p:spPr>
          <a:xfrm xmlns:a="http://schemas.openxmlformats.org/drawingml/2006/main">
            <a:off x="6286500" y="4743450"/>
            <a:ext cx="5391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1">
                <a:solidFill>
                  <a:srgbClr val="008B82"/>
                </a:solidFill>
                <a:latin typeface="Apple SD Gothic Neo"/>
                <a:ea typeface="Apple SD Gothic Neo"/>
                <a:cs typeface="Apple SD Gothic Neo"/>
              </a:defRPr>
            </a:defPPr>
          </a:lstStyle>
          <a:p xmlns:a="http://schemas.openxmlformats.org/drawingml/2006/main">
            <a:pPr>
              <a:buNone/>
              <a:defRPr sz="1725" b="1">
                <a:solidFill>
                  <a:srgbClr val="008B82"/>
                </a:solidFill>
                <a:latin typeface="Apple SD Gothic Neo"/>
                <a:ea typeface="Apple SD Gothic Neo"/>
                <a:cs typeface="Apple SD Gothic Neo"/>
              </a:defRPr>
            </a:pPr>
            <a:r>
              <a:rPr sz="1725" b="1">
                <a:solidFill>
                  <a:srgbClr val="008B82"/>
                </a:solidFill>
                <a:latin typeface="Apple SD Gothic Neo"/>
                <a:ea typeface="Apple SD Gothic Neo"/>
                <a:cs typeface="Apple SD Gothic Neo"/>
              </a:rPr>
              <a:t>2ms 평균  C1 3.995 / C2 4.001 GB/s</a:t>
            </a:r>
          </a:p>
        </p:txBody>
      </p:sp>
      <p:sp>
        <p:nvSpPr>
          <p:cNvPr id="10" name="a-counts">
            <a:extLst xmlns:a="http://schemas.openxmlformats.org/drawingml/2006/main">
              <a:ext uri="{FF2B5EF4-FFF2-40B4-BE49-F238E27FC236}">
                <a16:creationId xmlns:a16="http://schemas.microsoft.com/office/drawing/2014/main" id="{B9B046BA-AEC4-4712-B482-9D45D576BEF9}"/>
              </a:ext>
            </a:extLst>
          </p:cNvPr>
          <p:cNvSpPr>
            <a:spLocks xmlns:a="http://schemas.openxmlformats.org/drawingml/2006/main" noGrp="1"/>
          </p:cNvSpPr>
          <p:nvPr/>
        </p:nvSpPr>
        <p:spPr>
          <a:xfrm xmlns:a="http://schemas.openxmlformats.org/drawingml/2006/main">
            <a:off x="571500" y="5105400"/>
            <a:ext cx="5476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586875"/>
                </a:solidFill>
                <a:latin typeface="Apple SD Gothic Neo"/>
                <a:ea typeface="Apple SD Gothic Neo"/>
                <a:cs typeface="Apple SD Gothic Neo"/>
              </a:defRPr>
            </a:defPPr>
          </a:lstStyle>
          <a:p xmlns:a="http://schemas.openxmlformats.org/drawingml/2006/main">
            <a:pPr>
              <a:buNone/>
              <a:defRPr sz="1575" b="0">
                <a:solidFill>
                  <a:srgbClr val="586875"/>
                </a:solidFill>
                <a:latin typeface="Apple SD Gothic Neo"/>
                <a:ea typeface="Apple SD Gothic Neo"/>
                <a:cs typeface="Apple SD Gothic Neo"/>
              </a:defRPr>
            </a:pPr>
            <a:r>
              <a:rPr sz="1575" b="0">
                <a:solidFill>
                  <a:srgbClr val="586875"/>
                </a:solidFill>
                <a:latin typeface="Apple SD Gothic Neo"/>
                <a:ea typeface="Apple SD Gothic Neo"/>
                <a:cs typeface="Apple SD Gothic Neo"/>
              </a:rPr>
              <a:t>완료 124,692 / 124,541건</a:t>
            </a:r>
          </a:p>
          <a:p xmlns:a="http://schemas.openxmlformats.org/drawingml/2006/main">
            <a:pPr>
              <a:buNone/>
              <a:defRPr sz="1575" b="0">
                <a:solidFill>
                  <a:srgbClr val="586875"/>
                </a:solidFill>
                <a:latin typeface="Apple SD Gothic Neo"/>
                <a:ea typeface="Apple SD Gothic Neo"/>
                <a:cs typeface="Apple SD Gothic Neo"/>
              </a:defRPr>
            </a:pPr>
            <a:r>
              <a:rPr sz="1575" b="0">
                <a:solidFill>
                  <a:srgbClr val="586875"/>
                </a:solidFill>
                <a:latin typeface="Apple SD Gothic Neo"/>
                <a:ea typeface="Apple SD Gothic Neo"/>
                <a:cs typeface="Apple SD Gothic Neo"/>
              </a:rPr>
              <a:t>실제 outstanding 평균 2006.7 / 2035.9건</a:t>
            </a:r>
          </a:p>
        </p:txBody>
      </p:sp>
      <p:sp>
        <p:nvSpPr>
          <p:cNvPr id="11" name="b-counts">
            <a:extLst xmlns:a="http://schemas.openxmlformats.org/drawingml/2006/main">
              <a:ext uri="{FF2B5EF4-FFF2-40B4-BE49-F238E27FC236}">
                <a16:creationId xmlns:a16="http://schemas.microsoft.com/office/drawing/2014/main" id="{8552874F-EF4E-4A22-9915-56B91057B2DF}"/>
              </a:ext>
            </a:extLst>
          </p:cNvPr>
          <p:cNvSpPr>
            <a:spLocks xmlns:a="http://schemas.openxmlformats.org/drawingml/2006/main" noGrp="1"/>
          </p:cNvSpPr>
          <p:nvPr/>
        </p:nvSpPr>
        <p:spPr>
          <a:xfrm xmlns:a="http://schemas.openxmlformats.org/drawingml/2006/main">
            <a:off x="6286500" y="5105400"/>
            <a:ext cx="53911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586875"/>
                </a:solidFill>
                <a:latin typeface="Apple SD Gothic Neo"/>
                <a:ea typeface="Apple SD Gothic Neo"/>
                <a:cs typeface="Apple SD Gothic Neo"/>
              </a:defRPr>
            </a:defPPr>
          </a:lstStyle>
          <a:p xmlns:a="http://schemas.openxmlformats.org/drawingml/2006/main">
            <a:pPr>
              <a:buNone/>
              <a:defRPr sz="1575" b="0">
                <a:solidFill>
                  <a:srgbClr val="586875"/>
                </a:solidFill>
                <a:latin typeface="Apple SD Gothic Neo"/>
                <a:ea typeface="Apple SD Gothic Neo"/>
                <a:cs typeface="Apple SD Gothic Neo"/>
              </a:defRPr>
            </a:pPr>
            <a:r>
              <a:rPr sz="1575" b="0">
                <a:solidFill>
                  <a:srgbClr val="586875"/>
                </a:solidFill>
                <a:latin typeface="Apple SD Gothic Neo"/>
                <a:ea typeface="Apple SD Gothic Neo"/>
                <a:cs typeface="Apple SD Gothic Neo"/>
              </a:rPr>
              <a:t>완료 124,832 / 125,023건</a:t>
            </a:r>
          </a:p>
          <a:p xmlns:a="http://schemas.openxmlformats.org/drawingml/2006/main">
            <a:pPr>
              <a:buNone/>
              <a:defRPr sz="1575" b="0">
                <a:solidFill>
                  <a:srgbClr val="586875"/>
                </a:solidFill>
                <a:latin typeface="Apple SD Gothic Neo"/>
                <a:ea typeface="Apple SD Gothic Neo"/>
                <a:cs typeface="Apple SD Gothic Neo"/>
              </a:defRPr>
            </a:pPr>
            <a:r>
              <a:rPr sz="1575" b="0">
                <a:solidFill>
                  <a:srgbClr val="586875"/>
                </a:solidFill>
                <a:latin typeface="Apple SD Gothic Neo"/>
                <a:ea typeface="Apple SD Gothic Neo"/>
                <a:cs typeface="Apple SD Gothic Neo"/>
              </a:rPr>
              <a:t>실제 outstanding 평균 2030.7 / 2029.3건</a:t>
            </a:r>
          </a:p>
        </p:txBody>
      </p:sp>
      <p:sp>
        <p:nvSpPr>
          <p:cNvPr id="12" name="a-insight">
            <a:extLst xmlns:a="http://schemas.openxmlformats.org/drawingml/2006/main">
              <a:ext uri="{FF2B5EF4-FFF2-40B4-BE49-F238E27FC236}">
                <a16:creationId xmlns:a16="http://schemas.microsoft.com/office/drawing/2014/main" id="{1A7D25CA-C89F-4658-A1B2-95D8DC7FFEB7}"/>
              </a:ext>
            </a:extLst>
          </p:cNvPr>
          <p:cNvSpPr>
            <a:spLocks xmlns:a="http://schemas.openxmlformats.org/drawingml/2006/main" noGrp="1"/>
          </p:cNvSpPr>
          <p:nvPr/>
        </p:nvSpPr>
        <p:spPr>
          <a:xfrm xmlns:a="http://schemas.openxmlformats.org/drawingml/2006/main">
            <a:off x="571500" y="5753100"/>
            <a:ext cx="54483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172738"/>
                </a:solidFill>
                <a:latin typeface="Apple SD Gothic Neo"/>
                <a:ea typeface="Apple SD Gothic Neo"/>
                <a:cs typeface="Apple SD Gothic Neo"/>
              </a:defRPr>
            </a:defPPr>
          </a:lstStyle>
          <a:p xmlns:a="http://schemas.openxmlformats.org/drawingml/2006/main">
            <a:pPr>
              <a:buNone/>
              <a:defRPr sz="1650" b="1">
                <a:solidFill>
                  <a:srgbClr val="172738"/>
                </a:solidFill>
                <a:latin typeface="Apple SD Gothic Neo"/>
                <a:ea typeface="Apple SD Gothic Neo"/>
                <a:cs typeface="Apple SD Gothic Neo"/>
              </a:defRPr>
            </a:pPr>
            <a:r>
              <a:rPr sz="1650" b="1">
                <a:solidFill>
                  <a:srgbClr val="172738"/>
                </a:solidFill>
                <a:latin typeface="Apple SD Gothic Neo"/>
                <a:ea typeface="Apple SD Gothic Neo"/>
                <a:cs typeface="Apple SD Gothic Neo"/>
              </a:rPr>
              <a:t>A는 Host 상한 256GB/s의 약 99.6–99.8%</a:t>
            </a:r>
          </a:p>
          <a:p xmlns:a="http://schemas.openxmlformats.org/drawingml/2006/main">
            <a:pPr>
              <a:buNone/>
              <a:defRPr sz="1650" b="1">
                <a:solidFill>
                  <a:srgbClr val="172738"/>
                </a:solidFill>
                <a:latin typeface="Apple SD Gothic Neo"/>
                <a:ea typeface="Apple SD Gothic Neo"/>
                <a:cs typeface="Apple SD Gothic Neo"/>
              </a:defRPr>
            </a:pPr>
            <a:r>
              <a:rPr sz="1650" b="1">
                <a:solidFill>
                  <a:srgbClr val="172738"/>
                </a:solidFill>
                <a:latin typeface="Apple SD Gothic Neo"/>
                <a:ea typeface="Apple SD Gothic Neo"/>
                <a:cs typeface="Apple SD Gothic Neo"/>
              </a:rPr>
              <a:t>추가 병렬성보다 남은 대기 구간 축소가 관건</a:t>
            </a:r>
          </a:p>
        </p:txBody>
      </p:sp>
      <p:sp>
        <p:nvSpPr>
          <p:cNvPr id="13" name="b-insight">
            <a:extLst xmlns:a="http://schemas.openxmlformats.org/drawingml/2006/main">
              <a:ext uri="{FF2B5EF4-FFF2-40B4-BE49-F238E27FC236}">
                <a16:creationId xmlns:a16="http://schemas.microsoft.com/office/drawing/2014/main" id="{5E8E6AC8-1442-4CEF-B3BE-2C3A28DE8E59}"/>
              </a:ext>
            </a:extLst>
          </p:cNvPr>
          <p:cNvSpPr>
            <a:spLocks xmlns:a="http://schemas.openxmlformats.org/drawingml/2006/main" noGrp="1"/>
          </p:cNvSpPr>
          <p:nvPr/>
        </p:nvSpPr>
        <p:spPr>
          <a:xfrm xmlns:a="http://schemas.openxmlformats.org/drawingml/2006/main">
            <a:off x="6286500" y="5753100"/>
            <a:ext cx="5429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172738"/>
                </a:solidFill>
                <a:latin typeface="Apple SD Gothic Neo"/>
                <a:ea typeface="Apple SD Gothic Neo"/>
                <a:cs typeface="Apple SD Gothic Neo"/>
              </a:defRPr>
            </a:defPPr>
          </a:lstStyle>
          <a:p xmlns:a="http://schemas.openxmlformats.org/drawingml/2006/main">
            <a:pPr>
              <a:buNone/>
              <a:defRPr sz="1650" b="1">
                <a:solidFill>
                  <a:srgbClr val="172738"/>
                </a:solidFill>
                <a:latin typeface="Apple SD Gothic Neo"/>
                <a:ea typeface="Apple SD Gothic Neo"/>
                <a:cs typeface="Apple SD Gothic Neo"/>
              </a:defRPr>
            </a:pPr>
            <a:r>
              <a:rPr sz="1650" b="1">
                <a:solidFill>
                  <a:srgbClr val="172738"/>
                </a:solidFill>
                <a:latin typeface="Apple SD Gothic Neo"/>
                <a:ea typeface="Apple SD Gothic Neo"/>
                <a:cs typeface="Apple SD Gothic Neo"/>
              </a:rPr>
              <a:t>C는 명목 유효 비율 1/64로 약 4GB/s</a:t>
            </a:r>
          </a:p>
          <a:p xmlns:a="http://schemas.openxmlformats.org/drawingml/2006/main">
            <a:pPr>
              <a:buNone/>
              <a:defRPr sz="1650" b="1">
                <a:solidFill>
                  <a:srgbClr val="172738"/>
                </a:solidFill>
                <a:latin typeface="Apple SD Gothic Neo"/>
                <a:ea typeface="Apple SD Gothic Neo"/>
                <a:cs typeface="Apple SD Gothic Neo"/>
              </a:defRPr>
            </a:pPr>
            <a:r>
              <a:rPr sz="1650" b="1">
                <a:solidFill>
                  <a:srgbClr val="172738"/>
                </a:solidFill>
                <a:latin typeface="Apple SD Gothic Neo"/>
                <a:ea typeface="Apple SD Gothic Neo"/>
                <a:cs typeface="Apple SD Gothic Neo"/>
              </a:rPr>
              <a:t>주기적 하락은 maintenance와 in-order 선두 대기</a:t>
            </a:r>
          </a:p>
        </p:txBody>
      </p:sp>
      <p:sp>
        <p:nvSpPr>
          <p:cNvPr id="14" name="footer">
            <a:extLst xmlns:a="http://schemas.openxmlformats.org/drawingml/2006/main">
              <a:ext uri="{FF2B5EF4-FFF2-40B4-BE49-F238E27FC236}">
                <a16:creationId xmlns:a16="http://schemas.microsoft.com/office/drawing/2014/main" id="{718C0C5F-BAFF-40F2-834A-172607A3ABE4}"/>
              </a:ext>
            </a:extLst>
          </p:cNvPr>
          <p:cNvSpPr>
            <a:spLocks xmlns:a="http://schemas.openxmlformats.org/drawingml/2006/main" noGrp="1"/>
          </p:cNvSpPr>
          <p:nvPr/>
        </p:nvSpPr>
        <p:spPr>
          <a:xfrm xmlns:a="http://schemas.openxmlformats.org/drawingml/2006/main">
            <a:off x="533400" y="6448425"/>
            <a:ext cx="10572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63" b="0">
                <a:solidFill>
                  <a:srgbClr val="586875"/>
                </a:solidFill>
                <a:latin typeface="Apple SD Gothic Neo"/>
                <a:ea typeface="Apple SD Gothic Neo"/>
                <a:cs typeface="Apple SD Gothic Neo"/>
              </a:defRPr>
            </a:defPPr>
          </a:lstStyle>
          <a:p xmlns:a="http://schemas.openxmlformats.org/drawingml/2006/main">
            <a:pPr>
              <a:buNone/>
              <a:defRPr sz="1163" b="0">
                <a:solidFill>
                  <a:srgbClr val="586875"/>
                </a:solidFill>
                <a:latin typeface="Apple SD Gothic Neo"/>
                <a:ea typeface="Apple SD Gothic Neo"/>
                <a:cs typeface="Apple SD Gothic Neo"/>
              </a:defRPr>
            </a:pPr>
            <a:r>
              <a:rPr sz="1163" b="0">
                <a:solidFill>
                  <a:srgbClr val="586875"/>
                </a:solidFill>
                <a:latin typeface="Apple SD Gothic Neo"/>
                <a:ea typeface="Apple SD Gothic Neo"/>
                <a:cs typeface="Apple SD Gothic Neo"/>
              </a:rPr>
              <a:t>모델 결과 / 좌우 Y축 다름 / A1·C1·C2: stripe 4KiB, A2: 16KiB / 요청 수·outstanding은 4 Port 합계</a:t>
            </a:r>
          </a:p>
        </p:txBody>
      </p:sp>
      <p:sp>
        <p:nvSpPr>
          <p:cNvPr id="15" name="page">
            <a:extLst xmlns:a="http://schemas.openxmlformats.org/drawingml/2006/main">
              <a:ext uri="{FF2B5EF4-FFF2-40B4-BE49-F238E27FC236}">
                <a16:creationId xmlns:a16="http://schemas.microsoft.com/office/drawing/2014/main" id="{D2D546F9-50B9-4D0D-BB0B-6B0EA3D5EC32}"/>
              </a:ext>
            </a:extLst>
          </p:cNvPr>
          <p:cNvSpPr>
            <a:spLocks xmlns:a="http://schemas.openxmlformats.org/drawingml/2006/main" noGrp="1"/>
          </p:cNvSpPr>
          <p:nvPr/>
        </p:nvSpPr>
        <p:spPr>
          <a:xfrm xmlns:a="http://schemas.openxmlformats.org/drawingml/2006/main">
            <a:off x="11144250" y="6419850"/>
            <a:ext cx="4953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86875"/>
                </a:solidFill>
                <a:latin typeface="Apple SD Gothic Neo"/>
                <a:ea typeface="Apple SD Gothic Neo"/>
                <a:cs typeface="Apple SD Gothic Neo"/>
              </a:defRPr>
            </a:defPPr>
          </a:lstStyle>
          <a:p xmlns:a="http://schemas.openxmlformats.org/drawingml/2006/main">
            <a:pPr>
              <a:buNone/>
              <a:defRPr sz="1200" b="0">
                <a:solidFill>
                  <a:srgbClr val="586875"/>
                </a:solidFill>
                <a:latin typeface="Apple SD Gothic Neo"/>
                <a:ea typeface="Apple SD Gothic Neo"/>
                <a:cs typeface="Apple SD Gothic Neo"/>
              </a:defRPr>
            </a:pPr>
            <a:r>
              <a:rPr sz="1200" b="0">
                <a:solidFill>
                  <a:srgbClr val="586875"/>
                </a:solidFill>
                <a:latin typeface="Apple SD Gothic Neo"/>
                <a:ea typeface="Apple SD Gothic Neo"/>
                <a:cs typeface="Apple SD Gothic Neo"/>
              </a:rPr>
              <a:t>14</a:t>
            </a:r>
          </a:p>
        </p:txBody>
      </p:sp>
    </p:spTree>
    <p:extLst>
      <p:ext uri="{BB962C8B-B14F-4D97-AF65-F5344CB8AC3E}">
        <p14:creationId xmlns:p14="http://schemas.microsoft.com/office/powerpoint/2010/main" val="1637713496"/>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itle">
            <a:extLst xmlns:a="http://schemas.openxmlformats.org/drawingml/2006/main">
              <a:ext uri="{FF2B5EF4-FFF2-40B4-BE49-F238E27FC236}">
                <a16:creationId xmlns:a16="http://schemas.microsoft.com/office/drawing/2014/main" id="{F7CFFBB0-DEC6-4AED-A30C-396E5DDF8003}"/>
              </a:ext>
            </a:extLst>
          </p:cNvPr>
          <p:cNvSpPr>
            <a:spLocks xmlns:a="http://schemas.openxmlformats.org/drawingml/2006/main" noGrp="1"/>
          </p:cNvSpPr>
          <p:nvPr/>
        </p:nvSpPr>
        <p:spPr>
          <a:xfrm xmlns:a="http://schemas.openxmlformats.org/drawingml/2006/main">
            <a:off x="533400" y="438150"/>
            <a:ext cx="11125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2738"/>
                </a:solidFill>
                <a:latin typeface="Apple SD Gothic Neo"/>
                <a:ea typeface="Apple SD Gothic Neo"/>
                <a:cs typeface="Apple SD Gothic Neo"/>
              </a:defRPr>
            </a:defPPr>
          </a:lstStyle>
          <a:p xmlns:a="http://schemas.openxmlformats.org/drawingml/2006/main">
            <a:pPr>
              <a:defRPr sz="3300" b="1">
                <a:solidFill>
                  <a:srgbClr val="172738"/>
                </a:solidFill>
                <a:latin typeface="Apple SD Gothic Neo"/>
                <a:ea typeface="Apple SD Gothic Neo"/>
                <a:cs typeface="Apple SD Gothic Neo"/>
              </a:defRPr>
            </a:pPr>
            <a:r>
              <a:rPr sz="3300" b="1">
                <a:solidFill>
                  <a:srgbClr val="172738"/>
                </a:solidFill>
                <a:latin typeface="Apple SD Gothic Neo"/>
                <a:ea typeface="Apple SD Gothic Neo"/>
                <a:cs typeface="Apple SD Gothic Neo"/>
              </a:rPr>
              <a:t>큰 QD의 성능 저하는 수락 편중과 연결</a:t>
            </a:r>
          </a:p>
        </p:txBody>
      </p:sp>
      <p:sp>
        <p:nvSpPr>
          <p:cNvPr id="2" name="subtitle">
            <a:extLst xmlns:a="http://schemas.openxmlformats.org/drawingml/2006/main">
              <a:ext uri="{FF2B5EF4-FFF2-40B4-BE49-F238E27FC236}">
                <a16:creationId xmlns:a16="http://schemas.microsoft.com/office/drawing/2014/main" id="{500966C6-A1C4-47CE-83BE-EAD84046A055}"/>
              </a:ext>
            </a:extLst>
          </p:cNvPr>
          <p:cNvSpPr>
            <a:spLocks xmlns:a="http://schemas.openxmlformats.org/drawingml/2006/main" noGrp="1"/>
          </p:cNvSpPr>
          <p:nvPr/>
        </p:nvSpPr>
        <p:spPr>
          <a:xfrm xmlns:a="http://schemas.openxmlformats.org/drawingml/2006/main">
            <a:off x="552450" y="1104900"/>
            <a:ext cx="110871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586875"/>
                </a:solidFill>
                <a:latin typeface="Apple SD Gothic Neo"/>
                <a:ea typeface="Apple SD Gothic Neo"/>
                <a:cs typeface="Apple SD Gothic Neo"/>
              </a:defRPr>
            </a:defPPr>
          </a:lstStyle>
          <a:p xmlns:a="http://schemas.openxmlformats.org/drawingml/2006/main">
            <a:pPr>
              <a:defRPr sz="1800" b="0">
                <a:solidFill>
                  <a:srgbClr val="586875"/>
                </a:solidFill>
                <a:latin typeface="Apple SD Gothic Neo"/>
                <a:ea typeface="Apple SD Gothic Neo"/>
                <a:cs typeface="Apple SD Gothic Neo"/>
              </a:defRPr>
            </a:pPr>
            <a:r>
              <a:rPr sz="1800" b="0">
                <a:solidFill>
                  <a:srgbClr val="586875"/>
                </a:solidFill>
                <a:latin typeface="Apple SD Gothic Neo"/>
                <a:ea typeface="Apple SD Gothic Neo"/>
                <a:cs typeface="Apple SD Gothic Neo"/>
              </a:rPr>
              <a:t>QD2,048을 유지하고, 마지막 수락 다음 Port부터 순환하도록 순서만 바꿨습니다.</a:t>
            </a:r>
          </a:p>
        </p:txBody>
      </p:sp>
      <p:sp>
        <p:nvSpPr>
          <p:cNvPr id="3" name="footer">
            <a:extLst xmlns:a="http://schemas.openxmlformats.org/drawingml/2006/main">
              <a:ext uri="{FF2B5EF4-FFF2-40B4-BE49-F238E27FC236}">
                <a16:creationId xmlns:a16="http://schemas.microsoft.com/office/drawing/2014/main" id="{A538301F-DEE8-4BFC-9B46-8AA318DE327A}"/>
              </a:ext>
            </a:extLst>
          </p:cNvPr>
          <p:cNvSpPr>
            <a:spLocks xmlns:a="http://schemas.openxmlformats.org/drawingml/2006/main" noGrp="1"/>
          </p:cNvSpPr>
          <p:nvPr/>
        </p:nvSpPr>
        <p:spPr>
          <a:xfrm xmlns:a="http://schemas.openxmlformats.org/drawingml/2006/main">
            <a:off x="533400" y="6419850"/>
            <a:ext cx="10477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86875"/>
                </a:solidFill>
                <a:latin typeface="Apple SD Gothic Neo"/>
                <a:ea typeface="Apple SD Gothic Neo"/>
                <a:cs typeface="Apple SD Gothic Neo"/>
              </a:defRPr>
            </a:defPPr>
          </a:lstStyle>
          <a:p xmlns:a="http://schemas.openxmlformats.org/drawingml/2006/main">
            <a:pPr>
              <a:defRPr sz="1200" b="0">
                <a:solidFill>
                  <a:srgbClr val="586875"/>
                </a:solidFill>
                <a:latin typeface="Apple SD Gothic Neo"/>
                <a:ea typeface="Apple SD Gothic Neo"/>
                <a:cs typeface="Apple SD Gothic Neo"/>
              </a:defRPr>
            </a:pPr>
            <a:r>
              <a:rPr sz="1200" b="0">
                <a:solidFill>
                  <a:srgbClr val="586875"/>
                </a:solidFill>
                <a:latin typeface="Apple SD Gothic Neo"/>
                <a:ea typeface="Apple SD Gothic Neo"/>
                <a:cs typeface="Apple SD Gothic Neo"/>
              </a:rPr>
              <a:t>새 진단 실험: A1/A2, FIFO, 64 Plane, 8MiB, QD2,048/Port, 고정 2ms 평균</a:t>
            </a:r>
          </a:p>
        </p:txBody>
      </p:sp>
      <p:sp>
        <p:nvSpPr>
          <p:cNvPr id="4" name="page">
            <a:extLst xmlns:a="http://schemas.openxmlformats.org/drawingml/2006/main">
              <a:ext uri="{FF2B5EF4-FFF2-40B4-BE49-F238E27FC236}">
                <a16:creationId xmlns:a16="http://schemas.microsoft.com/office/drawing/2014/main" id="{D5A28132-A8CE-4DAE-8A94-53CACBB6A109}"/>
              </a:ext>
            </a:extLst>
          </p:cNvPr>
          <p:cNvSpPr>
            <a:spLocks xmlns:a="http://schemas.openxmlformats.org/drawingml/2006/main" noGrp="1"/>
          </p:cNvSpPr>
          <p:nvPr/>
        </p:nvSpPr>
        <p:spPr>
          <a:xfrm xmlns:a="http://schemas.openxmlformats.org/drawingml/2006/main">
            <a:off x="11144250" y="6419850"/>
            <a:ext cx="4953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86875"/>
                </a:solidFill>
                <a:latin typeface="Apple SD Gothic Neo"/>
                <a:ea typeface="Apple SD Gothic Neo"/>
                <a:cs typeface="Apple SD Gothic Neo"/>
              </a:defRPr>
            </a:defPPr>
          </a:lstStyle>
          <a:p xmlns:a="http://schemas.openxmlformats.org/drawingml/2006/main">
            <a:pPr>
              <a:defRPr sz="1200" b="0">
                <a:solidFill>
                  <a:srgbClr val="586875"/>
                </a:solidFill>
                <a:latin typeface="Apple SD Gothic Neo"/>
                <a:ea typeface="Apple SD Gothic Neo"/>
                <a:cs typeface="Apple SD Gothic Neo"/>
              </a:defRPr>
            </a:pPr>
            <a:r>
              <a:rPr sz="1200" b="0">
                <a:solidFill>
                  <a:srgbClr val="586875"/>
                </a:solidFill>
                <a:latin typeface="Apple SD Gothic Neo"/>
                <a:ea typeface="Apple SD Gothic Neo"/>
                <a:cs typeface="Apple SD Gothic Neo"/>
              </a:rPr>
              <a:t>15</a:t>
            </a:r>
          </a:p>
        </p:txBody>
      </p:sp>
      <p:graphicFrame>
        <p:nvGraphicFramePr>
          <p:cNvPr id="5" name="admission">
            <a:extLst xmlns:a="http://schemas.openxmlformats.org/drawingml/2006/main">
              <a:ext uri="{FF2B5EF4-FFF2-40B4-BE49-F238E27FC236}">
                <a16:creationId xmlns:a16="http://schemas.microsoft.com/office/drawing/2014/main" id="{19C5E94F-AF33-4F5D-A5B5-621165903278}"/>
              </a:ext>
            </a:extLst>
          </p:cNvPr>
          <p:cNvGraphicFramePr/>
          <p:nvPr/>
        </p:nvGraphicFramePr>
        <p:xfrm>
          <a:off xmlns:a="http://schemas.openxmlformats.org/drawingml/2006/main" x="533400" y="1838325"/>
          <a:ext xmlns:a="http://schemas.openxmlformats.org/drawingml/2006/main" cx="11125200" cy="3000375"/>
        </p:xfrm>
        <a:graphic xmlns:a="http://schemas.openxmlformats.org/drawingml/2006/main">
          <a:graphicData uri="http://schemas.openxmlformats.org/drawingml/2006/table">
            <a:tbl>
              <a:tblPr/>
              <a:tblGrid>
                <a:gridCol w="2714625"/>
                <a:gridCol w="2143125"/>
                <a:gridCol w="6267450"/>
              </a:tblGrid>
              <a:tr h="600075">
                <a:tc>
                  <a:txBody>
                    <a:bodyPr lIns="95250" tIns="95250" rIns="95250" bIns="95250"/>
                    <a:lstStyle/>
                    <a:p>
                      <a:r>
                        <a:rPr sz="1725" b="1">
                          <a:solidFill>
                            <a:srgbClr val="FFFFFF"/>
                          </a:solidFill>
                          <a:latin typeface="Apple SD Gothic Neo"/>
                          <a:ea typeface="Apple SD Gothic Neo"/>
                          <a:cs typeface="Apple SD Gothic Neo"/>
                        </a:rPr>
                        <a:t>패턴 / 수락 방식</a:t>
                      </a:r>
                    </a:p>
                  </a:txBody>
                  <a:tcPr marL="114300" marR="114300" marT="76200" marB="76200" anchor="ctr">
                    <a:solidFill>
                      <a:srgbClr val="122C40"/>
                    </a:solidFill>
                  </a:tcPr>
                </a:tc>
                <a:tc>
                  <a:txBody>
                    <a:bodyPr lIns="95250" tIns="95250" rIns="95250" bIns="95250"/>
                    <a:lstStyle/>
                    <a:p>
                      <a:r>
                        <a:rPr sz="1725" b="1">
                          <a:solidFill>
                            <a:srgbClr val="FFFFFF"/>
                          </a:solidFill>
                          <a:latin typeface="Apple SD Gothic Neo"/>
                          <a:ea typeface="Apple SD Gothic Neo"/>
                          <a:cs typeface="Apple SD Gothic Neo"/>
                        </a:rPr>
                        <a:t>처리량 (GB/s)</a:t>
                      </a:r>
                    </a:p>
                  </a:txBody>
                  <a:tcPr marL="114300" marR="114300" marT="76200" marB="76200" anchor="ctr">
                    <a:solidFill>
                      <a:srgbClr val="122C40"/>
                    </a:solidFill>
                  </a:tcPr>
                </a:tc>
                <a:tc>
                  <a:txBody>
                    <a:bodyPr lIns="95250" tIns="95250" rIns="95250" bIns="95250"/>
                    <a:lstStyle/>
                    <a:p>
                      <a:r>
                        <a:rPr sz="1725" b="1">
                          <a:solidFill>
                            <a:srgbClr val="FFFFFF"/>
                          </a:solidFill>
                          <a:latin typeface="Apple SD Gothic Neo"/>
                          <a:ea typeface="Apple SD Gothic Neo"/>
                          <a:cs typeface="Apple SD Gothic Neo"/>
                        </a:rPr>
                        <a:t>Port 0 / 1 / 2 / 3 실제 outstanding 평균</a:t>
                      </a:r>
                    </a:p>
                  </a:txBody>
                  <a:tcPr marL="114300" marR="114300" marT="76200" marB="76200" anchor="ctr">
                    <a:solidFill>
                      <a:srgbClr val="122C40"/>
                    </a:solidFill>
                  </a:tcPr>
                </a:tc>
              </a:tr>
              <a:tr h="600075">
                <a:tc>
                  <a:txBody>
                    <a:bodyPr lIns="95250" tIns="95250" rIns="95250" bIns="95250"/>
                    <a:lstStyle/>
                    <a:p>
                      <a:r>
                        <a:rPr sz="1725" b="0">
                          <a:solidFill>
                            <a:srgbClr val="172738"/>
                          </a:solidFill>
                          <a:latin typeface="Apple SD Gothic Neo"/>
                          <a:ea typeface="Apple SD Gothic Neo"/>
                          <a:cs typeface="Apple SD Gothic Neo"/>
                        </a:rPr>
                        <a:t>A1 / 고정 시작</a:t>
                      </a:r>
                    </a:p>
                  </a:txBody>
                  <a:tcPr marL="114300" marR="114300" marT="76200" marB="76200" anchor="ctr">
                    <a:solidFill>
                      <a:srgbClr val="FFFFFF"/>
                    </a:solidFill>
                  </a:tcPr>
                </a:tc>
                <a:tc>
                  <a:txBody>
                    <a:bodyPr lIns="95250" tIns="95250" rIns="95250" bIns="95250"/>
                    <a:lstStyle/>
                    <a:p>
                      <a:r>
                        <a:rPr sz="1725" b="0">
                          <a:solidFill>
                            <a:srgbClr val="172738"/>
                          </a:solidFill>
                          <a:latin typeface="Apple SD Gothic Neo"/>
                          <a:ea typeface="Apple SD Gothic Neo"/>
                          <a:cs typeface="Apple SD Gothic Neo"/>
                        </a:rPr>
                        <a:t>68.858</a:t>
                      </a:r>
                    </a:p>
                  </a:txBody>
                  <a:tcPr marL="114300" marR="114300" marT="76200" marB="76200" anchor="ctr">
                    <a:solidFill>
                      <a:srgbClr val="FFFFFF"/>
                    </a:solidFill>
                  </a:tcPr>
                </a:tc>
                <a:tc>
                  <a:txBody>
                    <a:bodyPr lIns="95250" tIns="95250" rIns="95250" bIns="95250"/>
                    <a:lstStyle/>
                    <a:p>
                      <a:r>
                        <a:rPr sz="1725" b="0">
                          <a:solidFill>
                            <a:srgbClr val="172738"/>
                          </a:solidFill>
                          <a:latin typeface="Apple SD Gothic Neo"/>
                          <a:ea typeface="Apple SD Gothic Neo"/>
                          <a:cs typeface="Apple SD Gothic Neo"/>
                        </a:rPr>
                        <a:t>2026.5 / 1.0 / 1.0 / 1.0</a:t>
                      </a:r>
                    </a:p>
                  </a:txBody>
                  <a:tcPr marL="114300" marR="114300" marT="76200" marB="76200" anchor="ctr">
                    <a:solidFill>
                      <a:srgbClr val="FFFFFF"/>
                    </a:solidFill>
                  </a:tcPr>
                </a:tc>
              </a:tr>
              <a:tr h="600075">
                <a:tc>
                  <a:txBody>
                    <a:bodyPr lIns="95250" tIns="95250" rIns="95250" bIns="95250"/>
                    <a:lstStyle/>
                    <a:p>
                      <a:r>
                        <a:rPr sz="1725" b="0">
                          <a:solidFill>
                            <a:srgbClr val="172738"/>
                          </a:solidFill>
                          <a:latin typeface="Apple SD Gothic Neo"/>
                          <a:ea typeface="Apple SD Gothic Neo"/>
                          <a:cs typeface="Apple SD Gothic Neo"/>
                        </a:rPr>
                        <a:t>A1 / 순환 시작</a:t>
                      </a:r>
                    </a:p>
                  </a:txBody>
                  <a:tcPr marL="114300" marR="114300" marT="76200" marB="76200" anchor="ctr">
                    <a:solidFill>
                      <a:srgbClr val="F1F5F8"/>
                    </a:solidFill>
                  </a:tcPr>
                </a:tc>
                <a:tc>
                  <a:txBody>
                    <a:bodyPr lIns="95250" tIns="95250" rIns="95250" bIns="95250"/>
                    <a:lstStyle/>
                    <a:p>
                      <a:r>
                        <a:rPr sz="1725" b="0">
                          <a:solidFill>
                            <a:srgbClr val="172738"/>
                          </a:solidFill>
                          <a:latin typeface="Apple SD Gothic Neo"/>
                          <a:ea typeface="Apple SD Gothic Neo"/>
                          <a:cs typeface="Apple SD Gothic Neo"/>
                        </a:rPr>
                        <a:t>255.340</a:t>
                      </a:r>
                    </a:p>
                  </a:txBody>
                  <a:tcPr marL="114300" marR="114300" marT="76200" marB="76200" anchor="ctr">
                    <a:solidFill>
                      <a:srgbClr val="F1F5F8"/>
                    </a:solidFill>
                  </a:tcPr>
                </a:tc>
                <a:tc>
                  <a:txBody>
                    <a:bodyPr lIns="95250" tIns="95250" rIns="95250" bIns="95250"/>
                    <a:lstStyle/>
                    <a:p>
                      <a:r>
                        <a:rPr sz="1725" b="0">
                          <a:solidFill>
                            <a:srgbClr val="172738"/>
                          </a:solidFill>
                          <a:latin typeface="Apple SD Gothic Neo"/>
                          <a:ea typeface="Apple SD Gothic Neo"/>
                          <a:cs typeface="Apple SD Gothic Neo"/>
                        </a:rPr>
                        <a:t>440.2 / 515.6 / 563.9 / 485.4</a:t>
                      </a:r>
                    </a:p>
                  </a:txBody>
                  <a:tcPr marL="114300" marR="114300" marT="76200" marB="76200" anchor="ctr">
                    <a:solidFill>
                      <a:srgbClr val="F1F5F8"/>
                    </a:solidFill>
                  </a:tcPr>
                </a:tc>
              </a:tr>
              <a:tr h="600075">
                <a:tc>
                  <a:txBody>
                    <a:bodyPr lIns="95250" tIns="95250" rIns="95250" bIns="95250"/>
                    <a:lstStyle/>
                    <a:p>
                      <a:r>
                        <a:rPr sz="1725" b="0">
                          <a:solidFill>
                            <a:srgbClr val="172738"/>
                          </a:solidFill>
                          <a:latin typeface="Apple SD Gothic Neo"/>
                          <a:ea typeface="Apple SD Gothic Neo"/>
                          <a:cs typeface="Apple SD Gothic Neo"/>
                        </a:rPr>
                        <a:t>A2 / 고정 시작</a:t>
                      </a:r>
                    </a:p>
                  </a:txBody>
                  <a:tcPr marL="114300" marR="114300" marT="76200" marB="76200" anchor="ctr">
                    <a:solidFill>
                      <a:srgbClr val="FFFFFF"/>
                    </a:solidFill>
                  </a:tcPr>
                </a:tc>
                <a:tc>
                  <a:txBody>
                    <a:bodyPr lIns="95250" tIns="95250" rIns="95250" bIns="95250"/>
                    <a:lstStyle/>
                    <a:p>
                      <a:r>
                        <a:rPr sz="1725" b="0">
                          <a:solidFill>
                            <a:srgbClr val="172738"/>
                          </a:solidFill>
                          <a:latin typeface="Apple SD Gothic Neo"/>
                          <a:ea typeface="Apple SD Gothic Neo"/>
                          <a:cs typeface="Apple SD Gothic Neo"/>
                        </a:rPr>
                        <a:t>71.889</a:t>
                      </a:r>
                    </a:p>
                  </a:txBody>
                  <a:tcPr marL="114300" marR="114300" marT="76200" marB="76200" anchor="ctr">
                    <a:solidFill>
                      <a:srgbClr val="FFFFFF"/>
                    </a:solidFill>
                  </a:tcPr>
                </a:tc>
                <a:tc>
                  <a:txBody>
                    <a:bodyPr lIns="95250" tIns="95250" rIns="95250" bIns="95250"/>
                    <a:lstStyle/>
                    <a:p>
                      <a:r>
                        <a:rPr sz="1725" b="0">
                          <a:solidFill>
                            <a:srgbClr val="172738"/>
                          </a:solidFill>
                          <a:latin typeface="Apple SD Gothic Neo"/>
                          <a:ea typeface="Apple SD Gothic Neo"/>
                          <a:cs typeface="Apple SD Gothic Neo"/>
                        </a:rPr>
                        <a:t>2033.8 / 2.6 / 2.5 / 2.5</a:t>
                      </a:r>
                    </a:p>
                  </a:txBody>
                  <a:tcPr marL="114300" marR="114300" marT="76200" marB="76200" anchor="ctr">
                    <a:solidFill>
                      <a:srgbClr val="FFFFFF"/>
                    </a:solidFill>
                  </a:tcPr>
                </a:tc>
              </a:tr>
              <a:tr h="600075">
                <a:tc>
                  <a:txBody>
                    <a:bodyPr lIns="95250" tIns="95250" rIns="95250" bIns="95250"/>
                    <a:lstStyle/>
                    <a:p>
                      <a:r>
                        <a:rPr sz="1725" b="0">
                          <a:solidFill>
                            <a:srgbClr val="172738"/>
                          </a:solidFill>
                          <a:latin typeface="Apple SD Gothic Neo"/>
                          <a:ea typeface="Apple SD Gothic Neo"/>
                          <a:cs typeface="Apple SD Gothic Neo"/>
                        </a:rPr>
                        <a:t>A2 / 순환 시작</a:t>
                      </a:r>
                    </a:p>
                  </a:txBody>
                  <a:tcPr marL="114300" marR="114300" marT="76200" marB="76200" anchor="ctr">
                    <a:solidFill>
                      <a:srgbClr val="F1F5F8"/>
                    </a:solidFill>
                  </a:tcPr>
                </a:tc>
                <a:tc>
                  <a:txBody>
                    <a:bodyPr lIns="95250" tIns="95250" rIns="95250" bIns="95250"/>
                    <a:lstStyle/>
                    <a:p>
                      <a:r>
                        <a:rPr sz="1725" b="0">
                          <a:solidFill>
                            <a:srgbClr val="172738"/>
                          </a:solidFill>
                          <a:latin typeface="Apple SD Gothic Neo"/>
                          <a:ea typeface="Apple SD Gothic Neo"/>
                          <a:cs typeface="Apple SD Gothic Neo"/>
                        </a:rPr>
                        <a:t>255.265</a:t>
                      </a:r>
                    </a:p>
                  </a:txBody>
                  <a:tcPr marL="114300" marR="114300" marT="76200" marB="76200" anchor="ctr">
                    <a:solidFill>
                      <a:srgbClr val="F1F5F8"/>
                    </a:solidFill>
                  </a:tcPr>
                </a:tc>
                <a:tc>
                  <a:txBody>
                    <a:bodyPr lIns="95250" tIns="95250" rIns="95250" bIns="95250"/>
                    <a:lstStyle/>
                    <a:p>
                      <a:r>
                        <a:rPr sz="1725" b="0">
                          <a:solidFill>
                            <a:srgbClr val="172738"/>
                          </a:solidFill>
                          <a:latin typeface="Apple SD Gothic Neo"/>
                          <a:ea typeface="Apple SD Gothic Neo"/>
                          <a:cs typeface="Apple SD Gothic Neo"/>
                        </a:rPr>
                        <a:t>442.5 / 530.6 / 574.8 / 491.4</a:t>
                      </a:r>
                    </a:p>
                  </a:txBody>
                  <a:tcPr marL="114300" marR="114300" marT="76200" marB="76200" anchor="ctr">
                    <a:solidFill>
                      <a:srgbClr val="F1F5F8"/>
                    </a:solidFill>
                  </a:tcPr>
                </a:tc>
              </a:tr>
            </a:tbl>
          </a:graphicData>
        </a:graphic>
      </p:graphicFrame>
      <p:sp>
        <p:nvSpPr>
          <p:cNvPr id="6" name="causal">
            <a:extLst xmlns:a="http://schemas.openxmlformats.org/drawingml/2006/main">
              <a:ext uri="{FF2B5EF4-FFF2-40B4-BE49-F238E27FC236}">
                <a16:creationId xmlns:a16="http://schemas.microsoft.com/office/drawing/2014/main" id="{8CE99111-712D-4BFE-B535-600DC5C805DF}"/>
              </a:ext>
            </a:extLst>
          </p:cNvPr>
          <p:cNvSpPr>
            <a:spLocks xmlns:a="http://schemas.openxmlformats.org/drawingml/2006/main" noGrp="1"/>
          </p:cNvSpPr>
          <p:nvPr/>
        </p:nvSpPr>
        <p:spPr>
          <a:xfrm xmlns:a="http://schemas.openxmlformats.org/drawingml/2006/main">
            <a:off x="571500" y="5172075"/>
            <a:ext cx="11049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26DCA"/>
                </a:solidFill>
                <a:latin typeface="Apple SD Gothic Neo"/>
                <a:ea typeface="Apple SD Gothic Neo"/>
                <a:cs typeface="Apple SD Gothic Neo"/>
              </a:defRPr>
            </a:defPPr>
          </a:lstStyle>
          <a:p xmlns:a="http://schemas.openxmlformats.org/drawingml/2006/main">
            <a:pPr>
              <a:defRPr sz="2175" b="1">
                <a:solidFill>
                  <a:srgbClr val="126DCA"/>
                </a:solidFill>
                <a:latin typeface="Apple SD Gothic Neo"/>
                <a:ea typeface="Apple SD Gothic Neo"/>
                <a:cs typeface="Apple SD Gothic Neo"/>
              </a:defRPr>
            </a:pPr>
            <a:r>
              <a:rPr sz="2175" b="1">
                <a:solidFill>
                  <a:srgbClr val="126DCA"/>
                </a:solidFill>
                <a:latin typeface="Apple SD Gothic Neo"/>
                <a:ea typeface="Apple SD Gothic Neo"/>
                <a:cs typeface="Apple SD Gothic Neo"/>
              </a:rPr>
              <a:t>같은 큰 QD에서도 버퍼 편중을 줄이면 약255GB/s를 회복합니다.</a:t>
            </a:r>
          </a:p>
        </p:txBody>
      </p:sp>
      <p:sp>
        <p:nvSpPr>
          <p:cNvPr id="7" name="exact-balance">
            <a:extLst xmlns:a="http://schemas.openxmlformats.org/drawingml/2006/main">
              <a:ext uri="{FF2B5EF4-FFF2-40B4-BE49-F238E27FC236}">
                <a16:creationId xmlns:a16="http://schemas.microsoft.com/office/drawing/2014/main" id="{8422A3D9-E846-4340-A4E2-14AE6737A82B}"/>
              </a:ext>
            </a:extLst>
          </p:cNvPr>
          <p:cNvSpPr>
            <a:spLocks xmlns:a="http://schemas.openxmlformats.org/drawingml/2006/main" noGrp="1"/>
          </p:cNvSpPr>
          <p:nvPr/>
        </p:nvSpPr>
        <p:spPr>
          <a:xfrm xmlns:a="http://schemas.openxmlformats.org/drawingml/2006/main">
            <a:off x="571500" y="5724525"/>
            <a:ext cx="1104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172738"/>
                </a:solidFill>
                <a:latin typeface="Apple SD Gothic Neo"/>
                <a:ea typeface="Apple SD Gothic Neo"/>
                <a:cs typeface="Apple SD Gothic Neo"/>
              </a:defRPr>
            </a:defPPr>
          </a:lstStyle>
          <a:p xmlns:a="http://schemas.openxmlformats.org/drawingml/2006/main">
            <a:pPr>
              <a:defRPr sz="1800" b="0">
                <a:solidFill>
                  <a:srgbClr val="172738"/>
                </a:solidFill>
                <a:latin typeface="Apple SD Gothic Neo"/>
                <a:ea typeface="Apple SD Gothic Neo"/>
                <a:cs typeface="Apple SD Gothic Neo"/>
              </a:defRPr>
            </a:pPr>
            <a:r>
              <a:rPr sz="1800" b="0">
                <a:solidFill>
                  <a:srgbClr val="172738"/>
                </a:solidFill>
                <a:latin typeface="Apple SD Gothic Neo"/>
                <a:ea typeface="Apple SD Gothic Neo"/>
                <a:cs typeface="Apple SD Gothic Neo"/>
              </a:rPr>
              <a:t>Port당 상한은 64GB/s이므로 네 Port가 모두 충분히 동작해야 합니다.</a:t>
            </a:r>
          </a:p>
          <a:p xmlns:a="http://schemas.openxmlformats.org/drawingml/2006/main">
            <a:pPr>
              <a:defRPr sz="1800" b="0">
                <a:solidFill>
                  <a:srgbClr val="172738"/>
                </a:solidFill>
                <a:latin typeface="Apple SD Gothic Neo"/>
                <a:ea typeface="Apple SD Gothic Neo"/>
                <a:cs typeface="Apple SD Gothic Neo"/>
              </a:defRPr>
            </a:pPr>
            <a:r>
              <a:rPr sz="1800" b="0">
                <a:solidFill>
                  <a:srgbClr val="172738"/>
                </a:solidFill>
                <a:latin typeface="Apple SD Gothic Neo"/>
                <a:ea typeface="Apple SD Gothic Neo"/>
                <a:cs typeface="Apple SD Gothic Neo"/>
              </a:rPr>
              <a:t>각 Port에 쌓인 요청 수가 정확히 같을 필요는 없습니다.</a:t>
            </a:r>
          </a:p>
        </p:txBody>
      </p:sp>
    </p:spTree>
    <p:extLst>
      <p:ext uri="{BB962C8B-B14F-4D97-AF65-F5344CB8AC3E}">
        <p14:creationId xmlns:p14="http://schemas.microsoft.com/office/powerpoint/2010/main" val="1099066560"/>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itle">
            <a:extLst xmlns:a="http://schemas.openxmlformats.org/drawingml/2006/main">
              <a:ext uri="{FF2B5EF4-FFF2-40B4-BE49-F238E27FC236}">
                <a16:creationId xmlns:a16="http://schemas.microsoft.com/office/drawing/2014/main" id="{37EB9A77-42A0-4C3D-9044-EF741D6D8D26}"/>
              </a:ext>
            </a:extLst>
          </p:cNvPr>
          <p:cNvSpPr>
            <a:spLocks xmlns:a="http://schemas.openxmlformats.org/drawingml/2006/main" noGrp="1"/>
          </p:cNvSpPr>
          <p:nvPr/>
        </p:nvSpPr>
        <p:spPr>
          <a:xfrm xmlns:a="http://schemas.openxmlformats.org/drawingml/2006/main">
            <a:off x="533400" y="438150"/>
            <a:ext cx="11125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2738"/>
                </a:solidFill>
                <a:latin typeface="Apple SD Gothic Neo"/>
                <a:ea typeface="Apple SD Gothic Neo"/>
                <a:cs typeface="Apple SD Gothic Neo"/>
              </a:defRPr>
            </a:defPPr>
          </a:lstStyle>
          <a:p xmlns:a="http://schemas.openxmlformats.org/drawingml/2006/main">
            <a:pPr>
              <a:defRPr sz="3300" b="1">
                <a:solidFill>
                  <a:srgbClr val="172738"/>
                </a:solidFill>
                <a:latin typeface="Apple SD Gothic Neo"/>
                <a:ea typeface="Apple SD Gothic Neo"/>
                <a:cs typeface="Apple SD Gothic Neo"/>
              </a:defRPr>
            </a:pPr>
            <a:r>
              <a:rPr sz="3300" b="1">
                <a:solidFill>
                  <a:srgbClr val="172738"/>
                </a:solidFill>
                <a:latin typeface="Apple SD Gothic Neo"/>
                <a:ea typeface="Apple SD Gothic Neo"/>
                <a:cs typeface="Apple SD Gothic Neo"/>
              </a:rPr>
              <a:t>64B 요청의 QD는 별도로 조정</a:t>
            </a:r>
          </a:p>
        </p:txBody>
      </p:sp>
      <p:sp>
        <p:nvSpPr>
          <p:cNvPr id="2" name="subtitle">
            <a:extLst xmlns:a="http://schemas.openxmlformats.org/drawingml/2006/main">
              <a:ext uri="{FF2B5EF4-FFF2-40B4-BE49-F238E27FC236}">
                <a16:creationId xmlns:a16="http://schemas.microsoft.com/office/drawing/2014/main" id="{B281BDB5-6E08-45DB-97E0-4AE8A6343FB9}"/>
              </a:ext>
            </a:extLst>
          </p:cNvPr>
          <p:cNvSpPr>
            <a:spLocks xmlns:a="http://schemas.openxmlformats.org/drawingml/2006/main" noGrp="1"/>
          </p:cNvSpPr>
          <p:nvPr/>
        </p:nvSpPr>
        <p:spPr>
          <a:xfrm xmlns:a="http://schemas.openxmlformats.org/drawingml/2006/main">
            <a:off x="552450" y="1104900"/>
            <a:ext cx="110871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586875"/>
                </a:solidFill>
                <a:latin typeface="Apple SD Gothic Neo"/>
                <a:ea typeface="Apple SD Gothic Neo"/>
                <a:cs typeface="Apple SD Gothic Neo"/>
              </a:defRPr>
            </a:defPPr>
          </a:lstStyle>
          <a:p xmlns:a="http://schemas.openxmlformats.org/drawingml/2006/main">
            <a:pPr>
              <a:defRPr sz="1800" b="0">
                <a:solidFill>
                  <a:srgbClr val="586875"/>
                </a:solidFill>
                <a:latin typeface="Apple SD Gothic Neo"/>
                <a:ea typeface="Apple SD Gothic Neo"/>
                <a:cs typeface="Apple SD Gothic Neo"/>
              </a:defRPr>
            </a:pPr>
            <a:r>
              <a:rPr sz="1800" b="0">
                <a:solidFill>
                  <a:srgbClr val="586875"/>
                </a:solidFill>
                <a:latin typeface="Apple SD Gothic Neo"/>
                <a:ea typeface="Apple SD Gothic Neo"/>
                <a:cs typeface="Apple SD Gothic Neo"/>
              </a:rPr>
              <a:t>페이지 전체를 읽는 B는 A보다 요청 하나의 크기가 64배 작습니다.</a:t>
            </a:r>
          </a:p>
        </p:txBody>
      </p:sp>
      <p:sp>
        <p:nvSpPr>
          <p:cNvPr id="3" name="footer">
            <a:extLst xmlns:a="http://schemas.openxmlformats.org/drawingml/2006/main">
              <a:ext uri="{FF2B5EF4-FFF2-40B4-BE49-F238E27FC236}">
                <a16:creationId xmlns:a16="http://schemas.microsoft.com/office/drawing/2014/main" id="{F0512A93-372B-43C7-946E-8D6F923D1749}"/>
              </a:ext>
            </a:extLst>
          </p:cNvPr>
          <p:cNvSpPr>
            <a:spLocks xmlns:a="http://schemas.openxmlformats.org/drawingml/2006/main" noGrp="1"/>
          </p:cNvSpPr>
          <p:nvPr/>
        </p:nvSpPr>
        <p:spPr>
          <a:xfrm xmlns:a="http://schemas.openxmlformats.org/drawingml/2006/main">
            <a:off x="533400" y="6419850"/>
            <a:ext cx="10477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86875"/>
                </a:solidFill>
                <a:latin typeface="Apple SD Gothic Neo"/>
                <a:ea typeface="Apple SD Gothic Neo"/>
                <a:cs typeface="Apple SD Gothic Neo"/>
              </a:defRPr>
            </a:defPPr>
          </a:lstStyle>
          <a:p xmlns:a="http://schemas.openxmlformats.org/drawingml/2006/main">
            <a:pPr>
              <a:defRPr sz="1200" b="0">
                <a:solidFill>
                  <a:srgbClr val="586875"/>
                </a:solidFill>
                <a:latin typeface="Apple SD Gothic Neo"/>
                <a:ea typeface="Apple SD Gothic Neo"/>
                <a:cs typeface="Apple SD Gothic Neo"/>
              </a:defRPr>
            </a:pPr>
            <a:r>
              <a:rPr sz="1200" b="0">
                <a:solidFill>
                  <a:srgbClr val="586875"/>
                </a:solidFill>
                <a:latin typeface="Apple SD Gothic Neo"/>
                <a:ea typeface="Apple SD Gothic Neo"/>
                <a:cs typeface="Apple SD Gothic Neo"/>
              </a:rPr>
              <a:t>B: 8MiB, 64 Plane, PF OFF. QD65,536은 이번 추가 실험</a:t>
            </a:r>
          </a:p>
        </p:txBody>
      </p:sp>
      <p:sp>
        <p:nvSpPr>
          <p:cNvPr id="4" name="page">
            <a:extLst xmlns:a="http://schemas.openxmlformats.org/drawingml/2006/main">
              <a:ext uri="{FF2B5EF4-FFF2-40B4-BE49-F238E27FC236}">
                <a16:creationId xmlns:a16="http://schemas.microsoft.com/office/drawing/2014/main" id="{5331B6E2-CFCC-409E-B29C-0F6FFDB33106}"/>
              </a:ext>
            </a:extLst>
          </p:cNvPr>
          <p:cNvSpPr>
            <a:spLocks xmlns:a="http://schemas.openxmlformats.org/drawingml/2006/main" noGrp="1"/>
          </p:cNvSpPr>
          <p:nvPr/>
        </p:nvSpPr>
        <p:spPr>
          <a:xfrm xmlns:a="http://schemas.openxmlformats.org/drawingml/2006/main">
            <a:off x="11144250" y="6419850"/>
            <a:ext cx="4953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86875"/>
                </a:solidFill>
                <a:latin typeface="Apple SD Gothic Neo"/>
                <a:ea typeface="Apple SD Gothic Neo"/>
                <a:cs typeface="Apple SD Gothic Neo"/>
              </a:defRPr>
            </a:defPPr>
          </a:lstStyle>
          <a:p xmlns:a="http://schemas.openxmlformats.org/drawingml/2006/main">
            <a:pPr>
              <a:defRPr sz="1200" b="0">
                <a:solidFill>
                  <a:srgbClr val="586875"/>
                </a:solidFill>
                <a:latin typeface="Apple SD Gothic Neo"/>
                <a:ea typeface="Apple SD Gothic Neo"/>
                <a:cs typeface="Apple SD Gothic Neo"/>
              </a:defRPr>
            </a:pPr>
            <a:r>
              <a:rPr sz="1200" b="0">
                <a:solidFill>
                  <a:srgbClr val="586875"/>
                </a:solidFill>
                <a:latin typeface="Apple SD Gothic Neo"/>
                <a:ea typeface="Apple SD Gothic Neo"/>
                <a:cs typeface="Apple SD Gothic Neo"/>
              </a:rPr>
              <a:t>16</a:t>
            </a:r>
          </a:p>
        </p:txBody>
      </p:sp>
      <p:graphicFrame>
        <p:nvGraphicFramePr>
          <p:cNvPr id="5" name="b-qd">
            <a:extLst xmlns:a="http://schemas.openxmlformats.org/drawingml/2006/main">
              <a:ext uri="{FF2B5EF4-FFF2-40B4-BE49-F238E27FC236}">
                <a16:creationId xmlns:a16="http://schemas.microsoft.com/office/drawing/2014/main" id="{47C65AF0-E4D2-4485-BE47-823D8C2F53F9}"/>
              </a:ext>
            </a:extLst>
          </p:cNvPr>
          <p:cNvGraphicFramePr/>
          <p:nvPr/>
        </p:nvGraphicFramePr>
        <p:xfrm>
          <a:off xmlns:a="http://schemas.openxmlformats.org/drawingml/2006/main" x="533400" y="1819275"/>
          <a:ext xmlns:a="http://schemas.openxmlformats.org/drawingml/2006/main" cx="6953250" cy="3571875"/>
        </p:xfrm>
        <a:graphic xmlns:a="http://schemas.openxmlformats.org/drawingml/2006/main">
          <a:graphicData uri="http://schemas.openxmlformats.org/drawingml/2006/table">
            <a:tbl>
              <a:tblPr/>
              <a:tblGrid>
                <a:gridCol w="2000250"/>
                <a:gridCol w="2476500"/>
                <a:gridCol w="2476500"/>
              </a:tblGrid>
              <a:tr h="510268">
                <a:tc>
                  <a:txBody>
                    <a:bodyPr lIns="95250" tIns="95250" rIns="95250" bIns="95250"/>
                    <a:lstStyle/>
                    <a:p>
                      <a:r>
                        <a:rPr sz="1725" b="1">
                          <a:solidFill>
                            <a:srgbClr val="FFFFFF"/>
                          </a:solidFill>
                          <a:latin typeface="Apple SD Gothic Neo"/>
                          <a:ea typeface="Apple SD Gothic Neo"/>
                          <a:cs typeface="Apple SD Gothic Neo"/>
                        </a:rPr>
                        <a:t>QD / Port</a:t>
                      </a:r>
                    </a:p>
                  </a:txBody>
                  <a:tcPr marL="114300" marR="114300" marT="76200" marB="76200" anchor="ctr">
                    <a:solidFill>
                      <a:srgbClr val="122C40"/>
                    </a:solidFill>
                  </a:tcPr>
                </a:tc>
                <a:tc>
                  <a:txBody>
                    <a:bodyPr lIns="95250" tIns="95250" rIns="95250" bIns="95250"/>
                    <a:lstStyle/>
                    <a:p>
                      <a:r>
                        <a:rPr sz="1725" b="1">
                          <a:solidFill>
                            <a:srgbClr val="FFFFFF"/>
                          </a:solidFill>
                          <a:latin typeface="Apple SD Gothic Neo"/>
                          <a:ea typeface="Apple SD Gothic Neo"/>
                          <a:cs typeface="Apple SD Gothic Neo"/>
                        </a:rPr>
                        <a:t>고정 수락 (GB/s)</a:t>
                      </a:r>
                    </a:p>
                  </a:txBody>
                  <a:tcPr marL="114300" marR="114300" marT="76200" marB="76200" anchor="ctr">
                    <a:solidFill>
                      <a:srgbClr val="122C40"/>
                    </a:solidFill>
                  </a:tcPr>
                </a:tc>
                <a:tc>
                  <a:txBody>
                    <a:bodyPr lIns="95250" tIns="95250" rIns="95250" bIns="95250"/>
                    <a:lstStyle/>
                    <a:p>
                      <a:r>
                        <a:rPr sz="1725" b="1">
                          <a:solidFill>
                            <a:srgbClr val="FFFFFF"/>
                          </a:solidFill>
                          <a:latin typeface="Apple SD Gothic Neo"/>
                          <a:ea typeface="Apple SD Gothic Neo"/>
                          <a:cs typeface="Apple SD Gothic Neo"/>
                        </a:rPr>
                        <a:t>순환 수락 (GB/s)</a:t>
                      </a:r>
                    </a:p>
                  </a:txBody>
                  <a:tcPr marL="114300" marR="114300" marT="76200" marB="76200" anchor="ctr">
                    <a:solidFill>
                      <a:srgbClr val="122C40"/>
                    </a:solidFill>
                  </a:tcPr>
                </a:tc>
              </a:tr>
              <a:tr h="510268">
                <a:tc>
                  <a:txBody>
                    <a:bodyPr lIns="95250" tIns="95250" rIns="95250" bIns="95250"/>
                    <a:lstStyle/>
                    <a:p>
                      <a:r>
                        <a:rPr sz="1725" b="0">
                          <a:solidFill>
                            <a:srgbClr val="172738"/>
                          </a:solidFill>
                          <a:latin typeface="Apple SD Gothic Neo"/>
                          <a:ea typeface="Apple SD Gothic Neo"/>
                          <a:cs typeface="Apple SD Gothic Neo"/>
                        </a:rPr>
                        <a:t>512</a:t>
                      </a:r>
                    </a:p>
                  </a:txBody>
                  <a:tcPr marL="114300" marR="114300" marT="76200" marB="76200" anchor="ctr">
                    <a:solidFill>
                      <a:srgbClr val="FFFFFF"/>
                    </a:solidFill>
                  </a:tcPr>
                </a:tc>
                <a:tc>
                  <a:txBody>
                    <a:bodyPr lIns="95250" tIns="95250" rIns="95250" bIns="95250"/>
                    <a:lstStyle/>
                    <a:p>
                      <a:r>
                        <a:rPr sz="1725" b="0">
                          <a:solidFill>
                            <a:srgbClr val="172738"/>
                          </a:solidFill>
                          <a:latin typeface="Apple SD Gothic Neo"/>
                          <a:ea typeface="Apple SD Gothic Neo"/>
                          <a:cs typeface="Apple SD Gothic Neo"/>
                        </a:rPr>
                        <a:t>31.457</a:t>
                      </a:r>
                    </a:p>
                  </a:txBody>
                  <a:tcPr marL="114300" marR="114300" marT="76200" marB="76200" anchor="ctr">
                    <a:solidFill>
                      <a:srgbClr val="FFFFFF"/>
                    </a:solidFill>
                  </a:tcPr>
                </a:tc>
                <a:tc>
                  <a:txBody>
                    <a:bodyPr lIns="95250" tIns="95250" rIns="95250" bIns="95250"/>
                    <a:lstStyle/>
                    <a:p>
                      <a:r>
                        <a:rPr sz="1725" b="0">
                          <a:solidFill>
                            <a:srgbClr val="172738"/>
                          </a:solidFill>
                          <a:latin typeface="Apple SD Gothic Neo"/>
                          <a:ea typeface="Apple SD Gothic Neo"/>
                          <a:cs typeface="Apple SD Gothic Neo"/>
                        </a:rPr>
                        <a:t>미측정</a:t>
                      </a:r>
                    </a:p>
                  </a:txBody>
                  <a:tcPr marL="114300" marR="114300" marT="76200" marB="76200" anchor="ctr">
                    <a:solidFill>
                      <a:srgbClr val="FFFFFF"/>
                    </a:solidFill>
                  </a:tcPr>
                </a:tc>
              </a:tr>
              <a:tr h="510268">
                <a:tc>
                  <a:txBody>
                    <a:bodyPr lIns="95250" tIns="95250" rIns="95250" bIns="95250"/>
                    <a:lstStyle/>
                    <a:p>
                      <a:r>
                        <a:rPr sz="1725" b="0">
                          <a:solidFill>
                            <a:srgbClr val="172738"/>
                          </a:solidFill>
                          <a:latin typeface="Apple SD Gothic Neo"/>
                          <a:ea typeface="Apple SD Gothic Neo"/>
                          <a:cs typeface="Apple SD Gothic Neo"/>
                        </a:rPr>
                        <a:t>2,048</a:t>
                      </a:r>
                    </a:p>
                  </a:txBody>
                  <a:tcPr marL="114300" marR="114300" marT="76200" marB="76200" anchor="ctr">
                    <a:solidFill>
                      <a:srgbClr val="F1F5F8"/>
                    </a:solidFill>
                  </a:tcPr>
                </a:tc>
                <a:tc>
                  <a:txBody>
                    <a:bodyPr lIns="95250" tIns="95250" rIns="95250" bIns="95250"/>
                    <a:lstStyle/>
                    <a:p>
                      <a:r>
                        <a:rPr sz="1725" b="0">
                          <a:solidFill>
                            <a:srgbClr val="172738"/>
                          </a:solidFill>
                          <a:latin typeface="Apple SD Gothic Neo"/>
                          <a:ea typeface="Apple SD Gothic Neo"/>
                          <a:cs typeface="Apple SD Gothic Neo"/>
                        </a:rPr>
                        <a:t>69.468</a:t>
                      </a:r>
                    </a:p>
                  </a:txBody>
                  <a:tcPr marL="114300" marR="114300" marT="76200" marB="76200" anchor="ctr">
                    <a:solidFill>
                      <a:srgbClr val="F1F5F8"/>
                    </a:solidFill>
                  </a:tcPr>
                </a:tc>
                <a:tc>
                  <a:txBody>
                    <a:bodyPr lIns="95250" tIns="95250" rIns="95250" bIns="95250"/>
                    <a:lstStyle/>
                    <a:p>
                      <a:r>
                        <a:rPr sz="1725" b="0">
                          <a:solidFill>
                            <a:srgbClr val="172738"/>
                          </a:solidFill>
                          <a:latin typeface="Apple SD Gothic Neo"/>
                          <a:ea typeface="Apple SD Gothic Neo"/>
                          <a:cs typeface="Apple SD Gothic Neo"/>
                        </a:rPr>
                        <a:t>미측정</a:t>
                      </a:r>
                    </a:p>
                  </a:txBody>
                  <a:tcPr marL="114300" marR="114300" marT="76200" marB="76200" anchor="ctr">
                    <a:solidFill>
                      <a:srgbClr val="F1F5F8"/>
                    </a:solidFill>
                  </a:tcPr>
                </a:tc>
              </a:tr>
              <a:tr h="510268">
                <a:tc>
                  <a:txBody>
                    <a:bodyPr lIns="95250" tIns="95250" rIns="95250" bIns="95250"/>
                    <a:lstStyle/>
                    <a:p>
                      <a:r>
                        <a:rPr sz="1725" b="0">
                          <a:solidFill>
                            <a:srgbClr val="172738"/>
                          </a:solidFill>
                          <a:latin typeface="Apple SD Gothic Neo"/>
                          <a:ea typeface="Apple SD Gothic Neo"/>
                          <a:cs typeface="Apple SD Gothic Neo"/>
                        </a:rPr>
                        <a:t>8,192</a:t>
                      </a:r>
                    </a:p>
                  </a:txBody>
                  <a:tcPr marL="114300" marR="114300" marT="76200" marB="76200" anchor="ctr">
                    <a:solidFill>
                      <a:srgbClr val="FFFFFF"/>
                    </a:solidFill>
                  </a:tcPr>
                </a:tc>
                <a:tc>
                  <a:txBody>
                    <a:bodyPr lIns="95250" tIns="95250" rIns="95250" bIns="95250"/>
                    <a:lstStyle/>
                    <a:p>
                      <a:r>
                        <a:rPr sz="1725" b="0">
                          <a:solidFill>
                            <a:srgbClr val="172738"/>
                          </a:solidFill>
                          <a:latin typeface="Apple SD Gothic Neo"/>
                          <a:ea typeface="Apple SD Gothic Neo"/>
                          <a:cs typeface="Apple SD Gothic Neo"/>
                        </a:rPr>
                        <a:t>154.680</a:t>
                      </a:r>
                    </a:p>
                  </a:txBody>
                  <a:tcPr marL="114300" marR="114300" marT="76200" marB="76200" anchor="ctr">
                    <a:solidFill>
                      <a:srgbClr val="FFFFFF"/>
                    </a:solidFill>
                  </a:tcPr>
                </a:tc>
                <a:tc>
                  <a:txBody>
                    <a:bodyPr lIns="95250" tIns="95250" rIns="95250" bIns="95250"/>
                    <a:lstStyle/>
                    <a:p>
                      <a:r>
                        <a:rPr sz="1725" b="0">
                          <a:solidFill>
                            <a:srgbClr val="172738"/>
                          </a:solidFill>
                          <a:latin typeface="Apple SD Gothic Neo"/>
                          <a:ea typeface="Apple SD Gothic Neo"/>
                          <a:cs typeface="Apple SD Gothic Neo"/>
                        </a:rPr>
                        <a:t>미측정</a:t>
                      </a:r>
                    </a:p>
                  </a:txBody>
                  <a:tcPr marL="114300" marR="114300" marT="76200" marB="76200" anchor="ctr">
                    <a:solidFill>
                      <a:srgbClr val="FFFFFF"/>
                    </a:solidFill>
                  </a:tcPr>
                </a:tc>
              </a:tr>
              <a:tr h="510268">
                <a:tc>
                  <a:txBody>
                    <a:bodyPr lIns="95250" tIns="95250" rIns="95250" bIns="95250"/>
                    <a:lstStyle/>
                    <a:p>
                      <a:r>
                        <a:rPr sz="1725" b="0">
                          <a:solidFill>
                            <a:srgbClr val="172738"/>
                          </a:solidFill>
                          <a:latin typeface="Apple SD Gothic Neo"/>
                          <a:ea typeface="Apple SD Gothic Neo"/>
                          <a:cs typeface="Apple SD Gothic Neo"/>
                        </a:rPr>
                        <a:t>16,384</a:t>
                      </a:r>
                    </a:p>
                  </a:txBody>
                  <a:tcPr marL="114300" marR="114300" marT="76200" marB="76200" anchor="ctr">
                    <a:solidFill>
                      <a:srgbClr val="F1F5F8"/>
                    </a:solidFill>
                  </a:tcPr>
                </a:tc>
                <a:tc>
                  <a:txBody>
                    <a:bodyPr lIns="95250" tIns="95250" rIns="95250" bIns="95250"/>
                    <a:lstStyle/>
                    <a:p>
                      <a:r>
                        <a:rPr sz="1725" b="0">
                          <a:solidFill>
                            <a:srgbClr val="172738"/>
                          </a:solidFill>
                          <a:latin typeface="Apple SD Gothic Neo"/>
                          <a:ea typeface="Apple SD Gothic Neo"/>
                          <a:cs typeface="Apple SD Gothic Neo"/>
                        </a:rPr>
                        <a:t>241.611</a:t>
                      </a:r>
                    </a:p>
                  </a:txBody>
                  <a:tcPr marL="114300" marR="114300" marT="76200" marB="76200" anchor="ctr">
                    <a:solidFill>
                      <a:srgbClr val="F1F5F8"/>
                    </a:solidFill>
                  </a:tcPr>
                </a:tc>
                <a:tc>
                  <a:txBody>
                    <a:bodyPr lIns="95250" tIns="95250" rIns="95250" bIns="95250"/>
                    <a:lstStyle/>
                    <a:p>
                      <a:r>
                        <a:rPr sz="1725" b="0">
                          <a:solidFill>
                            <a:srgbClr val="172738"/>
                          </a:solidFill>
                          <a:latin typeface="Apple SD Gothic Neo"/>
                          <a:ea typeface="Apple SD Gothic Neo"/>
                          <a:cs typeface="Apple SD Gothic Neo"/>
                        </a:rPr>
                        <a:t>미측정</a:t>
                      </a:r>
                    </a:p>
                  </a:txBody>
                  <a:tcPr marL="114300" marR="114300" marT="76200" marB="76200" anchor="ctr">
                    <a:solidFill>
                      <a:srgbClr val="F1F5F8"/>
                    </a:solidFill>
                  </a:tcPr>
                </a:tc>
              </a:tr>
              <a:tr h="510268">
                <a:tc>
                  <a:txBody>
                    <a:bodyPr lIns="95250" tIns="95250" rIns="95250" bIns="95250"/>
                    <a:lstStyle/>
                    <a:p>
                      <a:r>
                        <a:rPr sz="1725" b="0">
                          <a:solidFill>
                            <a:srgbClr val="172738"/>
                          </a:solidFill>
                          <a:latin typeface="Apple SD Gothic Neo"/>
                          <a:ea typeface="Apple SD Gothic Neo"/>
                          <a:cs typeface="Apple SD Gothic Neo"/>
                        </a:rPr>
                        <a:t>32,768</a:t>
                      </a:r>
                    </a:p>
                  </a:txBody>
                  <a:tcPr marL="114300" marR="114300" marT="76200" marB="76200" anchor="ctr">
                    <a:solidFill>
                      <a:srgbClr val="FFFFFF"/>
                    </a:solidFill>
                  </a:tcPr>
                </a:tc>
                <a:tc>
                  <a:txBody>
                    <a:bodyPr lIns="95250" tIns="95250" rIns="95250" bIns="95250"/>
                    <a:lstStyle/>
                    <a:p>
                      <a:r>
                        <a:rPr sz="1725" b="0">
                          <a:solidFill>
                            <a:srgbClr val="172738"/>
                          </a:solidFill>
                          <a:latin typeface="Apple SD Gothic Neo"/>
                          <a:ea typeface="Apple SD Gothic Neo"/>
                          <a:cs typeface="Apple SD Gothic Neo"/>
                        </a:rPr>
                        <a:t>255.335</a:t>
                      </a:r>
                    </a:p>
                  </a:txBody>
                  <a:tcPr marL="114300" marR="114300" marT="76200" marB="76200" anchor="ctr">
                    <a:solidFill>
                      <a:srgbClr val="FFFFFF"/>
                    </a:solidFill>
                  </a:tcPr>
                </a:tc>
                <a:tc>
                  <a:txBody>
                    <a:bodyPr lIns="95250" tIns="95250" rIns="95250" bIns="95250"/>
                    <a:lstStyle/>
                    <a:p>
                      <a:r>
                        <a:rPr sz="1725" b="0">
                          <a:solidFill>
                            <a:srgbClr val="172738"/>
                          </a:solidFill>
                          <a:latin typeface="Apple SD Gothic Neo"/>
                          <a:ea typeface="Apple SD Gothic Neo"/>
                          <a:cs typeface="Apple SD Gothic Neo"/>
                        </a:rPr>
                        <a:t>미측정</a:t>
                      </a:r>
                    </a:p>
                  </a:txBody>
                  <a:tcPr marL="114300" marR="114300" marT="76200" marB="76200" anchor="ctr">
                    <a:solidFill>
                      <a:srgbClr val="FFFFFF"/>
                    </a:solidFill>
                  </a:tcPr>
                </a:tc>
              </a:tr>
              <a:tr h="510268">
                <a:tc>
                  <a:txBody>
                    <a:bodyPr lIns="95250" tIns="95250" rIns="95250" bIns="95250"/>
                    <a:lstStyle/>
                    <a:p>
                      <a:r>
                        <a:rPr sz="1725" b="0">
                          <a:solidFill>
                            <a:srgbClr val="172738"/>
                          </a:solidFill>
                          <a:latin typeface="Apple SD Gothic Neo"/>
                          <a:ea typeface="Apple SD Gothic Neo"/>
                          <a:cs typeface="Apple SD Gothic Neo"/>
                        </a:rPr>
                        <a:t>65,536</a:t>
                      </a:r>
                    </a:p>
                  </a:txBody>
                  <a:tcPr marL="114300" marR="114300" marT="76200" marB="76200" anchor="ctr">
                    <a:solidFill>
                      <a:srgbClr val="F1F5F8"/>
                    </a:solidFill>
                  </a:tcPr>
                </a:tc>
                <a:tc>
                  <a:txBody>
                    <a:bodyPr lIns="95250" tIns="95250" rIns="95250" bIns="95250"/>
                    <a:lstStyle/>
                    <a:p>
                      <a:r>
                        <a:rPr sz="1725" b="0">
                          <a:solidFill>
                            <a:srgbClr val="172738"/>
                          </a:solidFill>
                          <a:latin typeface="Apple SD Gothic Neo"/>
                          <a:ea typeface="Apple SD Gothic Neo"/>
                          <a:cs typeface="Apple SD Gothic Neo"/>
                        </a:rPr>
                        <a:t>255.043</a:t>
                      </a:r>
                    </a:p>
                  </a:txBody>
                  <a:tcPr marL="114300" marR="114300" marT="76200" marB="76200" anchor="ctr">
                    <a:solidFill>
                      <a:srgbClr val="F1F5F8"/>
                    </a:solidFill>
                  </a:tcPr>
                </a:tc>
                <a:tc>
                  <a:txBody>
                    <a:bodyPr lIns="95250" tIns="95250" rIns="95250" bIns="95250"/>
                    <a:lstStyle/>
                    <a:p>
                      <a:r>
                        <a:rPr sz="1725" b="0">
                          <a:solidFill>
                            <a:srgbClr val="172738"/>
                          </a:solidFill>
                          <a:latin typeface="Apple SD Gothic Neo"/>
                          <a:ea typeface="Apple SD Gothic Neo"/>
                          <a:cs typeface="Apple SD Gothic Neo"/>
                        </a:rPr>
                        <a:t>255.350</a:t>
                      </a:r>
                    </a:p>
                  </a:txBody>
                  <a:tcPr marL="114300" marR="114300" marT="76200" marB="76200" anchor="ctr">
                    <a:solidFill>
                      <a:srgbClr val="F1F5F8"/>
                    </a:solidFill>
                  </a:tcPr>
                </a:tc>
              </a:tr>
            </a:tbl>
          </a:graphicData>
        </a:graphic>
      </p:graphicFrame>
      <p:sp>
        <p:nvSpPr>
          <p:cNvPr id="6" name="b-note">
            <a:extLst xmlns:a="http://schemas.openxmlformats.org/drawingml/2006/main">
              <a:ext uri="{FF2B5EF4-FFF2-40B4-BE49-F238E27FC236}">
                <a16:creationId xmlns:a16="http://schemas.microsoft.com/office/drawing/2014/main" id="{E5F9BE14-BB6B-42C8-9299-C910751AA089}"/>
              </a:ext>
            </a:extLst>
          </p:cNvPr>
          <p:cNvSpPr>
            <a:spLocks xmlns:a="http://schemas.openxmlformats.org/drawingml/2006/main" noGrp="1"/>
          </p:cNvSpPr>
          <p:nvPr/>
        </p:nvSpPr>
        <p:spPr>
          <a:xfrm xmlns:a="http://schemas.openxmlformats.org/drawingml/2006/main">
            <a:off x="7915275" y="1905000"/>
            <a:ext cx="370522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26DCA"/>
                </a:solidFill>
                <a:latin typeface="Apple SD Gothic Neo"/>
                <a:ea typeface="Apple SD Gothic Neo"/>
                <a:cs typeface="Apple SD Gothic Neo"/>
              </a:defRPr>
            </a:defPPr>
          </a:lstStyle>
          <a:p xmlns:a="http://schemas.openxmlformats.org/drawingml/2006/main">
            <a:pPr>
              <a:defRPr sz="2175" b="1">
                <a:solidFill>
                  <a:srgbClr val="126DCA"/>
                </a:solidFill>
                <a:latin typeface="Apple SD Gothic Neo"/>
                <a:ea typeface="Apple SD Gothic Neo"/>
                <a:cs typeface="Apple SD Gothic Neo"/>
              </a:defRPr>
            </a:pPr>
            <a:r>
              <a:rPr sz="2175" b="1">
                <a:solidFill>
                  <a:srgbClr val="126DCA"/>
                </a:solidFill>
                <a:latin typeface="Apple SD Gothic Neo"/>
                <a:ea typeface="Apple SD Gothic Neo"/>
                <a:cs typeface="Apple SD Gothic Neo"/>
              </a:rPr>
              <a:t>요청 개수와 데이터량을</a:t>
            </a:r>
          </a:p>
          <a:p xmlns:a="http://schemas.openxmlformats.org/drawingml/2006/main">
            <a:pPr>
              <a:defRPr sz="2175" b="1">
                <a:solidFill>
                  <a:srgbClr val="126DCA"/>
                </a:solidFill>
                <a:latin typeface="Apple SD Gothic Neo"/>
                <a:ea typeface="Apple SD Gothic Neo"/>
                <a:cs typeface="Apple SD Gothic Neo"/>
              </a:defRPr>
            </a:pPr>
            <a:r>
              <a:rPr sz="2175" b="1">
                <a:solidFill>
                  <a:srgbClr val="126DCA"/>
                </a:solidFill>
                <a:latin typeface="Apple SD Gothic Neo"/>
                <a:ea typeface="Apple SD Gothic Neo"/>
                <a:cs typeface="Apple SD Gothic Neo"/>
              </a:rPr>
              <a:t>함께 봐야 합니다.</a:t>
            </a:r>
          </a:p>
        </p:txBody>
      </p:sp>
      <p:sp>
        <p:nvSpPr>
          <p:cNvPr id="7" name="b-payload">
            <a:extLst xmlns:a="http://schemas.openxmlformats.org/drawingml/2006/main">
              <a:ext uri="{FF2B5EF4-FFF2-40B4-BE49-F238E27FC236}">
                <a16:creationId xmlns:a16="http://schemas.microsoft.com/office/drawing/2014/main" id="{63FD9D05-7C2C-4E12-86F7-4F5D65A7D3B1}"/>
              </a:ext>
            </a:extLst>
          </p:cNvPr>
          <p:cNvSpPr>
            <a:spLocks xmlns:a="http://schemas.openxmlformats.org/drawingml/2006/main" noGrp="1"/>
          </p:cNvSpPr>
          <p:nvPr/>
        </p:nvSpPr>
        <p:spPr>
          <a:xfrm xmlns:a="http://schemas.openxmlformats.org/drawingml/2006/main">
            <a:off x="7915275" y="2952750"/>
            <a:ext cx="3705225" cy="2333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172738"/>
                </a:solidFill>
                <a:latin typeface="Apple SD Gothic Neo"/>
                <a:ea typeface="Apple SD Gothic Neo"/>
                <a:cs typeface="Apple SD Gothic Neo"/>
              </a:defRPr>
            </a:defPPr>
          </a:lstStyle>
          <a:p xmlns:a="http://schemas.openxmlformats.org/drawingml/2006/main">
            <a:pPr>
              <a:defRPr sz="1800" b="0">
                <a:solidFill>
                  <a:srgbClr val="172738"/>
                </a:solidFill>
                <a:latin typeface="Apple SD Gothic Neo"/>
                <a:ea typeface="Apple SD Gothic Neo"/>
                <a:cs typeface="Apple SD Gothic Neo"/>
              </a:defRPr>
            </a:pPr>
            <a:r>
              <a:rPr sz="1800" b="0">
                <a:solidFill>
                  <a:srgbClr val="172738"/>
                </a:solidFill>
                <a:latin typeface="Apple SD Gothic Neo"/>
                <a:ea typeface="Apple SD Gothic Neo"/>
                <a:cs typeface="Apple SD Gothic Neo"/>
              </a:rPr>
              <a:t>QD512 × 64B = 32KiB</a:t>
            </a:r>
          </a:p>
          <a:p xmlns:a="http://schemas.openxmlformats.org/drawingml/2006/main">
            <a:pPr>
              <a:defRPr sz="1800" b="0">
                <a:solidFill>
                  <a:srgbClr val="172738"/>
                </a:solidFill>
                <a:latin typeface="Apple SD Gothic Neo"/>
                <a:ea typeface="Apple SD Gothic Neo"/>
                <a:cs typeface="Apple SD Gothic Neo"/>
              </a:defRPr>
            </a:pPr>
            <a:r>
              <a:rPr sz="1800" b="0">
                <a:solidFill>
                  <a:srgbClr val="172738"/>
                </a:solidFill>
                <a:latin typeface="Apple SD Gothic Neo"/>
                <a:ea typeface="Apple SD Gothic Neo"/>
                <a:cs typeface="Apple SD Gothic Neo"/>
              </a:rPr>
              <a:t>QD32,768 × 64B = 2MiB</a:t>
            </a:r>
          </a:p>
          <a:p xmlns:a="http://schemas.openxmlformats.org/drawingml/2006/main">
            <a:r>
              <a:t/>
            </a:r>
          </a:p>
          <a:p xmlns:a="http://schemas.openxmlformats.org/drawingml/2006/main">
            <a:pPr>
              <a:defRPr sz="1800" b="0">
                <a:solidFill>
                  <a:srgbClr val="172738"/>
                </a:solidFill>
                <a:latin typeface="Apple SD Gothic Neo"/>
                <a:ea typeface="Apple SD Gothic Neo"/>
                <a:cs typeface="Apple SD Gothic Neo"/>
              </a:defRPr>
            </a:pPr>
            <a:r>
              <a:rPr sz="1800" b="0">
                <a:solidFill>
                  <a:srgbClr val="172738"/>
                </a:solidFill>
                <a:latin typeface="Apple SD Gothic Neo"/>
                <a:ea typeface="Apple SD Gothic Neo"/>
                <a:cs typeface="Apple SD Gothic Neo"/>
              </a:rPr>
              <a:t>A의 QD512도 2MiB입니다.</a:t>
            </a:r>
          </a:p>
          <a:p xmlns:a="http://schemas.openxmlformats.org/drawingml/2006/main">
            <a:r>
              <a:t/>
            </a:r>
          </a:p>
          <a:p xmlns:a="http://schemas.openxmlformats.org/drawingml/2006/main">
            <a:pPr>
              <a:defRPr sz="1800" b="0">
                <a:solidFill>
                  <a:srgbClr val="172738"/>
                </a:solidFill>
                <a:latin typeface="Apple SD Gothic Neo"/>
                <a:ea typeface="Apple SD Gothic Neo"/>
                <a:cs typeface="Apple SD Gothic Neo"/>
              </a:defRPr>
            </a:pPr>
            <a:r>
              <a:rPr sz="1800" b="0">
                <a:solidFill>
                  <a:srgbClr val="172738"/>
                </a:solidFill>
                <a:latin typeface="Apple SD Gothic Neo"/>
                <a:ea typeface="Apple SD Gothic Neo"/>
                <a:cs typeface="Apple SD Gothic Neo"/>
              </a:rPr>
              <a:t>QD65,536도 255.04GB/s</a:t>
            </a:r>
          </a:p>
          <a:p xmlns:a="http://schemas.openxmlformats.org/drawingml/2006/main">
            <a:pPr>
              <a:defRPr sz="1800" b="0">
                <a:solidFill>
                  <a:srgbClr val="172738"/>
                </a:solidFill>
                <a:latin typeface="Apple SD Gothic Neo"/>
                <a:ea typeface="Apple SD Gothic Neo"/>
                <a:cs typeface="Apple SD Gothic Neo"/>
              </a:defRPr>
            </a:pPr>
            <a:r>
              <a:rPr sz="1800" b="0">
                <a:solidFill>
                  <a:srgbClr val="172738"/>
                </a:solidFill>
                <a:latin typeface="Apple SD Gothic Neo"/>
                <a:ea typeface="Apple SD Gothic Neo"/>
                <a:cs typeface="Apple SD Gothic Neo"/>
              </a:rPr>
              <a:t>큰 QD의 낙폭은 보편적이지 않습니다.</a:t>
            </a:r>
          </a:p>
        </p:txBody>
      </p:sp>
      <p:sp>
        <p:nvSpPr>
          <p:cNvPr id="8" name="b-scope">
            <a:extLst xmlns:a="http://schemas.openxmlformats.org/drawingml/2006/main">
              <a:ext uri="{FF2B5EF4-FFF2-40B4-BE49-F238E27FC236}">
                <a16:creationId xmlns:a16="http://schemas.microsoft.com/office/drawing/2014/main" id="{EF152312-DB2B-4E32-AC31-310918F232A9}"/>
              </a:ext>
            </a:extLst>
          </p:cNvPr>
          <p:cNvSpPr>
            <a:spLocks xmlns:a="http://schemas.openxmlformats.org/drawingml/2006/main" noGrp="1"/>
          </p:cNvSpPr>
          <p:nvPr/>
        </p:nvSpPr>
        <p:spPr>
          <a:xfrm xmlns:a="http://schemas.openxmlformats.org/drawingml/2006/main">
            <a:off x="571500" y="5648325"/>
            <a:ext cx="110490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86875"/>
                </a:solidFill>
                <a:latin typeface="Apple SD Gothic Neo"/>
                <a:ea typeface="Apple SD Gothic Neo"/>
                <a:cs typeface="Apple SD Gothic Neo"/>
              </a:defRPr>
            </a:defPPr>
          </a:lstStyle>
          <a:p xmlns:a="http://schemas.openxmlformats.org/drawingml/2006/main">
            <a:pPr>
              <a:defRPr sz="1650" b="0">
                <a:solidFill>
                  <a:srgbClr val="586875"/>
                </a:solidFill>
                <a:latin typeface="Apple SD Gothic Neo"/>
                <a:ea typeface="Apple SD Gothic Neo"/>
                <a:cs typeface="Apple SD Gothic Neo"/>
              </a:defRPr>
            </a:pPr>
            <a:r>
              <a:rPr sz="1650" b="0">
                <a:solidFill>
                  <a:srgbClr val="586875"/>
                </a:solidFill>
                <a:latin typeface="Apple SD Gothic Neo"/>
                <a:ea typeface="Apple SD Gothic Neo"/>
                <a:cs typeface="Apple SD Gothic Neo"/>
              </a:rPr>
              <a:t>QD512~32,768은 기존 우회32 결과이며, QD32,768의 FIFO 동일성을 재검증했습니다.</a:t>
            </a:r>
          </a:p>
        </p:txBody>
      </p:sp>
      <p:sp>
        <p:nvSpPr>
          <p:cNvPr id="9" name="metadata">
            <a:extLst xmlns:a="http://schemas.openxmlformats.org/drawingml/2006/main">
              <a:ext uri="{FF2B5EF4-FFF2-40B4-BE49-F238E27FC236}">
                <a16:creationId xmlns:a16="http://schemas.microsoft.com/office/drawing/2014/main" id="{68E2CA56-F56A-4A55-B001-9C448DAF9E00}"/>
              </a:ext>
            </a:extLst>
          </p:cNvPr>
          <p:cNvSpPr>
            <a:spLocks xmlns:a="http://schemas.openxmlformats.org/drawingml/2006/main" noGrp="1"/>
          </p:cNvSpPr>
          <p:nvPr/>
        </p:nvSpPr>
        <p:spPr>
          <a:xfrm xmlns:a="http://schemas.openxmlformats.org/drawingml/2006/main">
            <a:off x="571500" y="6038850"/>
            <a:ext cx="1104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586875"/>
                </a:solidFill>
                <a:latin typeface="Apple SD Gothic Neo"/>
                <a:ea typeface="Apple SD Gothic Neo"/>
                <a:cs typeface="Apple SD Gothic Neo"/>
              </a:defRPr>
            </a:defPPr>
          </a:lstStyle>
          <a:p xmlns:a="http://schemas.openxmlformats.org/drawingml/2006/main">
            <a:pPr>
              <a:defRPr sz="1575" b="0">
                <a:solidFill>
                  <a:srgbClr val="586875"/>
                </a:solidFill>
                <a:latin typeface="Apple SD Gothic Neo"/>
                <a:ea typeface="Apple SD Gothic Neo"/>
                <a:cs typeface="Apple SD Gothic Neo"/>
              </a:defRPr>
            </a:pPr>
            <a:r>
              <a:rPr sz="1575" b="0">
                <a:solidFill>
                  <a:srgbClr val="586875"/>
                </a:solidFill>
                <a:latin typeface="Apple SD Gothic Neo"/>
                <a:ea typeface="Apple SD Gothic Neo"/>
                <a:cs typeface="Apple SD Gothic Neo"/>
              </a:rPr>
              <a:t>QD는 미완료 요청 수입니다. 요청 상태 메타데이터 비용은 8MiB 데이터 버퍼에 포함하지 않습니다.</a:t>
            </a:r>
          </a:p>
        </p:txBody>
      </p:sp>
    </p:spTree>
    <p:extLst>
      <p:ext uri="{BB962C8B-B14F-4D97-AF65-F5344CB8AC3E}">
        <p14:creationId xmlns:p14="http://schemas.microsoft.com/office/powerpoint/2010/main" val="241881237"/>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447E8906-9E07-4BDD-83B4-6E5B1A2DD721}"/>
              </a:ext>
            </a:extLst>
          </p:cNvPr>
          <p:cNvSpPr>
            <a:spLocks xmlns:a="http://schemas.openxmlformats.org/drawingml/2006/main" noGrp="1"/>
          </p:cNvSpPr>
          <p:nvPr/>
        </p:nvSpPr>
        <p:spPr>
          <a:xfrm xmlns:a="http://schemas.openxmlformats.org/drawingml/2006/main">
            <a:off x="533400" y="438150"/>
            <a:ext cx="11125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2738"/>
                </a:solidFill>
                <a:latin typeface="Apple SD Gothic Neo"/>
                <a:ea typeface="Apple SD Gothic Neo"/>
                <a:cs typeface="Apple SD Gothic Neo"/>
              </a:defRPr>
            </a:defPPr>
          </a:lstStyle>
          <a:p xmlns:a="http://schemas.openxmlformats.org/drawingml/2006/main">
            <a:pPr>
              <a:defRPr sz="3300" b="1">
                <a:solidFill>
                  <a:srgbClr val="172738"/>
                </a:solidFill>
                <a:latin typeface="Apple SD Gothic Neo"/>
                <a:ea typeface="Apple SD Gothic Neo"/>
                <a:cs typeface="Apple SD Gothic Neo"/>
              </a:defRPr>
            </a:pPr>
            <a:r>
              <a:rPr sz="3300" b="1">
                <a:solidFill>
                  <a:srgbClr val="172738"/>
                </a:solidFill>
                <a:latin typeface="Apple SD Gothic Neo"/>
                <a:ea typeface="Apple SD Gothic Neo"/>
                <a:cs typeface="Apple SD Gothic Neo"/>
              </a:rPr>
              <a:t>설계 판단과 현재의 기준점</a:t>
            </a:r>
          </a:p>
        </p:txBody>
      </p:sp>
      <p:sp>
        <p:nvSpPr>
          <p:cNvPr id="2" name="subtitle">
            <a:extLst xmlns:a="http://schemas.openxmlformats.org/drawingml/2006/main">
              <a:ext uri="{FF2B5EF4-FFF2-40B4-BE49-F238E27FC236}">
                <a16:creationId xmlns:a16="http://schemas.microsoft.com/office/drawing/2014/main" id="{83629151-CF5E-4169-AB37-8B5A3486D574}"/>
              </a:ext>
            </a:extLst>
          </p:cNvPr>
          <p:cNvSpPr>
            <a:spLocks xmlns:a="http://schemas.openxmlformats.org/drawingml/2006/main" noGrp="1"/>
          </p:cNvSpPr>
          <p:nvPr/>
        </p:nvSpPr>
        <p:spPr>
          <a:xfrm xmlns:a="http://schemas.openxmlformats.org/drawingml/2006/main">
            <a:off x="552450" y="1104900"/>
            <a:ext cx="110871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586875"/>
                </a:solidFill>
                <a:latin typeface="Apple SD Gothic Neo"/>
                <a:ea typeface="Apple SD Gothic Neo"/>
                <a:cs typeface="Apple SD Gothic Neo"/>
              </a:defRPr>
            </a:defPPr>
          </a:lstStyle>
          <a:p xmlns:a="http://schemas.openxmlformats.org/drawingml/2006/main">
            <a:pPr>
              <a:defRPr sz="1800" b="0">
                <a:solidFill>
                  <a:srgbClr val="586875"/>
                </a:solidFill>
                <a:latin typeface="Apple SD Gothic Neo"/>
                <a:ea typeface="Apple SD Gothic Neo"/>
                <a:cs typeface="Apple SD Gothic Neo"/>
              </a:defRPr>
            </a:pPr>
            <a:r>
              <a:rPr sz="1800" b="0">
                <a:solidFill>
                  <a:srgbClr val="586875"/>
                </a:solidFill>
                <a:latin typeface="Apple SD Gothic Neo"/>
                <a:ea typeface="Apple SD Gothic Neo"/>
                <a:cs typeface="Apple SD Gothic Neo"/>
              </a:rPr>
              <a:t>현재 결과는 Data placement 우선, 충분한 요청 공급과 버퍼 편중 방지를 지지합니다.</a:t>
            </a:r>
          </a:p>
        </p:txBody>
      </p:sp>
      <p:sp>
        <p:nvSpPr>
          <p:cNvPr id="3" name="footer">
            <a:extLst xmlns:a="http://schemas.openxmlformats.org/drawingml/2006/main">
              <a:ext uri="{FF2B5EF4-FFF2-40B4-BE49-F238E27FC236}">
                <a16:creationId xmlns:a16="http://schemas.microsoft.com/office/drawing/2014/main" id="{5FCEE081-93BA-4D2B-9383-656176A66595}"/>
              </a:ext>
            </a:extLst>
          </p:cNvPr>
          <p:cNvSpPr>
            <a:spLocks xmlns:a="http://schemas.openxmlformats.org/drawingml/2006/main" noGrp="1"/>
          </p:cNvSpPr>
          <p:nvPr/>
        </p:nvSpPr>
        <p:spPr>
          <a:xfrm xmlns:a="http://schemas.openxmlformats.org/drawingml/2006/main">
            <a:off x="533400" y="6419850"/>
            <a:ext cx="10477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86875"/>
                </a:solidFill>
                <a:latin typeface="Apple SD Gothic Neo"/>
                <a:ea typeface="Apple SD Gothic Neo"/>
                <a:cs typeface="Apple SD Gothic Neo"/>
              </a:defRPr>
            </a:defPPr>
          </a:lstStyle>
          <a:p xmlns:a="http://schemas.openxmlformats.org/drawingml/2006/main">
            <a:pPr>
              <a:defRPr sz="1200" b="0">
                <a:solidFill>
                  <a:srgbClr val="586875"/>
                </a:solidFill>
                <a:latin typeface="Apple SD Gothic Neo"/>
                <a:ea typeface="Apple SD Gothic Neo"/>
                <a:cs typeface="Apple SD Gothic Neo"/>
              </a:defRPr>
            </a:pPr>
            <a:r>
              <a:rPr sz="1200" b="0">
                <a:solidFill>
                  <a:srgbClr val="586875"/>
                </a:solidFill>
                <a:latin typeface="Apple SD Gothic Neo"/>
                <a:ea typeface="Apple SD Gothic Neo"/>
                <a:cs typeface="Apple SD Gothic Neo"/>
              </a:rPr>
              <a:t>현재 모델의 정적 배치와 지속 읽기 결과. 모든 워크로드의 전역 최적값은 아님</a:t>
            </a:r>
          </a:p>
        </p:txBody>
      </p:sp>
      <p:sp>
        <p:nvSpPr>
          <p:cNvPr id="4" name="page">
            <a:extLst xmlns:a="http://schemas.openxmlformats.org/drawingml/2006/main">
              <a:ext uri="{FF2B5EF4-FFF2-40B4-BE49-F238E27FC236}">
                <a16:creationId xmlns:a16="http://schemas.microsoft.com/office/drawing/2014/main" id="{1DCDB406-6C30-4EFF-ACA3-E31B16AB16C0}"/>
              </a:ext>
            </a:extLst>
          </p:cNvPr>
          <p:cNvSpPr>
            <a:spLocks xmlns:a="http://schemas.openxmlformats.org/drawingml/2006/main" noGrp="1"/>
          </p:cNvSpPr>
          <p:nvPr/>
        </p:nvSpPr>
        <p:spPr>
          <a:xfrm xmlns:a="http://schemas.openxmlformats.org/drawingml/2006/main">
            <a:off x="11144250" y="6419850"/>
            <a:ext cx="4953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86875"/>
                </a:solidFill>
                <a:latin typeface="Apple SD Gothic Neo"/>
                <a:ea typeface="Apple SD Gothic Neo"/>
                <a:cs typeface="Apple SD Gothic Neo"/>
              </a:defRPr>
            </a:defPPr>
          </a:lstStyle>
          <a:p xmlns:a="http://schemas.openxmlformats.org/drawingml/2006/main">
            <a:pPr>
              <a:defRPr sz="1200" b="0">
                <a:solidFill>
                  <a:srgbClr val="586875"/>
                </a:solidFill>
                <a:latin typeface="Apple SD Gothic Neo"/>
                <a:ea typeface="Apple SD Gothic Neo"/>
                <a:cs typeface="Apple SD Gothic Neo"/>
              </a:defRPr>
            </a:pPr>
            <a:r>
              <a:rPr sz="1200" b="0">
                <a:solidFill>
                  <a:srgbClr val="586875"/>
                </a:solidFill>
                <a:latin typeface="Apple SD Gothic Neo"/>
                <a:ea typeface="Apple SD Gothic Neo"/>
                <a:cs typeface="Apple SD Gothic Neo"/>
              </a:rPr>
              <a:t>17</a:t>
            </a:r>
          </a:p>
        </p:txBody>
      </p:sp>
      <p:graphicFrame>
        <p:nvGraphicFramePr>
          <p:cNvPr id="5" name="recommendations">
            <a:extLst xmlns:a="http://schemas.openxmlformats.org/drawingml/2006/main">
              <a:ext uri="{FF2B5EF4-FFF2-40B4-BE49-F238E27FC236}">
                <a16:creationId xmlns:a16="http://schemas.microsoft.com/office/drawing/2014/main" id="{40D20D2C-D25F-4E7C-82EF-C6CC03BB3CDE}"/>
              </a:ext>
            </a:extLst>
          </p:cNvPr>
          <p:cNvGraphicFramePr/>
          <p:nvPr/>
        </p:nvGraphicFramePr>
        <p:xfrm>
          <a:off xmlns:a="http://schemas.openxmlformats.org/drawingml/2006/main" x="533400" y="1847850"/>
          <a:ext xmlns:a="http://schemas.openxmlformats.org/drawingml/2006/main" cx="11125200" cy="3486150"/>
        </p:xfrm>
        <a:graphic xmlns:a="http://schemas.openxmlformats.org/drawingml/2006/main">
          <a:graphicData uri="http://schemas.openxmlformats.org/drawingml/2006/table">
            <a:tbl>
              <a:tblPr/>
              <a:tblGrid>
                <a:gridCol w="2762250"/>
                <a:gridCol w="8362950"/>
              </a:tblGrid>
              <a:tr h="581025">
                <a:tc>
                  <a:txBody>
                    <a:bodyPr lIns="95250" tIns="95250" rIns="95250" bIns="95250"/>
                    <a:lstStyle/>
                    <a:p>
                      <a:r>
                        <a:rPr sz="1800" b="1">
                          <a:solidFill>
                            <a:srgbClr val="FFFFFF"/>
                          </a:solidFill>
                          <a:latin typeface="Apple SD Gothic Neo"/>
                          <a:ea typeface="Apple SD Gothic Neo"/>
                          <a:cs typeface="Apple SD Gothic Neo"/>
                        </a:rPr>
                        <a:t>설계 항목</a:t>
                      </a:r>
                    </a:p>
                  </a:txBody>
                  <a:tcPr marL="114300" marR="114300" marT="76200" marB="76200" anchor="ctr">
                    <a:solidFill>
                      <a:srgbClr val="122C40"/>
                    </a:solidFill>
                  </a:tcPr>
                </a:tc>
                <a:tc>
                  <a:txBody>
                    <a:bodyPr lIns="95250" tIns="95250" rIns="95250" bIns="95250"/>
                    <a:lstStyle/>
                    <a:p>
                      <a:r>
                        <a:rPr sz="1800" b="1">
                          <a:solidFill>
                            <a:srgbClr val="FFFFFF"/>
                          </a:solidFill>
                          <a:latin typeface="Apple SD Gothic Neo"/>
                          <a:ea typeface="Apple SD Gothic Neo"/>
                          <a:cs typeface="Apple SD Gothic Neo"/>
                        </a:rPr>
                        <a:t>현재 근거에 따른 판단</a:t>
                      </a:r>
                    </a:p>
                  </a:txBody>
                  <a:tcPr marL="114300" marR="114300" marT="76200" marB="76200" anchor="ctr">
                    <a:solidFill>
                      <a:srgbClr val="122C40"/>
                    </a:solidFill>
                  </a:tcPr>
                </a:tc>
              </a:tr>
              <a:tr h="581025">
                <a:tc>
                  <a:txBody>
                    <a:bodyPr lIns="95250" tIns="95250" rIns="95250" bIns="95250"/>
                    <a:lstStyle/>
                    <a:p>
                      <a:r>
                        <a:rPr sz="1800" b="0">
                          <a:solidFill>
                            <a:srgbClr val="172738"/>
                          </a:solidFill>
                          <a:latin typeface="Apple SD Gothic Neo"/>
                          <a:ea typeface="Apple SD Gothic Neo"/>
                          <a:cs typeface="Apple SD Gothic Neo"/>
                        </a:rPr>
                        <a:t>Data placement</a:t>
                      </a:r>
                    </a:p>
                  </a:txBody>
                  <a:tcPr marL="114300" marR="114300" marT="76200" marB="76200" anchor="ctr">
                    <a:solidFill>
                      <a:srgbClr val="FFFFFF"/>
                    </a:solidFill>
                  </a:tcPr>
                </a:tc>
                <a:tc>
                  <a:txBody>
                    <a:bodyPr lIns="95250" tIns="95250" rIns="95250" bIns="95250"/>
                    <a:lstStyle/>
                    <a:p>
                      <a:r>
                        <a:rPr sz="1800" b="0">
                          <a:solidFill>
                            <a:srgbClr val="172738"/>
                          </a:solidFill>
                          <a:latin typeface="Apple SD Gothic Neo"/>
                          <a:ea typeface="Apple SD Gothic Neo"/>
                          <a:cs typeface="Apple SD Gothic Neo"/>
                        </a:rPr>
                        <a:t>각 영역이 4채널을 사용하고 Plane 내부 연속성을 유지하도록 배치</a:t>
                      </a:r>
                    </a:p>
                  </a:txBody>
                  <a:tcPr marL="114300" marR="114300" marT="76200" marB="76200" anchor="ctr">
                    <a:solidFill>
                      <a:srgbClr val="FFFFFF"/>
                    </a:solidFill>
                  </a:tcPr>
                </a:tc>
              </a:tr>
              <a:tr h="581025">
                <a:tc>
                  <a:txBody>
                    <a:bodyPr lIns="95250" tIns="95250" rIns="95250" bIns="95250"/>
                    <a:lstStyle/>
                    <a:p>
                      <a:r>
                        <a:rPr sz="1800" b="0">
                          <a:solidFill>
                            <a:srgbClr val="172738"/>
                          </a:solidFill>
                          <a:latin typeface="Apple SD Gothic Neo"/>
                          <a:ea typeface="Apple SD Gothic Neo"/>
                          <a:cs typeface="Apple SD Gothic Neo"/>
                        </a:rPr>
                        <a:t>CA 스케줄러</a:t>
                      </a:r>
                    </a:p>
                  </a:txBody>
                  <a:tcPr marL="114300" marR="114300" marT="76200" marB="76200" anchor="ctr">
                    <a:solidFill>
                      <a:srgbClr val="F1F5F8"/>
                    </a:solidFill>
                  </a:tcPr>
                </a:tc>
                <a:tc>
                  <a:txBody>
                    <a:bodyPr lIns="95250" tIns="95250" rIns="95250" bIns="95250"/>
                    <a:lstStyle/>
                    <a:p>
                      <a:r>
                        <a:rPr sz="1800" b="0">
                          <a:solidFill>
                            <a:srgbClr val="172738"/>
                          </a:solidFill>
                          <a:latin typeface="Apple SD Gothic Neo"/>
                          <a:ea typeface="Apple SD Gothic Neo"/>
                          <a:cs typeface="Apple SD Gothic Neo"/>
                        </a:rPr>
                        <a:t>현재 최고 성능은 FIFO로 유지. 우회32를 필수 조건에서 제외</a:t>
                      </a:r>
                    </a:p>
                  </a:txBody>
                  <a:tcPr marL="114300" marR="114300" marT="76200" marB="76200" anchor="ctr">
                    <a:solidFill>
                      <a:srgbClr val="F1F5F8"/>
                    </a:solidFill>
                  </a:tcPr>
                </a:tc>
              </a:tr>
              <a:tr h="581025">
                <a:tc>
                  <a:txBody>
                    <a:bodyPr lIns="95250" tIns="95250" rIns="95250" bIns="95250"/>
                    <a:lstStyle/>
                    <a:p>
                      <a:r>
                        <a:rPr sz="1800" b="0">
                          <a:solidFill>
                            <a:srgbClr val="172738"/>
                          </a:solidFill>
                          <a:latin typeface="Apple SD Gothic Neo"/>
                          <a:ea typeface="Apple SD Gothic Neo"/>
                          <a:cs typeface="Apple SD Gothic Neo"/>
                        </a:rPr>
                        <a:t>고정 수락 정책의 QD</a:t>
                      </a:r>
                    </a:p>
                  </a:txBody>
                  <a:tcPr marL="114300" marR="114300" marT="76200" marB="76200" anchor="ctr">
                    <a:solidFill>
                      <a:srgbClr val="FFFFFF"/>
                    </a:solidFill>
                  </a:tcPr>
                </a:tc>
                <a:tc>
                  <a:txBody>
                    <a:bodyPr lIns="95250" tIns="95250" rIns="95250" bIns="95250"/>
                    <a:lstStyle/>
                    <a:p>
                      <a:r>
                        <a:rPr sz="1800" b="0">
                          <a:solidFill>
                            <a:srgbClr val="172738"/>
                          </a:solidFill>
                          <a:latin typeface="Apple SD Gothic Neo"/>
                          <a:ea typeface="Apple SD Gothic Neo"/>
                          <a:cs typeface="Apple SD Gothic Neo"/>
                        </a:rPr>
                        <a:t>8MiB 기준 A는 512/Port, B는 32,768/Port에서 약255GB/s</a:t>
                      </a:r>
                    </a:p>
                  </a:txBody>
                  <a:tcPr marL="114300" marR="114300" marT="76200" marB="76200" anchor="ctr">
                    <a:solidFill>
                      <a:srgbClr val="FFFFFF"/>
                    </a:solidFill>
                  </a:tcPr>
                </a:tc>
              </a:tr>
              <a:tr h="581025">
                <a:tc>
                  <a:txBody>
                    <a:bodyPr lIns="95250" tIns="95250" rIns="95250" bIns="95250"/>
                    <a:lstStyle/>
                    <a:p>
                      <a:r>
                        <a:rPr sz="1800" b="0">
                          <a:solidFill>
                            <a:srgbClr val="172738"/>
                          </a:solidFill>
                          <a:latin typeface="Apple SD Gothic Neo"/>
                          <a:ea typeface="Apple SD Gothic Neo"/>
                          <a:cs typeface="Apple SD Gothic Neo"/>
                        </a:rPr>
                        <a:t>수락 공정성</a:t>
                      </a:r>
                    </a:p>
                  </a:txBody>
                  <a:tcPr marL="114300" marR="114300" marT="76200" marB="76200" anchor="ctr">
                    <a:solidFill>
                      <a:srgbClr val="F1F5F8"/>
                    </a:solidFill>
                  </a:tcPr>
                </a:tc>
                <a:tc>
                  <a:txBody>
                    <a:bodyPr lIns="95250" tIns="95250" rIns="95250" bIns="95250"/>
                    <a:lstStyle/>
                    <a:p>
                      <a:r>
                        <a:rPr sz="1800" b="0">
                          <a:solidFill>
                            <a:srgbClr val="172738"/>
                          </a:solidFill>
                          <a:latin typeface="Apple SD Gothic Neo"/>
                          <a:ea typeface="Apple SD Gothic Neo"/>
                          <a:cs typeface="Apple SD Gothic Neo"/>
                        </a:rPr>
                        <a:t>큰 QD 자체보다 버퍼 예약 편중이 문제. 순환 수락 대조에서 회복</a:t>
                      </a:r>
                    </a:p>
                  </a:txBody>
                  <a:tcPr marL="114300" marR="114300" marT="76200" marB="76200" anchor="ctr">
                    <a:solidFill>
                      <a:srgbClr val="F1F5F8"/>
                    </a:solidFill>
                  </a:tcPr>
                </a:tc>
              </a:tr>
              <a:tr h="581025">
                <a:tc>
                  <a:txBody>
                    <a:bodyPr lIns="95250" tIns="95250" rIns="95250" bIns="95250"/>
                    <a:lstStyle/>
                    <a:p>
                      <a:r>
                        <a:rPr sz="1800" b="0">
                          <a:solidFill>
                            <a:srgbClr val="172738"/>
                          </a:solidFill>
                          <a:latin typeface="Apple SD Gothic Neo"/>
                          <a:ea typeface="Apple SD Gothic Neo"/>
                          <a:cs typeface="Apple SD Gothic Neo"/>
                        </a:rPr>
                        <a:t>최적화 목표</a:t>
                      </a:r>
                    </a:p>
                  </a:txBody>
                  <a:tcPr marL="114300" marR="114300" marT="76200" marB="76200" anchor="ctr">
                    <a:solidFill>
                      <a:srgbClr val="FFFFFF"/>
                    </a:solidFill>
                  </a:tcPr>
                </a:tc>
                <a:tc>
                  <a:txBody>
                    <a:bodyPr lIns="95250" tIns="95250" rIns="95250" bIns="95250"/>
                    <a:lstStyle/>
                    <a:p>
                      <a:r>
                        <a:rPr sz="1800" b="0">
                          <a:solidFill>
                            <a:srgbClr val="172738"/>
                          </a:solidFill>
                          <a:latin typeface="Apple SD Gothic Neo"/>
                          <a:ea typeface="Apple SD Gothic Neo"/>
                          <a:cs typeface="Apple SD Gothic Neo"/>
                        </a:rPr>
                        <a:t>요청 수를 계속 늘리기보다 각 Port의 공급 부족과 편중을 함께 확인</a:t>
                      </a:r>
                    </a:p>
                  </a:txBody>
                  <a:tcPr marL="114300" marR="114300" marT="76200" marB="76200" anchor="ctr">
                    <a:solidFill>
                      <a:srgbClr val="FFFFFF"/>
                    </a:solidFill>
                  </a:tcPr>
                </a:tc>
              </a:tr>
            </a:tbl>
          </a:graphicData>
        </a:graphic>
      </p:graphicFrame>
      <p:sp>
        <p:nvSpPr>
          <p:cNvPr id="6" name="next-design">
            <a:extLst xmlns:a="http://schemas.openxmlformats.org/drawingml/2006/main">
              <a:ext uri="{FF2B5EF4-FFF2-40B4-BE49-F238E27FC236}">
                <a16:creationId xmlns:a16="http://schemas.microsoft.com/office/drawing/2014/main" id="{C6B5DC6A-A35C-4D16-A252-151CCFD086AF}"/>
              </a:ext>
            </a:extLst>
          </p:cNvPr>
          <p:cNvSpPr>
            <a:spLocks xmlns:a="http://schemas.openxmlformats.org/drawingml/2006/main" noGrp="1"/>
          </p:cNvSpPr>
          <p:nvPr/>
        </p:nvSpPr>
        <p:spPr>
          <a:xfrm xmlns:a="http://schemas.openxmlformats.org/drawingml/2006/main">
            <a:off x="571500" y="5657850"/>
            <a:ext cx="11049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126DCA"/>
                </a:solidFill>
                <a:latin typeface="Apple SD Gothic Neo"/>
                <a:ea typeface="Apple SD Gothic Neo"/>
                <a:cs typeface="Apple SD Gothic Neo"/>
              </a:defRPr>
            </a:defPPr>
          </a:lstStyle>
          <a:p xmlns:a="http://schemas.openxmlformats.org/drawingml/2006/main">
            <a:pPr>
              <a:defRPr sz="2100" b="1">
                <a:solidFill>
                  <a:srgbClr val="126DCA"/>
                </a:solidFill>
                <a:latin typeface="Apple SD Gothic Neo"/>
                <a:ea typeface="Apple SD Gothic Neo"/>
                <a:cs typeface="Apple SD Gothic Neo"/>
              </a:defRPr>
            </a:pPr>
            <a:r>
              <a:rPr sz="2100" b="1">
                <a:solidFill>
                  <a:srgbClr val="126DCA"/>
                </a:solidFill>
                <a:latin typeface="Apple SD Gothic Neo"/>
                <a:ea typeface="Apple SD Gothic Neo"/>
                <a:cs typeface="Apple SD Gothic Neo"/>
              </a:rPr>
              <a:t>기준값은 요청 크기와 수락 정책이 바뀌면 다시 측정해야 합니다.</a:t>
            </a:r>
          </a:p>
        </p:txBody>
      </p:sp>
    </p:spTree>
    <p:extLst>
      <p:ext uri="{BB962C8B-B14F-4D97-AF65-F5344CB8AC3E}">
        <p14:creationId xmlns:p14="http://schemas.microsoft.com/office/powerpoint/2010/main" val="4252738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2026-10-11T14:41:37.4240000Z</dcterms:created>
  <dcterms:modified xsi:type="dcterms:W3CDTF">2026-10-11T14:41:37.4240000Z</dcterms:modified>
</coreProperties>
</file>