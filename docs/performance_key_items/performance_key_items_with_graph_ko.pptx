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Masters/slideMaster2.xml" ContentType="application/vnd.openxmlformats-officedocument.presentationml.slideMaster+xml"/>
  <Override PartName="/ppt/slideMasters/theme/theme1.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s/slide14.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49" r:id="rId2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2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p:cViewPr varScale="1">
        <p:scale>
          <a:sx n="132" d="100"/>
          <a:sy n="132" d="100"/>
        </p:scale>
        <p:origin x="3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Master" Target="slideMasters/slideMaster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처리량</c:v>
          </c:tx>
          <c:spPr>
            <a:solidFill>
              <a:srgbClr val="126DCA"/>
            </a:solidFill>
          </c:spPr>
          <c:invertIfNegative val="1"/>
          <c:dPt>
            <c:idx val="0"/>
            <c:invertIfNegative val="0"/>
            <c:bubble3D val="0"/>
            <c:spPr>
              <a:solidFill>
                <a:srgbClr val="9AA9B5"/>
              </a:solidFill>
            </c:spPr>
            <c:extLst>
              <c:ext xmlns:c16="http://schemas.microsoft.com/office/drawing/2014/chart" uri="{C3380CC4-5D6E-409C-BE32-E72D297353CC}">
                <c16:uniqueId val="{00000001-BA82-CC43-9316-5EC2AC0E06A9}"/>
              </c:ext>
            </c:extLst>
          </c:dPt>
          <c:dPt>
            <c:idx val="1"/>
            <c:invertIfNegative val="0"/>
            <c:bubble3D val="0"/>
            <c:extLst>
              <c:ext xmlns:c16="http://schemas.microsoft.com/office/drawing/2014/chart" uri="{C3380CC4-5D6E-409C-BE32-E72D297353CC}">
                <c16:uniqueId val="{00000003-BA82-CC43-9316-5EC2AC0E06A9}"/>
              </c:ext>
            </c:extLst>
          </c:dPt>
          <c:dLbls>
            <c:numFmt formatCode="0.00" sourceLinked="0"/>
            <c:spPr>
              <a:noFill/>
              <a:ln>
                <a:noFill/>
              </a:ln>
              <a:effectLst/>
            </c:spPr>
            <c:txPr>
              <a:bodyPr anchorCtr="1"/>
              <a:lstStyle/>
              <a:p>
                <a:pPr>
                  <a:defRPr sz="1800" b="1">
                    <a:solidFill>
                      <a:srgbClr val="172738"/>
                    </a:solidFill>
                    <a:latin typeface="Apple SD Gothic Neo"/>
                    <a:ea typeface="Apple SD Gothic Neo"/>
                    <a:cs typeface="Apple SD Gothic Neo"/>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기존 FIFO</c:v>
                </c:pt>
                <c:pt idx="1">
                  <c:v>연속 주소 우선</c:v>
                </c:pt>
              </c:strCache>
            </c:strRef>
          </c:cat>
          <c:val>
            <c:numRef>
              <c:f>'Chart Data'!$B$2:$B$3</c:f>
              <c:numCache>
                <c:formatCode>General</c:formatCode>
                <c:ptCount val="2"/>
                <c:pt idx="0">
                  <c:v>37.083406</c:v>
                </c:pt>
                <c:pt idx="1">
                  <c:v>118.257423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BA82-CC43-9316-5EC2AC0E06A9}"/>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FE6EB"/>
            </a:solidFill>
          </a:ln>
        </c:spPr>
        <c:txPr>
          <a:bodyPr anchorCtr="1"/>
          <a:lstStyle/>
          <a:p>
            <a:pPr>
              <a:defRPr sz="1650">
                <a:solidFill>
                  <a:srgbClr val="586875"/>
                </a:solidFill>
                <a:latin typeface="Apple SD Gothic Neo"/>
                <a:ea typeface="Apple SD Gothic Neo"/>
                <a:cs typeface="Apple SD Gothic Neo"/>
              </a:defRPr>
            </a:pPr>
            <a:endParaRPr lang="ko-KR"/>
          </a:p>
        </c:txPr>
        <c:crossAx val="48672768"/>
        <c:crosses val="autoZero"/>
        <c:auto val="1"/>
        <c:lblAlgn val="ctr"/>
        <c:lblOffset val="100"/>
        <c:noMultiLvlLbl val="1"/>
      </c:catAx>
      <c:valAx>
        <c:axId val="48672768"/>
        <c:scaling>
          <c:orientation val="minMax"/>
          <c:max val="140"/>
          <c:min val="0"/>
        </c:scaling>
        <c:delete val="0"/>
        <c:axPos val="l"/>
        <c:majorGridlines>
          <c:spPr>
            <a:ln w="9525">
              <a:solidFill>
                <a:srgbClr val="DFE6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86875"/>
                </a:solidFill>
                <a:latin typeface="Apple SD Gothic Neo"/>
                <a:ea typeface="Apple SD Gothic Neo"/>
                <a:cs typeface="Apple SD Gothic Neo"/>
              </a:defRPr>
            </a:pPr>
            <a:endParaRPr lang="ko-KR"/>
          </a:p>
        </c:txPr>
        <c:crossAx val="48650112"/>
        <c:crosses val="autoZero"/>
        <c:crossBetween val="between"/>
        <c:majorUnit val="35"/>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기존 배치</c:v>
          </c:tx>
          <c:spPr>
            <a:solidFill>
              <a:srgbClr val="9AA9B5"/>
            </a:solidFill>
          </c:spPr>
          <c:invertIfNegative val="1"/>
          <c:dLbls>
            <c:numFmt formatCode="0.00" sourceLinked="0"/>
            <c:spPr>
              <a:noFill/>
              <a:ln>
                <a:noFill/>
              </a:ln>
              <a:effectLst/>
            </c:spPr>
            <c:txPr>
              <a:bodyPr anchorCtr="1"/>
              <a:lstStyle/>
              <a:p>
                <a:pPr>
                  <a:defRPr sz="1725" b="1">
                    <a:solidFill>
                      <a:srgbClr val="172738"/>
                    </a:solidFill>
                    <a:latin typeface="Apple SD Gothic Neo"/>
                    <a:ea typeface="Apple SD Gothic Neo"/>
                    <a:cs typeface="Apple SD Gothic Neo"/>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총 32 Plane</c:v>
                </c:pt>
                <c:pt idx="1">
                  <c:v>총 64 Plane</c:v>
                </c:pt>
              </c:strCache>
            </c:strRef>
          </c:cat>
          <c:val>
            <c:numRef>
              <c:f>'Chart Data'!$B$2:$B$3</c:f>
              <c:numCache>
                <c:formatCode>General</c:formatCode>
                <c:ptCount val="2"/>
                <c:pt idx="0">
                  <c:v>137.212171</c:v>
                </c:pt>
                <c:pt idx="1">
                  <c:v>189.323908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391-024D-8F56-AD9478A5758B}"/>
            </c:ext>
          </c:extLst>
        </c:ser>
        <c:ser>
          <c:idx val="1"/>
          <c:order val="1"/>
          <c:tx>
            <c:v>영역 배치</c:v>
          </c:tx>
          <c:spPr>
            <a:solidFill>
              <a:srgbClr val="126DCA"/>
            </a:solidFill>
          </c:spPr>
          <c:invertIfNegative val="1"/>
          <c:dLbls>
            <c:numFmt formatCode="0.00" sourceLinked="0"/>
            <c:spPr>
              <a:noFill/>
              <a:ln>
                <a:noFill/>
              </a:ln>
              <a:effectLst/>
            </c:spPr>
            <c:txPr>
              <a:bodyPr anchorCtr="1"/>
              <a:lstStyle/>
              <a:p>
                <a:pPr>
                  <a:defRPr sz="1725" b="1">
                    <a:solidFill>
                      <a:srgbClr val="172738"/>
                    </a:solidFill>
                    <a:latin typeface="Apple SD Gothic Neo"/>
                    <a:ea typeface="Apple SD Gothic Neo"/>
                    <a:cs typeface="Apple SD Gothic Neo"/>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총 32 Plane</c:v>
                </c:pt>
                <c:pt idx="1">
                  <c:v>총 64 Plane</c:v>
                </c:pt>
              </c:strCache>
            </c:strRef>
          </c:cat>
          <c:val>
            <c:numRef>
              <c:f>'Chart Data'!$D$2:$D$3</c:f>
              <c:numCache>
                <c:formatCode>General</c:formatCode>
                <c:ptCount val="2"/>
                <c:pt idx="0">
                  <c:v>174.787859</c:v>
                </c:pt>
                <c:pt idx="1">
                  <c:v>234.987735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391-024D-8F56-AD9478A5758B}"/>
            </c:ext>
          </c:extLst>
        </c:ser>
        <c:dLbls>
          <c:dLblPos val="outEnd"/>
          <c:showLegendKey val="0"/>
          <c:showVal val="1"/>
          <c:showCatName val="0"/>
          <c:showSerName val="0"/>
          <c:showPercent val="0"/>
          <c:showBubbleSize val="0"/>
        </c:dLbls>
        <c:gapWidth val="9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FE6EB"/>
            </a:solidFill>
          </a:ln>
        </c:spPr>
        <c:txPr>
          <a:bodyPr anchorCtr="1"/>
          <a:lstStyle/>
          <a:p>
            <a:pPr>
              <a:defRPr sz="1650">
                <a:solidFill>
                  <a:srgbClr val="586875"/>
                </a:solidFill>
                <a:latin typeface="Apple SD Gothic Neo"/>
                <a:ea typeface="Apple SD Gothic Neo"/>
                <a:cs typeface="Apple SD Gothic Neo"/>
              </a:defRPr>
            </a:pPr>
            <a:endParaRPr lang="ko-KR"/>
          </a:p>
        </c:txPr>
        <c:crossAx val="48672768"/>
        <c:crosses val="autoZero"/>
        <c:auto val="1"/>
        <c:lblAlgn val="ctr"/>
        <c:lblOffset val="100"/>
        <c:noMultiLvlLbl val="1"/>
      </c:catAx>
      <c:valAx>
        <c:axId val="48672768"/>
        <c:scaling>
          <c:orientation val="minMax"/>
          <c:max val="280"/>
          <c:min val="0"/>
        </c:scaling>
        <c:delete val="0"/>
        <c:axPos val="l"/>
        <c:majorGridlines>
          <c:spPr>
            <a:ln w="9525">
              <a:solidFill>
                <a:srgbClr val="DFE6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86875"/>
                </a:solidFill>
                <a:latin typeface="Apple SD Gothic Neo"/>
                <a:ea typeface="Apple SD Gothic Neo"/>
                <a:cs typeface="Apple SD Gothic Neo"/>
              </a:defRPr>
            </a:pPr>
            <a:endParaRPr lang="ko-KR"/>
          </a:p>
        </c:txPr>
        <c:crossAx val="48650112"/>
        <c:crosses val="autoZero"/>
        <c:crossBetween val="between"/>
        <c:majorUnit val="70"/>
      </c:valAx>
      <c:spPr>
        <a:solidFill>
          <a:srgbClr val="FFFFFF"/>
        </a:solidFill>
        <a:ln w="0">
          <a:noFill/>
        </a:ln>
      </c:spPr>
    </c:plotArea>
    <c:legend>
      <c:legendPos val="b"/>
      <c:overlay val="0"/>
      <c:txPr>
        <a:bodyPr anchorCtr="1"/>
        <a:lstStyle/>
        <a:p>
          <a:pPr>
            <a:defRPr sz="1650">
              <a:solidFill>
                <a:srgbClr val="586875"/>
              </a:solidFill>
              <a:latin typeface="Apple SD Gothic Neo"/>
              <a:ea typeface="Apple SD Gothic Neo"/>
              <a:cs typeface="Apple SD Gothic Neo"/>
            </a:defRPr>
          </a:pPr>
          <a:endParaRPr lang="ko-KR"/>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A1</c:v>
          </c:tx>
          <c:spPr>
            <a:ln w="28575">
              <a:solidFill>
                <a:srgbClr val="126DCA"/>
              </a:solidFill>
            </a:ln>
          </c:spPr>
          <c:marker>
            <c:symbol val="circle"/>
            <c:size val="8"/>
            <c:spPr>
              <a:solidFill>
                <a:srgbClr val="126DCA"/>
              </a:solidFill>
            </c:spPr>
          </c:marker>
          <c:cat>
            <c:numRef>
              <c:f>'Chart Data'!$A$2:$A$6</c:f>
              <c:numCache>
                <c:formatCode>General</c:formatCode>
                <c:ptCount val="5"/>
                <c:pt idx="0">
                  <c:v>128</c:v>
                </c:pt>
                <c:pt idx="1">
                  <c:v>256</c:v>
                </c:pt>
                <c:pt idx="2">
                  <c:v>512</c:v>
                </c:pt>
                <c:pt idx="3">
                  <c:v>1024</c:v>
                </c:pt>
                <c:pt idx="4">
                  <c:v>2048</c:v>
                </c:pt>
              </c:numCache>
            </c:numRef>
          </c:cat>
          <c:val>
            <c:numRef>
              <c:f>'Chart Data'!$B$2:$B$6</c:f>
              <c:numCache>
                <c:formatCode>General</c:formatCode>
                <c:ptCount val="5"/>
                <c:pt idx="0">
                  <c:v>151.702373</c:v>
                </c:pt>
                <c:pt idx="1">
                  <c:v>241.066621</c:v>
                </c:pt>
                <c:pt idx="2">
                  <c:v>255.365922</c:v>
                </c:pt>
                <c:pt idx="3">
                  <c:v>131.223552</c:v>
                </c:pt>
                <c:pt idx="4">
                  <c:v>68.857856</c:v>
                </c:pt>
              </c:numCache>
            </c:numRef>
          </c:val>
          <c:smooth val="0"/>
          <c:extLst>
            <c:ext xmlns:c16="http://schemas.microsoft.com/office/drawing/2014/chart" uri="{C3380CC4-5D6E-409C-BE32-E72D297353CC}">
              <c16:uniqueId val="{00000000-B5E4-B84D-9A63-A8A332556188}"/>
            </c:ext>
          </c:extLst>
        </c:ser>
        <c:ser>
          <c:idx val="1"/>
          <c:order val="1"/>
          <c:tx>
            <c:v>A2</c:v>
          </c:tx>
          <c:spPr>
            <a:ln w="28575">
              <a:solidFill>
                <a:srgbClr val="008B82"/>
              </a:solidFill>
            </a:ln>
          </c:spPr>
          <c:marker>
            <c:symbol val="diamond"/>
            <c:size val="8"/>
            <c:spPr>
              <a:solidFill>
                <a:srgbClr val="008B82"/>
              </a:solidFill>
            </c:spPr>
          </c:marker>
          <c:cat>
            <c:numRef>
              <c:f>'Chart Data'!$C$2:$C$6</c:f>
              <c:numCache>
                <c:formatCode>General</c:formatCode>
                <c:ptCount val="5"/>
                <c:pt idx="0">
                  <c:v>128</c:v>
                </c:pt>
                <c:pt idx="1">
                  <c:v>256</c:v>
                </c:pt>
                <c:pt idx="2">
                  <c:v>512</c:v>
                </c:pt>
                <c:pt idx="3">
                  <c:v>1024</c:v>
                </c:pt>
                <c:pt idx="4">
                  <c:v>2048</c:v>
                </c:pt>
              </c:numCache>
            </c:numRef>
          </c:cat>
          <c:val>
            <c:numRef>
              <c:f>'Chart Data'!$D$2:$D$6</c:f>
              <c:numCache>
                <c:formatCode>General</c:formatCode>
                <c:ptCount val="5"/>
                <c:pt idx="0">
                  <c:v>149.688922</c:v>
                </c:pt>
                <c:pt idx="1">
                  <c:v>241.975943</c:v>
                </c:pt>
                <c:pt idx="2">
                  <c:v>255.05833</c:v>
                </c:pt>
                <c:pt idx="3">
                  <c:v>133.259264</c:v>
                </c:pt>
                <c:pt idx="4">
                  <c:v>71.888925</c:v>
                </c:pt>
              </c:numCache>
            </c:numRef>
          </c:val>
          <c:smooth val="0"/>
          <c:extLst>
            <c:ext xmlns:c16="http://schemas.microsoft.com/office/drawing/2014/chart" uri="{C3380CC4-5D6E-409C-BE32-E72D297353CC}">
              <c16:uniqueId val="{00000001-B5E4-B84D-9A63-A8A33255618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ko-KR" altLang="en-US" sz="1500">
                    <a:solidFill>
                      <a:srgbClr val="586875"/>
                    </a:solidFill>
                    <a:latin typeface="Apple SD Gothic Neo"/>
                    <a:ea typeface="Apple SD Gothic Neo"/>
                    <a:cs typeface="Apple SD Gothic Neo"/>
                  </a:rPr>
                  <a:t>설정 </a:t>
                </a:r>
                <a:r>
                  <a:rPr lang="en" sz="1500">
                    <a:solidFill>
                      <a:srgbClr val="586875"/>
                    </a:solidFill>
                    <a:latin typeface="Apple SD Gothic Neo"/>
                    <a:ea typeface="Apple SD Gothic Neo"/>
                    <a:cs typeface="Apple SD Gothic Neo"/>
                  </a:rPr>
                  <a:t>QD / Port</a:t>
                </a:r>
              </a:p>
            </c:rich>
          </c:tx>
          <c:overlay val="0"/>
        </c:title>
        <c:numFmt formatCode="General" sourceLinked="1"/>
        <c:majorTickMark val="none"/>
        <c:minorTickMark val="none"/>
        <c:tickLblPos val="nextTo"/>
        <c:spPr>
          <a:ln w="9525">
            <a:solidFill>
              <a:srgbClr val="DFE6EB"/>
            </a:solidFill>
          </a:ln>
        </c:spPr>
        <c:txPr>
          <a:bodyPr anchorCtr="1"/>
          <a:lstStyle/>
          <a:p>
            <a:pPr>
              <a:defRPr sz="1500">
                <a:solidFill>
                  <a:srgbClr val="586875"/>
                </a:solidFill>
                <a:latin typeface="Apple SD Gothic Neo"/>
                <a:ea typeface="Apple SD Gothic Neo"/>
                <a:cs typeface="Apple SD Gothic Neo"/>
              </a:defRPr>
            </a:pPr>
            <a:endParaRPr lang="ko-KR"/>
          </a:p>
        </c:txPr>
        <c:crossAx val="48672768"/>
        <c:crosses val="autoZero"/>
        <c:auto val="1"/>
        <c:lblAlgn val="ctr"/>
        <c:lblOffset val="100"/>
        <c:noMultiLvlLbl val="1"/>
      </c:catAx>
      <c:valAx>
        <c:axId val="48672768"/>
        <c:scaling>
          <c:orientation val="minMax"/>
          <c:max val="275"/>
          <c:min val="0"/>
        </c:scaling>
        <c:delete val="0"/>
        <c:axPos val="l"/>
        <c:majorGridlines>
          <c:spPr>
            <a:ln w="9525">
              <a:solidFill>
                <a:srgbClr val="DFE6EB"/>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86875"/>
                </a:solidFill>
                <a:latin typeface="Apple SD Gothic Neo"/>
                <a:ea typeface="Apple SD Gothic Neo"/>
                <a:cs typeface="Apple SD Gothic Neo"/>
              </a:defRPr>
            </a:pPr>
            <a:endParaRPr lang="ko-KR"/>
          </a:p>
        </c:txPr>
        <c:crossAx val="48650112"/>
        <c:crosses val="autoZero"/>
        <c:crossBetween val="between"/>
        <c:majorUnit val="55"/>
      </c:valAx>
      <c:spPr>
        <a:solidFill>
          <a:srgbClr val="FFFFFF"/>
        </a:solidFill>
        <a:ln w="0">
          <a:noFill/>
        </a:ln>
      </c:spPr>
    </c:plotArea>
    <c:legend>
      <c:legendPos val="b"/>
      <c:overlay val="0"/>
      <c:txPr>
        <a:bodyPr anchorCtr="1"/>
        <a:lstStyle/>
        <a:p>
          <a:pPr>
            <a:defRPr sz="1650">
              <a:solidFill>
                <a:srgbClr val="586875"/>
              </a:solidFill>
              <a:latin typeface="Apple SD Gothic Neo"/>
              <a:ea typeface="Apple SD Gothic Neo"/>
              <a:cs typeface="Apple SD Gothic Neo"/>
            </a:defRPr>
          </a:pPr>
          <a:endParaRPr lang="ko-KR"/>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Type="http://schemas.openxmlformats.org/officeDocument/2006/relationships/slide" Target="../slides/slide14.xml" Id="Rfb50b54f10f844bb"/><Relationship Type="http://schemas.openxmlformats.org/officeDocument/2006/relationships/notesMaster" Target="../notesMasters/notesMaster1.xml" Id="R730f8866a2554ca9"/></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시뮬레이터의 자원과 처리 흐름을 요약한 편집 가능한 블록 다이어그램이다. 왼쪽 Host의 P0~P3는 독립 Port이며 AXI ID는 Port별로 구분된다. 파란 선은 요청/CA 방향, 녹색 선은 NAND 데이터/ECC/공유 버퍼/Host 반환 방향이다. Port와 Channel은 1:1 연결이 아니며 한 Port도 주소에 따라 네 채널 전체를 사용할 수 있다. 도식의 공통선은 자원 공유 관계를 뜻하며 물리 버스 폭이나 실제 UCIe 회로를 정의하지 않는다. 주황색은 모델의 주요 가변 입력을 뜻한다. Ports는1~4, Plane은채널당8 또는16, stripe는4 또는16KiB를지원한다. 대표 A1은4KiB stripe/head_locality, A2는16KiB stripe/locality이며 둘다영역별L2P snapshot,우회32회,PF OFF다. 선두대기48.64µs는head_locality에적용한다. B1/B2의최근지속부하는A1프로파일을사용한다. QD512/Port와8MiB(512개의16KiB슬롯)는현재대표조합이지고정하드웨어제약이아니다. 버퍼는요청수락시예약하고연결된마지막응답완료후해제하며,지속cache는구현하지않았다. Plane마다 page buffer 하나가 있고 전체물리16KiB페이지를출력한다. 4채널은현재모델에서고정이며Plane×16/CH로총64Plane이다. tR/availability/Host IF는입력파라미터이나이번성능개선비교에서는표시값을고정했다. 추가입력에는CA/output CA0.1µs,Lookup0.5µs,ECC0.2µs,채널당NAND전송80.1125GB/s,turnaround0.05µs가있다. 가용률85%는주기적Plane휴지로반영하며실제GC trace를뜻하지않는다. 전체입력과추후튜닝후보는docs/07_prefetch_tuning_ko.md및Config를참조한다.</a:t>
            </a:r>
          </a:p>
          <a:p>
            <a:endParaRPr/>
          </a:p>
          <a:p>
            <a:r>
              <a:t>출처</a:t>
            </a:r>
          </a:p>
          <a:p>
            <a:r>
              <a:t>https://github.com/JBRARAPARK/HBF_zNAND_Research/blob/22d9b33f085991f33d5273fdd9ce5688fb429fa4/znand/model.py</a:t>
            </a:r>
          </a:p>
          <a:p>
            <a:r>
              <a:t>https://github.com/JBRARAPARK/HBF_zNAND_Research/blob/22d9b33f085991f33d5273fdd9ce5688fb429fa4/znand/saturation.py</a:t>
            </a:r>
          </a:p>
          <a:p>
            <a:r>
              <a:t>https://github.com/JBRARAPARK/HBF_zNAND_Research/blob/22d9b33f085991f33d5273fdd9ce5688fb429fa4/znand/partial_saturation.py</a:t>
            </a:r>
          </a:p>
          <a:p>
            <a:r>
              <a:t>https://github.com/JBRARAPARK/HBF_zNAND_Research/blob/22d9b33f085991f33d5273fdd9ce5688fb429fa4/docs/07_prefetch_tuning_ko.md</a:t>
            </a:r>
          </a:p>
          <a:p>
            <a:r>
              <a:t>https://github.com/JBRARAPARK/HBF_zNAND_Research/blob/22d9b33f085991f33d5273fdd9ce5688fb429fa4/docs/12_controller_scheduling_ko.md</a:t>
            </a:r>
          </a:p>
          <a:p>
            <a:r>
              <a:t>https://github.com/JBRARAPARK/HBF_zNAND_Research/blob/22d9b33f085991f33d5273fdd9ce5688fb429fa4/results/znand/saturation/RESULTS_KO.md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tR은 현재 시뮬레이터의 NAND sensing 구간이며 Host의 end-to-end 읽기 지연 전체가 아니다. 이 페이지의 수치는 제품 보증치가 아니라 지금까지 승인·사용한 모델 입력값이다.</a:t>
            </a:r>
          </a:p>
          <a:p>
            <a:endParaRPr/>
          </a:p>
          <a:p>
            <a:r>
              <a:t>판정 단위는 (Channel, Plane)이다. q는 해당 Plane 내부의 물리 페이지 순번이며, 고객 A/B 패턴의 4KiB 논리 Page 번호나 Host 주소가 아니다. 다른 Plane에서 Read를 해도 이 Plane의 직전 sensing 이력은 바뀌지 않는다.</a:t>
            </a:r>
          </a:p>
          <a:p>
            <a:endParaRPr/>
          </a:p>
          <a:p>
            <a:r>
              <a:t>판정 순서: 기존 Controller buffer 작업이 있으면 연결해서 사용한다. 새 NAND 작업이 필요하지만 해당 Plane의 page buffer에 같은 q가 남아 있으면 sensing을 생략한다. 이때 출력 CA, 16KiB NAND Data 전송, ECC와 응답 대기는 여전히 필요하다. page buffer miss이면 First → Group → q+1의 Short/Mid → Long 순서로 분류한다.</a:t>
            </a:r>
          </a:p>
          <a:p>
            <a:endParaRPr/>
          </a:p>
          <a:p>
            <a:r>
              <a:t>First: 해당 Plane에서 이전 sensing 이력이 없을 때 20.69µs. 현재 모델은 최초 sensing에 1st Long 17.52µs + tRRC 3.17µs를 적용한다. Group: 이전/다음 q가 서로 다른 Group이면 20.69µs이며, q가 정확히 +1이더라도 Group 판정이 우선한다.</a:t>
            </a:r>
          </a:p>
          <a:p>
            <a:endParaRPr/>
          </a:p>
          <a:p>
            <a:r>
              <a:t>같은 Group의 q+1에서 목적지 q가 홀수이면 Short 2.00µs, 짝수이면 Mid 2.08µs다. 물리 순회는 E/O 0→1, SSL 0→5, Block 0→1, WL 420→0, 다음 Group이다. q0→1은 동일 SSL의 E/O 0→1이라 Short, q1→2는 다음 SSL로 이동해 Mid, q11→12는 다음 Block으로 자연 순환해 Mid, q23→24는 다음 WL로 자연 순환해 Mid다. Group당 421×2×6×2=10,104개의 16KiB 물리 페이지이며 q10103→10104는 Group 전환이다.</a:t>
            </a:r>
          </a:p>
          <a:p>
            <a:endParaRPr/>
          </a:p>
          <a:p>
            <a:r>
              <a:t>Long: 같은 Group에서 직전 q의 바로 다음 페이지가 아닌 곳으로 이동하면 12.16µs다. 예를 들어 q0→2는 목적지가 짝수여도 q+1이 아니므로 Mid가 아니라 Long이다. q3→1의 역방향 재방문도 page buffer에 해당 페이지가 없으면 Long이다. 논리 A2 순서만 보고 Long 여부를 판단하지 않고 L2P와 CA 발행 후의 물리 순서를 사용한다.</a:t>
            </a:r>
          </a:p>
          <a:p>
            <a:endParaRPr/>
          </a:p>
          <a:p>
            <a:r>
              <a:t>평균 tR은 실제 sensing 횟수의 가중 평균이다. (20.69×(N_First+N_Group)+2.00×N_Short+2.08×N_Mid+12.16×N_Long) / N_sensing. page buffer hit와 Controller buffer 재사용은 sensing 횟수에 넣지 않는다. 연속 구간은 Short/Mid가 번갈아 발생하며 둘만 같은 횟수로 섞인 평균은2.04µs다. 성능 개선은 tR 상수를 줄인 것이 아니라 Long의 빈도를 줄인 결과다.</a:t>
            </a:r>
          </a:p>
          <a:p>
            <a:endParaRPr/>
          </a:p>
          <a:p>
            <a:r>
              <a:t>Host 읽기에는 버퍼 수락 대기, lookup 0.5µs, CA 0.1µs, tR, 채널 Data 대기/전송, ECC 0.2µs, Port 내부 in-order 대기와 Host 반환 시간이 더해진다. NAND Data는16KiB/80.1125GB/s + turnaround0.05µs ≈0.254512µs이며, 자원 대기는 별도다. 64B와4KiB Host 요청 크기 자체로 tR을1/64로 줄이지 않는다. 물리 페이지가 같으면 sensing을 공유할 수 있는지는 버퍼와 진행 중 작업의 상태가 결정한다.</a:t>
            </a:r>
          </a:p>
          <a:p>
            <a:endParaRPr/>
          </a:p>
          <a:p>
            <a:r>
              <a:t>출처</a:t>
            </a:r>
          </a:p>
          <a:p>
            <a:r>
              <a:t>https://github.com/JBRARAPARK/HBF_zNAND_Research/blob/22d9b33f085991f33d5273fdd9ce5688fb429fa4/znand/model.py</a:t>
            </a:r>
          </a:p>
          <a:p>
            <a:r>
              <a:t>https://github.com/JBRARAPARK/HBF_zNAND_Research/blob/22d9b33f085991f33d5273fdd9ce5688fb429fa4/docs/07_prefetch_tuning_ko.md</a:t>
            </a:r>
          </a:p>
          <a:p>
            <a:r>
              <a:t>https://github.com/JBRARAPARK/HBF_zNAND_Research/blob/22d9b33f085991f33d5273fdd9ce5688fb429fa4/docs/12_controller_scheduling_ko.md</a:t>
            </a:r>
          </a:p>
          <a:p>
            <a:r>
              <a:t>https://github.com/JBRARAPARK/HBF_zNAND_Research/blob/22d9b33f085991f33d5273fdd9ce5688fb429fa4/results/znand/host_ceiling/timing_validation.json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64 Plane 영역 배치의 구조를 설명한 도식이다. 위쪽은 논리 영역을 정적 L2P snapshot으로 Channel·Plane·Plane 내부 페이지 q에 연결하는 과정이다. 화살표는 주소 매핑 관계이며 실제 전기 배선이나 CA/Data 버스 개수를 뜻하지 않는다.</a:t>
            </a:r>
          </a:p>
          <a:p>
            <a:endParaRPr/>
          </a:p>
          <a:p>
            <a:r>
              <a:t>4개 Channel은 각각 16개의 Plane을 가진다. 영역 0은 모든 Channel의 PL0~3, 영역 1은 PL4~7, 영역 2는 PL8~11, 영역 3은 PL12~15를 사용한다. 색은 논리 영역을 나타내며 Port ID가 아니다. 어느 Port든 같은 주소를 읽으면 같은 물리 위치로 간다. 이 실험에서는 각 Port가 주로 서로 다른 영역을 읽어 네 영역의 부하가 균형을 이루도록 했다. 동일 번호의 Plane도 Channel이 다르면 서로 다른 자원이다.</a:t>
            </a:r>
          </a:p>
          <a:p>
            <a:endParaRPr/>
          </a:p>
          <a:p>
            <a:r>
              <a:t>L2P snapshot은 16KiB 물리 페이지 단위의 1:1 배치다. 기존 Channel과 페이지 내 offset, 16KiB 패킹은 유지하고 Plane과 q를 다시 배정한다. 각 영역·채널의 물리 페이지를 순서대로 네 Plane에 분산한 뒤 각 Plane의 q를 증가시키므로 영역 간 주소 점프를 줄인다. 4KiB 논리 조각 자체를 64B 단위로 재분산하지 않는다. 유한 A2 trace의 영역 경계 공유 페이지는 한 물리 위치를 유지하는 예외가 있으며 그 검증은 snapshot_validation.json에 있다.</a:t>
            </a:r>
          </a:p>
          <a:p>
            <a:endParaRPr/>
          </a:p>
          <a:p>
            <a:r>
              <a:t>왼쪽 아래 L0, L1 등은 각 논리 영역 시작을 0으로 놓은 4KiB 논리 조각이다. 영역 시작이 64KiB 배치 주기에 정렬되고 CH0에서 시작하는 예시다. A1/B1/B2의 4KiB stripe에서는 Channel을 4KiB마다 순환시킨다. 첫 16KiB 물리 페이지는 CH0=[L0,L4,L8,L12], CH1=[L1,L5,L9,L13], CH2=[L2,L6,L10,L14], CH3=[L3,L7,L11,L15]다. A2의 16KiB stripe에서는 먼저 연속 4KiB 조각 4개를 묶고 16KiB마다 Channel을 순환시킨다. CH0=[L0,L1,L2,L3], CH1=[L4,L5,L6,L7], CH2=[L8,L9,L10,L11], CH3=[L12,L13,L14,L15]다. 이는 저장 배치의 단위다. B1/B2는 각 L에서 64B만 요청하지만 NAND 물리 페이지는 16KiB 전체를 출력한다.</a:t>
            </a:r>
          </a:p>
          <a:p>
            <a:endParaRPr/>
          </a:p>
          <a:p>
            <a:r>
              <a:t>오른쪽 아래는 하나의 Plane 내 주소 계층이다. Group 하나에 Block 2개, Block마다 WL 421개, WL마다 SSL 6개, SSL마다 E/O 2개의 16KiB Page를 두는 현재 모델이다. 따라서 Group당 421×2×6×2=10,104페이지다. Group 총개수나 전체 NAND 용량을 이 슬라이드로 고정하지 않는다. 구조 계층과 q의 실제 순회 순서는 구분한다. q는 E/O→SSL→Block→WL→Group 순으로 진행하고 WL은 420에서 0으로 감소한다. 각 Plane의 page buffer는 1개이며 선택한 16KiB 페이지를 sensing한다. Controller buffer는 별도 자원이다.</a:t>
            </a:r>
          </a:p>
          <a:p>
            <a:endParaRPr/>
          </a:p>
          <a:p>
            <a:r>
              <a:t>배치가 좋아지는 이유는 각 영역이 4채널 병렬성을 유지하면서 한 Plane에서 서로 먼 영역의 요청이 섞이는 일을 줄이기 때문이다. CA 스케줄러가 q+1을 선택할 기회가 늘어나 Short/Mid 비율이 높아진다. 실제 동적 L2P 변화나 영역 편향에서 같은 효과를 보장하지 않으며 해당 내용은 튜닝 후보다. 이 모델에는 Die/LUN의 추가 공유 자원을 구체적으로 배정하지 않았다.</a:t>
            </a:r>
          </a:p>
          <a:p>
            <a:endParaRPr/>
          </a:p>
          <a:p>
            <a:r>
              <a:t>출처</a:t>
            </a:r>
          </a:p>
          <a:p>
            <a:r>
              <a:t>https://github.com/JBRARAPARK/HBF_zNAND_Research/blob/22d9b33f085991f33d5273fdd9ce5688fb429fa4/znand/model.py</a:t>
            </a:r>
          </a:p>
          <a:p>
            <a:r>
              <a:t>https://github.com/JBRARAPARK/HBF_zNAND_Research/blob/22d9b33f085991f33d5273fdd9ce5688fb429fa4/znand/host_ceiling.py</a:t>
            </a:r>
          </a:p>
          <a:p>
            <a:r>
              <a:t>https://github.com/JBRARAPARK/HBF_zNAND_Research/blob/22d9b33f085991f33d5273fdd9ce5688fb429fa4/docs/07_prefetch_tuning_ko.md</a:t>
            </a:r>
          </a:p>
          <a:p>
            <a:r>
              <a:t>https://github.com/JBRARAPARK/HBF_zNAND_Research/blob/22d9b33f085991f33d5273fdd9ce5688fb429fa4/results/znand/host_ceiling/RESULTS_KO.md</a:t>
            </a:r>
          </a:p>
          <a:p>
            <a:r>
              <a:t>https://github.com/JBRARAPARK/HBF_zNAND_Research/blob/22d9b33f085991f33d5273fdd9ce5688fb429fa4/results/znand/host_ceiling/snapshot_validation.json</a:t>
            </a:r>
          </a:p>
          <a:p>
            <a:r>
              <a:t>https://github.com/JBRARAPARK/HBF_zNAND_Research/blob/22d9b33f085991f33d5273fdd9ce5688fb429fa4/results/znand/partial_saturation/RESULTS_KO.md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구조는 현재 시뮬레이터 기준이다. 4개 Port는 독립적인 요청/응답 주체로, 한 Port도 주소에 따라 모든 Channel을 사용할 수 있다. Port와 Channel을 고정 1:1로 연결하지 않는다. Host IF는 Port당 512bit, 1GHz로 64GB/s이며 합계256GB/s다. 요청 수락 시 QD와 버퍼 용량을 확인하고, 신규16KiB 물리 페이지 작업에 대한 공유 버퍼 공간을 예약한다. 동일 물리 페이지 요청은 기존 작업에 연결할 수 있다. Lookup 이후 물리 주소의 연속성과 Port 선두 대기를 고려해 CA를 발행한다. NAND는4채널, 채널당16Plane, Plane당page buffer1개다. NAND출력은16KiB 전체 페이지이며 ECC 후 Controller buffer의 데이터가 반환 가능해진다. Port별 FIFO 선두만 응답하며 연결된 마지막 응답이 끝나면 Controller buffer를 해제한다. 영구cache나LRU 정책은 적용하지 않았다. UCIe의 모든 프로토콜 계층을 상세 구현한 회로도가 아니라 본 평가 모델의 동작 구조다.</a:t>
            </a:r>
          </a:p>
          <a:p>
            <a:endParaRPr/>
          </a:p>
          <a:p>
            <a:r>
              <a:t>출처</a:t>
            </a:r>
          </a:p>
          <a:p>
            <a:r>
              <a:t>https://github.com/JBRARAPARK/HBF_zNAND_Research/blob/22d9b33f085991f33d5273fdd9ce5688fb429fa4/znand/model.py</a:t>
            </a:r>
          </a:p>
          <a:p>
            <a:r>
              <a:t>https://github.com/JBRARAPARK/HBF_zNAND_Research/blob/22d9b33f085991f33d5273fdd9ce5688fb429fa4/docs/12_controller_scheduling_ko.md</a:t>
            </a:r>
          </a:p>
          <a:p>
            <a:r>
              <a:t>https://github.com/JBRARAPARK/HBF_zNAND_Research/blob/22d9b33f085991f33d5273fdd9ce5688fb429fa4/results/znand/saturation/RESULTS_KO.md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항목 중 1번은 내부 스케줄러 변경, 2번은 물리 자원 확대와 L2P 배치 변경, 3번은 버퍼와 포트별 QD 설정의 조합이다. 3번 비교는 admission 알고리즘을 수정한 결과가 아니다. 1번은 PF ON, 32 Plane, 32MiB, QD2048, 16KiB stripe의 A2 case37. 2번은 PF OFF, 64 Plane, 32MiB, QD2048, A2의 snapshot만 변경한 쌍. 3번은 PF OFF, 64 Plane, 8MiB, 영역 배치 A1의 고정 2ms 평균이다.</a:t>
            </a:r>
          </a:p>
          <a:p>
            <a:endParaRPr/>
          </a:p>
          <a:p>
            <a:r>
              <a:t>출처</a:t>
            </a:r>
          </a:p>
          <a:p>
            <a:r>
              <a:t>https://github.com/JBRARAPARK/HBF_zNAND_Research/blob/22d9b33f085991f33d5273fdd9ce5688fb429fa4/results/znand/locality/matched_comparison.csv</a:t>
            </a:r>
          </a:p>
          <a:p>
            <a:r>
              <a:t>https://github.com/JBRARAPARK/HBF_zNAND_Research/blob/22d9b33f085991f33d5273fdd9ce5688fb429fa4/results/znand/host_ceiling/sweep.csv</a:t>
            </a:r>
          </a:p>
          <a:p>
            <a:r>
              <a:t>https://github.com/JBRARAPARK/HBF_zNAND_Research/blob/22d9b33f085991f33d5273fdd9ce5688fb429fa4/results/znand/saturation/sweep.csv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동일 조건의 CA 선택 정책만 비교한 case37. FIFO 37.08340647376568 GB/s, locality 118.25742257207769 GB/s, 증가율 218.89579145254046%. Long 비율 91.81307955100048%에서 10.56612981942411%. locality에서는 같은 Group의 q+1만 연속 후보로 취급한다. 이미 busy인 Plane은 선점하지 않는다. 이 초기 비교의 bypass 한도는 8이다. 후속 실험은 32로 확대했다. A1에서 bypass32 locality 129.174 GB/s와 head_locality 134.339 GB/s를 비교한 추가 이득은 4.00%였으며, 그 전체 증가를 선두 우선 효과로 해석하지 않는다. A2는 선두 우선의 추가 효과가 작아서 locality를 유지했다. 과거 B 패턴에 선두 우선을 무조건 확대하면 성능이 떨어진 사례도 있다. 현재 B 지속 부하 실험은 A1과 조건을 맞춰 head_locality를 사용한다.</a:t>
            </a:r>
          </a:p>
          <a:p>
            <a:endParaRPr/>
          </a:p>
          <a:p>
            <a:r>
              <a:t>출처</a:t>
            </a:r>
          </a:p>
          <a:p>
            <a:r>
              <a:t>https://github.com/JBRARAPARK/HBF_zNAND_Research/blob/22d9b33f085991f33d5273fdd9ce5688fb429fa4/docs/12_controller_scheduling_ko.md</a:t>
            </a:r>
          </a:p>
          <a:p>
            <a:r>
              <a:t>https://github.com/JBRARAPARK/HBF_zNAND_Research/blob/22d9b33f085991f33d5273fdd9ce5688fb429fa4/results/znand/locality/matched_comparison.csv</a:t>
            </a:r>
          </a:p>
          <a:p>
            <a:r>
              <a:t>https://github.com/JBRARAPARK/HBF_zNAND_Research/blob/22d9b33f085991f33d5273fdd9ce5688fb429fa4/results/znand/head_locality/RESULTS_KO.md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 Plane의 최단 주기 상한은 CA 0.1µs + Short tR 2µs + NAND Data/turnaround 0.254512µs로 계산한 낙관적 상한이다. 가용률 100%로 놓아도 약222.674GB/s이며 현재85%를 고려한 Short/Mid 교대 공급량은 약186.111GB/s다. 이 가용률을 실험 결과에서 다시 감산하면 안 된다. 32에서64 Plane으로 바꾸는 비교는 geometry 변경을 포함한다. 같은 geometry의 기존 배치와 영역 배치 쌍은 전체 config 중 snapshot만 다르다. 64 Plane A2 Long비율은1142/8196=13.93%에서3/8196=0.0366%이며 finite run 초기first sensing을 포함한다. 평균tR만 낮아졌으며 tR 상수는 바꾸지 않았다.</a:t>
            </a:r>
          </a:p>
          <a:p>
            <a:endParaRPr/>
          </a:p>
          <a:p>
            <a:r>
              <a:t>출처</a:t>
            </a:r>
          </a:p>
          <a:p>
            <a:r>
              <a:t>https://github.com/JBRARAPARK/HBF_zNAND_Research/blob/22d9b33f085991f33d5273fdd9ce5688fb429fa4/results/znand/host_ceiling/sweep.csv</a:t>
            </a:r>
          </a:p>
          <a:p>
            <a:r>
              <a:t>https://github.com/JBRARAPARK/HBF_zNAND_Research/blob/22d9b33f085991f33d5273fdd9ce5688fb429fa4/results/znand/host_ceiling/RESULTS_KO.md</a:t>
            </a:r>
          </a:p>
          <a:p>
            <a:r>
              <a:t>https://github.com/JBRARAPARK/HBF_zNAND_Research/blob/22d9b33f085991f33d5273fdd9ce5688fb429fa4/results/znand/host_ceiling/timing_validation.json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표의 Plane 번호는 각 채널 내부 번호다. 동일하게 표시된 Plane 0은 채널별로 서로 다른 물리 자원이다. 영역 0은 채널당 Plane 0~3 등 4개 Plane을 사용하며, 4채널을 모두 활용한다. 비중첩 논리 영역을 각 Port가 읽는 합성 요청열에 맞춘 정적 L2P snapshot이다. 같은 물리 페이지의 offset 및 Channel 배치를 보존하고 Plane을 재배치한다. 64B 단위의 물리 분산이나 64B 단위 매핑을 추가하지 않았다. 동적 L2P와 편향 workload는 후속 검증이 필요하다.</a:t>
            </a:r>
          </a:p>
          <a:p>
            <a:endParaRPr/>
          </a:p>
          <a:p>
            <a:r>
              <a:t>출처</a:t>
            </a:r>
          </a:p>
          <a:p>
            <a:r>
              <a:t>https://github.com/JBRARAPARK/HBF_zNAND_Research/blob/22d9b33f085991f33d5273fdd9ce5688fb429fa4/results/znand/host_ceiling/RESULTS_KO.md</a:t>
            </a:r>
          </a:p>
          <a:p>
            <a:r>
              <a:t>https://github.com/JBRARAPARK/HBF_zNAND_Research/blob/22d9b33f085991f33d5273fdd9ce5688fb429fa4/results/znand/host_ceiling/snapshots/A2_64Plane.json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admission은 Port 0, 1, 2, 3 순서이고, 요청 수락 시 공유 controller buffer를 예약한다. 버퍼와 Port별 QD 제한을 조합해 기존 admission의 편중을 줄인 결과다. 공정 중재 알고리즘을 구현한 결과는 아니다. 표는 설정 상한과 실제 평균 outstanding을 구분한다. A1 8MiB QD2048은 총 2029.55개, QD512는 총 2006.69개로 총합이 비슷해도 Port 분포가 다르다. A1 고정 평균은 68.857856에서 255.365922GB/s, A2는 71.888925에서 255.058330GB/s다. Actual outstanding은 수락된 AR에서 마지막 응답 완료 수를 뺀 값이며, Host 대기 요청은 포함하지 않는다. A1은 head_locality와 4KiB stripe, A2는 locality와 16KiB stripe를 사용한다.</a:t>
            </a:r>
          </a:p>
          <a:p>
            <a:endParaRPr/>
          </a:p>
          <a:p>
            <a:r>
              <a:t>출처</a:t>
            </a:r>
          </a:p>
          <a:p>
            <a:r>
              <a:t>https://github.com/JBRARAPARK/HBF_zNAND_Research/blob/22d9b33f085991f33d5273fdd9ce5688fb429fa4/results/znand/saturation/sweep.csv</a:t>
            </a:r>
          </a:p>
          <a:p>
            <a:r>
              <a:t>https://github.com/JBRARAPARK/HBF_zNAND_Research/blob/22d9b33f085991f33d5273fdd9ce5688fb429fa4/results/znand/saturation/RESULTS_KO.md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 표는 버퍼별 QD를 함께 선택한 결과다. 4MiB는 측정 조합 중 A1/A2가 모두 200GB/s를 넘긴 최소 용량이며, 모든 슬롯 수와 QD를 전수 탐색한 절대 하한은 아니다. 8MiB와 16MiB의 QD512 쌍은 같은 QD에서 버퍼를 비교할 수 있다. A1은 255.365922/255.371651, A2는 255.058330/255.211219GB/s다. 최고 500µs 값과 고정 2ms 값을 혼용하지 않는다. PF OFF이므로 Host 요청만으로 이 수치를 관측했다. Controller buffer는 16KiB 작업 단위로 예약하며 마지막 연결 응답 후 해제하는 임시 버퍼다. 지속적인 demand cache나 LRU를 새로 도입한 결과가 아니다. B1/B2는 연속된 64B 모두를 읽는 패턴이 아니고, 각 4KiB 논리 페이지의 64B만 읽는다. 16KiB 물리 페이지당 4개 64B, 즉 256B를 사용하므로 명목 효율은 1/64이다. 모델 내 NAND 부분 전송은 없다.</a:t>
            </a:r>
          </a:p>
          <a:p>
            <a:endParaRPr/>
          </a:p>
          <a:p>
            <a:r>
              <a:t>출처</a:t>
            </a:r>
          </a:p>
          <a:p>
            <a:r>
              <a:t>https://github.com/JBRARAPARK/HBF_zNAND_Research/blob/22d9b33f085991f33d5273fdd9ce5688fb429fa4/results/znand/saturation/sweep.csv</a:t>
            </a:r>
          </a:p>
          <a:p>
            <a:r>
              <a:t>https://github.com/JBRARAPARK/HBF_zNAND_Research/blob/22d9b33f085991f33d5273fdd9ce5688fb429fa4/results/znand/saturation/RESULTS_KO.md</a:t>
            </a:r>
          </a:p>
          <a:p>
            <a:r>
              <a:t>https://github.com/JBRARAPARK/HBF_zNAND_Research/blob/22d9b33f085991f33d5273fdd9ce5688fb429fa4/results/znand/partial_saturation/RESULTS_KO.md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증거 목록과 원문은 아래 고정 커밋 URL로 제공한다. 본 자료는 제품 실측 성능이나 HBF 사양의 공식 보장이 아니다. 모델은 4개의 독립 Port가 4채널 전체를 공유하며, Plane당 page buffer 1개와 물리 16KiB page를 사용한다. 가용률 85%는 100µs 주기의 명목 15µs Plane 휴지 구간으로 모델링했다. 실제 GC 쓰기/erase trace를 실행한 것은 아니다. 이전 maintenance OFF 실험은 B 패턴 낙폭 원인 확인을 위한 대조군이며, 성능 개선 기준으로 채택하지 않았다. Controller cache 및 64B 물리 분산도 채택하지 않았다. 후속 후보는 Port별 수락의 공정성, 주소 편향 및 동적 매핑에서의 재현성 검증이다. 이번 정리는 기존 결과만 사용했으며 성능 엔진이나 입력 tR을 수정하지 않았다.</a:t>
            </a:r>
          </a:p>
          <a:p>
            <a:endParaRPr/>
          </a:p>
          <a:p>
            <a:r>
              <a:t>출처</a:t>
            </a:r>
          </a:p>
          <a:p>
            <a:r>
              <a:t>https://github.com/JBRARAPARK/HBF_zNAND_Research/blob/22d9b33f085991f33d5273fdd9ce5688fb429fa4/results/znand/locality/matched_comparison.csv</a:t>
            </a:r>
          </a:p>
          <a:p>
            <a:r>
              <a:t>https://github.com/JBRARAPARK/HBF_zNAND_Research/blob/22d9b33f085991f33d5273fdd9ce5688fb429fa4/results/znand/host_ceiling/sweep.csv</a:t>
            </a:r>
          </a:p>
          <a:p>
            <a:r>
              <a:t>https://github.com/JBRARAPARK/HBF_zNAND_Research/blob/22d9b33f085991f33d5273fdd9ce5688fb429fa4/results/znand/host_ceiling/timing_validation.json</a:t>
            </a:r>
          </a:p>
          <a:p>
            <a:r>
              <a:t>https://github.com/JBRARAPARK/HBF_zNAND_Research/blob/22d9b33f085991f33d5273fdd9ce5688fb429fa4/results/znand/saturation/sweep.csv</a:t>
            </a:r>
          </a:p>
          <a:p>
            <a:r>
              <a:t>https://github.com/JBRARAPARK/HBF_zNAND_Research/blob/22d9b33f085991f33d5273fdd9ce5688fb429fa4/results/znand/saturation/RESULTS_KO.md</a:t>
            </a:r>
          </a:p>
          <a:p>
            <a:r>
              <a:t>https://github.com/JBRARAPARK/HBF_zNAND_Research/blob/22d9b33f085991f33d5273fdd9ce5688fb429fa4/results/znand/partial_dips/RESULTS_KO.md</a:t>
            </a:r>
          </a:p>
          <a:p>
            <a:r>
              <a:t>https://github.com/JBRARAPARK/HBF_zNAND_Research/blob/22d9b33f085991f33d5273fdd9ce5688fb429fa4/docs/07_prefetch_tuning_ko.md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A1은 요청마다 다음 4KiB 논리 페이지를 읽고, A2는 3개 묶음의 0,2,1 순열을 반복한다. 예시의 페이지 번호는 1부터 표시했다. A2/B2는 전체 주소 영역의 균등 난수 접근이 아니다. B1/B2는 각 페이지의 offset 0에서 64B만 반환한다. B3는 3개 논리 페이지 묶음에서 0,2,0,1 순서로 읽고 세 번째 요청에만 offset 64를 적용한다. 그러므로 P1의 첫 64B와 재방문의 두 번째 64B는 다른 데이터지만 동일 논리 페이지에 속하며, 동일 물리 페이지로 매핑될 수 있다. NAND page buffer 또는 Controller buffer에서 재사용할 수 있는지는 그 시점의 상태에 따른다. 항상 hit이나 항상 새 tR을 가정하지 않는다. B3는 기존 유한 요청열 모델에 구현되어 있으나 최근 64 Plane의 2ms 지속 부하 비교에는 포함하지 않았다.</a:t>
            </a:r>
          </a:p>
          <a:p>
            <a:endParaRPr/>
          </a:p>
          <a:p>
            <a:r>
              <a:t>출처</a:t>
            </a:r>
          </a:p>
          <a:p>
            <a:r>
              <a:t>https://github.com/JBRARAPARK/HBF_zNAND_Research/blob/22d9b33f085991f33d5273fdd9ce5688fb429fa4/znand/model.py</a:t>
            </a:r>
          </a:p>
          <a:p>
            <a:r>
              <a:t>https://github.com/JBRARAPARK/HBF_zNAND_Research/blob/22d9b33f085991f33d5273fdd9ce5688fb429fa4/znand/saturation.py</a:t>
            </a:r>
          </a:p>
          <a:p>
            <a:r>
              <a:t>https://github.com/JBRARAPARK/HBF_zNAND_Research/blob/22d9b33f085991f33d5273fdd9ce5688fb429fa4/znand/partial_saturation.py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A1/A2의 16KiB당 유효 데이터는 4개의 4KiB 논리 요청 전체다. B1/B2는 각 4KiB 논리 페이지의 처음 64B만 읽으므로, 같은 물리 페이지의 4개 논리 영역을 다 사용해도 256B다. 명목 효율은 1/64이며, 실제 구간에서 반환한 Host 바이트와 완료한 NAND 전송량은 구간 경계 및 버퍼 체류 때문에 정확히 64배로 맞지 않을 수 있다. B1의 NAND 처리량은 256.778240GB/s, B2는 256.991232GB/s다. 8MiB와 QD512에서 A1/B1은 같은 4KiB stripe와 head_locality 프로파일 및 동일 매핑을 사용한다. A2는 16KiB stripe/locality, B2는 4KiB stripe/head_locality라 크기만의 효과를 분리한 쌍이 아니다. 작은 요청에 필요 없는 바이트를 더 반환하면 유효 성능이 자동으로 늘어나는 것은 아니다. 같은 물리 페이지에서 실제로 소비하는 데이터량과 재사용률이 중요하다. B3의 이전 32 Plane 유한 요청열 결과를 현재 64 Plane 지속 부하 표에 혼합하지 않았다.</a:t>
            </a:r>
          </a:p>
          <a:p>
            <a:endParaRPr/>
          </a:p>
          <a:p>
            <a:r>
              <a:t>출처</a:t>
            </a:r>
          </a:p>
          <a:p>
            <a:r>
              <a:t>https://github.com/JBRARAPARK/HBF_zNAND_Research/blob/22d9b33f085991f33d5273fdd9ce5688fb429fa4/results/znand/saturation/sweep.csv</a:t>
            </a:r>
          </a:p>
          <a:p>
            <a:r>
              <a:t>https://github.com/JBRARAPARK/HBF_zNAND_Research/blob/22d9b33f085991f33d5273fdd9ce5688fb429fa4/results/znand/partial_saturation/sweep.csv</a:t>
            </a:r>
          </a:p>
          <a:p>
            <a:r>
              <a:t>https://github.com/JBRARAPARK/HBF_zNAND_Research/blob/22d9b33f085991f33d5273fdd9ce5688fb429fa4/results/znand/partial_saturation/RESULTS_KO.md</a:t>
            </a:r>
          </a:p>
          <a:p>
            <a:r>
              <a:t>https://github.com/JBRARAPARK/HBF_zNAND_Research/blob/22d9b33f085991f33d5273fdd9ce5688fb429fa4/results/znand/partial_saturation/reference_validation.json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저장된 원시 CSV 4개에서 200–2200µs의 80개 25µs bin을 사용했다. 각 점은 bin 중심 시각이고 y값은 실제 Host payload bytes/time이다. 2ms 평균과 완료 요청 수는 sweep.csv와 재계산으로 검증했다. 선은 점을 이어 보여주며 추가 평활화는 하지 않았다. 시간별 그래프는 초기 200µs와 종료 drain을 제외한 지속 입력 조건이다. 최고 구간 선택이 아니라 고정 2ms 전체를 보여준다. GB/s는 decimal GB/s다. 좌우 Y축은 각각 0–280, 0–6이다.</a:t>
            </a:r>
          </a:p>
          <a:p xmlns:a="http://schemas.openxmlformats.org/drawingml/2006/main">
            <a:r>
              <a:t/>
            </a:r>
          </a:p>
          <a:p xmlns:a="http://schemas.openxmlformats.org/drawingml/2006/main">
            <a:r>
              <a:t>표시 순서 A1/A2, B1/B2. Device outstanding은 수락된 요청 중 최종 응답이 끝나지 않은 요청 수의 시간 평균이며 Host 대기열을 포함하지 않는다. 완료 건수와 outstanding은 모두 4 Port 합계다. QD512는 Port별 상한이다. A 평균/Host IF 256GB/s 비율은 A1 99.7523%, A2 99.6322%이다.</a:t>
            </a:r>
          </a:p>
          <a:p xmlns:a="http://schemas.openxmlformats.org/drawingml/2006/main">
            <a:r>
              <a:t/>
            </a:r>
          </a:p>
          <a:p xmlns:a="http://schemas.openxmlformats.org/drawingml/2006/main">
            <a:r>
              <a:t>B1/B2는 각 4KiB 논리 페이지 시작 64B를 요청한다. 한 16KiB 물리 페이지의 4개 영역에서 총256B만 사용해 명목 유효 비율이1/64이다. 실제 내부 NAND 전송은 약257GB/s, Long tR 비율은0%로 관측했다. A1/B1은 동일 매핑과 장치 설정이고 A2/B2는 stripe와CA정책이 달라 완전히 크기만 비교한 쌍은 아니다. B의 약4GB/s는 이 전체16KiB 출력 모델의 결과이며 모든64B workload의 상한이 아니다.</a:t>
            </a:r>
          </a:p>
          <a:p xmlns:a="http://schemas.openxmlformats.org/drawingml/2006/main">
            <a:r>
              <a:t/>
            </a:r>
          </a:p>
          <a:p xmlns:a="http://schemas.openxmlformats.org/drawingml/2006/main">
            <a:r>
              <a:t>주기적 하락의 원인은 별도 partial_dips 대조실험에서 확인했다. 가용률85%를 100µs 주기의Plane off로 모델링했고 in-order 선두가 늦어지면 준비된 후속응답도 대기한다. maintenance OFF 대조에서 큰 주기적 하락이 사라졌다. 이는 실제 NAND GC의 고유 주기를 주장하지 않는다. A의 데이터는4KiB 단위로 반환해 Host IF를 거의 계속 채우므로 동일한 지연 요인이 그래프에 덜 드러난다. B 곡선이 단기 약4GB/s 공급량 위로 오르는 구간은 준비된 버퍼 데이터를 몰아서 반환하는 현상이다.</a:t>
            </a:r>
          </a:p>
          <a:p xmlns:a="http://schemas.openxmlformats.org/drawingml/2006/main">
            <a:r>
              <a:t/>
            </a:r>
          </a:p>
          <a:p xmlns:a="http://schemas.openxmlformats.org/drawingml/2006/main">
            <a:r>
              <a:t>출처</a:t>
            </a:r>
          </a:p>
          <a:p xmlns:a="http://schemas.openxmlformats.org/drawingml/2006/main">
            <a:r>
              <a:t>https://github.com/JBRARAPARK/HBF_zNAND_Research/blob/d29c1bc2d4d5fca269295b53864d90ec402e0cf4/results/znand/saturation/timelines/A1_b8_q512.csv</a:t>
            </a:r>
          </a:p>
          <a:p xmlns:a="http://schemas.openxmlformats.org/drawingml/2006/main">
            <a:r>
              <a:t>https://github.com/JBRARAPARK/HBF_zNAND_Research/blob/d29c1bc2d4d5fca269295b53864d90ec402e0cf4/results/znand/saturation/timelines/A2_b8_q512.csv</a:t>
            </a:r>
          </a:p>
          <a:p xmlns:a="http://schemas.openxmlformats.org/drawingml/2006/main">
            <a:r>
              <a:t>https://github.com/JBRARAPARK/HBF_zNAND_Research/blob/d29c1bc2d4d5fca269295b53864d90ec402e0cf4/results/znand/partial_saturation/timelines/B1_b8_q512.csv</a:t>
            </a:r>
          </a:p>
          <a:p xmlns:a="http://schemas.openxmlformats.org/drawingml/2006/main">
            <a:r>
              <a:t>https://github.com/JBRARAPARK/HBF_zNAND_Research/blob/d29c1bc2d4d5fca269295b53864d90ec402e0cf4/results/znand/partial_saturation/timelines/B2_b8_q512.csv</a:t>
            </a:r>
          </a:p>
          <a:p xmlns:a="http://schemas.openxmlformats.org/drawingml/2006/main">
            <a:r>
              <a:t>https://github.com/JBRARAPARK/HBF_zNAND_Research/blob/d29c1bc2d4d5fca269295b53864d90ec402e0cf4/results/znand/partial_dips/RESULTS_KO.md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Type="http://schemas.openxmlformats.org/officeDocument/2006/relationships/slideMaster" Target="../slideMasters/slideMaster2.xml" Id="Rabb265cdf9fb456c"/></Relationships>
</file>

<file path=ppt/slideLayouts/_rels/slideLayout8.xml.rels><?xml version='1.0' encoding='UTF-8' standalone='yes'?>
<Relationships xmlns="http://schemas.openxmlformats.org/package/2006/relationships"><Relationship Type="http://schemas.openxmlformats.org/officeDocument/2006/relationships/slideMaster" Target="../slideMasters/slideMaster2.xml" Id="R701f72961b504915"/></Relationships>
</file>

<file path=ppt/slideLayouts/_rels/slideLayout9.xml.rels><?xml version='1.0' encoding='UTF-8' standalone='yes'?>
<Relationships xmlns="http://schemas.openxmlformats.org/package/2006/relationships"><Relationship Type="http://schemas.openxmlformats.org/officeDocument/2006/relationships/slideMaster" Target="../slideMasters/slideMaster2.xml" Id="Rd4d13e5cb48b463d"/></Relationships>
</file>

<file path=ppt/slideLayouts/_rels/slideLayout10.xml.rels><?xml version='1.0' encoding='UTF-8' standalone='yes'?>
<Relationships xmlns="http://schemas.openxmlformats.org/package/2006/relationships"><Relationship Type="http://schemas.openxmlformats.org/officeDocument/2006/relationships/slideMaster" Target="../slideMasters/slideMaster2.xml" Id="R1efb9a53e1a84d61"/></Relationships>
</file>

<file path=ppt/slideLayouts/_rels/slideLayout11.xml.rels><?xml version='1.0' encoding='UTF-8' standalone='yes'?>
<Relationships xmlns="http://schemas.openxmlformats.org/package/2006/relationships"><Relationship Type="http://schemas.openxmlformats.org/officeDocument/2006/relationships/slideMaster" Target="../slideMasters/slideMaster2.xml" Id="R255b76ca201a435d"/></Relationships>
</file>

<file path=ppt/slideLayouts/_rels/slideLayout12.xml.rels><?xml version='1.0' encoding='UTF-8' standalone='yes'?>
<Relationships xmlns="http://schemas.openxmlformats.org/package/2006/relationships"><Relationship Type="http://schemas.openxmlformats.org/officeDocument/2006/relationships/slideMaster" Target="../slideMasters/slideMaster2.xml" Id="Rc3982da18f7d41b6"/></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F636BB1-F513-4C1D-9B4F-76792A14354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B31BE40B-9F8B-4610-9912-E8DCD63F3443}"/>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CAC9C61-DFDA-449B-A218-A36CC80C24A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606A4E-04F2-436F-9AEF-2D5BF841F9C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B0D9746F-9049-400E-8ED5-F761DD83682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E9C0AA8-0690-4147-B4B8-A2A65900931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F060553-C356-402C-BB73-51CA83DE01D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133BF784-B6A1-443E-8B58-47723F1E48F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C90B573-02F1-4B9B-AD6A-04192FB9B4A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DC6D2A6-123F-482A-9D4F-139226D974C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DDFE56-5BDD-423D-AC7F-23D4BAC8DC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D6D617D-359B-45D7-98A0-CA02731C72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9.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CF19C0-471C-4A84-9A8B-1E8CEA6F6E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10.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FA18D6-D277-46B6-BE42-17594D4D3D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B3FDD8-0F9A-4C06-A901-BFAB2043FF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11.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CFF2C4E-8DD4-45EB-B08E-4BB3174869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69EC79-F02C-45D5-9B11-B9EE1BAEF2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99873E9-96C8-4C32-AD8F-79D83593ABA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12.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F97F04-5D5D-4C21-825B-7202B6C6E1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94EA82-3A37-4348-BEFD-67CFF7CE01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Type="http://schemas.openxmlformats.org/officeDocument/2006/relationships/theme" Target="theme/theme1.xml" Id="R3a9d6bef7b204784"/><Relationship Type="http://schemas.openxmlformats.org/officeDocument/2006/relationships/slideLayout" Target="../slideLayouts/slideLayout8.xml" Id="R2f17add912e24fa4"/><Relationship Type="http://schemas.openxmlformats.org/officeDocument/2006/relationships/slideLayout" Target="../slideLayouts/slideLayout9.xml" Id="R8aa5e4ffc1214580"/><Relationship Type="http://schemas.openxmlformats.org/officeDocument/2006/relationships/slideLayout" Target="../slideLayouts/slideLayout10.xml" Id="R79c3a23aa0824f18"/><Relationship Type="http://schemas.openxmlformats.org/officeDocument/2006/relationships/slideLayout" Target="../slideLayouts/slideLayout11.xml" Id="R4a4143e51d9a42eb"/><Relationship Type="http://schemas.openxmlformats.org/officeDocument/2006/relationships/slideLayout" Target="../slideLayouts/slideLayout12.xml" Id="R7865907315cc49b5"/><Relationship Type="http://schemas.openxmlformats.org/officeDocument/2006/relationships/slideLayout" Target="../slideLayouts/slideLayout7.xml" Id="R06ee93083e3546d4"/></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2f17add912e24fa4"/>
    <p:sldLayoutId xmlns:r="http://schemas.openxmlformats.org/officeDocument/2006/relationships" id="2147483656" r:id="R8aa5e4ffc1214580"/>
    <p:sldLayoutId xmlns:r="http://schemas.openxmlformats.org/officeDocument/2006/relationships" id="2147483657" r:id="R79c3a23aa0824f18"/>
    <p:sldLayoutId xmlns:r="http://schemas.openxmlformats.org/officeDocument/2006/relationships" id="2147483658" r:id="R4a4143e51d9a42eb"/>
    <p:sldLayoutId xmlns:r="http://schemas.openxmlformats.org/officeDocument/2006/relationships" id="2147483659" r:id="R7865907315cc49b5"/>
    <p:sldLayoutId xmlns:r="http://schemas.openxmlformats.org/officeDocument/2006/relationships" id="2147483660" r:id="R06ee93083e3546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Type="http://schemas.openxmlformats.org/officeDocument/2006/relationships/slideLayout" Target="../slideLayouts/slideLayout7.xml" Id="Rfd24ef7ee1bf45e1"/><Relationship Type="http://schemas.openxmlformats.org/officeDocument/2006/relationships/chart" Target="charts/chart1.xml" Id="Rf74d68ed40634fd1"/><Relationship Type="http://schemas.openxmlformats.org/officeDocument/2006/relationships/chart" Target="charts/chart2.xml" Id="R9e7376dfd8b54e3c"/><Relationship Type="http://schemas.openxmlformats.org/officeDocument/2006/relationships/notesSlide" Target="../notesSlides/notesSlide14.xml" Id="R83b918506e6c4394"/></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A1</c:v>
          </c:tx>
          <c:spPr>
            <a:ln xmlns:a="http://schemas.openxmlformats.org/drawingml/2006/main" w="21908">
              <a:solidFill>
                <a:srgbClr val="126DCA"/>
              </a:solidFill>
            </a:ln>
          </c:spPr>
          <c:marker>
            <c:symbol val="none"/>
          </c:marker>
          <c:xVal>
            <c:numRef>
              <c:f>'Chart Data'!$A$2:$A$81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Data'!$B$2:$B$81</c:f>
              <c:numCache>
                <c:formatCode>0</c:formatCode>
                <c:ptCount val="80"/>
                <c:pt idx="0">
                  <c:v>253.660245</c:v>
                </c:pt>
                <c:pt idx="1">
                  <c:v>256</c:v>
                </c:pt>
                <c:pt idx="2">
                  <c:v>256</c:v>
                </c:pt>
                <c:pt idx="3">
                  <c:v>256</c:v>
                </c:pt>
                <c:pt idx="4">
                  <c:v>250.367226</c:v>
                </c:pt>
                <c:pt idx="5">
                  <c:v>256</c:v>
                </c:pt>
                <c:pt idx="6">
                  <c:v>256</c:v>
                </c:pt>
                <c:pt idx="7">
                  <c:v>256</c:v>
                </c:pt>
                <c:pt idx="8">
                  <c:v>252.857498</c:v>
                </c:pt>
                <c:pt idx="9">
                  <c:v>256</c:v>
                </c:pt>
                <c:pt idx="10">
                  <c:v>256</c:v>
                </c:pt>
                <c:pt idx="11">
                  <c:v>256</c:v>
                </c:pt>
                <c:pt idx="12">
                  <c:v>253.075239</c:v>
                </c:pt>
                <c:pt idx="13">
                  <c:v>256</c:v>
                </c:pt>
                <c:pt idx="14">
                  <c:v>256</c:v>
                </c:pt>
                <c:pt idx="15">
                  <c:v>256</c:v>
                </c:pt>
                <c:pt idx="16">
                  <c:v>253.844839</c:v>
                </c:pt>
                <c:pt idx="17">
                  <c:v>256</c:v>
                </c:pt>
                <c:pt idx="18">
                  <c:v>256</c:v>
                </c:pt>
                <c:pt idx="19">
                  <c:v>256</c:v>
                </c:pt>
                <c:pt idx="20">
                  <c:v>252.750605</c:v>
                </c:pt>
                <c:pt idx="21">
                  <c:v>256</c:v>
                </c:pt>
                <c:pt idx="22">
                  <c:v>256</c:v>
                </c:pt>
                <c:pt idx="23">
                  <c:v>256</c:v>
                </c:pt>
                <c:pt idx="24">
                  <c:v>252.800777</c:v>
                </c:pt>
                <c:pt idx="25">
                  <c:v>256</c:v>
                </c:pt>
                <c:pt idx="26">
                  <c:v>256</c:v>
                </c:pt>
                <c:pt idx="27">
                  <c:v>256</c:v>
                </c:pt>
                <c:pt idx="28">
                  <c:v>256</c:v>
                </c:pt>
                <c:pt idx="29">
                  <c:v>256</c:v>
                </c:pt>
                <c:pt idx="30">
                  <c:v>256</c:v>
                </c:pt>
                <c:pt idx="31">
                  <c:v>256</c:v>
                </c:pt>
                <c:pt idx="32">
                  <c:v>252.759478</c:v>
                </c:pt>
                <c:pt idx="33">
                  <c:v>256</c:v>
                </c:pt>
                <c:pt idx="34">
                  <c:v>256</c:v>
                </c:pt>
                <c:pt idx="35">
                  <c:v>256</c:v>
                </c:pt>
                <c:pt idx="36">
                  <c:v>254.396318</c:v>
                </c:pt>
                <c:pt idx="37">
                  <c:v>256</c:v>
                </c:pt>
                <c:pt idx="38">
                  <c:v>256</c:v>
                </c:pt>
                <c:pt idx="39">
                  <c:v>256</c:v>
                </c:pt>
                <c:pt idx="40">
                  <c:v>254.021796</c:v>
                </c:pt>
                <c:pt idx="41">
                  <c:v>256</c:v>
                </c:pt>
                <c:pt idx="42">
                  <c:v>256</c:v>
                </c:pt>
                <c:pt idx="43">
                  <c:v>256</c:v>
                </c:pt>
                <c:pt idx="44">
                  <c:v>256</c:v>
                </c:pt>
                <c:pt idx="45">
                  <c:v>256</c:v>
                </c:pt>
                <c:pt idx="46">
                  <c:v>256</c:v>
                </c:pt>
                <c:pt idx="47">
                  <c:v>256</c:v>
                </c:pt>
                <c:pt idx="48">
                  <c:v>248.907105</c:v>
                </c:pt>
                <c:pt idx="49">
                  <c:v>256</c:v>
                </c:pt>
                <c:pt idx="50">
                  <c:v>256</c:v>
                </c:pt>
                <c:pt idx="51">
                  <c:v>256</c:v>
                </c:pt>
                <c:pt idx="52">
                  <c:v>251.08961</c:v>
                </c:pt>
                <c:pt idx="53">
                  <c:v>256</c:v>
                </c:pt>
                <c:pt idx="54">
                  <c:v>256</c:v>
                </c:pt>
                <c:pt idx="55">
                  <c:v>256</c:v>
                </c:pt>
                <c:pt idx="56">
                  <c:v>254.4225</c:v>
                </c:pt>
                <c:pt idx="57">
                  <c:v>256</c:v>
                </c:pt>
                <c:pt idx="58">
                  <c:v>256</c:v>
                </c:pt>
                <c:pt idx="59">
                  <c:v>256</c:v>
                </c:pt>
                <c:pt idx="60">
                  <c:v>250.351568</c:v>
                </c:pt>
                <c:pt idx="61">
                  <c:v>256</c:v>
                </c:pt>
                <c:pt idx="62">
                  <c:v>256</c:v>
                </c:pt>
                <c:pt idx="63">
                  <c:v>256</c:v>
                </c:pt>
                <c:pt idx="64">
                  <c:v>255.311819</c:v>
                </c:pt>
                <c:pt idx="65">
                  <c:v>256</c:v>
                </c:pt>
                <c:pt idx="66">
                  <c:v>256</c:v>
                </c:pt>
                <c:pt idx="67">
                  <c:v>256</c:v>
                </c:pt>
                <c:pt idx="68">
                  <c:v>256</c:v>
                </c:pt>
                <c:pt idx="69">
                  <c:v>256</c:v>
                </c:pt>
                <c:pt idx="70">
                  <c:v>256</c:v>
                </c:pt>
                <c:pt idx="71">
                  <c:v>256</c:v>
                </c:pt>
                <c:pt idx="72">
                  <c:v>254.657107</c:v>
                </c:pt>
                <c:pt idx="73">
                  <c:v>256</c:v>
                </c:pt>
                <c:pt idx="74">
                  <c:v>256</c:v>
                </c:pt>
                <c:pt idx="75">
                  <c:v>256</c:v>
                </c:pt>
                <c:pt idx="76">
                  <c:v>256</c:v>
                </c:pt>
                <c:pt idx="77">
                  <c:v>256</c:v>
                </c:pt>
                <c:pt idx="78">
                  <c:v>256</c:v>
                </c:pt>
                <c:pt idx="79">
                  <c:v>256</c:v>
                </c:pt>
              </c:numCache>
            </c:numRef>
          </c:yVal>
          <c:smooth val="0"/>
        </c:ser>
        <c:ser>
          <c:idx val="1"/>
          <c:order val="1"/>
          <c:tx>
            <c:v>A2</c:v>
          </c:tx>
          <c:spPr>
            <a:ln xmlns:a="http://schemas.openxmlformats.org/drawingml/2006/main" w="21908">
              <a:solidFill>
                <a:srgbClr val="008B82"/>
              </a:solidFill>
            </a:ln>
          </c:spPr>
          <c:marker>
            <c:symbol val="none"/>
          </c:marker>
          <c:xVal>
            <c:numRef>
              <c:f>'Chart Data'!$C$2:$C$81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Data'!$D$2:$D$81</c:f>
              <c:numCache>
                <c:formatCode>0</c:formatCode>
                <c:ptCount val="80"/>
                <c:pt idx="0">
                  <c:v>253.776555</c:v>
                </c:pt>
                <c:pt idx="1">
                  <c:v>256</c:v>
                </c:pt>
                <c:pt idx="2">
                  <c:v>256</c:v>
                </c:pt>
                <c:pt idx="3">
                  <c:v>256</c:v>
                </c:pt>
                <c:pt idx="4">
                  <c:v>249.717787</c:v>
                </c:pt>
                <c:pt idx="5">
                  <c:v>256</c:v>
                </c:pt>
                <c:pt idx="6">
                  <c:v>256</c:v>
                </c:pt>
                <c:pt idx="7">
                  <c:v>256</c:v>
                </c:pt>
                <c:pt idx="8">
                  <c:v>251.450928</c:v>
                </c:pt>
                <c:pt idx="9">
                  <c:v>256</c:v>
                </c:pt>
                <c:pt idx="10">
                  <c:v>256</c:v>
                </c:pt>
                <c:pt idx="11">
                  <c:v>256</c:v>
                </c:pt>
                <c:pt idx="12">
                  <c:v>252.208137</c:v>
                </c:pt>
                <c:pt idx="13">
                  <c:v>256</c:v>
                </c:pt>
                <c:pt idx="14">
                  <c:v>256</c:v>
                </c:pt>
                <c:pt idx="15">
                  <c:v>256</c:v>
                </c:pt>
                <c:pt idx="16">
                  <c:v>252.816284</c:v>
                </c:pt>
                <c:pt idx="17">
                  <c:v>256</c:v>
                </c:pt>
                <c:pt idx="18">
                  <c:v>256</c:v>
                </c:pt>
                <c:pt idx="19">
                  <c:v>256</c:v>
                </c:pt>
                <c:pt idx="20">
                  <c:v>256</c:v>
                </c:pt>
                <c:pt idx="21">
                  <c:v>256</c:v>
                </c:pt>
                <c:pt idx="22">
                  <c:v>256</c:v>
                </c:pt>
                <c:pt idx="23">
                  <c:v>256</c:v>
                </c:pt>
                <c:pt idx="24">
                  <c:v>252.905974</c:v>
                </c:pt>
                <c:pt idx="25">
                  <c:v>256</c:v>
                </c:pt>
                <c:pt idx="26">
                  <c:v>256</c:v>
                </c:pt>
                <c:pt idx="27">
                  <c:v>256</c:v>
                </c:pt>
                <c:pt idx="28">
                  <c:v>254.447729</c:v>
                </c:pt>
                <c:pt idx="29">
                  <c:v>256</c:v>
                </c:pt>
                <c:pt idx="30">
                  <c:v>256</c:v>
                </c:pt>
                <c:pt idx="31">
                  <c:v>256</c:v>
                </c:pt>
                <c:pt idx="32">
                  <c:v>255.960103</c:v>
                </c:pt>
                <c:pt idx="33">
                  <c:v>256</c:v>
                </c:pt>
                <c:pt idx="34">
                  <c:v>256</c:v>
                </c:pt>
                <c:pt idx="35">
                  <c:v>256</c:v>
                </c:pt>
                <c:pt idx="36">
                  <c:v>250.775187</c:v>
                </c:pt>
                <c:pt idx="37">
                  <c:v>256</c:v>
                </c:pt>
                <c:pt idx="38">
                  <c:v>256</c:v>
                </c:pt>
                <c:pt idx="39">
                  <c:v>256</c:v>
                </c:pt>
                <c:pt idx="40">
                  <c:v>251.953185</c:v>
                </c:pt>
                <c:pt idx="41">
                  <c:v>256</c:v>
                </c:pt>
                <c:pt idx="42">
                  <c:v>256</c:v>
                </c:pt>
                <c:pt idx="43">
                  <c:v>256</c:v>
                </c:pt>
                <c:pt idx="44">
                  <c:v>250.271393</c:v>
                </c:pt>
                <c:pt idx="45">
                  <c:v>256</c:v>
                </c:pt>
                <c:pt idx="46">
                  <c:v>256</c:v>
                </c:pt>
                <c:pt idx="47">
                  <c:v>256</c:v>
                </c:pt>
                <c:pt idx="48">
                  <c:v>249.859865</c:v>
                </c:pt>
                <c:pt idx="49">
                  <c:v>256</c:v>
                </c:pt>
                <c:pt idx="50">
                  <c:v>256</c:v>
                </c:pt>
                <c:pt idx="51">
                  <c:v>256</c:v>
                </c:pt>
                <c:pt idx="52">
                  <c:v>250.395033</c:v>
                </c:pt>
                <c:pt idx="53">
                  <c:v>256</c:v>
                </c:pt>
                <c:pt idx="54">
                  <c:v>256</c:v>
                </c:pt>
                <c:pt idx="55">
                  <c:v>256</c:v>
                </c:pt>
                <c:pt idx="56">
                  <c:v>249.134955</c:v>
                </c:pt>
                <c:pt idx="57">
                  <c:v>256</c:v>
                </c:pt>
                <c:pt idx="58">
                  <c:v>256</c:v>
                </c:pt>
                <c:pt idx="59">
                  <c:v>256</c:v>
                </c:pt>
                <c:pt idx="60">
                  <c:v>254.522133</c:v>
                </c:pt>
                <c:pt idx="61">
                  <c:v>256</c:v>
                </c:pt>
                <c:pt idx="62">
                  <c:v>256</c:v>
                </c:pt>
                <c:pt idx="63">
                  <c:v>256</c:v>
                </c:pt>
                <c:pt idx="64">
                  <c:v>255.988822</c:v>
                </c:pt>
                <c:pt idx="65">
                  <c:v>256</c:v>
                </c:pt>
                <c:pt idx="66">
                  <c:v>256</c:v>
                </c:pt>
                <c:pt idx="67">
                  <c:v>256</c:v>
                </c:pt>
                <c:pt idx="68">
                  <c:v>250.86948</c:v>
                </c:pt>
                <c:pt idx="69">
                  <c:v>256</c:v>
                </c:pt>
                <c:pt idx="70">
                  <c:v>256</c:v>
                </c:pt>
                <c:pt idx="71">
                  <c:v>256</c:v>
                </c:pt>
                <c:pt idx="72">
                  <c:v>250.932878</c:v>
                </c:pt>
                <c:pt idx="73">
                  <c:v>256</c:v>
                </c:pt>
                <c:pt idx="74">
                  <c:v>256</c:v>
                </c:pt>
                <c:pt idx="75">
                  <c:v>256</c:v>
                </c:pt>
                <c:pt idx="76">
                  <c:v>250.68001</c:v>
                </c:pt>
                <c:pt idx="77">
                  <c:v>256</c:v>
                </c:pt>
                <c:pt idx="78">
                  <c:v>256</c:v>
                </c:pt>
                <c:pt idx="79">
                  <c:v>256</c:v>
                </c:pt>
              </c:numCache>
            </c:numRef>
          </c:y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axId val="48650112"/>
        <c:axId val="48672768"/>
      </c:scatterChart>
      <c:valAx>
        <c:axId val="48672768"/>
        <c:scaling>
          <c:orientation val="minMax"/>
          <c:max val="280"/>
          <c:min val="0"/>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Host GB/s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50112"/>
        <c:majorUnit val="70"/>
      </c:valAx>
      <c:valAx>
        <c:axId val="48650112"/>
        <c:scaling>
          <c:orientation val="minMax"/>
          <c:max val="2.2"/>
          <c:min val="0.2"/>
        </c:scaling>
        <c:delete val="0"/>
        <c:axPos val="b"/>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시간 (ms)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72768"/>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73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B1</c:v>
          </c:tx>
          <c:spPr>
            <a:ln xmlns:a="http://schemas.openxmlformats.org/drawingml/2006/main" w="21908">
              <a:solidFill>
                <a:srgbClr val="126DCA"/>
              </a:solidFill>
            </a:ln>
          </c:spPr>
          <c:marker>
            <c:symbol val="none"/>
          </c:marker>
          <c:xVal>
            <c:numRef>
              <c:f>'Chart Data'!$A$2:$A$81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Data'!$B$2:$B$81</c:f>
              <c:numCache>
                <c:formatCode>0</c:formatCode>
                <c:ptCount val="80"/>
                <c:pt idx="0">
                  <c:v>2.61888</c:v>
                </c:pt>
                <c:pt idx="1">
                  <c:v>4.4672</c:v>
                </c:pt>
                <c:pt idx="2">
                  <c:v>4.38272</c:v>
                </c:pt>
                <c:pt idx="3">
                  <c:v>4.3008</c:v>
                </c:pt>
                <c:pt idx="4">
                  <c:v>2.98752</c:v>
                </c:pt>
                <c:pt idx="5">
                  <c:v>4.51072</c:v>
                </c:pt>
                <c:pt idx="6">
                  <c:v>4.259985</c:v>
                </c:pt>
                <c:pt idx="7">
                  <c:v>4.298095</c:v>
                </c:pt>
                <c:pt idx="8">
                  <c:v>2.98752</c:v>
                </c:pt>
                <c:pt idx="9">
                  <c:v>4.47232</c:v>
                </c:pt>
                <c:pt idx="10">
                  <c:v>4.21376</c:v>
                </c:pt>
                <c:pt idx="11">
                  <c:v>4.42368</c:v>
                </c:pt>
                <c:pt idx="12">
                  <c:v>2.94656</c:v>
                </c:pt>
                <c:pt idx="13">
                  <c:v>4.22656</c:v>
                </c:pt>
                <c:pt idx="14">
                  <c:v>4.58496</c:v>
                </c:pt>
                <c:pt idx="15">
                  <c:v>4.25984</c:v>
                </c:pt>
                <c:pt idx="16">
                  <c:v>2.8672</c:v>
                </c:pt>
                <c:pt idx="17">
                  <c:v>4.4288</c:v>
                </c:pt>
                <c:pt idx="18">
                  <c:v>4.33664</c:v>
                </c:pt>
                <c:pt idx="19">
                  <c:v>4.59008</c:v>
                </c:pt>
                <c:pt idx="20">
                  <c:v>2.74432</c:v>
                </c:pt>
                <c:pt idx="21">
                  <c:v>4.300263</c:v>
                </c:pt>
                <c:pt idx="22">
                  <c:v>4.421657</c:v>
                </c:pt>
                <c:pt idx="23">
                  <c:v>4.25472</c:v>
                </c:pt>
                <c:pt idx="24">
                  <c:v>2.947181</c:v>
                </c:pt>
                <c:pt idx="25">
                  <c:v>4.353939</c:v>
                </c:pt>
                <c:pt idx="26">
                  <c:v>4.41344</c:v>
                </c:pt>
                <c:pt idx="27">
                  <c:v>4.21888</c:v>
                </c:pt>
                <c:pt idx="28">
                  <c:v>2.99264</c:v>
                </c:pt>
                <c:pt idx="29">
                  <c:v>4.54656</c:v>
                </c:pt>
                <c:pt idx="30">
                  <c:v>4.17536</c:v>
                </c:pt>
                <c:pt idx="31">
                  <c:v>4.25984</c:v>
                </c:pt>
                <c:pt idx="32">
                  <c:v>2.74688</c:v>
                </c:pt>
                <c:pt idx="33">
                  <c:v>4.71296</c:v>
                </c:pt>
                <c:pt idx="34">
                  <c:v>4.00896</c:v>
                </c:pt>
                <c:pt idx="35">
                  <c:v>4.5056</c:v>
                </c:pt>
                <c:pt idx="36">
                  <c:v>2.685687</c:v>
                </c:pt>
                <c:pt idx="37">
                  <c:v>4.853513</c:v>
                </c:pt>
                <c:pt idx="38">
                  <c:v>4.01152</c:v>
                </c:pt>
                <c:pt idx="39">
                  <c:v>4.34432</c:v>
                </c:pt>
                <c:pt idx="40">
                  <c:v>2.82624</c:v>
                </c:pt>
                <c:pt idx="41">
                  <c:v>4.87424</c:v>
                </c:pt>
                <c:pt idx="42">
                  <c:v>4.17536</c:v>
                </c:pt>
                <c:pt idx="43">
                  <c:v>4.18048</c:v>
                </c:pt>
                <c:pt idx="44">
                  <c:v>2.82624</c:v>
                </c:pt>
                <c:pt idx="45">
                  <c:v>4.87424</c:v>
                </c:pt>
                <c:pt idx="46">
                  <c:v>4.17536</c:v>
                </c:pt>
                <c:pt idx="47">
                  <c:v>4.17792</c:v>
                </c:pt>
                <c:pt idx="48">
                  <c:v>2.50112</c:v>
                </c:pt>
                <c:pt idx="49">
                  <c:v>5.20192</c:v>
                </c:pt>
                <c:pt idx="50">
                  <c:v>3.93216</c:v>
                </c:pt>
                <c:pt idx="51">
                  <c:v>4.25984</c:v>
                </c:pt>
                <c:pt idx="52">
                  <c:v>2.49856</c:v>
                </c:pt>
                <c:pt idx="53">
                  <c:v>5.20192</c:v>
                </c:pt>
                <c:pt idx="54">
                  <c:v>4.096</c:v>
                </c:pt>
                <c:pt idx="55">
                  <c:v>4.25984</c:v>
                </c:pt>
                <c:pt idx="56">
                  <c:v>2.82624</c:v>
                </c:pt>
                <c:pt idx="57">
                  <c:v>4.58752</c:v>
                </c:pt>
                <c:pt idx="58">
                  <c:v>4.25984</c:v>
                </c:pt>
                <c:pt idx="59">
                  <c:v>4.25984</c:v>
                </c:pt>
                <c:pt idx="60">
                  <c:v>2.62144</c:v>
                </c:pt>
                <c:pt idx="61">
                  <c:v>5.03808</c:v>
                </c:pt>
                <c:pt idx="62">
                  <c:v>4.096</c:v>
                </c:pt>
                <c:pt idx="63">
                  <c:v>4.25984</c:v>
                </c:pt>
                <c:pt idx="64">
                  <c:v>2.49856</c:v>
                </c:pt>
                <c:pt idx="65">
                  <c:v>5.212948</c:v>
                </c:pt>
                <c:pt idx="66">
                  <c:v>4.084972</c:v>
                </c:pt>
                <c:pt idx="67">
                  <c:v>4.3008</c:v>
                </c:pt>
                <c:pt idx="68">
                  <c:v>2.62144</c:v>
                </c:pt>
                <c:pt idx="69">
                  <c:v>4.7104</c:v>
                </c:pt>
                <c:pt idx="70">
                  <c:v>4.25984</c:v>
                </c:pt>
                <c:pt idx="71">
                  <c:v>4.42368</c:v>
                </c:pt>
                <c:pt idx="72">
                  <c:v>2.33472</c:v>
                </c:pt>
                <c:pt idx="73">
                  <c:v>5.07904</c:v>
                </c:pt>
                <c:pt idx="74">
                  <c:v>4.096</c:v>
                </c:pt>
                <c:pt idx="75">
                  <c:v>4.25984</c:v>
                </c:pt>
                <c:pt idx="76">
                  <c:v>2.62144</c:v>
                </c:pt>
                <c:pt idx="77">
                  <c:v>5.03808</c:v>
                </c:pt>
                <c:pt idx="78">
                  <c:v>4.096</c:v>
                </c:pt>
                <c:pt idx="79">
                  <c:v>4.25984</c:v>
                </c:pt>
              </c:numCache>
            </c:numRef>
          </c:yVal>
          <c:smooth val="0"/>
        </c:ser>
        <c:ser>
          <c:idx val="1"/>
          <c:order val="1"/>
          <c:tx>
            <c:v>B2</c:v>
          </c:tx>
          <c:spPr>
            <a:ln xmlns:a="http://schemas.openxmlformats.org/drawingml/2006/main" w="21908">
              <a:solidFill>
                <a:srgbClr val="008B82"/>
              </a:solidFill>
            </a:ln>
          </c:spPr>
          <c:marker>
            <c:symbol val="none"/>
          </c:marker>
          <c:xVal>
            <c:numRef>
              <c:f>'Chart Data'!$C$2:$C$81</c:f>
              <c:numCache>
                <c:formatCode>General</c:formatCode>
                <c:ptCount val="80"/>
                <c:pt idx="0">
                  <c:v>0.2125</c:v>
                </c:pt>
                <c:pt idx="1">
                  <c:v>0.2375</c:v>
                </c:pt>
                <c:pt idx="2">
                  <c:v>0.2625</c:v>
                </c:pt>
                <c:pt idx="3">
                  <c:v>0.2875</c:v>
                </c:pt>
                <c:pt idx="4">
                  <c:v>0.3125</c:v>
                </c:pt>
                <c:pt idx="5">
                  <c:v>0.3375</c:v>
                </c:pt>
                <c:pt idx="6">
                  <c:v>0.3625</c:v>
                </c:pt>
                <c:pt idx="7">
                  <c:v>0.3875</c:v>
                </c:pt>
                <c:pt idx="8">
                  <c:v>0.4125</c:v>
                </c:pt>
                <c:pt idx="9">
                  <c:v>0.4375</c:v>
                </c:pt>
                <c:pt idx="10">
                  <c:v>0.4625</c:v>
                </c:pt>
                <c:pt idx="11">
                  <c:v>0.4875</c:v>
                </c:pt>
                <c:pt idx="12">
                  <c:v>0.5125</c:v>
                </c:pt>
                <c:pt idx="13">
                  <c:v>0.5375</c:v>
                </c:pt>
                <c:pt idx="14">
                  <c:v>0.5625</c:v>
                </c:pt>
                <c:pt idx="15">
                  <c:v>0.5875</c:v>
                </c:pt>
                <c:pt idx="16">
                  <c:v>0.6125</c:v>
                </c:pt>
                <c:pt idx="17">
                  <c:v>0.6375</c:v>
                </c:pt>
                <c:pt idx="18">
                  <c:v>0.6625</c:v>
                </c:pt>
                <c:pt idx="19">
                  <c:v>0.6875</c:v>
                </c:pt>
                <c:pt idx="20">
                  <c:v>0.7125</c:v>
                </c:pt>
                <c:pt idx="21">
                  <c:v>0.7375</c:v>
                </c:pt>
                <c:pt idx="22">
                  <c:v>0.7625</c:v>
                </c:pt>
                <c:pt idx="23">
                  <c:v>0.7875</c:v>
                </c:pt>
                <c:pt idx="24">
                  <c:v>0.8125</c:v>
                </c:pt>
                <c:pt idx="25">
                  <c:v>0.8375</c:v>
                </c:pt>
                <c:pt idx="26">
                  <c:v>0.8625</c:v>
                </c:pt>
                <c:pt idx="27">
                  <c:v>0.8875</c:v>
                </c:pt>
                <c:pt idx="28">
                  <c:v>0.9125</c:v>
                </c:pt>
                <c:pt idx="29">
                  <c:v>0.9375</c:v>
                </c:pt>
                <c:pt idx="30">
                  <c:v>0.9625</c:v>
                </c:pt>
                <c:pt idx="31">
                  <c:v>0.9875</c:v>
                </c:pt>
                <c:pt idx="32">
                  <c:v>1.0125</c:v>
                </c:pt>
                <c:pt idx="33">
                  <c:v>1.0375</c:v>
                </c:pt>
                <c:pt idx="34">
                  <c:v>1.0625</c:v>
                </c:pt>
                <c:pt idx="35">
                  <c:v>1.0875</c:v>
                </c:pt>
                <c:pt idx="36">
                  <c:v>1.1125</c:v>
                </c:pt>
                <c:pt idx="37">
                  <c:v>1.1375</c:v>
                </c:pt>
                <c:pt idx="38">
                  <c:v>1.1625</c:v>
                </c:pt>
                <c:pt idx="39">
                  <c:v>1.1875</c:v>
                </c:pt>
                <c:pt idx="40">
                  <c:v>1.2125</c:v>
                </c:pt>
                <c:pt idx="41">
                  <c:v>1.2375</c:v>
                </c:pt>
                <c:pt idx="42">
                  <c:v>1.2625</c:v>
                </c:pt>
                <c:pt idx="43">
                  <c:v>1.2875</c:v>
                </c:pt>
                <c:pt idx="44">
                  <c:v>1.3125</c:v>
                </c:pt>
                <c:pt idx="45">
                  <c:v>1.3375</c:v>
                </c:pt>
                <c:pt idx="46">
                  <c:v>1.3625</c:v>
                </c:pt>
                <c:pt idx="47">
                  <c:v>1.3875</c:v>
                </c:pt>
                <c:pt idx="48">
                  <c:v>1.4125</c:v>
                </c:pt>
                <c:pt idx="49">
                  <c:v>1.4375</c:v>
                </c:pt>
                <c:pt idx="50">
                  <c:v>1.4625</c:v>
                </c:pt>
                <c:pt idx="51">
                  <c:v>1.4875</c:v>
                </c:pt>
                <c:pt idx="52">
                  <c:v>1.5125</c:v>
                </c:pt>
                <c:pt idx="53">
                  <c:v>1.5375</c:v>
                </c:pt>
                <c:pt idx="54">
                  <c:v>1.5625</c:v>
                </c:pt>
                <c:pt idx="55">
                  <c:v>1.5875</c:v>
                </c:pt>
                <c:pt idx="56">
                  <c:v>1.6125</c:v>
                </c:pt>
                <c:pt idx="57">
                  <c:v>1.6375</c:v>
                </c:pt>
                <c:pt idx="58">
                  <c:v>1.6625</c:v>
                </c:pt>
                <c:pt idx="59">
                  <c:v>1.6875</c:v>
                </c:pt>
                <c:pt idx="60">
                  <c:v>1.7125</c:v>
                </c:pt>
                <c:pt idx="61">
                  <c:v>1.7375</c:v>
                </c:pt>
                <c:pt idx="62">
                  <c:v>1.7625</c:v>
                </c:pt>
                <c:pt idx="63">
                  <c:v>1.7875</c:v>
                </c:pt>
                <c:pt idx="64">
                  <c:v>1.8125</c:v>
                </c:pt>
                <c:pt idx="65">
                  <c:v>1.8375</c:v>
                </c:pt>
                <c:pt idx="66">
                  <c:v>1.8625</c:v>
                </c:pt>
                <c:pt idx="67">
                  <c:v>1.8875</c:v>
                </c:pt>
                <c:pt idx="68">
                  <c:v>1.9125</c:v>
                </c:pt>
                <c:pt idx="69">
                  <c:v>1.9375</c:v>
                </c:pt>
                <c:pt idx="70">
                  <c:v>1.9625</c:v>
                </c:pt>
                <c:pt idx="71">
                  <c:v>1.9875</c:v>
                </c:pt>
                <c:pt idx="72">
                  <c:v>2.0125</c:v>
                </c:pt>
                <c:pt idx="73">
                  <c:v>2.0375</c:v>
                </c:pt>
                <c:pt idx="74">
                  <c:v>2.0625</c:v>
                </c:pt>
                <c:pt idx="75">
                  <c:v>2.0875</c:v>
                </c:pt>
                <c:pt idx="76">
                  <c:v>2.1125</c:v>
                </c:pt>
                <c:pt idx="77">
                  <c:v>2.1375</c:v>
                </c:pt>
                <c:pt idx="78">
                  <c:v>2.1625</c:v>
                </c:pt>
                <c:pt idx="79">
                  <c:v>2.1875</c:v>
                </c:pt>
              </c:numCache>
            </c:numRef>
          </c:xVal>
          <c:yVal>
            <c:numRef>
              <c:f>'Chart Data'!$D$2:$D$81</c:f>
              <c:numCache>
                <c:formatCode>0</c:formatCode>
                <c:ptCount val="80"/>
                <c:pt idx="0">
                  <c:v>2.62656</c:v>
                </c:pt>
                <c:pt idx="1">
                  <c:v>4.4544</c:v>
                </c:pt>
                <c:pt idx="2">
                  <c:v>4.38272</c:v>
                </c:pt>
                <c:pt idx="3">
                  <c:v>4.30848</c:v>
                </c:pt>
                <c:pt idx="4">
                  <c:v>3.14624</c:v>
                </c:pt>
                <c:pt idx="5">
                  <c:v>4.34688</c:v>
                </c:pt>
                <c:pt idx="6">
                  <c:v>4.30592</c:v>
                </c:pt>
                <c:pt idx="7">
                  <c:v>4.2624</c:v>
                </c:pt>
                <c:pt idx="8">
                  <c:v>3.02592</c:v>
                </c:pt>
                <c:pt idx="9">
                  <c:v>4.43392</c:v>
                </c:pt>
                <c:pt idx="10">
                  <c:v>4.21376</c:v>
                </c:pt>
                <c:pt idx="11">
                  <c:v>4.416</c:v>
                </c:pt>
                <c:pt idx="12">
                  <c:v>2.875317</c:v>
                </c:pt>
                <c:pt idx="13">
                  <c:v>4.302923</c:v>
                </c:pt>
                <c:pt idx="14">
                  <c:v>4.5824</c:v>
                </c:pt>
                <c:pt idx="15">
                  <c:v>4.258875</c:v>
                </c:pt>
                <c:pt idx="16">
                  <c:v>2.868165</c:v>
                </c:pt>
                <c:pt idx="17">
                  <c:v>4.43904</c:v>
                </c:pt>
                <c:pt idx="18">
                  <c:v>4.20352</c:v>
                </c:pt>
                <c:pt idx="19">
                  <c:v>4.544</c:v>
                </c:pt>
                <c:pt idx="20">
                  <c:v>2.950948</c:v>
                </c:pt>
                <c:pt idx="21">
                  <c:v>4.263132</c:v>
                </c:pt>
                <c:pt idx="22">
                  <c:v>4.25984</c:v>
                </c:pt>
                <c:pt idx="23">
                  <c:v>4.3264</c:v>
                </c:pt>
                <c:pt idx="24">
                  <c:v>2.95424</c:v>
                </c:pt>
                <c:pt idx="25">
                  <c:v>4.3904</c:v>
                </c:pt>
                <c:pt idx="26">
                  <c:v>4.29312</c:v>
                </c:pt>
                <c:pt idx="27">
                  <c:v>4.4672</c:v>
                </c:pt>
                <c:pt idx="28">
                  <c:v>2.90304</c:v>
                </c:pt>
                <c:pt idx="29">
                  <c:v>4.51584</c:v>
                </c:pt>
                <c:pt idx="30">
                  <c:v>4.05248</c:v>
                </c:pt>
                <c:pt idx="31">
                  <c:v>4.416</c:v>
                </c:pt>
                <c:pt idx="32">
                  <c:v>2.7904</c:v>
                </c:pt>
                <c:pt idx="33">
                  <c:v>4.67968</c:v>
                </c:pt>
                <c:pt idx="34">
                  <c:v>4.16768</c:v>
                </c:pt>
                <c:pt idx="35">
                  <c:v>4.42368</c:v>
                </c:pt>
                <c:pt idx="36">
                  <c:v>3.07712</c:v>
                </c:pt>
                <c:pt idx="37">
                  <c:v>4.38528</c:v>
                </c:pt>
                <c:pt idx="38">
                  <c:v>4.00896</c:v>
                </c:pt>
                <c:pt idx="39">
                  <c:v>4.42368</c:v>
                </c:pt>
                <c:pt idx="40">
                  <c:v>3.06944</c:v>
                </c:pt>
                <c:pt idx="41">
                  <c:v>4.54912</c:v>
                </c:pt>
                <c:pt idx="42">
                  <c:v>4.01152</c:v>
                </c:pt>
                <c:pt idx="43">
                  <c:v>4.416</c:v>
                </c:pt>
                <c:pt idx="44">
                  <c:v>3.0848</c:v>
                </c:pt>
                <c:pt idx="45">
                  <c:v>4.70272</c:v>
                </c:pt>
                <c:pt idx="46">
                  <c:v>3.68384</c:v>
                </c:pt>
                <c:pt idx="47">
                  <c:v>4.42368</c:v>
                </c:pt>
                <c:pt idx="48">
                  <c:v>3.2512</c:v>
                </c:pt>
                <c:pt idx="49">
                  <c:v>4.36992</c:v>
                </c:pt>
                <c:pt idx="50">
                  <c:v>4.34176</c:v>
                </c:pt>
                <c:pt idx="51">
                  <c:v>4.26496</c:v>
                </c:pt>
                <c:pt idx="52">
                  <c:v>2.9184</c:v>
                </c:pt>
                <c:pt idx="53">
                  <c:v>4.6976</c:v>
                </c:pt>
                <c:pt idx="54">
                  <c:v>4.01408</c:v>
                </c:pt>
                <c:pt idx="55">
                  <c:v>4.26496</c:v>
                </c:pt>
                <c:pt idx="56">
                  <c:v>3.06944</c:v>
                </c:pt>
                <c:pt idx="57">
                  <c:v>4.7104</c:v>
                </c:pt>
                <c:pt idx="58">
                  <c:v>4.01664</c:v>
                </c:pt>
                <c:pt idx="59">
                  <c:v>4.25728</c:v>
                </c:pt>
                <c:pt idx="60">
                  <c:v>2.74432</c:v>
                </c:pt>
                <c:pt idx="61">
                  <c:v>5.03808</c:v>
                </c:pt>
                <c:pt idx="62">
                  <c:v>4.09856</c:v>
                </c:pt>
                <c:pt idx="63">
                  <c:v>4.26496</c:v>
                </c:pt>
                <c:pt idx="64">
                  <c:v>2.97728</c:v>
                </c:pt>
                <c:pt idx="65">
                  <c:v>4.87936</c:v>
                </c:pt>
                <c:pt idx="66">
                  <c:v>4.01408</c:v>
                </c:pt>
                <c:pt idx="67">
                  <c:v>4.34176</c:v>
                </c:pt>
                <c:pt idx="68">
                  <c:v>2.49344</c:v>
                </c:pt>
                <c:pt idx="69">
                  <c:v>5.04576</c:v>
                </c:pt>
                <c:pt idx="70">
                  <c:v>4.09856</c:v>
                </c:pt>
                <c:pt idx="71">
                  <c:v>4.09088</c:v>
                </c:pt>
                <c:pt idx="72">
                  <c:v>2.65984</c:v>
                </c:pt>
                <c:pt idx="73">
                  <c:v>5.04576</c:v>
                </c:pt>
                <c:pt idx="74">
                  <c:v>4.09856</c:v>
                </c:pt>
                <c:pt idx="75">
                  <c:v>4.2496</c:v>
                </c:pt>
                <c:pt idx="76">
                  <c:v>2.50112</c:v>
                </c:pt>
                <c:pt idx="77">
                  <c:v>5.20448</c:v>
                </c:pt>
                <c:pt idx="78">
                  <c:v>3.983187</c:v>
                </c:pt>
                <c:pt idx="79">
                  <c:v>4.364973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a:ln xmlns:a="http://schemas.openxmlformats.org/drawingml/2006/main" w="9525">
              <a:solidFill>
                <a:srgbClr val="DFE6EB"/>
              </a:solidFill>
            </a:ln>
          </c:spPr>
        </c:majorGridlines>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Host GB/s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50112"/>
        <c:majorUnit val="2"/>
      </c:valAx>
      <c:valAx>
        <c:axId val="48650112"/>
        <c:scaling>
          <c:orientation val="minMax"/>
          <c:max val="2.2"/>
          <c:min val="0.2"/>
        </c:scaling>
        <c:delete val="0"/>
        <c:axPos val="b"/>
        <c:title>
          <c:tx>
            <c:rich>
              <a:bodyPr xmlns:a="http://schemas.openxmlformats.org/drawingml/2006/main"/>
              <a:lstStyle xmlns:a="http://schemas.openxmlformats.org/drawingml/2006/main"/>
              <a:p xmlns:a="http://schemas.openxmlformats.org/drawingml/2006/main">
                <a:r>
                  <a:rPr sz="1350">
                    <a:solidFill>
                      <a:srgbClr val="586875"/>
                    </a:solidFill>
                    <a:latin typeface="Apple SD Gothic Neo"/>
                    <a:ea typeface="Apple SD Gothic Neo"/>
                    <a:cs typeface="Apple SD Gothic Neo"/>
                  </a:rPr>
                  <a:t>시간 (ms)</a:t>
                </a:r>
              </a:p>
            </c:rich>
          </c:tx>
          <c:overlay val="0"/>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title>
        <c:numFmt formatCode="0.0"/>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350">
                <a:solidFill>
                  <a:srgbClr val="586875"/>
                </a:solidFill>
                <a:latin typeface="Apple SD Gothic Neo"/>
                <a:ea typeface="Apple SD Gothic Neo"/>
                <a:cs typeface="Apple SD Gothic Neo"/>
              </a:defRPr>
            </a:pPr>
          </a:p>
        </c:txPr>
        <c:crossAx val="48672768"/>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738"/>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 name="title">
            <a:extLst>
              <a:ext uri="{FF2B5EF4-FFF2-40B4-BE49-F238E27FC236}">
                <a16:creationId xmlns:a16="http://schemas.microsoft.com/office/drawing/2014/main" id="{24AE0245-A0E3-4B8E-B323-E15FE5128825}"/>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모델 구조와 주요 가변 요소</a:t>
            </a:r>
          </a:p>
        </p:txBody>
      </p:sp>
      <p:sp>
        <p:nvSpPr>
          <p:cNvPr id="2" name="subtitle">
            <a:extLst>
              <a:ext uri="{FF2B5EF4-FFF2-40B4-BE49-F238E27FC236}">
                <a16:creationId xmlns:a16="http://schemas.microsoft.com/office/drawing/2014/main" id="{A858E7BB-EA75-4999-9E92-3C75B0CBE0AD}"/>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주황색은 조정 가능한 항목입니다. 현재 대표 설정을 각 블록에 함께 표시했습니다.</a:t>
            </a:r>
          </a:p>
        </p:txBody>
      </p:sp>
      <p:sp>
        <p:nvSpPr>
          <p:cNvPr id="3" name="footer">
            <a:extLst>
              <a:ext uri="{FF2B5EF4-FFF2-40B4-BE49-F238E27FC236}">
                <a16:creationId xmlns:a16="http://schemas.microsoft.com/office/drawing/2014/main" id="{B19B494E-C19B-4FE5-82FD-E9CD492ACB86}"/>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모델 구조도    2026-10-11    대표 기준: 4 Port · 총 64 Plane · 8MiB · QD512/Port · PF OFF</a:t>
            </a:r>
          </a:p>
        </p:txBody>
      </p:sp>
      <p:sp>
        <p:nvSpPr>
          <p:cNvPr id="4" name="page">
            <a:extLst>
              <a:ext uri="{FF2B5EF4-FFF2-40B4-BE49-F238E27FC236}">
                <a16:creationId xmlns:a16="http://schemas.microsoft.com/office/drawing/2014/main" id="{098C21F6-27E6-45F1-B7BC-6DB9D80DAE48}"/>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01</a:t>
            </a:r>
          </a:p>
        </p:txBody>
      </p:sp>
      <p:sp>
        <p:nvSpPr>
          <p:cNvPr id="5" name="host-container">
            <a:extLst>
              <a:ext uri="{FF2B5EF4-FFF2-40B4-BE49-F238E27FC236}">
                <a16:creationId xmlns:a16="http://schemas.microsoft.com/office/drawing/2014/main" id="{AEDA70EF-9CC5-439C-A056-D571372ECBC0}"/>
              </a:ext>
            </a:extLst>
          </p:cNvPr>
          <p:cNvSpPr>
            <a:spLocks noGrp="1"/>
          </p:cNvSpPr>
          <p:nvPr/>
        </p:nvSpPr>
        <p:spPr>
          <a:xfrm>
            <a:off x="533400" y="1952625"/>
            <a:ext cx="1638300" cy="3286125"/>
          </a:xfrm>
          <a:prstGeom prst="rect">
            <a:avLst/>
          </a:prstGeom>
          <a:solidFill>
            <a:srgbClr val="F1F5F8"/>
          </a:solidFill>
          <a:ln w="14288">
            <a:solidFill>
              <a:srgbClr val="DFE6EB"/>
            </a:solidFill>
            <a:prstDash val="solid"/>
          </a:ln>
        </p:spPr>
        <p:txBody>
          <a:bodyPr/>
          <a:lstStyle/>
          <a:p>
            <a:endParaRPr lang="ko-KR" altLang="en-US"/>
          </a:p>
        </p:txBody>
      </p:sp>
      <p:sp>
        <p:nvSpPr>
          <p:cNvPr id="6" name="controller-container">
            <a:extLst>
              <a:ext uri="{FF2B5EF4-FFF2-40B4-BE49-F238E27FC236}">
                <a16:creationId xmlns:a16="http://schemas.microsoft.com/office/drawing/2014/main" id="{A81E2DDA-435A-48FD-8660-2C8D024703D8}"/>
              </a:ext>
            </a:extLst>
          </p:cNvPr>
          <p:cNvSpPr>
            <a:spLocks noGrp="1"/>
          </p:cNvSpPr>
          <p:nvPr/>
        </p:nvSpPr>
        <p:spPr>
          <a:xfrm>
            <a:off x="2628900" y="1952625"/>
            <a:ext cx="5391150" cy="3286125"/>
          </a:xfrm>
          <a:prstGeom prst="rect">
            <a:avLst/>
          </a:prstGeom>
          <a:solidFill>
            <a:srgbClr val="F8FAFC"/>
          </a:solidFill>
          <a:ln w="14288">
            <a:solidFill>
              <a:srgbClr val="DFE6EB"/>
            </a:solidFill>
            <a:prstDash val="solid"/>
          </a:ln>
        </p:spPr>
        <p:txBody>
          <a:bodyPr/>
          <a:lstStyle/>
          <a:p>
            <a:endParaRPr lang="ko-KR" altLang="en-US"/>
          </a:p>
        </p:txBody>
      </p:sp>
      <p:sp>
        <p:nvSpPr>
          <p:cNvPr id="7" name="nand-container">
            <a:extLst>
              <a:ext uri="{FF2B5EF4-FFF2-40B4-BE49-F238E27FC236}">
                <a16:creationId xmlns:a16="http://schemas.microsoft.com/office/drawing/2014/main" id="{888543F1-FD7B-48B4-B3EC-290C5FEFABC0}"/>
              </a:ext>
            </a:extLst>
          </p:cNvPr>
          <p:cNvSpPr>
            <a:spLocks noGrp="1"/>
          </p:cNvSpPr>
          <p:nvPr/>
        </p:nvSpPr>
        <p:spPr>
          <a:xfrm>
            <a:off x="8467725" y="1952625"/>
            <a:ext cx="3190875" cy="3286125"/>
          </a:xfrm>
          <a:prstGeom prst="rect">
            <a:avLst/>
          </a:prstGeom>
          <a:solidFill>
            <a:srgbClr val="F8FAFC"/>
          </a:solidFill>
          <a:ln w="14288">
            <a:solidFill>
              <a:srgbClr val="DFE6EB"/>
            </a:solidFill>
            <a:prstDash val="solid"/>
          </a:ln>
        </p:spPr>
        <p:txBody>
          <a:bodyPr/>
          <a:lstStyle/>
          <a:p>
            <a:endParaRPr lang="ko-KR" altLang="en-US"/>
          </a:p>
        </p:txBody>
      </p:sp>
      <p:sp>
        <p:nvSpPr>
          <p:cNvPr id="8" name="host-heading">
            <a:extLst>
              <a:ext uri="{FF2B5EF4-FFF2-40B4-BE49-F238E27FC236}">
                <a16:creationId xmlns:a16="http://schemas.microsoft.com/office/drawing/2014/main" id="{9170059D-FDFE-48A5-9BA6-C22C723B164A}"/>
              </a:ext>
            </a:extLst>
          </p:cNvPr>
          <p:cNvSpPr>
            <a:spLocks noGrp="1"/>
          </p:cNvSpPr>
          <p:nvPr/>
        </p:nvSpPr>
        <p:spPr>
          <a:xfrm>
            <a:off x="685800" y="2076450"/>
            <a:ext cx="1352550" cy="314325"/>
          </a:xfrm>
          <a:prstGeom prst="rect">
            <a:avLst/>
          </a:prstGeom>
          <a:noFill/>
          <a:ln w="0">
            <a:noFill/>
          </a:ln>
        </p:spPr>
        <p:txBody>
          <a:bodyPr wrap="square" lIns="0" tIns="0" rIns="0" bIns="0" anchor="t">
            <a:noAutofit/>
          </a:bodyPr>
          <a:lstStyle>
            <a:defPPr>
              <a:defRPr sz="2025" b="1">
                <a:solidFill>
                  <a:srgbClr val="172738"/>
                </a:solidFill>
                <a:latin typeface="Apple SD Gothic Neo"/>
                <a:ea typeface="Apple SD Gothic Neo"/>
                <a:cs typeface="Apple SD Gothic Neo"/>
              </a:defRPr>
            </a:defPPr>
          </a:lstStyle>
          <a:p>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Host</a:t>
            </a:r>
          </a:p>
        </p:txBody>
      </p:sp>
      <p:sp>
        <p:nvSpPr>
          <p:cNvPr id="9" name="host-ports-setting">
            <a:extLst>
              <a:ext uri="{FF2B5EF4-FFF2-40B4-BE49-F238E27FC236}">
                <a16:creationId xmlns:a16="http://schemas.microsoft.com/office/drawing/2014/main" id="{68AEAB9D-8FDB-47A6-8631-2898D4259ADF}"/>
              </a:ext>
            </a:extLst>
          </p:cNvPr>
          <p:cNvSpPr>
            <a:spLocks noGrp="1"/>
          </p:cNvSpPr>
          <p:nvPr/>
        </p:nvSpPr>
        <p:spPr>
          <a:xfrm>
            <a:off x="685800" y="2447925"/>
            <a:ext cx="1409700" cy="561975"/>
          </a:xfrm>
          <a:prstGeom prst="rect">
            <a:avLst/>
          </a:prstGeom>
          <a:noFill/>
          <a:ln w="0">
            <a:noFill/>
          </a:ln>
        </p:spPr>
        <p:txBody>
          <a:bodyPr wrap="square" lIns="0" tIns="0" rIns="0" bIns="0" anchor="t">
            <a:noAutofit/>
          </a:bodyPr>
          <a:lstStyle>
            <a:defPPr>
              <a:defRPr sz="1650" b="1">
                <a:solidFill>
                  <a:srgbClr val="B65D13"/>
                </a:solidFill>
                <a:latin typeface="Apple SD Gothic Neo"/>
                <a:ea typeface="Apple SD Gothic Neo"/>
                <a:cs typeface="Apple SD Gothic Neo"/>
              </a:defRPr>
            </a:defPPr>
          </a:lstStyle>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Port 1–4개</a:t>
            </a:r>
          </a:p>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현재 4개</a:t>
            </a:r>
          </a:p>
        </p:txBody>
      </p:sp>
      <p:sp>
        <p:nvSpPr>
          <p:cNvPr id="10" name="host-port-0">
            <a:extLst>
              <a:ext uri="{FF2B5EF4-FFF2-40B4-BE49-F238E27FC236}">
                <a16:creationId xmlns:a16="http://schemas.microsoft.com/office/drawing/2014/main" id="{1F48A198-CD93-4269-8964-44322A1EF8D4}"/>
              </a:ext>
            </a:extLst>
          </p:cNvPr>
          <p:cNvSpPr>
            <a:spLocks noGrp="1"/>
          </p:cNvSpPr>
          <p:nvPr/>
        </p:nvSpPr>
        <p:spPr>
          <a:xfrm>
            <a:off x="685800" y="31432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1" name="host-port-label-0">
            <a:extLst>
              <a:ext uri="{FF2B5EF4-FFF2-40B4-BE49-F238E27FC236}">
                <a16:creationId xmlns:a16="http://schemas.microsoft.com/office/drawing/2014/main" id="{4D743113-BA42-486E-A369-B46AAE65D04A}"/>
              </a:ext>
            </a:extLst>
          </p:cNvPr>
          <p:cNvSpPr>
            <a:spLocks noGrp="1"/>
          </p:cNvSpPr>
          <p:nvPr/>
        </p:nvSpPr>
        <p:spPr>
          <a:xfrm>
            <a:off x="857250" y="31813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P0</a:t>
            </a:r>
          </a:p>
        </p:txBody>
      </p:sp>
      <p:sp>
        <p:nvSpPr>
          <p:cNvPr id="12" name="host-port-1">
            <a:extLst>
              <a:ext uri="{FF2B5EF4-FFF2-40B4-BE49-F238E27FC236}">
                <a16:creationId xmlns:a16="http://schemas.microsoft.com/office/drawing/2014/main" id="{0B8A00C4-7E3E-4391-979C-FF2DB6AD854F}"/>
              </a:ext>
            </a:extLst>
          </p:cNvPr>
          <p:cNvSpPr>
            <a:spLocks noGrp="1"/>
          </p:cNvSpPr>
          <p:nvPr/>
        </p:nvSpPr>
        <p:spPr>
          <a:xfrm>
            <a:off x="1400175" y="31432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3" name="host-port-label-1">
            <a:extLst>
              <a:ext uri="{FF2B5EF4-FFF2-40B4-BE49-F238E27FC236}">
                <a16:creationId xmlns:a16="http://schemas.microsoft.com/office/drawing/2014/main" id="{6DBFA301-1FB7-4821-9498-02B11554626E}"/>
              </a:ext>
            </a:extLst>
          </p:cNvPr>
          <p:cNvSpPr>
            <a:spLocks noGrp="1"/>
          </p:cNvSpPr>
          <p:nvPr/>
        </p:nvSpPr>
        <p:spPr>
          <a:xfrm>
            <a:off x="1571625" y="31813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P1</a:t>
            </a:r>
          </a:p>
        </p:txBody>
      </p:sp>
      <p:sp>
        <p:nvSpPr>
          <p:cNvPr id="14" name="host-port-2">
            <a:extLst>
              <a:ext uri="{FF2B5EF4-FFF2-40B4-BE49-F238E27FC236}">
                <a16:creationId xmlns:a16="http://schemas.microsoft.com/office/drawing/2014/main" id="{95181FD4-ECB1-4011-AB95-CC087AB27C20}"/>
              </a:ext>
            </a:extLst>
          </p:cNvPr>
          <p:cNvSpPr>
            <a:spLocks noGrp="1"/>
          </p:cNvSpPr>
          <p:nvPr/>
        </p:nvSpPr>
        <p:spPr>
          <a:xfrm>
            <a:off x="685800" y="36004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5" name="host-port-label-2">
            <a:extLst>
              <a:ext uri="{FF2B5EF4-FFF2-40B4-BE49-F238E27FC236}">
                <a16:creationId xmlns:a16="http://schemas.microsoft.com/office/drawing/2014/main" id="{D08185CA-D69A-41E3-B358-B94159042D96}"/>
              </a:ext>
            </a:extLst>
          </p:cNvPr>
          <p:cNvSpPr>
            <a:spLocks noGrp="1"/>
          </p:cNvSpPr>
          <p:nvPr/>
        </p:nvSpPr>
        <p:spPr>
          <a:xfrm>
            <a:off x="857250" y="36385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P2</a:t>
            </a:r>
          </a:p>
        </p:txBody>
      </p:sp>
      <p:sp>
        <p:nvSpPr>
          <p:cNvPr id="16" name="host-port-3">
            <a:extLst>
              <a:ext uri="{FF2B5EF4-FFF2-40B4-BE49-F238E27FC236}">
                <a16:creationId xmlns:a16="http://schemas.microsoft.com/office/drawing/2014/main" id="{BFE87B95-9CBA-4A8F-AE61-247467A38E77}"/>
              </a:ext>
            </a:extLst>
          </p:cNvPr>
          <p:cNvSpPr>
            <a:spLocks noGrp="1"/>
          </p:cNvSpPr>
          <p:nvPr/>
        </p:nvSpPr>
        <p:spPr>
          <a:xfrm>
            <a:off x="1400175" y="3600450"/>
            <a:ext cx="628650" cy="323850"/>
          </a:xfrm>
          <a:prstGeom prst="rect">
            <a:avLst/>
          </a:prstGeom>
          <a:solidFill>
            <a:srgbClr val="FFFFFF"/>
          </a:solidFill>
          <a:ln w="14288">
            <a:solidFill>
              <a:srgbClr val="126DCA"/>
            </a:solidFill>
            <a:prstDash val="solid"/>
          </a:ln>
        </p:spPr>
        <p:txBody>
          <a:bodyPr/>
          <a:lstStyle/>
          <a:p>
            <a:endParaRPr lang="ko-KR" altLang="en-US"/>
          </a:p>
        </p:txBody>
      </p:sp>
      <p:sp>
        <p:nvSpPr>
          <p:cNvPr id="17" name="host-port-label-3">
            <a:extLst>
              <a:ext uri="{FF2B5EF4-FFF2-40B4-BE49-F238E27FC236}">
                <a16:creationId xmlns:a16="http://schemas.microsoft.com/office/drawing/2014/main" id="{99D47163-EF7C-449D-B5B8-A2CD22ED38C6}"/>
              </a:ext>
            </a:extLst>
          </p:cNvPr>
          <p:cNvSpPr>
            <a:spLocks noGrp="1"/>
          </p:cNvSpPr>
          <p:nvPr/>
        </p:nvSpPr>
        <p:spPr>
          <a:xfrm>
            <a:off x="1571625" y="3638550"/>
            <a:ext cx="447675"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P3</a:t>
            </a:r>
          </a:p>
        </p:txBody>
      </p:sp>
      <p:sp>
        <p:nvSpPr>
          <p:cNvPr id="18" name="host-workload">
            <a:extLst>
              <a:ext uri="{FF2B5EF4-FFF2-40B4-BE49-F238E27FC236}">
                <a16:creationId xmlns:a16="http://schemas.microsoft.com/office/drawing/2014/main" id="{70FB63A6-8B06-40C6-AE60-D8512598FC3A}"/>
              </a:ext>
            </a:extLst>
          </p:cNvPr>
          <p:cNvSpPr>
            <a:spLocks noGrp="1"/>
          </p:cNvSpPr>
          <p:nvPr/>
        </p:nvSpPr>
        <p:spPr>
          <a:xfrm>
            <a:off x="685800" y="4124325"/>
            <a:ext cx="1447800" cy="590550"/>
          </a:xfrm>
          <a:prstGeom prst="rect">
            <a:avLst/>
          </a:prstGeom>
          <a:noFill/>
          <a:ln w="0">
            <a:noFill/>
          </a:ln>
        </p:spPr>
        <p:txBody>
          <a:bodyPr wrap="square" lIns="0" tIns="0" rIns="0" bIns="0" anchor="t">
            <a:noAutofit/>
          </a:bodyPr>
          <a:lstStyle>
            <a:defPPr>
              <a:defRPr sz="1650" b="0">
                <a:solidFill>
                  <a:srgbClr val="B65D13"/>
                </a:solidFill>
                <a:latin typeface="Apple SD Gothic Neo"/>
                <a:ea typeface="Apple SD Gothic Neo"/>
                <a:cs typeface="Apple SD Gothic Neo"/>
              </a:defRPr>
            </a:defPPr>
          </a:lstStyle>
          <a:p>
            <a:pPr>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Workload A / B</a:t>
            </a:r>
          </a:p>
          <a:p>
            <a:pPr>
              <a:defRPr sz="1650" b="0">
                <a:solidFill>
                  <a:srgbClr val="B65D13"/>
                </a:solidFill>
                <a:latin typeface="Apple SD Gothic Neo"/>
                <a:ea typeface="Apple SD Gothic Neo"/>
                <a:cs typeface="Apple SD Gothic Neo"/>
              </a:defRPr>
            </a:pPr>
            <a:r>
              <a:rPr sz="1650" b="0">
                <a:solidFill>
                  <a:srgbClr val="B65D13"/>
                </a:solidFill>
                <a:latin typeface="Apple SD Gothic Neo"/>
                <a:ea typeface="Apple SD Gothic Neo"/>
                <a:cs typeface="Apple SD Gothic Neo"/>
              </a:rPr>
              <a:t>4KiB / 64B</a:t>
            </a:r>
          </a:p>
        </p:txBody>
      </p:sp>
      <p:sp>
        <p:nvSpPr>
          <p:cNvPr id="19" name="host-return-order">
            <a:extLst>
              <a:ext uri="{FF2B5EF4-FFF2-40B4-BE49-F238E27FC236}">
                <a16:creationId xmlns:a16="http://schemas.microsoft.com/office/drawing/2014/main" id="{CA5619B4-AE08-46CF-9F6C-C21E9BE5DAC1}"/>
              </a:ext>
            </a:extLst>
          </p:cNvPr>
          <p:cNvSpPr>
            <a:spLocks noGrp="1"/>
          </p:cNvSpPr>
          <p:nvPr/>
        </p:nvSpPr>
        <p:spPr>
          <a:xfrm>
            <a:off x="685800" y="4876800"/>
            <a:ext cx="1438275" cy="257175"/>
          </a:xfrm>
          <a:prstGeom prst="rect">
            <a:avLst/>
          </a:prstGeom>
          <a:noFill/>
          <a:ln w="0">
            <a:noFill/>
          </a:ln>
        </p:spPr>
        <p:txBody>
          <a:bodyPr wrap="square" lIns="0" tIns="0" rIns="0" bIns="0" anchor="t">
            <a:noAutofit/>
          </a:bodyPr>
          <a:lstStyle>
            <a:defPPr>
              <a:defRPr sz="1500" b="1">
                <a:solidFill>
                  <a:srgbClr val="008B82"/>
                </a:solidFill>
                <a:latin typeface="Apple SD Gothic Neo"/>
                <a:ea typeface="Apple SD Gothic Neo"/>
                <a:cs typeface="Apple SD Gothic Neo"/>
              </a:defRPr>
            </a:defPPr>
          </a:lstStyle>
          <a:p>
            <a:pPr>
              <a:defRPr sz="1500" b="1">
                <a:solidFill>
                  <a:srgbClr val="008B82"/>
                </a:solidFill>
                <a:latin typeface="Apple SD Gothic Neo"/>
                <a:ea typeface="Apple SD Gothic Neo"/>
                <a:cs typeface="Apple SD Gothic Neo"/>
              </a:defRPr>
            </a:pPr>
            <a:r>
              <a:rPr sz="1500" b="1">
                <a:solidFill>
                  <a:srgbClr val="008B82"/>
                </a:solidFill>
                <a:latin typeface="Apple SD Gothic Neo"/>
                <a:ea typeface="Apple SD Gothic Neo"/>
                <a:cs typeface="Apple SD Gothic Neo"/>
              </a:rPr>
              <a:t>Port별 in-order</a:t>
            </a:r>
          </a:p>
        </p:txBody>
      </p:sp>
      <p:sp>
        <p:nvSpPr>
          <p:cNvPr id="20" name="controller-heading">
            <a:extLst>
              <a:ext uri="{FF2B5EF4-FFF2-40B4-BE49-F238E27FC236}">
                <a16:creationId xmlns:a16="http://schemas.microsoft.com/office/drawing/2014/main" id="{7EC80C5D-275A-46AF-ABCA-2CCA1B62D336}"/>
              </a:ext>
            </a:extLst>
          </p:cNvPr>
          <p:cNvSpPr>
            <a:spLocks noGrp="1"/>
          </p:cNvSpPr>
          <p:nvPr/>
        </p:nvSpPr>
        <p:spPr>
          <a:xfrm>
            <a:off x="2781300" y="2076450"/>
            <a:ext cx="2238375" cy="314325"/>
          </a:xfrm>
          <a:prstGeom prst="rect">
            <a:avLst/>
          </a:prstGeom>
          <a:noFill/>
          <a:ln w="0">
            <a:noFill/>
          </a:ln>
        </p:spPr>
        <p:txBody>
          <a:bodyPr wrap="square" lIns="0" tIns="0" rIns="0" bIns="0" anchor="t">
            <a:noAutofit/>
          </a:bodyPr>
          <a:lstStyle>
            <a:defPPr>
              <a:defRPr sz="2025" b="1">
                <a:solidFill>
                  <a:srgbClr val="172738"/>
                </a:solidFill>
                <a:latin typeface="Apple SD Gothic Neo"/>
                <a:ea typeface="Apple SD Gothic Neo"/>
                <a:cs typeface="Apple SD Gothic Neo"/>
              </a:defRPr>
            </a:defPPr>
          </a:lstStyle>
          <a:p>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Controller</a:t>
            </a:r>
          </a:p>
        </p:txBody>
      </p:sp>
      <p:sp>
        <p:nvSpPr>
          <p:cNvPr id="21" name="request-legend">
            <a:extLst>
              <a:ext uri="{FF2B5EF4-FFF2-40B4-BE49-F238E27FC236}">
                <a16:creationId xmlns:a16="http://schemas.microsoft.com/office/drawing/2014/main" id="{47F080C5-804D-4AFF-BDA7-BBF7C585989C}"/>
              </a:ext>
            </a:extLst>
          </p:cNvPr>
          <p:cNvSpPr>
            <a:spLocks noGrp="1"/>
          </p:cNvSpPr>
          <p:nvPr/>
        </p:nvSpPr>
        <p:spPr>
          <a:xfrm>
            <a:off x="6057900" y="2105025"/>
            <a:ext cx="838200" cy="285750"/>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요청 →</a:t>
            </a:r>
          </a:p>
        </p:txBody>
      </p:sp>
      <p:sp>
        <p:nvSpPr>
          <p:cNvPr id="22" name="data-legend">
            <a:extLst>
              <a:ext uri="{FF2B5EF4-FFF2-40B4-BE49-F238E27FC236}">
                <a16:creationId xmlns:a16="http://schemas.microsoft.com/office/drawing/2014/main" id="{5E750683-D141-42C6-B582-D4A13C5F8B64}"/>
              </a:ext>
            </a:extLst>
          </p:cNvPr>
          <p:cNvSpPr>
            <a:spLocks noGrp="1"/>
          </p:cNvSpPr>
          <p:nvPr/>
        </p:nvSpPr>
        <p:spPr>
          <a:xfrm>
            <a:off x="6981825" y="2105025"/>
            <a:ext cx="981075" cy="285750"/>
          </a:xfrm>
          <a:prstGeom prst="rect">
            <a:avLst/>
          </a:prstGeom>
          <a:noFill/>
          <a:ln w="0">
            <a:noFill/>
          </a:ln>
        </p:spPr>
        <p:txBody>
          <a:bodyPr wrap="square" lIns="0" tIns="0" rIns="0" bIns="0" anchor="t">
            <a:noAutofit/>
          </a:bodyPr>
          <a:lstStyle>
            <a:defPPr>
              <a:defRPr sz="1650" b="1">
                <a:solidFill>
                  <a:srgbClr val="008B82"/>
                </a:solidFill>
                <a:latin typeface="Apple SD Gothic Neo"/>
                <a:ea typeface="Apple SD Gothic Neo"/>
                <a:cs typeface="Apple SD Gothic Neo"/>
              </a:defRPr>
            </a:defPPr>
          </a:lstStyle>
          <a:p>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 데이터</a:t>
            </a:r>
          </a:p>
        </p:txBody>
      </p:sp>
      <p:sp>
        <p:nvSpPr>
          <p:cNvPr id="23" name="admission">
            <a:extLst>
              <a:ext uri="{FF2B5EF4-FFF2-40B4-BE49-F238E27FC236}">
                <a16:creationId xmlns:a16="http://schemas.microsoft.com/office/drawing/2014/main" id="{AE232DF6-A91A-41A4-87D6-B7D981B39C29}"/>
              </a:ext>
            </a:extLst>
          </p:cNvPr>
          <p:cNvSpPr>
            <a:spLocks noGrp="1"/>
          </p:cNvSpPr>
          <p:nvPr/>
        </p:nvSpPr>
        <p:spPr>
          <a:xfrm>
            <a:off x="2781300" y="2609850"/>
            <a:ext cx="1314450" cy="1019175"/>
          </a:xfrm>
          <a:prstGeom prst="rect">
            <a:avLst/>
          </a:prstGeom>
          <a:solidFill>
            <a:srgbClr val="FFFFFF"/>
          </a:solidFill>
          <a:ln w="14288">
            <a:solidFill>
              <a:srgbClr val="126DCA"/>
            </a:solidFill>
            <a:prstDash val="solid"/>
          </a:ln>
        </p:spPr>
        <p:txBody>
          <a:bodyPr/>
          <a:lstStyle/>
          <a:p>
            <a:endParaRPr lang="ko-KR" altLang="en-US"/>
          </a:p>
        </p:txBody>
      </p:sp>
      <p:sp>
        <p:nvSpPr>
          <p:cNvPr id="24" name="l2p-mapping">
            <a:extLst>
              <a:ext uri="{FF2B5EF4-FFF2-40B4-BE49-F238E27FC236}">
                <a16:creationId xmlns:a16="http://schemas.microsoft.com/office/drawing/2014/main" id="{7A329361-6C97-4DD9-8036-AA123B06987C}"/>
              </a:ext>
            </a:extLst>
          </p:cNvPr>
          <p:cNvSpPr>
            <a:spLocks noGrp="1"/>
          </p:cNvSpPr>
          <p:nvPr/>
        </p:nvSpPr>
        <p:spPr>
          <a:xfrm>
            <a:off x="4314825" y="2609850"/>
            <a:ext cx="1514475" cy="1019175"/>
          </a:xfrm>
          <a:prstGeom prst="rect">
            <a:avLst/>
          </a:prstGeom>
          <a:solidFill>
            <a:srgbClr val="FFFFFF"/>
          </a:solidFill>
          <a:ln w="14288">
            <a:solidFill>
              <a:srgbClr val="126DCA"/>
            </a:solidFill>
            <a:prstDash val="solid"/>
          </a:ln>
        </p:spPr>
        <p:txBody>
          <a:bodyPr/>
          <a:lstStyle/>
          <a:p>
            <a:endParaRPr lang="ko-KR" altLang="en-US"/>
          </a:p>
        </p:txBody>
      </p:sp>
      <p:sp>
        <p:nvSpPr>
          <p:cNvPr id="25" name="ca-scheduler">
            <a:extLst>
              <a:ext uri="{FF2B5EF4-FFF2-40B4-BE49-F238E27FC236}">
                <a16:creationId xmlns:a16="http://schemas.microsoft.com/office/drawing/2014/main" id="{CE93AC21-BFA5-4A1E-A34E-63607766349D}"/>
              </a:ext>
            </a:extLst>
          </p:cNvPr>
          <p:cNvSpPr>
            <a:spLocks noGrp="1"/>
          </p:cNvSpPr>
          <p:nvPr/>
        </p:nvSpPr>
        <p:spPr>
          <a:xfrm>
            <a:off x="6048375" y="2609850"/>
            <a:ext cx="1819275" cy="1019175"/>
          </a:xfrm>
          <a:prstGeom prst="rect">
            <a:avLst/>
          </a:prstGeom>
          <a:solidFill>
            <a:srgbClr val="FFFFFF"/>
          </a:solidFill>
          <a:ln w="14288">
            <a:solidFill>
              <a:srgbClr val="126DCA"/>
            </a:solidFill>
            <a:prstDash val="solid"/>
          </a:ln>
        </p:spPr>
        <p:txBody>
          <a:bodyPr/>
          <a:lstStyle/>
          <a:p>
            <a:endParaRPr lang="ko-KR" altLang="en-US"/>
          </a:p>
        </p:txBody>
      </p:sp>
      <p:sp>
        <p:nvSpPr>
          <p:cNvPr id="26" name="admission-heading">
            <a:extLst>
              <a:ext uri="{FF2B5EF4-FFF2-40B4-BE49-F238E27FC236}">
                <a16:creationId xmlns:a16="http://schemas.microsoft.com/office/drawing/2014/main" id="{9D4EF7C3-B1D8-4552-9656-4F21444D20AD}"/>
              </a:ext>
            </a:extLst>
          </p:cNvPr>
          <p:cNvSpPr>
            <a:spLocks noGrp="1"/>
          </p:cNvSpPr>
          <p:nvPr/>
        </p:nvSpPr>
        <p:spPr>
          <a:xfrm>
            <a:off x="2857500" y="2695575"/>
            <a:ext cx="1238250" cy="266700"/>
          </a:xfrm>
          <a:prstGeom prst="rect">
            <a:avLst/>
          </a:prstGeom>
          <a:noFill/>
          <a:ln w="0">
            <a:noFill/>
          </a:ln>
        </p:spPr>
        <p:txBody>
          <a:bodyPr wrap="square" lIns="0" tIns="0" rIns="0" bIns="0" anchor="t">
            <a:noAutofit/>
          </a:bodyPr>
          <a:lstStyle>
            <a:defPPr>
              <a:defRPr sz="1500" b="1">
                <a:solidFill>
                  <a:srgbClr val="172738"/>
                </a:solidFill>
                <a:latin typeface="Apple SD Gothic Neo"/>
                <a:ea typeface="Apple SD Gothic Neo"/>
                <a:cs typeface="Apple SD Gothic Neo"/>
              </a:defRPr>
            </a:defPPr>
          </a:lstStyle>
          <a:p>
            <a:pPr>
              <a:defRPr sz="1500" b="1">
                <a:solidFill>
                  <a:srgbClr val="172738"/>
                </a:solidFill>
                <a:latin typeface="Apple SD Gothic Neo"/>
                <a:ea typeface="Apple SD Gothic Neo"/>
                <a:cs typeface="Apple SD Gothic Neo"/>
              </a:defRPr>
            </a:pPr>
            <a:r>
              <a:rPr sz="1500" b="1">
                <a:solidFill>
                  <a:srgbClr val="172738"/>
                </a:solidFill>
                <a:latin typeface="Apple SD Gothic Neo"/>
                <a:ea typeface="Apple SD Gothic Neo"/>
                <a:cs typeface="Apple SD Gothic Neo"/>
              </a:rPr>
              <a:t>수락·버퍼 예약</a:t>
            </a:r>
          </a:p>
        </p:txBody>
      </p:sp>
      <p:sp>
        <p:nvSpPr>
          <p:cNvPr id="27" name="admission-parameters">
            <a:extLst>
              <a:ext uri="{FF2B5EF4-FFF2-40B4-BE49-F238E27FC236}">
                <a16:creationId xmlns:a16="http://schemas.microsoft.com/office/drawing/2014/main" id="{4F757FAE-BF16-4AE2-A144-A389A73BA17A}"/>
              </a:ext>
            </a:extLst>
          </p:cNvPr>
          <p:cNvSpPr>
            <a:spLocks noGrp="1"/>
          </p:cNvSpPr>
          <p:nvPr/>
        </p:nvSpPr>
        <p:spPr>
          <a:xfrm>
            <a:off x="2895600" y="3067050"/>
            <a:ext cx="1181100" cy="504825"/>
          </a:xfrm>
          <a:prstGeom prst="rect">
            <a:avLst/>
          </a:prstGeom>
          <a:noFill/>
          <a:ln w="0">
            <a:noFill/>
          </a:ln>
        </p:spPr>
        <p:txBody>
          <a:bodyPr wrap="square" lIns="0" tIns="0" rIns="0" bIns="0" anchor="t">
            <a:noAutofit/>
          </a:bodyPr>
          <a:lstStyle>
            <a:defPPr>
              <a:defRPr sz="1650" b="1">
                <a:solidFill>
                  <a:srgbClr val="B65D13"/>
                </a:solidFill>
                <a:latin typeface="Apple SD Gothic Neo"/>
                <a:ea typeface="Apple SD Gothic Neo"/>
                <a:cs typeface="Apple SD Gothic Neo"/>
              </a:defRPr>
            </a:defPPr>
          </a:lstStyle>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QD / Port</a:t>
            </a:r>
          </a:p>
          <a:p>
            <a:pPr>
              <a:defRPr sz="1650" b="1">
                <a:solidFill>
                  <a:srgbClr val="B65D13"/>
                </a:solidFill>
                <a:latin typeface="Apple SD Gothic Neo"/>
                <a:ea typeface="Apple SD Gothic Neo"/>
                <a:cs typeface="Apple SD Gothic Neo"/>
              </a:defRPr>
            </a:pPr>
            <a:r>
              <a:rPr sz="1650" b="1">
                <a:solidFill>
                  <a:srgbClr val="B65D13"/>
                </a:solidFill>
                <a:latin typeface="Apple SD Gothic Neo"/>
                <a:ea typeface="Apple SD Gothic Neo"/>
                <a:cs typeface="Apple SD Gothic Neo"/>
              </a:rPr>
              <a:t>현재 512</a:t>
            </a:r>
          </a:p>
        </p:txBody>
      </p:sp>
      <p:sp>
        <p:nvSpPr>
          <p:cNvPr id="28" name="mapping-heading">
            <a:extLst>
              <a:ext uri="{FF2B5EF4-FFF2-40B4-BE49-F238E27FC236}">
                <a16:creationId xmlns:a16="http://schemas.microsoft.com/office/drawing/2014/main" id="{E5799A00-A9CD-47B1-8389-A82145734A11}"/>
              </a:ext>
            </a:extLst>
          </p:cNvPr>
          <p:cNvSpPr>
            <a:spLocks noGrp="1"/>
          </p:cNvSpPr>
          <p:nvPr/>
        </p:nvSpPr>
        <p:spPr>
          <a:xfrm>
            <a:off x="4438650" y="2695575"/>
            <a:ext cx="1390650" cy="266700"/>
          </a:xfrm>
          <a:prstGeom prst="rect">
            <a:avLst/>
          </a:prstGeom>
          <a:noFill/>
          <a:ln w="0">
            <a:noFill/>
          </a:ln>
        </p:spPr>
        <p:txBody>
          <a:bodyPr wrap="square" lIns="0" tIns="0" rIns="0" bIns="0" anchor="t">
            <a:noAutofit/>
          </a:bodyPr>
          <a:lstStyle>
            <a:defPPr>
              <a:defRPr sz="1650" b="1">
                <a:solidFill>
                  <a:srgbClr val="172738"/>
                </a:solidFill>
                <a:latin typeface="Apple SD Gothic Neo"/>
                <a:ea typeface="Apple SD Gothic Neo"/>
                <a:cs typeface="Apple SD Gothic Neo"/>
              </a:defRPr>
            </a:defPPr>
          </a:lstStyle>
          <a:p>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L2P / 배치</a:t>
            </a:r>
          </a:p>
        </p:txBody>
      </p:sp>
      <p:sp>
        <p:nvSpPr>
          <p:cNvPr id="29" name="mapping-parameters">
            <a:extLst>
              <a:ext uri="{FF2B5EF4-FFF2-40B4-BE49-F238E27FC236}">
                <a16:creationId xmlns:a16="http://schemas.microsoft.com/office/drawing/2014/main" id="{9256BE22-8F54-4359-8202-95CE6130AE77}"/>
              </a:ext>
            </a:extLst>
          </p:cNvPr>
          <p:cNvSpPr>
            <a:spLocks noGrp="1"/>
          </p:cNvSpPr>
          <p:nvPr/>
        </p:nvSpPr>
        <p:spPr>
          <a:xfrm>
            <a:off x="4438650" y="3067050"/>
            <a:ext cx="1333500" cy="495300"/>
          </a:xfrm>
          <a:prstGeom prst="rect">
            <a:avLst/>
          </a:prstGeom>
          <a:noFill/>
          <a:ln w="0">
            <a:noFill/>
          </a:ln>
        </p:spPr>
        <p:txBody>
          <a:bodyPr wrap="square" lIns="0" tIns="0" rIns="0" bIns="0" anchor="t">
            <a:noAutofit/>
          </a:bodyPr>
          <a:lstStyle>
            <a:defPPr>
              <a:defRPr sz="1500" b="1">
                <a:solidFill>
                  <a:srgbClr val="B65D13"/>
                </a:solidFill>
                <a:latin typeface="Apple SD Gothic Neo"/>
                <a:ea typeface="Apple SD Gothic Neo"/>
                <a:cs typeface="Apple SD Gothic Neo"/>
              </a:defRPr>
            </a:defPPr>
          </a:lstStyle>
          <a:p>
            <a:pPr>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영역별 배치</a:t>
            </a:r>
          </a:p>
          <a:p>
            <a:pPr>
              <a:defRPr sz="1500" b="1">
                <a:solidFill>
                  <a:srgbClr val="B65D13"/>
                </a:solidFill>
                <a:latin typeface="Apple SD Gothic Neo"/>
                <a:ea typeface="Apple SD Gothic Neo"/>
                <a:cs typeface="Apple SD Gothic Neo"/>
              </a:defRPr>
            </a:pPr>
            <a:r>
              <a:rPr sz="1500" b="1">
                <a:solidFill>
                  <a:srgbClr val="B65D13"/>
                </a:solidFill>
                <a:latin typeface="Apple SD Gothic Neo"/>
                <a:ea typeface="Apple SD Gothic Neo"/>
                <a:cs typeface="Apple SD Gothic Neo"/>
              </a:rPr>
              <a:t>stripe 4/16KiB</a:t>
            </a:r>
          </a:p>
        </p:txBody>
      </p:sp>
      <p:sp>
        <p:nvSpPr>
          <p:cNvPr id="30" name="ca-heading">
            <a:extLst>
              <a:ext uri="{FF2B5EF4-FFF2-40B4-BE49-F238E27FC236}">
                <a16:creationId xmlns:a16="http://schemas.microsoft.com/office/drawing/2014/main" id="{65065B0B-4D94-4E9C-BDA0-29F0689AA954}"/>
              </a:ext>
            </a:extLst>
          </p:cNvPr>
          <p:cNvSpPr>
            <a:spLocks noGrp="1"/>
          </p:cNvSpPr>
          <p:nvPr/>
        </p:nvSpPr>
        <p:spPr>
          <a:xfrm>
            <a:off x="6172200" y="2695575"/>
            <a:ext cx="1666875" cy="266700"/>
          </a:xfrm>
          <a:prstGeom prst="rect">
            <a:avLst/>
          </a:prstGeom>
          <a:noFill/>
          <a:ln w="0">
            <a:noFill/>
          </a:ln>
        </p:spPr>
        <p:txBody>
          <a:bodyPr wrap="square" lIns="0" tIns="0" rIns="0" bIns="0" anchor="t">
            <a:noAutofit/>
          </a:bodyPr>
          <a:lstStyle>
            <a:defPPr>
              <a:defRPr sz="1650" b="1">
                <a:solidFill>
                  <a:srgbClr val="172738"/>
                </a:solidFill>
                <a:latin typeface="Apple SD Gothic Neo"/>
                <a:ea typeface="Apple SD Gothic Neo"/>
                <a:cs typeface="Apple SD Gothic Neo"/>
              </a:defRPr>
            </a:defPPr>
          </a:lstStyle>
          <a:p>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CA 스케줄러</a:t>
            </a:r>
          </a:p>
        </p:txBody>
      </p:sp>
      <p:sp>
        <p:nvSpPr>
          <p:cNvPr id="31" name="ca-parameters">
            <a:extLst>
              <a:ext uri="{FF2B5EF4-FFF2-40B4-BE49-F238E27FC236}">
                <a16:creationId xmlns:a16="http://schemas.microsoft.com/office/drawing/2014/main" id="{4B378562-9A47-46EC-A813-A94DF656364C}"/>
              </a:ext>
            </a:extLst>
          </p:cNvPr>
          <p:cNvSpPr>
            <a:spLocks noGrp="1"/>
          </p:cNvSpPr>
          <p:nvPr/>
        </p:nvSpPr>
        <p:spPr>
          <a:xfrm>
            <a:off x="6172200" y="3067050"/>
            <a:ext cx="1638300" cy="495300"/>
          </a:xfrm>
          <a:prstGeom prst="rect">
            <a:avLst/>
          </a:prstGeom>
          <a:noFill/>
          <a:ln w="0">
            <a:noFill/>
          </a:ln>
        </p:spPr>
        <p:txBody>
          <a:bodyPr wrap="square" lIns="0" tIns="0" rIns="0" bIns="0" anchor="t">
            <a:noAutofit/>
          </a:bodyPr>
          <a:lstStyle>
            <a:defPPr>
              <a:defRPr sz="1575" b="1">
                <a:solidFill>
                  <a:srgbClr val="B65D13"/>
                </a:solidFill>
                <a:latin typeface="Apple SD Gothic Neo"/>
                <a:ea typeface="Apple SD Gothic Neo"/>
                <a:cs typeface="Apple SD Gothic Neo"/>
              </a:defRPr>
            </a:defPPr>
          </a:lstStyle>
          <a:p>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정책·우회·대기</a:t>
            </a:r>
          </a:p>
          <a:p>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PF ON/OFF</a:t>
            </a:r>
          </a:p>
        </p:txBody>
      </p:sp>
      <p:sp>
        <p:nvSpPr>
          <p:cNvPr id="32" name="current-ca-policy">
            <a:extLst>
              <a:ext uri="{FF2B5EF4-FFF2-40B4-BE49-F238E27FC236}">
                <a16:creationId xmlns:a16="http://schemas.microsoft.com/office/drawing/2014/main" id="{47F25B4F-55B1-4CC3-8F0A-839E8D1DD9B3}"/>
              </a:ext>
            </a:extLst>
          </p:cNvPr>
          <p:cNvSpPr>
            <a:spLocks noGrp="1"/>
          </p:cNvSpPr>
          <p:nvPr/>
        </p:nvSpPr>
        <p:spPr>
          <a:xfrm>
            <a:off x="2781300" y="3781425"/>
            <a:ext cx="5114925" cy="266700"/>
          </a:xfrm>
          <a:prstGeom prst="rect">
            <a:avLst/>
          </a:prstGeom>
          <a:noFill/>
          <a:ln w="0">
            <a:noFill/>
          </a:ln>
        </p:spPr>
        <p:txBody>
          <a:bodyPr wrap="square" lIns="0" tIns="0" rIns="0" bIns="0" anchor="t">
            <a:noAutofit/>
          </a:bodyPr>
          <a:lstStyle>
            <a:defPPr>
              <a:defRPr sz="1575" b="0">
                <a:solidFill>
                  <a:srgbClr val="586875"/>
                </a:solidFill>
                <a:latin typeface="Apple SD Gothic Neo"/>
                <a:ea typeface="Apple SD Gothic Neo"/>
                <a:cs typeface="Apple SD Gothic Neo"/>
              </a:defRPr>
            </a:defPPr>
          </a:lstStyle>
          <a:p>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현재 A1: head_locality / A2: locality</a:t>
            </a:r>
          </a:p>
        </p:txBody>
      </p:sp>
      <p:sp>
        <p:nvSpPr>
          <p:cNvPr id="33" name="current-ca-parameters">
            <a:extLst>
              <a:ext uri="{FF2B5EF4-FFF2-40B4-BE49-F238E27FC236}">
                <a16:creationId xmlns:a16="http://schemas.microsoft.com/office/drawing/2014/main" id="{41BF55A4-090D-461B-A12E-B4AC5FDBDF7C}"/>
              </a:ext>
            </a:extLst>
          </p:cNvPr>
          <p:cNvSpPr>
            <a:spLocks noGrp="1"/>
          </p:cNvSpPr>
          <p:nvPr/>
        </p:nvSpPr>
        <p:spPr>
          <a:xfrm>
            <a:off x="2781300" y="4114800"/>
            <a:ext cx="5153025" cy="266700"/>
          </a:xfrm>
          <a:prstGeom prst="rect">
            <a:avLst/>
          </a:prstGeom>
          <a:noFill/>
          <a:ln w="0">
            <a:noFill/>
          </a:ln>
        </p:spPr>
        <p:txBody>
          <a:bodyPr wrap="square" lIns="0" tIns="0" rIns="0" bIns="0" anchor="t">
            <a:noAutofit/>
          </a:bodyPr>
          <a:lstStyle>
            <a:defPPr>
              <a:defRPr sz="1575" b="0">
                <a:solidFill>
                  <a:srgbClr val="B65D13"/>
                </a:solidFill>
                <a:latin typeface="Apple SD Gothic Neo"/>
                <a:ea typeface="Apple SD Gothic Neo"/>
                <a:cs typeface="Apple SD Gothic Neo"/>
              </a:defRPr>
            </a:defPPr>
          </a:lstStyle>
          <a:p>
            <a:pPr>
              <a:defRPr sz="1575" b="0">
                <a:solidFill>
                  <a:srgbClr val="B65D13"/>
                </a:solidFill>
                <a:latin typeface="Apple SD Gothic Neo"/>
                <a:ea typeface="Apple SD Gothic Neo"/>
                <a:cs typeface="Apple SD Gothic Neo"/>
              </a:defRPr>
            </a:pPr>
            <a:r>
              <a:rPr sz="1575" b="0">
                <a:solidFill>
                  <a:srgbClr val="B65D13"/>
                </a:solidFill>
                <a:latin typeface="Apple SD Gothic Neo"/>
                <a:ea typeface="Apple SD Gothic Neo"/>
                <a:cs typeface="Apple SD Gothic Neo"/>
              </a:rPr>
              <a:t>우회 32회 · A1 선두대기 48.64µs · PF OFF</a:t>
            </a:r>
          </a:p>
        </p:txBody>
      </p:sp>
      <p:sp>
        <p:nvSpPr>
          <p:cNvPr id="34" name="shared-controller-buffer">
            <a:extLst>
              <a:ext uri="{FF2B5EF4-FFF2-40B4-BE49-F238E27FC236}">
                <a16:creationId xmlns:a16="http://schemas.microsoft.com/office/drawing/2014/main" id="{28B88700-236D-40BE-A82D-4808E41B5BD1}"/>
              </a:ext>
            </a:extLst>
          </p:cNvPr>
          <p:cNvSpPr>
            <a:spLocks noGrp="1"/>
          </p:cNvSpPr>
          <p:nvPr/>
        </p:nvSpPr>
        <p:spPr>
          <a:xfrm>
            <a:off x="2781300" y="4581525"/>
            <a:ext cx="3362325" cy="542925"/>
          </a:xfrm>
          <a:prstGeom prst="rect">
            <a:avLst/>
          </a:prstGeom>
          <a:solidFill>
            <a:srgbClr val="EAF5F3"/>
          </a:solidFill>
          <a:ln w="14288">
            <a:solidFill>
              <a:srgbClr val="008B82"/>
            </a:solidFill>
            <a:prstDash val="solid"/>
          </a:ln>
        </p:spPr>
        <p:txBody>
          <a:bodyPr/>
          <a:lstStyle/>
          <a:p>
            <a:endParaRPr lang="ko-KR" altLang="en-US"/>
          </a:p>
        </p:txBody>
      </p:sp>
      <p:sp>
        <p:nvSpPr>
          <p:cNvPr id="35" name="buffer-heading">
            <a:extLst>
              <a:ext uri="{FF2B5EF4-FFF2-40B4-BE49-F238E27FC236}">
                <a16:creationId xmlns:a16="http://schemas.microsoft.com/office/drawing/2014/main" id="{00D4552A-E3F9-48C2-A556-329938F95941}"/>
              </a:ext>
            </a:extLst>
          </p:cNvPr>
          <p:cNvSpPr>
            <a:spLocks noGrp="1"/>
          </p:cNvSpPr>
          <p:nvPr/>
        </p:nvSpPr>
        <p:spPr>
          <a:xfrm>
            <a:off x="2886075" y="4600575"/>
            <a:ext cx="3200400" cy="257175"/>
          </a:xfrm>
          <a:prstGeom prst="rect">
            <a:avLst/>
          </a:prstGeom>
          <a:noFill/>
          <a:ln w="0">
            <a:noFill/>
          </a:ln>
        </p:spPr>
        <p:txBody>
          <a:bodyPr wrap="square" lIns="0" tIns="0" rIns="0" bIns="0" anchor="t">
            <a:noAutofit/>
          </a:bodyPr>
          <a:lstStyle>
            <a:defPPr>
              <a:defRPr sz="1725" b="1">
                <a:solidFill>
                  <a:srgbClr val="008B82"/>
                </a:solidFill>
                <a:latin typeface="Apple SD Gothic Neo"/>
                <a:ea typeface="Apple SD Gothic Neo"/>
                <a:cs typeface="Apple SD Gothic Neo"/>
              </a:defRPr>
            </a:defPPr>
          </a:lstStyle>
          <a:p>
            <a:pPr>
              <a:defRPr sz="1725" b="1">
                <a:solidFill>
                  <a:srgbClr val="008B82"/>
                </a:solidFill>
                <a:latin typeface="Apple SD Gothic Neo"/>
                <a:ea typeface="Apple SD Gothic Neo"/>
                <a:cs typeface="Apple SD Gothic Neo"/>
              </a:defRPr>
            </a:pPr>
            <a:r>
              <a:rPr sz="1725" b="1">
                <a:solidFill>
                  <a:srgbClr val="008B82"/>
                </a:solidFill>
                <a:latin typeface="Apple SD Gothic Neo"/>
                <a:ea typeface="Apple SD Gothic Neo"/>
                <a:cs typeface="Apple SD Gothic Neo"/>
              </a:rPr>
              <a:t>공유 Controller buffer</a:t>
            </a:r>
          </a:p>
        </p:txBody>
      </p:sp>
      <p:sp>
        <p:nvSpPr>
          <p:cNvPr id="36" name="buffer-parameters">
            <a:extLst>
              <a:ext uri="{FF2B5EF4-FFF2-40B4-BE49-F238E27FC236}">
                <a16:creationId xmlns:a16="http://schemas.microsoft.com/office/drawing/2014/main" id="{F401BF19-EC31-4FEE-B1EA-82BEC1E9635A}"/>
              </a:ext>
            </a:extLst>
          </p:cNvPr>
          <p:cNvSpPr>
            <a:spLocks noGrp="1"/>
          </p:cNvSpPr>
          <p:nvPr/>
        </p:nvSpPr>
        <p:spPr>
          <a:xfrm>
            <a:off x="2886075" y="4886325"/>
            <a:ext cx="3209925" cy="238125"/>
          </a:xfrm>
          <a:prstGeom prst="rect">
            <a:avLst/>
          </a:prstGeom>
          <a:noFill/>
          <a:ln w="0">
            <a:noFill/>
          </a:ln>
        </p:spPr>
        <p:txBody>
          <a:bodyPr wrap="square" lIns="0" tIns="0" rIns="0" bIns="0" anchor="t">
            <a:noAutofit/>
          </a:bodyPr>
          <a:lstStyle>
            <a:defPPr>
              <a:defRPr sz="1425" b="1">
                <a:solidFill>
                  <a:srgbClr val="B65D13"/>
                </a:solidFill>
                <a:latin typeface="Apple SD Gothic Neo"/>
                <a:ea typeface="Apple SD Gothic Neo"/>
                <a:cs typeface="Apple SD Gothic Neo"/>
              </a:defRPr>
            </a:defPPr>
          </a:lstStyle>
          <a:p>
            <a:pPr>
              <a:defRPr sz="1425" b="1">
                <a:solidFill>
                  <a:srgbClr val="B65D13"/>
                </a:solidFill>
                <a:latin typeface="Apple SD Gothic Neo"/>
                <a:ea typeface="Apple SD Gothic Neo"/>
                <a:cs typeface="Apple SD Gothic Neo"/>
              </a:defRPr>
            </a:pPr>
            <a:r>
              <a:rPr sz="1425" b="1">
                <a:solidFill>
                  <a:srgbClr val="B65D13"/>
                </a:solidFill>
                <a:latin typeface="Apple SD Gothic Neo"/>
                <a:ea typeface="Apple SD Gothic Neo"/>
                <a:cs typeface="Apple SD Gothic Neo"/>
              </a:rPr>
              <a:t>용량 가변 · 현재 8MiB (512 × 16KiB)</a:t>
            </a:r>
          </a:p>
        </p:txBody>
      </p:sp>
      <p:sp>
        <p:nvSpPr>
          <p:cNvPr id="37" name="ecc">
            <a:extLst>
              <a:ext uri="{FF2B5EF4-FFF2-40B4-BE49-F238E27FC236}">
                <a16:creationId xmlns:a16="http://schemas.microsoft.com/office/drawing/2014/main" id="{96B99F57-E4CA-4DAB-953B-43FD2B9DDF3F}"/>
              </a:ext>
            </a:extLst>
          </p:cNvPr>
          <p:cNvSpPr>
            <a:spLocks noGrp="1"/>
          </p:cNvSpPr>
          <p:nvPr/>
        </p:nvSpPr>
        <p:spPr>
          <a:xfrm>
            <a:off x="6677025" y="4581525"/>
            <a:ext cx="1190625" cy="542925"/>
          </a:xfrm>
          <a:prstGeom prst="rect">
            <a:avLst/>
          </a:prstGeom>
          <a:solidFill>
            <a:srgbClr val="EAF5F3"/>
          </a:solidFill>
          <a:ln w="14288">
            <a:solidFill>
              <a:srgbClr val="008B82"/>
            </a:solidFill>
            <a:prstDash val="solid"/>
          </a:ln>
        </p:spPr>
        <p:txBody>
          <a:bodyPr/>
          <a:lstStyle/>
          <a:p>
            <a:endParaRPr lang="ko-KR" altLang="en-US"/>
          </a:p>
        </p:txBody>
      </p:sp>
      <p:sp>
        <p:nvSpPr>
          <p:cNvPr id="38" name="ecc-label">
            <a:extLst>
              <a:ext uri="{FF2B5EF4-FFF2-40B4-BE49-F238E27FC236}">
                <a16:creationId xmlns:a16="http://schemas.microsoft.com/office/drawing/2014/main" id="{67912723-9589-4160-A74E-D2E673C2C7F3}"/>
              </a:ext>
            </a:extLst>
          </p:cNvPr>
          <p:cNvSpPr>
            <a:spLocks noGrp="1"/>
          </p:cNvSpPr>
          <p:nvPr/>
        </p:nvSpPr>
        <p:spPr>
          <a:xfrm>
            <a:off x="7000875" y="4714875"/>
            <a:ext cx="857250" cy="333375"/>
          </a:xfrm>
          <a:prstGeom prst="rect">
            <a:avLst/>
          </a:prstGeom>
          <a:noFill/>
          <a:ln w="0">
            <a:noFill/>
          </a:ln>
        </p:spPr>
        <p:txBody>
          <a:bodyPr wrap="square" lIns="0" tIns="0" rIns="0" bIns="0" anchor="t">
            <a:noAutofit/>
          </a:bodyPr>
          <a:lstStyle>
            <a:defPPr>
              <a:defRPr sz="1875" b="1">
                <a:solidFill>
                  <a:srgbClr val="008B82"/>
                </a:solidFill>
                <a:latin typeface="Apple SD Gothic Neo"/>
                <a:ea typeface="Apple SD Gothic Neo"/>
                <a:cs typeface="Apple SD Gothic Neo"/>
              </a:defRPr>
            </a:defPPr>
          </a:lstStyle>
          <a:p>
            <a:pPr>
              <a:defRPr sz="1875" b="1">
                <a:solidFill>
                  <a:srgbClr val="008B82"/>
                </a:solidFill>
                <a:latin typeface="Apple SD Gothic Neo"/>
                <a:ea typeface="Apple SD Gothic Neo"/>
                <a:cs typeface="Apple SD Gothic Neo"/>
              </a:defRPr>
            </a:pPr>
            <a:r>
              <a:rPr sz="1875" b="1">
                <a:solidFill>
                  <a:srgbClr val="008B82"/>
                </a:solidFill>
                <a:latin typeface="Apple SD Gothic Neo"/>
                <a:ea typeface="Apple SD Gothic Neo"/>
                <a:cs typeface="Apple SD Gothic Neo"/>
              </a:rPr>
              <a:t>ECC</a:t>
            </a:r>
          </a:p>
        </p:txBody>
      </p:sp>
      <p:sp>
        <p:nvSpPr>
          <p:cNvPr id="39" name="nand-heading">
            <a:extLst>
              <a:ext uri="{FF2B5EF4-FFF2-40B4-BE49-F238E27FC236}">
                <a16:creationId xmlns:a16="http://schemas.microsoft.com/office/drawing/2014/main" id="{66F70793-A088-4FD4-8EA5-98FB1EDD941E}"/>
              </a:ext>
            </a:extLst>
          </p:cNvPr>
          <p:cNvSpPr>
            <a:spLocks noGrp="1"/>
          </p:cNvSpPr>
          <p:nvPr/>
        </p:nvSpPr>
        <p:spPr>
          <a:xfrm>
            <a:off x="8629650" y="2076450"/>
            <a:ext cx="2933700" cy="314325"/>
          </a:xfrm>
          <a:prstGeom prst="rect">
            <a:avLst/>
          </a:prstGeom>
          <a:noFill/>
          <a:ln w="0">
            <a:noFill/>
          </a:ln>
        </p:spPr>
        <p:txBody>
          <a:bodyPr wrap="square" lIns="0" tIns="0" rIns="0" bIns="0" anchor="t">
            <a:noAutofit/>
          </a:bodyPr>
          <a:lstStyle>
            <a:defPPr>
              <a:defRPr sz="1950" b="1">
                <a:solidFill>
                  <a:srgbClr val="172738"/>
                </a:solidFill>
                <a:latin typeface="Apple SD Gothic Neo"/>
                <a:ea typeface="Apple SD Gothic Neo"/>
                <a:cs typeface="Apple SD Gothic Neo"/>
              </a:defRPr>
            </a:defPPr>
          </a:lstStyle>
          <a:p>
            <a:pPr>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NAND / 4 Channel 고정</a:t>
            </a:r>
          </a:p>
        </p:txBody>
      </p:sp>
      <p:sp>
        <p:nvSpPr>
          <p:cNvPr id="40" name="plane-setting">
            <a:extLst>
              <a:ext uri="{FF2B5EF4-FFF2-40B4-BE49-F238E27FC236}">
                <a16:creationId xmlns:a16="http://schemas.microsoft.com/office/drawing/2014/main" id="{2AE86987-B5D2-4A49-9EAC-EE8A86A05CD5}"/>
              </a:ext>
            </a:extLst>
          </p:cNvPr>
          <p:cNvSpPr>
            <a:spLocks noGrp="1"/>
          </p:cNvSpPr>
          <p:nvPr/>
        </p:nvSpPr>
        <p:spPr>
          <a:xfrm>
            <a:off x="8620125" y="2466975"/>
            <a:ext cx="2962275" cy="266700"/>
          </a:xfrm>
          <a:prstGeom prst="rect">
            <a:avLst/>
          </a:prstGeom>
          <a:noFill/>
          <a:ln w="0">
            <a:noFill/>
          </a:ln>
        </p:spPr>
        <p:txBody>
          <a:bodyPr wrap="square" lIns="0" tIns="0" rIns="0" bIns="0" anchor="t">
            <a:noAutofit/>
          </a:bodyPr>
          <a:lstStyle>
            <a:defPPr>
              <a:defRPr sz="1575" b="1">
                <a:solidFill>
                  <a:srgbClr val="B65D13"/>
                </a:solidFill>
                <a:latin typeface="Apple SD Gothic Neo"/>
                <a:ea typeface="Apple SD Gothic Neo"/>
                <a:cs typeface="Apple SD Gothic Neo"/>
              </a:defRPr>
            </a:defPPr>
          </a:lstStyle>
          <a:p>
            <a:pPr>
              <a:defRPr sz="1575" b="1">
                <a:solidFill>
                  <a:srgbClr val="B65D13"/>
                </a:solidFill>
                <a:latin typeface="Apple SD Gothic Neo"/>
                <a:ea typeface="Apple SD Gothic Neo"/>
                <a:cs typeface="Apple SD Gothic Neo"/>
              </a:defRPr>
            </a:pPr>
            <a:r>
              <a:rPr sz="1575" b="1">
                <a:solidFill>
                  <a:srgbClr val="B65D13"/>
                </a:solidFill>
                <a:latin typeface="Apple SD Gothic Neo"/>
                <a:ea typeface="Apple SD Gothic Neo"/>
                <a:cs typeface="Apple SD Gothic Neo"/>
              </a:rPr>
              <a:t>Plane/CH 8·16개 · 현재 16개</a:t>
            </a:r>
          </a:p>
        </p:txBody>
      </p:sp>
      <p:sp>
        <p:nvSpPr>
          <p:cNvPr id="41" name="channel-0">
            <a:extLst>
              <a:ext uri="{FF2B5EF4-FFF2-40B4-BE49-F238E27FC236}">
                <a16:creationId xmlns:a16="http://schemas.microsoft.com/office/drawing/2014/main" id="{78D95BEC-297D-45A9-AC62-7EE65F7F5A6D}"/>
              </a:ext>
            </a:extLst>
          </p:cNvPr>
          <p:cNvSpPr>
            <a:spLocks noGrp="1"/>
          </p:cNvSpPr>
          <p:nvPr/>
        </p:nvSpPr>
        <p:spPr>
          <a:xfrm>
            <a:off x="8715375" y="2828925"/>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42" name="channel-label-bg-0">
            <a:extLst>
              <a:ext uri="{FF2B5EF4-FFF2-40B4-BE49-F238E27FC236}">
                <a16:creationId xmlns:a16="http://schemas.microsoft.com/office/drawing/2014/main" id="{1BF1E93B-9612-4ABF-ACCE-EC7C9EB7E0A9}"/>
              </a:ext>
            </a:extLst>
          </p:cNvPr>
          <p:cNvSpPr>
            <a:spLocks noGrp="1"/>
          </p:cNvSpPr>
          <p:nvPr/>
        </p:nvSpPr>
        <p:spPr>
          <a:xfrm>
            <a:off x="8715375" y="2828925"/>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43" name="channel-label-0">
            <a:extLst>
              <a:ext uri="{FF2B5EF4-FFF2-40B4-BE49-F238E27FC236}">
                <a16:creationId xmlns:a16="http://schemas.microsoft.com/office/drawing/2014/main" id="{23BBB873-FB04-42D4-9DDE-A55D4262705C}"/>
              </a:ext>
            </a:extLst>
          </p:cNvPr>
          <p:cNvSpPr>
            <a:spLocks noGrp="1"/>
          </p:cNvSpPr>
          <p:nvPr/>
        </p:nvSpPr>
        <p:spPr>
          <a:xfrm>
            <a:off x="8801100" y="2886075"/>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CH0</a:t>
            </a:r>
          </a:p>
        </p:txBody>
      </p:sp>
      <p:sp>
        <p:nvSpPr>
          <p:cNvPr id="44" name="plane-array-0">
            <a:extLst>
              <a:ext uri="{FF2B5EF4-FFF2-40B4-BE49-F238E27FC236}">
                <a16:creationId xmlns:a16="http://schemas.microsoft.com/office/drawing/2014/main" id="{3AF46A26-5D08-48F3-9B2A-6851B3EFED00}"/>
              </a:ext>
            </a:extLst>
          </p:cNvPr>
          <p:cNvSpPr>
            <a:spLocks noGrp="1"/>
          </p:cNvSpPr>
          <p:nvPr/>
        </p:nvSpPr>
        <p:spPr>
          <a:xfrm>
            <a:off x="9439275" y="2886075"/>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5" name="channel-1">
            <a:extLst>
              <a:ext uri="{FF2B5EF4-FFF2-40B4-BE49-F238E27FC236}">
                <a16:creationId xmlns:a16="http://schemas.microsoft.com/office/drawing/2014/main" id="{6A337587-3EFD-4435-956B-CCD6C9E8C1B4}"/>
              </a:ext>
            </a:extLst>
          </p:cNvPr>
          <p:cNvSpPr>
            <a:spLocks noGrp="1"/>
          </p:cNvSpPr>
          <p:nvPr/>
        </p:nvSpPr>
        <p:spPr>
          <a:xfrm>
            <a:off x="8715375" y="3314700"/>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46" name="channel-label-bg-1">
            <a:extLst>
              <a:ext uri="{FF2B5EF4-FFF2-40B4-BE49-F238E27FC236}">
                <a16:creationId xmlns:a16="http://schemas.microsoft.com/office/drawing/2014/main" id="{C0FA7450-30D1-43AF-B35A-3035A21783F8}"/>
              </a:ext>
            </a:extLst>
          </p:cNvPr>
          <p:cNvSpPr>
            <a:spLocks noGrp="1"/>
          </p:cNvSpPr>
          <p:nvPr/>
        </p:nvSpPr>
        <p:spPr>
          <a:xfrm>
            <a:off x="8715375" y="3314700"/>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47" name="channel-label-1">
            <a:extLst>
              <a:ext uri="{FF2B5EF4-FFF2-40B4-BE49-F238E27FC236}">
                <a16:creationId xmlns:a16="http://schemas.microsoft.com/office/drawing/2014/main" id="{34BFFEB9-D23E-4F8F-A471-8C51200C890B}"/>
              </a:ext>
            </a:extLst>
          </p:cNvPr>
          <p:cNvSpPr>
            <a:spLocks noGrp="1"/>
          </p:cNvSpPr>
          <p:nvPr/>
        </p:nvSpPr>
        <p:spPr>
          <a:xfrm>
            <a:off x="8801100" y="3371850"/>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CH1</a:t>
            </a:r>
          </a:p>
        </p:txBody>
      </p:sp>
      <p:sp>
        <p:nvSpPr>
          <p:cNvPr id="48" name="plane-array-1">
            <a:extLst>
              <a:ext uri="{FF2B5EF4-FFF2-40B4-BE49-F238E27FC236}">
                <a16:creationId xmlns:a16="http://schemas.microsoft.com/office/drawing/2014/main" id="{50A815A0-514B-4A12-8FC7-AB11E99B2D37}"/>
              </a:ext>
            </a:extLst>
          </p:cNvPr>
          <p:cNvSpPr>
            <a:spLocks noGrp="1"/>
          </p:cNvSpPr>
          <p:nvPr/>
        </p:nvSpPr>
        <p:spPr>
          <a:xfrm>
            <a:off x="9439275" y="3371850"/>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49" name="channel-2">
            <a:extLst>
              <a:ext uri="{FF2B5EF4-FFF2-40B4-BE49-F238E27FC236}">
                <a16:creationId xmlns:a16="http://schemas.microsoft.com/office/drawing/2014/main" id="{6CD058DC-3349-40BE-BA2C-C05ABFAE35EC}"/>
              </a:ext>
            </a:extLst>
          </p:cNvPr>
          <p:cNvSpPr>
            <a:spLocks noGrp="1"/>
          </p:cNvSpPr>
          <p:nvPr/>
        </p:nvSpPr>
        <p:spPr>
          <a:xfrm>
            <a:off x="8715375" y="3800475"/>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50" name="channel-label-bg-2">
            <a:extLst>
              <a:ext uri="{FF2B5EF4-FFF2-40B4-BE49-F238E27FC236}">
                <a16:creationId xmlns:a16="http://schemas.microsoft.com/office/drawing/2014/main" id="{2FD27012-1B5A-4B2C-8CB9-EC5D6F3FAF56}"/>
              </a:ext>
            </a:extLst>
          </p:cNvPr>
          <p:cNvSpPr>
            <a:spLocks noGrp="1"/>
          </p:cNvSpPr>
          <p:nvPr/>
        </p:nvSpPr>
        <p:spPr>
          <a:xfrm>
            <a:off x="8715375" y="3800475"/>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51" name="channel-label-2">
            <a:extLst>
              <a:ext uri="{FF2B5EF4-FFF2-40B4-BE49-F238E27FC236}">
                <a16:creationId xmlns:a16="http://schemas.microsoft.com/office/drawing/2014/main" id="{677B0C87-FEF9-46E2-9167-517EED1DAF73}"/>
              </a:ext>
            </a:extLst>
          </p:cNvPr>
          <p:cNvSpPr>
            <a:spLocks noGrp="1"/>
          </p:cNvSpPr>
          <p:nvPr/>
        </p:nvSpPr>
        <p:spPr>
          <a:xfrm>
            <a:off x="8801100" y="3857625"/>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CH2</a:t>
            </a:r>
          </a:p>
        </p:txBody>
      </p:sp>
      <p:sp>
        <p:nvSpPr>
          <p:cNvPr id="52" name="plane-array-2">
            <a:extLst>
              <a:ext uri="{FF2B5EF4-FFF2-40B4-BE49-F238E27FC236}">
                <a16:creationId xmlns:a16="http://schemas.microsoft.com/office/drawing/2014/main" id="{01A7B49D-2409-4375-AAE9-818460FBEB35}"/>
              </a:ext>
            </a:extLst>
          </p:cNvPr>
          <p:cNvSpPr>
            <a:spLocks noGrp="1"/>
          </p:cNvSpPr>
          <p:nvPr/>
        </p:nvSpPr>
        <p:spPr>
          <a:xfrm>
            <a:off x="9439275" y="3857625"/>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3" name="channel-3">
            <a:extLst>
              <a:ext uri="{FF2B5EF4-FFF2-40B4-BE49-F238E27FC236}">
                <a16:creationId xmlns:a16="http://schemas.microsoft.com/office/drawing/2014/main" id="{7B164DE2-5C56-48C6-B506-81D1330517D0}"/>
              </a:ext>
            </a:extLst>
          </p:cNvPr>
          <p:cNvSpPr>
            <a:spLocks noGrp="1"/>
          </p:cNvSpPr>
          <p:nvPr/>
        </p:nvSpPr>
        <p:spPr>
          <a:xfrm>
            <a:off x="8715375" y="4286250"/>
            <a:ext cx="2686050" cy="361950"/>
          </a:xfrm>
          <a:prstGeom prst="rect">
            <a:avLst/>
          </a:prstGeom>
          <a:solidFill>
            <a:srgbClr val="FFFFFF"/>
          </a:solidFill>
          <a:ln w="14288">
            <a:solidFill>
              <a:srgbClr val="9AA9B5"/>
            </a:solidFill>
            <a:prstDash val="solid"/>
          </a:ln>
        </p:spPr>
        <p:txBody>
          <a:bodyPr/>
          <a:lstStyle/>
          <a:p>
            <a:endParaRPr lang="ko-KR" altLang="en-US"/>
          </a:p>
        </p:txBody>
      </p:sp>
      <p:sp>
        <p:nvSpPr>
          <p:cNvPr id="54" name="channel-label-bg-3">
            <a:extLst>
              <a:ext uri="{FF2B5EF4-FFF2-40B4-BE49-F238E27FC236}">
                <a16:creationId xmlns:a16="http://schemas.microsoft.com/office/drawing/2014/main" id="{41CBC28C-C115-4B4A-B275-75B136B0753F}"/>
              </a:ext>
            </a:extLst>
          </p:cNvPr>
          <p:cNvSpPr>
            <a:spLocks noGrp="1"/>
          </p:cNvSpPr>
          <p:nvPr/>
        </p:nvSpPr>
        <p:spPr>
          <a:xfrm>
            <a:off x="8715375" y="4286250"/>
            <a:ext cx="600075" cy="361950"/>
          </a:xfrm>
          <a:prstGeom prst="rect">
            <a:avLst/>
          </a:prstGeom>
          <a:solidFill>
            <a:srgbClr val="F1F5F8"/>
          </a:solidFill>
          <a:ln w="14288">
            <a:solidFill>
              <a:srgbClr val="9AA9B5"/>
            </a:solidFill>
            <a:prstDash val="solid"/>
          </a:ln>
        </p:spPr>
        <p:txBody>
          <a:bodyPr/>
          <a:lstStyle/>
          <a:p>
            <a:endParaRPr lang="ko-KR" altLang="en-US"/>
          </a:p>
        </p:txBody>
      </p:sp>
      <p:sp>
        <p:nvSpPr>
          <p:cNvPr id="55" name="channel-label-3">
            <a:extLst>
              <a:ext uri="{FF2B5EF4-FFF2-40B4-BE49-F238E27FC236}">
                <a16:creationId xmlns:a16="http://schemas.microsoft.com/office/drawing/2014/main" id="{363454FE-623A-4624-953E-14C5AD599D8B}"/>
              </a:ext>
            </a:extLst>
          </p:cNvPr>
          <p:cNvSpPr>
            <a:spLocks noGrp="1"/>
          </p:cNvSpPr>
          <p:nvPr/>
        </p:nvSpPr>
        <p:spPr>
          <a:xfrm>
            <a:off x="8801100" y="4343400"/>
            <a:ext cx="600075" cy="26670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CH3</a:t>
            </a:r>
          </a:p>
        </p:txBody>
      </p:sp>
      <p:sp>
        <p:nvSpPr>
          <p:cNvPr id="56" name="plane-array-3">
            <a:extLst>
              <a:ext uri="{FF2B5EF4-FFF2-40B4-BE49-F238E27FC236}">
                <a16:creationId xmlns:a16="http://schemas.microsoft.com/office/drawing/2014/main" id="{92706B49-FD33-4E97-BEF6-141D246F4796}"/>
              </a:ext>
            </a:extLst>
          </p:cNvPr>
          <p:cNvSpPr>
            <a:spLocks noGrp="1"/>
          </p:cNvSpPr>
          <p:nvPr/>
        </p:nvSpPr>
        <p:spPr>
          <a:xfrm>
            <a:off x="9439275" y="4343400"/>
            <a:ext cx="1924050" cy="266700"/>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0 … 15</a:t>
            </a:r>
          </a:p>
        </p:txBody>
      </p:sp>
      <p:sp>
        <p:nvSpPr>
          <p:cNvPr id="57" name="nand-output-unit">
            <a:extLst>
              <a:ext uri="{FF2B5EF4-FFF2-40B4-BE49-F238E27FC236}">
                <a16:creationId xmlns:a16="http://schemas.microsoft.com/office/drawing/2014/main" id="{2C3DB28A-5EF0-462C-BD3D-A33347B5C83D}"/>
              </a:ext>
            </a:extLst>
          </p:cNvPr>
          <p:cNvSpPr>
            <a:spLocks noGrp="1"/>
          </p:cNvSpPr>
          <p:nvPr/>
        </p:nvSpPr>
        <p:spPr>
          <a:xfrm>
            <a:off x="9267825" y="4724400"/>
            <a:ext cx="2209800" cy="257175"/>
          </a:xfrm>
          <a:prstGeom prst="rect">
            <a:avLst/>
          </a:prstGeom>
          <a:noFill/>
          <a:ln w="0">
            <a:noFill/>
          </a:ln>
        </p:spPr>
        <p:txBody>
          <a:bodyPr wrap="square" lIns="0" tIns="0" rIns="0" bIns="0" anchor="t">
            <a:noAutofit/>
          </a:bodyPr>
          <a:lstStyle>
            <a:defPPr>
              <a:defRPr sz="1575" b="0">
                <a:solidFill>
                  <a:srgbClr val="008B82"/>
                </a:solidFill>
                <a:latin typeface="Apple SD Gothic Neo"/>
                <a:ea typeface="Apple SD Gothic Neo"/>
                <a:cs typeface="Apple SD Gothic Neo"/>
              </a:defRPr>
            </a:defPPr>
          </a:lstStyle>
          <a:p>
            <a:pPr>
              <a:defRPr sz="1575" b="0">
                <a:solidFill>
                  <a:srgbClr val="008B82"/>
                </a:solidFill>
                <a:latin typeface="Apple SD Gothic Neo"/>
                <a:ea typeface="Apple SD Gothic Neo"/>
                <a:cs typeface="Apple SD Gothic Neo"/>
              </a:defRPr>
            </a:pPr>
            <a:r>
              <a:rPr sz="1575" b="0">
                <a:solidFill>
                  <a:srgbClr val="008B82"/>
                </a:solidFill>
                <a:latin typeface="Apple SD Gothic Neo"/>
                <a:ea typeface="Apple SD Gothic Neo"/>
                <a:cs typeface="Apple SD Gothic Neo"/>
              </a:rPr>
              <a:t>16KiB / NAND 출력</a:t>
            </a:r>
          </a:p>
        </p:txBody>
      </p:sp>
      <p:cxnSp>
        <p:nvCxnSpPr>
          <p:cNvPr id="58" name="host-request">
            <a:extLst>
              <a:ext uri="{FF2B5EF4-FFF2-40B4-BE49-F238E27FC236}">
                <a16:creationId xmlns:a16="http://schemas.microsoft.com/office/drawing/2014/main" id="{E8FBDB7E-86C7-450E-9C4E-A4D4F31DB134}"/>
              </a:ext>
            </a:extLst>
          </p:cNvPr>
          <p:cNvCxnSpPr/>
          <p:nvPr/>
        </p:nvCxnSpPr>
        <p:spPr>
          <a:xfrm>
            <a:off x="2171700" y="3114675"/>
            <a:ext cx="609600" cy="0"/>
          </a:xfrm>
          <a:prstGeom prst="straightConnector1">
            <a:avLst/>
          </a:prstGeom>
          <a:ln w="23813">
            <a:solidFill>
              <a:srgbClr val="126DCA"/>
            </a:solidFill>
            <a:prstDash val="solid"/>
            <a:tailEnd type="triangle" w="med" len="med"/>
          </a:ln>
        </p:spPr>
      </p:cxnSp>
      <p:cxnSp>
        <p:nvCxnSpPr>
          <p:cNvPr id="59" name="request-to-mapping">
            <a:extLst>
              <a:ext uri="{FF2B5EF4-FFF2-40B4-BE49-F238E27FC236}">
                <a16:creationId xmlns:a16="http://schemas.microsoft.com/office/drawing/2014/main" id="{ECDCBB4F-7CA3-4F78-BD53-A660057B6718}"/>
              </a:ext>
            </a:extLst>
          </p:cNvPr>
          <p:cNvCxnSpPr/>
          <p:nvPr/>
        </p:nvCxnSpPr>
        <p:spPr>
          <a:xfrm>
            <a:off x="4095750" y="3114675"/>
            <a:ext cx="219075" cy="0"/>
          </a:xfrm>
          <a:prstGeom prst="straightConnector1">
            <a:avLst/>
          </a:prstGeom>
          <a:ln w="23813">
            <a:solidFill>
              <a:srgbClr val="126DCA"/>
            </a:solidFill>
            <a:prstDash val="solid"/>
            <a:tailEnd type="triangle" w="med" len="med"/>
          </a:ln>
        </p:spPr>
      </p:cxnSp>
      <p:cxnSp>
        <p:nvCxnSpPr>
          <p:cNvPr id="60" name="request-to-scheduler">
            <a:extLst>
              <a:ext uri="{FF2B5EF4-FFF2-40B4-BE49-F238E27FC236}">
                <a16:creationId xmlns:a16="http://schemas.microsoft.com/office/drawing/2014/main" id="{ED47EC9C-53B5-4A33-8565-4DCA414624BF}"/>
              </a:ext>
            </a:extLst>
          </p:cNvPr>
          <p:cNvCxnSpPr/>
          <p:nvPr/>
        </p:nvCxnSpPr>
        <p:spPr>
          <a:xfrm>
            <a:off x="5829300" y="3114675"/>
            <a:ext cx="219075" cy="0"/>
          </a:xfrm>
          <a:prstGeom prst="straightConnector1">
            <a:avLst/>
          </a:prstGeom>
          <a:ln w="23813">
            <a:solidFill>
              <a:srgbClr val="126DCA"/>
            </a:solidFill>
            <a:prstDash val="solid"/>
            <a:tailEnd type="triangle" w="med" len="med"/>
          </a:ln>
        </p:spPr>
      </p:cxnSp>
      <p:cxnSp>
        <p:nvCxnSpPr>
          <p:cNvPr id="61" name="ca-to-shared-channel-bus">
            <a:extLst>
              <a:ext uri="{FF2B5EF4-FFF2-40B4-BE49-F238E27FC236}">
                <a16:creationId xmlns:a16="http://schemas.microsoft.com/office/drawing/2014/main" id="{F911FE92-758A-4E3F-9424-B14947B43DC4}"/>
              </a:ext>
            </a:extLst>
          </p:cNvPr>
          <p:cNvCxnSpPr/>
          <p:nvPr/>
        </p:nvCxnSpPr>
        <p:spPr>
          <a:xfrm>
            <a:off x="7867650" y="3114675"/>
            <a:ext cx="381000" cy="0"/>
          </a:xfrm>
          <a:prstGeom prst="straightConnector1">
            <a:avLst/>
          </a:prstGeom>
          <a:ln w="23813">
            <a:solidFill>
              <a:srgbClr val="126DCA"/>
            </a:solidFill>
            <a:prstDash val="solid"/>
          </a:ln>
        </p:spPr>
      </p:cxnSp>
      <p:cxnSp>
        <p:nvCxnSpPr>
          <p:cNvPr id="62" name="shared-ca-bus">
            <a:extLst>
              <a:ext uri="{FF2B5EF4-FFF2-40B4-BE49-F238E27FC236}">
                <a16:creationId xmlns:a16="http://schemas.microsoft.com/office/drawing/2014/main" id="{FBBEECC0-A67F-4A87-9FBC-A12F9CE5968D}"/>
              </a:ext>
            </a:extLst>
          </p:cNvPr>
          <p:cNvCxnSpPr/>
          <p:nvPr/>
        </p:nvCxnSpPr>
        <p:spPr>
          <a:xfrm>
            <a:off x="8248650" y="3009900"/>
            <a:ext cx="0" cy="1457325"/>
          </a:xfrm>
          <a:prstGeom prst="straightConnector1">
            <a:avLst/>
          </a:prstGeom>
          <a:ln w="23813">
            <a:solidFill>
              <a:srgbClr val="126DCA"/>
            </a:solidFill>
            <a:prstDash val="solid"/>
          </a:ln>
        </p:spPr>
      </p:cxnSp>
      <p:cxnSp>
        <p:nvCxnSpPr>
          <p:cNvPr id="63" name="ca-to-channel-0">
            <a:extLst>
              <a:ext uri="{FF2B5EF4-FFF2-40B4-BE49-F238E27FC236}">
                <a16:creationId xmlns:a16="http://schemas.microsoft.com/office/drawing/2014/main" id="{4006A78B-51E0-4625-8FED-662B640472F1}"/>
              </a:ext>
            </a:extLst>
          </p:cNvPr>
          <p:cNvCxnSpPr/>
          <p:nvPr/>
        </p:nvCxnSpPr>
        <p:spPr>
          <a:xfrm>
            <a:off x="8248650" y="3009900"/>
            <a:ext cx="466725" cy="0"/>
          </a:xfrm>
          <a:prstGeom prst="straightConnector1">
            <a:avLst/>
          </a:prstGeom>
          <a:ln w="23813">
            <a:solidFill>
              <a:srgbClr val="126DCA"/>
            </a:solidFill>
            <a:prstDash val="solid"/>
            <a:tailEnd type="triangle" w="med" len="med"/>
          </a:ln>
        </p:spPr>
      </p:cxnSp>
      <p:cxnSp>
        <p:nvCxnSpPr>
          <p:cNvPr id="64" name="ca-to-channel-1">
            <a:extLst>
              <a:ext uri="{FF2B5EF4-FFF2-40B4-BE49-F238E27FC236}">
                <a16:creationId xmlns:a16="http://schemas.microsoft.com/office/drawing/2014/main" id="{545DC9C8-EA00-4654-A53C-5BF0840D8E8F}"/>
              </a:ext>
            </a:extLst>
          </p:cNvPr>
          <p:cNvCxnSpPr/>
          <p:nvPr/>
        </p:nvCxnSpPr>
        <p:spPr>
          <a:xfrm>
            <a:off x="8248650" y="3495675"/>
            <a:ext cx="466725" cy="0"/>
          </a:xfrm>
          <a:prstGeom prst="straightConnector1">
            <a:avLst/>
          </a:prstGeom>
          <a:ln w="23813">
            <a:solidFill>
              <a:srgbClr val="126DCA"/>
            </a:solidFill>
            <a:prstDash val="solid"/>
            <a:tailEnd type="triangle" w="med" len="med"/>
          </a:ln>
        </p:spPr>
      </p:cxnSp>
      <p:cxnSp>
        <p:nvCxnSpPr>
          <p:cNvPr id="65" name="ca-to-channel-2">
            <a:extLst>
              <a:ext uri="{FF2B5EF4-FFF2-40B4-BE49-F238E27FC236}">
                <a16:creationId xmlns:a16="http://schemas.microsoft.com/office/drawing/2014/main" id="{A5159243-BDA4-41A7-9538-826706E3019B}"/>
              </a:ext>
            </a:extLst>
          </p:cNvPr>
          <p:cNvCxnSpPr/>
          <p:nvPr/>
        </p:nvCxnSpPr>
        <p:spPr>
          <a:xfrm>
            <a:off x="8248650" y="3981450"/>
            <a:ext cx="466725" cy="0"/>
          </a:xfrm>
          <a:prstGeom prst="straightConnector1">
            <a:avLst/>
          </a:prstGeom>
          <a:ln w="23813">
            <a:solidFill>
              <a:srgbClr val="126DCA"/>
            </a:solidFill>
            <a:prstDash val="solid"/>
            <a:tailEnd type="triangle" w="med" len="med"/>
          </a:ln>
        </p:spPr>
      </p:cxnSp>
      <p:cxnSp>
        <p:nvCxnSpPr>
          <p:cNvPr id="66" name="ca-to-channel-3">
            <a:extLst>
              <a:ext uri="{FF2B5EF4-FFF2-40B4-BE49-F238E27FC236}">
                <a16:creationId xmlns:a16="http://schemas.microsoft.com/office/drawing/2014/main" id="{D2DB9AF9-56D5-4385-910F-ACD16A76F121}"/>
              </a:ext>
            </a:extLst>
          </p:cNvPr>
          <p:cNvCxnSpPr/>
          <p:nvPr/>
        </p:nvCxnSpPr>
        <p:spPr>
          <a:xfrm>
            <a:off x="8248650" y="4467225"/>
            <a:ext cx="466725" cy="0"/>
          </a:xfrm>
          <a:prstGeom prst="straightConnector1">
            <a:avLst/>
          </a:prstGeom>
          <a:ln w="23813">
            <a:solidFill>
              <a:srgbClr val="126DCA"/>
            </a:solidFill>
            <a:prstDash val="solid"/>
            <a:tailEnd type="triangle" w="med" len="med"/>
          </a:ln>
        </p:spPr>
      </p:cxnSp>
      <p:cxnSp>
        <p:nvCxnSpPr>
          <p:cNvPr id="67" name="channel-data-0">
            <a:extLst>
              <a:ext uri="{FF2B5EF4-FFF2-40B4-BE49-F238E27FC236}">
                <a16:creationId xmlns:a16="http://schemas.microsoft.com/office/drawing/2014/main" id="{E90AC892-4677-4F4F-89B9-B8462C05F71E}"/>
              </a:ext>
            </a:extLst>
          </p:cNvPr>
          <p:cNvCxnSpPr/>
          <p:nvPr/>
        </p:nvCxnSpPr>
        <p:spPr>
          <a:xfrm>
            <a:off x="11401425" y="3009900"/>
            <a:ext cx="142875" cy="0"/>
          </a:xfrm>
          <a:prstGeom prst="straightConnector1">
            <a:avLst/>
          </a:prstGeom>
          <a:ln w="23813">
            <a:solidFill>
              <a:srgbClr val="008B82"/>
            </a:solidFill>
            <a:prstDash val="solid"/>
          </a:ln>
        </p:spPr>
      </p:cxnSp>
      <p:cxnSp>
        <p:nvCxnSpPr>
          <p:cNvPr id="68" name="channel-data-1">
            <a:extLst>
              <a:ext uri="{FF2B5EF4-FFF2-40B4-BE49-F238E27FC236}">
                <a16:creationId xmlns:a16="http://schemas.microsoft.com/office/drawing/2014/main" id="{E8C38DF5-BDBE-461A-8A02-21749FA926C8}"/>
              </a:ext>
            </a:extLst>
          </p:cNvPr>
          <p:cNvCxnSpPr/>
          <p:nvPr/>
        </p:nvCxnSpPr>
        <p:spPr>
          <a:xfrm>
            <a:off x="11401425" y="3495675"/>
            <a:ext cx="142875" cy="0"/>
          </a:xfrm>
          <a:prstGeom prst="straightConnector1">
            <a:avLst/>
          </a:prstGeom>
          <a:ln w="23813">
            <a:solidFill>
              <a:srgbClr val="008B82"/>
            </a:solidFill>
            <a:prstDash val="solid"/>
          </a:ln>
        </p:spPr>
      </p:cxnSp>
      <p:cxnSp>
        <p:nvCxnSpPr>
          <p:cNvPr id="69" name="channel-data-2">
            <a:extLst>
              <a:ext uri="{FF2B5EF4-FFF2-40B4-BE49-F238E27FC236}">
                <a16:creationId xmlns:a16="http://schemas.microsoft.com/office/drawing/2014/main" id="{D0632233-2582-412A-A8C6-FFDDB4937147}"/>
              </a:ext>
            </a:extLst>
          </p:cNvPr>
          <p:cNvCxnSpPr/>
          <p:nvPr/>
        </p:nvCxnSpPr>
        <p:spPr>
          <a:xfrm>
            <a:off x="11401425" y="3981450"/>
            <a:ext cx="142875" cy="0"/>
          </a:xfrm>
          <a:prstGeom prst="straightConnector1">
            <a:avLst/>
          </a:prstGeom>
          <a:ln w="23813">
            <a:solidFill>
              <a:srgbClr val="008B82"/>
            </a:solidFill>
            <a:prstDash val="solid"/>
          </a:ln>
        </p:spPr>
      </p:cxnSp>
      <p:cxnSp>
        <p:nvCxnSpPr>
          <p:cNvPr id="70" name="channel-data-3">
            <a:extLst>
              <a:ext uri="{FF2B5EF4-FFF2-40B4-BE49-F238E27FC236}">
                <a16:creationId xmlns:a16="http://schemas.microsoft.com/office/drawing/2014/main" id="{41812AD5-59EC-4C41-B6A7-3E26C2922AC8}"/>
              </a:ext>
            </a:extLst>
          </p:cNvPr>
          <p:cNvCxnSpPr/>
          <p:nvPr/>
        </p:nvCxnSpPr>
        <p:spPr>
          <a:xfrm>
            <a:off x="11401425" y="4467225"/>
            <a:ext cx="142875" cy="0"/>
          </a:xfrm>
          <a:prstGeom prst="straightConnector1">
            <a:avLst/>
          </a:prstGeom>
          <a:ln w="23813">
            <a:solidFill>
              <a:srgbClr val="008B82"/>
            </a:solidFill>
            <a:prstDash val="solid"/>
          </a:ln>
        </p:spPr>
      </p:cxnSp>
      <p:cxnSp>
        <p:nvCxnSpPr>
          <p:cNvPr id="71" name="shared-data-bus">
            <a:extLst>
              <a:ext uri="{FF2B5EF4-FFF2-40B4-BE49-F238E27FC236}">
                <a16:creationId xmlns:a16="http://schemas.microsoft.com/office/drawing/2014/main" id="{BE91D0FC-826A-4C4C-9082-AEBF50E5BB36}"/>
              </a:ext>
            </a:extLst>
          </p:cNvPr>
          <p:cNvCxnSpPr/>
          <p:nvPr/>
        </p:nvCxnSpPr>
        <p:spPr>
          <a:xfrm>
            <a:off x="11544300" y="3009900"/>
            <a:ext cx="0" cy="2047875"/>
          </a:xfrm>
          <a:prstGeom prst="straightConnector1">
            <a:avLst/>
          </a:prstGeom>
          <a:ln w="23813">
            <a:solidFill>
              <a:srgbClr val="008B82"/>
            </a:solidFill>
            <a:prstDash val="solid"/>
          </a:ln>
        </p:spPr>
      </p:cxnSp>
      <p:cxnSp>
        <p:nvCxnSpPr>
          <p:cNvPr id="72" name="nand-data-to-ecc">
            <a:extLst>
              <a:ext uri="{FF2B5EF4-FFF2-40B4-BE49-F238E27FC236}">
                <a16:creationId xmlns:a16="http://schemas.microsoft.com/office/drawing/2014/main" id="{FCA54182-BA02-4C79-9B7E-031DFA1878CD}"/>
              </a:ext>
            </a:extLst>
          </p:cNvPr>
          <p:cNvCxnSpPr/>
          <p:nvPr/>
        </p:nvCxnSpPr>
        <p:spPr>
          <a:xfrm>
            <a:off x="7867650" y="5057775"/>
            <a:ext cx="3676650" cy="0"/>
          </a:xfrm>
          <a:prstGeom prst="straightConnector1">
            <a:avLst/>
          </a:prstGeom>
          <a:ln w="23813">
            <a:solidFill>
              <a:srgbClr val="008B82"/>
            </a:solidFill>
            <a:prstDash val="solid"/>
            <a:headEnd type="triangle" w="med" len="med"/>
          </a:ln>
        </p:spPr>
      </p:cxnSp>
      <p:cxnSp>
        <p:nvCxnSpPr>
          <p:cNvPr id="73" name="ecc-to-buffer">
            <a:extLst>
              <a:ext uri="{FF2B5EF4-FFF2-40B4-BE49-F238E27FC236}">
                <a16:creationId xmlns:a16="http://schemas.microsoft.com/office/drawing/2014/main" id="{197F7BAB-80D0-429E-A9D1-2B395CC788C4}"/>
              </a:ext>
            </a:extLst>
          </p:cNvPr>
          <p:cNvCxnSpPr/>
          <p:nvPr/>
        </p:nvCxnSpPr>
        <p:spPr>
          <a:xfrm>
            <a:off x="6143625" y="4914900"/>
            <a:ext cx="533400" cy="0"/>
          </a:xfrm>
          <a:prstGeom prst="straightConnector1">
            <a:avLst/>
          </a:prstGeom>
          <a:ln w="23813">
            <a:solidFill>
              <a:srgbClr val="008B82"/>
            </a:solidFill>
            <a:prstDash val="solid"/>
            <a:headEnd type="triangle" w="med" len="med"/>
          </a:ln>
        </p:spPr>
      </p:cxnSp>
      <p:cxnSp>
        <p:nvCxnSpPr>
          <p:cNvPr id="74" name="buffer-to-host">
            <a:extLst>
              <a:ext uri="{FF2B5EF4-FFF2-40B4-BE49-F238E27FC236}">
                <a16:creationId xmlns:a16="http://schemas.microsoft.com/office/drawing/2014/main" id="{3CDDE806-9A51-43CC-B0BD-E3580BB6729B}"/>
              </a:ext>
            </a:extLst>
          </p:cNvPr>
          <p:cNvCxnSpPr/>
          <p:nvPr/>
        </p:nvCxnSpPr>
        <p:spPr>
          <a:xfrm>
            <a:off x="2171700" y="4914900"/>
            <a:ext cx="609600" cy="0"/>
          </a:xfrm>
          <a:prstGeom prst="straightConnector1">
            <a:avLst/>
          </a:prstGeom>
          <a:ln w="23813">
            <a:solidFill>
              <a:srgbClr val="008B82"/>
            </a:solidFill>
            <a:prstDash val="solid"/>
            <a:headEnd type="triangle" w="med" len="med"/>
          </a:ln>
        </p:spPr>
      </p:cxnSp>
      <p:sp>
        <p:nvSpPr>
          <p:cNvPr id="75" name="all-to-all">
            <a:extLst>
              <a:ext uri="{FF2B5EF4-FFF2-40B4-BE49-F238E27FC236}">
                <a16:creationId xmlns:a16="http://schemas.microsoft.com/office/drawing/2014/main" id="{4B12ED98-548C-460F-A7FE-50DB78333451}"/>
              </a:ext>
            </a:extLst>
          </p:cNvPr>
          <p:cNvSpPr>
            <a:spLocks noGrp="1"/>
          </p:cNvSpPr>
          <p:nvPr/>
        </p:nvSpPr>
        <p:spPr>
          <a:xfrm>
            <a:off x="552450" y="5438775"/>
            <a:ext cx="11049000" cy="314325"/>
          </a:xfrm>
          <a:prstGeom prst="rect">
            <a:avLst/>
          </a:prstGeom>
          <a:noFill/>
          <a:ln w="0">
            <a:noFill/>
          </a:ln>
        </p:spPr>
        <p:txBody>
          <a:bodyPr wrap="square" lIns="0" tIns="0" rIns="0" bIns="0" anchor="t">
            <a:noAutofit/>
          </a:bodyPr>
          <a:lstStyle>
            <a:defPPr>
              <a:defRPr sz="1875" b="1">
                <a:solidFill>
                  <a:srgbClr val="172738"/>
                </a:solidFill>
                <a:latin typeface="Apple SD Gothic Neo"/>
                <a:ea typeface="Apple SD Gothic Neo"/>
                <a:cs typeface="Apple SD Gothic Neo"/>
              </a:defRPr>
            </a:defPPr>
          </a:lstStyle>
          <a:p>
            <a:pPr>
              <a:defRPr sz="1875" b="1">
                <a:solidFill>
                  <a:srgbClr val="172738"/>
                </a:solidFill>
                <a:latin typeface="Apple SD Gothic Neo"/>
                <a:ea typeface="Apple SD Gothic Neo"/>
                <a:cs typeface="Apple SD Gothic Neo"/>
              </a:defRPr>
            </a:pPr>
            <a:r>
              <a:rPr sz="1875" b="1">
                <a:solidFill>
                  <a:srgbClr val="172738"/>
                </a:solidFill>
                <a:latin typeface="Apple SD Gothic Neo"/>
                <a:ea typeface="Apple SD Gothic Neo"/>
                <a:cs typeface="Apple SD Gothic Neo"/>
              </a:rPr>
              <a:t>모든 Port가 4채널을 공유하며, L2P 결과가 읽을 Channel과 Plane을 결정합니다.</a:t>
            </a:r>
          </a:p>
        </p:txBody>
      </p:sp>
      <p:sp>
        <p:nvSpPr>
          <p:cNvPr id="76" name="fixed-timing">
            <a:extLst>
              <a:ext uri="{FF2B5EF4-FFF2-40B4-BE49-F238E27FC236}">
                <a16:creationId xmlns:a16="http://schemas.microsoft.com/office/drawing/2014/main" id="{E50D2C47-E5BF-4B82-B4E9-A0F4221F35FF}"/>
              </a:ext>
            </a:extLst>
          </p:cNvPr>
          <p:cNvSpPr>
            <a:spLocks noGrp="1"/>
          </p:cNvSpPr>
          <p:nvPr/>
        </p:nvSpPr>
        <p:spPr>
          <a:xfrm>
            <a:off x="552450" y="5810250"/>
            <a:ext cx="11068050" cy="2667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비교 고정: tR S/M/L = 2.00 / 2.08 / 12.16µs (First/Group 20.69µs) · 가용률 85%</a:t>
            </a:r>
          </a:p>
        </p:txBody>
      </p:sp>
      <p:sp>
        <p:nvSpPr>
          <p:cNvPr id="77" name="fixed-geometry">
            <a:extLst>
              <a:ext uri="{FF2B5EF4-FFF2-40B4-BE49-F238E27FC236}">
                <a16:creationId xmlns:a16="http://schemas.microsoft.com/office/drawing/2014/main" id="{220E20F7-253F-488F-9E33-3DA525708E59}"/>
              </a:ext>
            </a:extLst>
          </p:cNvPr>
          <p:cNvSpPr>
            <a:spLocks noGrp="1"/>
          </p:cNvSpPr>
          <p:nvPr/>
        </p:nvSpPr>
        <p:spPr>
          <a:xfrm>
            <a:off x="552450" y="6105525"/>
            <a:ext cx="11068050" cy="2667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물리 Page 16KiB · Plane당 page buffer 1개 · 현재 4 Port의 Host IF 합계 256GB/s</a:t>
            </a:r>
          </a:p>
        </p:txBody>
      </p:sp>
    </p:spTree>
    <p:extLst>
      <p:ext uri="{BB962C8B-B14F-4D97-AF65-F5344CB8AC3E}">
        <p14:creationId xmlns:p14="http://schemas.microsoft.com/office/powerpoint/2010/main" val="532026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482DF5B5-07D4-410B-BE5B-185CC219A601}"/>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zNAND의 tR 특성과 선택 조건</a:t>
            </a:r>
          </a:p>
        </p:txBody>
      </p:sp>
      <p:sp>
        <p:nvSpPr>
          <p:cNvPr id="2" name="subtitle">
            <a:extLst>
              <a:ext uri="{FF2B5EF4-FFF2-40B4-BE49-F238E27FC236}">
                <a16:creationId xmlns:a16="http://schemas.microsoft.com/office/drawing/2014/main" id="{01EB110A-11C7-4BDF-A49B-EBEC6E5ECEB6}"/>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tR은 NAND sensing 시간입니다. 같은 Plane의 직전 sensing 주소와 다음 물리 주소로 판정합니다.</a:t>
            </a:r>
          </a:p>
        </p:txBody>
      </p:sp>
      <p:sp>
        <p:nvSpPr>
          <p:cNvPr id="3" name="footer">
            <a:extLst>
              <a:ext uri="{FF2B5EF4-FFF2-40B4-BE49-F238E27FC236}">
                <a16:creationId xmlns:a16="http://schemas.microsoft.com/office/drawing/2014/main" id="{891C2EDD-E4F8-4F08-B270-EC0854AC8DD3}"/>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 입력값    성능 개선 실험에서 tR 상수는 유지    근거: model.py와 튜닝 문서</a:t>
            </a:r>
          </a:p>
        </p:txBody>
      </p:sp>
      <p:sp>
        <p:nvSpPr>
          <p:cNvPr id="4" name="page">
            <a:extLst>
              <a:ext uri="{FF2B5EF4-FFF2-40B4-BE49-F238E27FC236}">
                <a16:creationId xmlns:a16="http://schemas.microsoft.com/office/drawing/2014/main" id="{B9606577-0E25-4162-96AC-B1B486227682}"/>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02</a:t>
            </a:r>
          </a:p>
        </p:txBody>
      </p:sp>
      <p:graphicFrame>
        <p:nvGraphicFramePr>
          <p:cNvPr id="5" name="tr-classification">
            <a:extLst>
              <a:ext uri="{FF2B5EF4-FFF2-40B4-BE49-F238E27FC236}">
                <a16:creationId xmlns:a16="http://schemas.microsoft.com/office/drawing/2014/main" id="{1DA4E51C-442A-43C9-A04C-CF8B2CFDECF7}"/>
              </a:ext>
            </a:extLst>
          </p:cNvPr>
          <p:cNvGraphicFramePr/>
          <p:nvPr/>
        </p:nvGraphicFramePr>
        <p:xfrm>
          <a:off x="533400" y="1790700"/>
          <a:ext cx="11125200" cy="2914650"/>
        </p:xfrm>
        <a:graphic>
          <a:graphicData uri="http://schemas.openxmlformats.org/drawingml/2006/table">
            <a:tbl>
              <a:tblPr/>
              <a:tblGrid>
                <a:gridCol w="1238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485775">
                <a:tc>
                  <a:txBody>
                    <a:bodyPr/>
                    <a:lstStyle/>
                    <a:p>
                      <a:r>
                        <a:rPr sz="1650" b="1">
                          <a:solidFill>
                            <a:srgbClr val="FFFFFF"/>
                          </a:solidFill>
                          <a:latin typeface="Apple SD Gothic Neo"/>
                          <a:ea typeface="Apple SD Gothic Neo"/>
                          <a:cs typeface="Apple SD Gothic Neo"/>
                        </a:rPr>
                        <a:t>종류</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tR (µs)</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현재 모델의 적용 조건</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예시: Plane 내부 물리 순번 q</a:t>
                      </a:r>
                    </a:p>
                  </a:txBody>
                  <a:tcPr marL="133350" marR="133350" marT="95250" marB="95250" anchor="ctr">
                    <a:solidFill>
                      <a:srgbClr val="122C40"/>
                    </a:solidFill>
                  </a:tcPr>
                </a:tc>
                <a:extLst>
                  <a:ext uri="{0D108BD9-81ED-4DB2-BD59-A6C34878D82A}">
                    <a16:rowId xmlns:a16="http://schemas.microsoft.com/office/drawing/2014/main" val="10000"/>
                  </a:ext>
                </a:extLst>
              </a:tr>
              <a:tr h="485775">
                <a:tc>
                  <a:txBody>
                    <a:bodyPr/>
                    <a:lstStyle/>
                    <a:p>
                      <a:r>
                        <a:rPr sz="1650" b="0">
                          <a:solidFill>
                            <a:srgbClr val="172738"/>
                          </a:solidFill>
                          <a:latin typeface="Apple SD Gothic Neo"/>
                          <a:ea typeface="Apple SD Gothic Neo"/>
                          <a:cs typeface="Apple SD Gothic Neo"/>
                        </a:rPr>
                        <a:t>First</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해당 Plane의 이전 sensing 이력이 없음</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그 Plane의 최초 sensing</a:t>
                      </a:r>
                    </a:p>
                  </a:txBody>
                  <a:tcPr marL="133350" marR="133350" marT="95250" marB="95250" anchor="ctr">
                    <a:solidFill>
                      <a:srgbClr val="FFFFFF"/>
                    </a:solidFill>
                  </a:tcPr>
                </a:tc>
                <a:extLst>
                  <a:ext uri="{0D108BD9-81ED-4DB2-BD59-A6C34878D82A}">
                    <a16:rowId xmlns:a16="http://schemas.microsoft.com/office/drawing/2014/main" val="10001"/>
                  </a:ext>
                </a:extLst>
              </a:tr>
              <a:tr h="485775">
                <a:tc>
                  <a:txBody>
                    <a:bodyPr/>
                    <a:lstStyle/>
                    <a:p>
                      <a:r>
                        <a:rPr sz="1650" b="0">
                          <a:solidFill>
                            <a:srgbClr val="172738"/>
                          </a:solidFill>
                          <a:latin typeface="Apple SD Gothic Neo"/>
                          <a:ea typeface="Apple SD Gothic Neo"/>
                          <a:cs typeface="Apple SD Gothic Neo"/>
                        </a:rPr>
                        <a:t>Short</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2.00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같은 Group의 q+1, 목적지 q가 홀수</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q0→1: 같은 SSL의 E/O 0→1</a:t>
                      </a:r>
                    </a:p>
                  </a:txBody>
                  <a:tcPr marL="133350" marR="133350" marT="95250" marB="95250" anchor="ctr">
                    <a:solidFill>
                      <a:srgbClr val="F1F5F8"/>
                    </a:solidFill>
                  </a:tcPr>
                </a:tc>
                <a:extLst>
                  <a:ext uri="{0D108BD9-81ED-4DB2-BD59-A6C34878D82A}">
                    <a16:rowId xmlns:a16="http://schemas.microsoft.com/office/drawing/2014/main" val="10002"/>
                  </a:ext>
                </a:extLst>
              </a:tr>
              <a:tr h="485775">
                <a:tc>
                  <a:txBody>
                    <a:bodyPr/>
                    <a:lstStyle/>
                    <a:p>
                      <a:r>
                        <a:rPr sz="1650" b="0">
                          <a:solidFill>
                            <a:srgbClr val="172738"/>
                          </a:solidFill>
                          <a:latin typeface="Apple SD Gothic Neo"/>
                          <a:ea typeface="Apple SD Gothic Neo"/>
                          <a:cs typeface="Apple SD Gothic Neo"/>
                        </a:rPr>
                        <a:t>Mid</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2.08</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같은 Group의 q+1, 목적지 q가 짝수</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q1→2: SSL / q23→24: WL</a:t>
                      </a:r>
                    </a:p>
                  </a:txBody>
                  <a:tcPr marL="133350" marR="133350" marT="95250" marB="95250" anchor="ctr">
                    <a:solidFill>
                      <a:srgbClr val="FFFFFF"/>
                    </a:solidFill>
                  </a:tcPr>
                </a:tc>
                <a:extLst>
                  <a:ext uri="{0D108BD9-81ED-4DB2-BD59-A6C34878D82A}">
                    <a16:rowId xmlns:a16="http://schemas.microsoft.com/office/drawing/2014/main" val="10003"/>
                  </a:ext>
                </a:extLst>
              </a:tr>
              <a:tr h="485775">
                <a:tc>
                  <a:txBody>
                    <a:bodyPr/>
                    <a:lstStyle/>
                    <a:p>
                      <a:r>
                        <a:rPr sz="1650" b="0">
                          <a:solidFill>
                            <a:srgbClr val="172738"/>
                          </a:solidFill>
                          <a:latin typeface="Apple SD Gothic Neo"/>
                          <a:ea typeface="Apple SD Gothic Neo"/>
                          <a:cs typeface="Apple SD Gothic Neo"/>
                        </a:rPr>
                        <a:t>Long</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12.16</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같은 Group에서 q+1이 아닌 주소로 이동</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q0→2 또는 q3→1</a:t>
                      </a:r>
                    </a:p>
                  </a:txBody>
                  <a:tcPr marL="133350" marR="133350" marT="95250" marB="95250" anchor="ctr">
                    <a:solidFill>
                      <a:srgbClr val="F1F5F8"/>
                    </a:solidFill>
                  </a:tcPr>
                </a:tc>
                <a:extLst>
                  <a:ext uri="{0D108BD9-81ED-4DB2-BD59-A6C34878D82A}">
                    <a16:rowId xmlns:a16="http://schemas.microsoft.com/office/drawing/2014/main" val="10004"/>
                  </a:ext>
                </a:extLst>
              </a:tr>
              <a:tr h="485775">
                <a:tc>
                  <a:txBody>
                    <a:bodyPr/>
                    <a:lstStyle/>
                    <a:p>
                      <a:r>
                        <a:rPr sz="1650" b="0">
                          <a:solidFill>
                            <a:srgbClr val="172738"/>
                          </a:solidFill>
                          <a:latin typeface="Apple SD Gothic Neo"/>
                          <a:ea typeface="Apple SD Gothic Neo"/>
                          <a:cs typeface="Apple SD Gothic Neo"/>
                        </a:rPr>
                        <a:t>Group</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20.69</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직전 sensing과 다른 Group으로 이동</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q10103→10104: Group 0→1</a:t>
                      </a:r>
                    </a:p>
                  </a:txBody>
                  <a:tcPr marL="133350" marR="133350" marT="95250" marB="95250" anchor="ctr">
                    <a:solidFill>
                      <a:srgbClr val="FFFFFF"/>
                    </a:solidFill>
                  </a:tcPr>
                </a:tc>
                <a:extLst>
                  <a:ext uri="{0D108BD9-81ED-4DB2-BD59-A6C34878D82A}">
                    <a16:rowId xmlns:a16="http://schemas.microsoft.com/office/drawing/2014/main" val="10005"/>
                  </a:ext>
                </a:extLst>
              </a:tr>
            </a:tbl>
          </a:graphicData>
        </a:graphic>
      </p:graphicFrame>
      <p:sp>
        <p:nvSpPr>
          <p:cNvPr id="6" name="tr-sequence">
            <a:extLst>
              <a:ext uri="{FF2B5EF4-FFF2-40B4-BE49-F238E27FC236}">
                <a16:creationId xmlns:a16="http://schemas.microsoft.com/office/drawing/2014/main" id="{67B201D0-895B-4167-AA8A-CBD3D625074B}"/>
              </a:ext>
            </a:extLst>
          </p:cNvPr>
          <p:cNvSpPr>
            <a:spLocks noGrp="1"/>
          </p:cNvSpPr>
          <p:nvPr/>
        </p:nvSpPr>
        <p:spPr>
          <a:xfrm>
            <a:off x="571500" y="4914900"/>
            <a:ext cx="11049000" cy="323850"/>
          </a:xfrm>
          <a:prstGeom prst="rect">
            <a:avLst/>
          </a:prstGeom>
          <a:noFill/>
          <a:ln w="0">
            <a:noFill/>
          </a:ln>
        </p:spPr>
        <p:txBody>
          <a:bodyPr wrap="square" lIns="0" tIns="0" rIns="0" bIns="0" anchor="t">
            <a:noAutofit/>
          </a:bodyPr>
          <a:lstStyle>
            <a:defPPr>
              <a:defRPr sz="1950" b="1">
                <a:solidFill>
                  <a:srgbClr val="126DCA"/>
                </a:solidFill>
                <a:latin typeface="Apple SD Gothic Neo"/>
                <a:ea typeface="Apple SD Gothic Neo"/>
                <a:cs typeface="Apple SD Gothic Neo"/>
              </a:defRPr>
            </a:defPPr>
          </a:lstStyle>
          <a:p>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연속 예: q0 (First) → q1 (Short) → q2 (Mid) → q3 (Short) → …</a:t>
            </a:r>
          </a:p>
        </p:txBody>
      </p:sp>
      <p:sp>
        <p:nvSpPr>
          <p:cNvPr id="7" name="tr-initial-cost">
            <a:extLst>
              <a:ext uri="{FF2B5EF4-FFF2-40B4-BE49-F238E27FC236}">
                <a16:creationId xmlns:a16="http://schemas.microsoft.com/office/drawing/2014/main" id="{CC72C08C-A510-4D03-8624-FBCF87A98A70}"/>
              </a:ext>
            </a:extLst>
          </p:cNvPr>
          <p:cNvSpPr>
            <a:spLocks noGrp="1"/>
          </p:cNvSpPr>
          <p:nvPr/>
        </p:nvSpPr>
        <p:spPr>
          <a:xfrm>
            <a:off x="571500" y="5343525"/>
            <a:ext cx="11049000" cy="295275"/>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First / Group = 1st Long 17.52 + tRRC 3.17 = 20.69µs로 설정한 모델입니다.</a:t>
            </a:r>
          </a:p>
        </p:txBody>
      </p:sp>
      <p:sp>
        <p:nvSpPr>
          <p:cNvPr id="8" name="tr-page-buffer">
            <a:extLst>
              <a:ext uri="{FF2B5EF4-FFF2-40B4-BE49-F238E27FC236}">
                <a16:creationId xmlns:a16="http://schemas.microsoft.com/office/drawing/2014/main" id="{AAF56F0F-A9F4-4E45-8CF6-EC1FB43B2296}"/>
              </a:ext>
            </a:extLst>
          </p:cNvPr>
          <p:cNvSpPr>
            <a:spLocks noGrp="1"/>
          </p:cNvSpPr>
          <p:nvPr/>
        </p:nvSpPr>
        <p:spPr>
          <a:xfrm>
            <a:off x="571500" y="5686425"/>
            <a:ext cx="11049000" cy="523875"/>
          </a:xfrm>
          <a:prstGeom prst="rect">
            <a:avLst/>
          </a:prstGeom>
          <a:noFill/>
          <a:ln w="0">
            <a:noFill/>
          </a:ln>
        </p:spPr>
        <p:txBody>
          <a:bodyPr wrap="square" lIns="0" tIns="0" rIns="0" bIns="0" anchor="t">
            <a:noAutofit/>
          </a:bodyPr>
          <a:lstStyle>
            <a:defPPr>
              <a:defRPr sz="1650" b="0">
                <a:solidFill>
                  <a:srgbClr val="172738"/>
                </a:solidFill>
                <a:latin typeface="Apple SD Gothic Neo"/>
                <a:ea typeface="Apple SD Gothic Neo"/>
                <a:cs typeface="Apple SD Gothic Neo"/>
              </a:defRPr>
            </a:defPPr>
          </a:lstStyle>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Plane page buffer 적중: sensing 생략, 출력 명령·Data·ECC는 수행합니다.</a:t>
            </a:r>
          </a:p>
          <a:p>
            <a:pPr>
              <a:defRPr sz="1650" b="0">
                <a:solidFill>
                  <a:srgbClr val="172738"/>
                </a:solidFill>
                <a:latin typeface="Apple SD Gothic Neo"/>
                <a:ea typeface="Apple SD Gothic Neo"/>
                <a:cs typeface="Apple SD Gothic Neo"/>
              </a:defRPr>
            </a:pPr>
            <a:r>
              <a:rPr sz="1650" b="0">
                <a:solidFill>
                  <a:srgbClr val="172738"/>
                </a:solidFill>
                <a:latin typeface="Apple SD Gothic Neo"/>
                <a:ea typeface="Apple SD Gothic Neo"/>
                <a:cs typeface="Apple SD Gothic Neo"/>
              </a:rPr>
              <a:t>Controller buffer에도 없고 page buffer가 교체되었으면, 재방문 때 tR을 다시 판정합니다.</a:t>
            </a:r>
          </a:p>
        </p:txBody>
      </p:sp>
    </p:spTree>
    <p:extLst>
      <p:ext uri="{BB962C8B-B14F-4D97-AF65-F5344CB8AC3E}">
        <p14:creationId xmlns:p14="http://schemas.microsoft.com/office/powerpoint/2010/main" val="1629405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3" name="title">
            <a:extLst>
              <a:ext uri="{FF2B5EF4-FFF2-40B4-BE49-F238E27FC236}">
                <a16:creationId xmlns:a16="http://schemas.microsoft.com/office/drawing/2014/main" id="{6582058F-E5D9-493D-90CE-BBC66B54C0E5}"/>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zNAND Layout과 Data Placement</a:t>
            </a:r>
          </a:p>
        </p:txBody>
      </p:sp>
      <p:sp>
        <p:nvSpPr>
          <p:cNvPr id="2" name="subtitle">
            <a:extLst>
              <a:ext uri="{FF2B5EF4-FFF2-40B4-BE49-F238E27FC236}">
                <a16:creationId xmlns:a16="http://schemas.microsoft.com/office/drawing/2014/main" id="{54468D98-0EFE-4293-8B4D-8773F92C99B9}"/>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4채널 병렬성은 유지하고, 논리 영역마다 각 채널의 Plane 묶음을 분리합니다.</a:t>
            </a:r>
          </a:p>
        </p:txBody>
      </p:sp>
      <p:sp>
        <p:nvSpPr>
          <p:cNvPr id="3" name="footer">
            <a:extLst>
              <a:ext uri="{FF2B5EF4-FFF2-40B4-BE49-F238E27FC236}">
                <a16:creationId xmlns:a16="http://schemas.microsoft.com/office/drawing/2014/main" id="{F2DC81F9-FBAB-49DB-B9E7-A68D2D0AE84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현재 모델의 64 Plane 영역 배치    L은 영역 내 4KiB 논리 조각    PL 번호는 각 Channel 내부 번호</a:t>
            </a:r>
          </a:p>
        </p:txBody>
      </p:sp>
      <p:sp>
        <p:nvSpPr>
          <p:cNvPr id="4" name="page">
            <a:extLst>
              <a:ext uri="{FF2B5EF4-FFF2-40B4-BE49-F238E27FC236}">
                <a16:creationId xmlns:a16="http://schemas.microsoft.com/office/drawing/2014/main" id="{43CD1967-F28B-40C1-9E10-26610F340777}"/>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03</a:t>
            </a:r>
          </a:p>
        </p:txBody>
      </p:sp>
      <p:sp>
        <p:nvSpPr>
          <p:cNvPr id="5" name="logical-regions-heading">
            <a:extLst>
              <a:ext uri="{FF2B5EF4-FFF2-40B4-BE49-F238E27FC236}">
                <a16:creationId xmlns:a16="http://schemas.microsoft.com/office/drawing/2014/main" id="{EA848BD9-4756-4AEA-A87F-2FB459646357}"/>
              </a:ext>
            </a:extLst>
          </p:cNvPr>
          <p:cNvSpPr>
            <a:spLocks noGrp="1"/>
          </p:cNvSpPr>
          <p:nvPr/>
        </p:nvSpPr>
        <p:spPr>
          <a:xfrm>
            <a:off x="533400" y="1819275"/>
            <a:ext cx="1714500" cy="333375"/>
          </a:xfrm>
          <a:prstGeom prst="rect">
            <a:avLst/>
          </a:prstGeom>
          <a:noFill/>
          <a:ln w="0">
            <a:noFill/>
          </a:ln>
        </p:spPr>
        <p:txBody>
          <a:bodyPr wrap="square" lIns="0" tIns="0" rIns="0" bIns="0" anchor="t">
            <a:noAutofit/>
          </a:bodyPr>
          <a:lstStyle>
            <a:defPPr>
              <a:defRPr sz="1950" b="1">
                <a:solidFill>
                  <a:srgbClr val="172738"/>
                </a:solidFill>
                <a:latin typeface="Apple SD Gothic Neo"/>
                <a:ea typeface="Apple SD Gothic Neo"/>
                <a:cs typeface="Apple SD Gothic Neo"/>
              </a:defRPr>
            </a:defPPr>
          </a:lstStyle>
          <a:p>
            <a:pPr>
              <a:defRPr sz="1950" b="1">
                <a:solidFill>
                  <a:srgbClr val="172738"/>
                </a:solidFill>
                <a:latin typeface="Apple SD Gothic Neo"/>
                <a:ea typeface="Apple SD Gothic Neo"/>
                <a:cs typeface="Apple SD Gothic Neo"/>
              </a:defRPr>
            </a:pPr>
            <a:r>
              <a:rPr sz="1950" b="1">
                <a:solidFill>
                  <a:srgbClr val="172738"/>
                </a:solidFill>
                <a:latin typeface="Apple SD Gothic Neo"/>
                <a:ea typeface="Apple SD Gothic Neo"/>
                <a:cs typeface="Apple SD Gothic Neo"/>
              </a:rPr>
              <a:t>논리 주소 영역</a:t>
            </a:r>
          </a:p>
        </p:txBody>
      </p:sp>
      <p:sp>
        <p:nvSpPr>
          <p:cNvPr id="6" name="logical-region-ownership">
            <a:extLst>
              <a:ext uri="{FF2B5EF4-FFF2-40B4-BE49-F238E27FC236}">
                <a16:creationId xmlns:a16="http://schemas.microsoft.com/office/drawing/2014/main" id="{4A1546F6-EFCB-43D9-A7CC-25224244AB9E}"/>
              </a:ext>
            </a:extLst>
          </p:cNvPr>
          <p:cNvSpPr>
            <a:spLocks noGrp="1"/>
          </p:cNvSpPr>
          <p:nvPr/>
        </p:nvSpPr>
        <p:spPr>
          <a:xfrm>
            <a:off x="533400" y="2276475"/>
            <a:ext cx="1981200" cy="285750"/>
          </a:xfrm>
          <a:prstGeom prst="rect">
            <a:avLst/>
          </a:prstGeom>
          <a:noFill/>
          <a:ln w="0">
            <a:noFill/>
          </a:ln>
        </p:spPr>
        <p:txBody>
          <a:bodyPr wrap="square" lIns="0" tIns="0" rIns="0" bIns="0" anchor="t">
            <a:noAutofit/>
          </a:bodyPr>
          <a:lstStyle>
            <a:defPPr>
              <a:defRPr sz="1500" b="0">
                <a:solidFill>
                  <a:srgbClr val="586875"/>
                </a:solidFill>
                <a:latin typeface="Apple SD Gothic Neo"/>
                <a:ea typeface="Apple SD Gothic Neo"/>
                <a:cs typeface="Apple SD Gothic Neo"/>
              </a:defRPr>
            </a:defPPr>
          </a:lstStyle>
          <a:p>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Port와 독립된 주소 구간</a:t>
            </a:r>
          </a:p>
        </p:txBody>
      </p:sp>
      <p:sp>
        <p:nvSpPr>
          <p:cNvPr id="7" name="nand-layout-heading">
            <a:extLst>
              <a:ext uri="{FF2B5EF4-FFF2-40B4-BE49-F238E27FC236}">
                <a16:creationId xmlns:a16="http://schemas.microsoft.com/office/drawing/2014/main" id="{D88A031B-4CAD-4954-901F-3AB8B53C227C}"/>
              </a:ext>
            </a:extLst>
          </p:cNvPr>
          <p:cNvSpPr>
            <a:spLocks noGrp="1"/>
          </p:cNvSpPr>
          <p:nvPr/>
        </p:nvSpPr>
        <p:spPr>
          <a:xfrm>
            <a:off x="4495800" y="1819275"/>
            <a:ext cx="7162800" cy="342900"/>
          </a:xfrm>
          <a:prstGeom prst="rect">
            <a:avLst/>
          </a:prstGeom>
          <a:noFill/>
          <a:ln w="0">
            <a:noFill/>
          </a:ln>
        </p:spPr>
        <p:txBody>
          <a:bodyPr wrap="square" lIns="0" tIns="0" rIns="0" bIns="0" anchor="t">
            <a:noAutofit/>
          </a:bodyPr>
          <a:lstStyle>
            <a:defPPr>
              <a:defRPr sz="2025" b="1">
                <a:solidFill>
                  <a:srgbClr val="172738"/>
                </a:solidFill>
                <a:latin typeface="Apple SD Gothic Neo"/>
                <a:ea typeface="Apple SD Gothic Neo"/>
                <a:cs typeface="Apple SD Gothic Neo"/>
              </a:defRPr>
            </a:defPPr>
          </a:lstStyle>
          <a:p>
            <a:pPr>
              <a:defRPr sz="2025" b="1">
                <a:solidFill>
                  <a:srgbClr val="172738"/>
                </a:solidFill>
                <a:latin typeface="Apple SD Gothic Neo"/>
                <a:ea typeface="Apple SD Gothic Neo"/>
                <a:cs typeface="Apple SD Gothic Neo"/>
              </a:defRPr>
            </a:pPr>
            <a:r>
              <a:rPr sz="2025" b="1">
                <a:solidFill>
                  <a:srgbClr val="172738"/>
                </a:solidFill>
                <a:latin typeface="Apple SD Gothic Neo"/>
                <a:ea typeface="Apple SD Gothic Neo"/>
                <a:cs typeface="Apple SD Gothic Neo"/>
              </a:rPr>
              <a:t>4 Channel × 16 Plane = 총 64 Plane</a:t>
            </a:r>
          </a:p>
        </p:txBody>
      </p:sp>
      <p:sp>
        <p:nvSpPr>
          <p:cNvPr id="8" name="logical-region-0">
            <a:extLst>
              <a:ext uri="{FF2B5EF4-FFF2-40B4-BE49-F238E27FC236}">
                <a16:creationId xmlns:a16="http://schemas.microsoft.com/office/drawing/2014/main" id="{B73EEF7B-FA57-4676-8CD6-00F62363ACC6}"/>
              </a:ext>
            </a:extLst>
          </p:cNvPr>
          <p:cNvSpPr>
            <a:spLocks noGrp="1"/>
          </p:cNvSpPr>
          <p:nvPr/>
        </p:nvSpPr>
        <p:spPr>
          <a:xfrm>
            <a:off x="533400" y="2686050"/>
            <a:ext cx="1504950" cy="323850"/>
          </a:xfrm>
          <a:prstGeom prst="rect">
            <a:avLst/>
          </a:prstGeom>
          <a:solidFill>
            <a:srgbClr val="EAF2FD"/>
          </a:solidFill>
          <a:ln w="14288">
            <a:solidFill>
              <a:srgbClr val="126DCA"/>
            </a:solidFill>
            <a:prstDash val="solid"/>
          </a:ln>
        </p:spPr>
        <p:txBody>
          <a:bodyPr/>
          <a:lstStyle/>
          <a:p>
            <a:endParaRPr lang="ko-KR" altLang="en-US"/>
          </a:p>
        </p:txBody>
      </p:sp>
      <p:sp>
        <p:nvSpPr>
          <p:cNvPr id="9" name="logical-region-label-0">
            <a:extLst>
              <a:ext uri="{FF2B5EF4-FFF2-40B4-BE49-F238E27FC236}">
                <a16:creationId xmlns:a16="http://schemas.microsoft.com/office/drawing/2014/main" id="{C712A393-F44E-4A3C-834E-8948ADCD9C10}"/>
              </a:ext>
            </a:extLst>
          </p:cNvPr>
          <p:cNvSpPr>
            <a:spLocks noGrp="1"/>
          </p:cNvSpPr>
          <p:nvPr/>
        </p:nvSpPr>
        <p:spPr>
          <a:xfrm>
            <a:off x="676275" y="2733675"/>
            <a:ext cx="1333500" cy="276225"/>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영역 0 (R0)</a:t>
            </a:r>
          </a:p>
        </p:txBody>
      </p:sp>
      <p:cxnSp>
        <p:nvCxnSpPr>
          <p:cNvPr id="10" name="region-to-map-0">
            <a:extLst>
              <a:ext uri="{FF2B5EF4-FFF2-40B4-BE49-F238E27FC236}">
                <a16:creationId xmlns:a16="http://schemas.microsoft.com/office/drawing/2014/main" id="{22CB2F96-57D2-4EB6-860B-D043FA98D1C6}"/>
              </a:ext>
            </a:extLst>
          </p:cNvPr>
          <p:cNvCxnSpPr/>
          <p:nvPr/>
        </p:nvCxnSpPr>
        <p:spPr>
          <a:xfrm>
            <a:off x="2038350" y="2847975"/>
            <a:ext cx="238125" cy="0"/>
          </a:xfrm>
          <a:prstGeom prst="straightConnector1">
            <a:avLst/>
          </a:prstGeom>
          <a:ln w="19050">
            <a:solidFill>
              <a:srgbClr val="9AA9B5"/>
            </a:solidFill>
            <a:prstDash val="solid"/>
          </a:ln>
        </p:spPr>
      </p:cxnSp>
      <p:sp>
        <p:nvSpPr>
          <p:cNvPr id="11" name="logical-region-1">
            <a:extLst>
              <a:ext uri="{FF2B5EF4-FFF2-40B4-BE49-F238E27FC236}">
                <a16:creationId xmlns:a16="http://schemas.microsoft.com/office/drawing/2014/main" id="{3543B4FF-DD38-4B2A-AE43-504BCFF981E7}"/>
              </a:ext>
            </a:extLst>
          </p:cNvPr>
          <p:cNvSpPr>
            <a:spLocks noGrp="1"/>
          </p:cNvSpPr>
          <p:nvPr/>
        </p:nvSpPr>
        <p:spPr>
          <a:xfrm>
            <a:off x="533400" y="3086100"/>
            <a:ext cx="1504950" cy="323850"/>
          </a:xfrm>
          <a:prstGeom prst="rect">
            <a:avLst/>
          </a:prstGeom>
          <a:solidFill>
            <a:srgbClr val="E9F5F2"/>
          </a:solidFill>
          <a:ln w="14288">
            <a:solidFill>
              <a:srgbClr val="008B82"/>
            </a:solidFill>
            <a:prstDash val="solid"/>
          </a:ln>
        </p:spPr>
        <p:txBody>
          <a:bodyPr/>
          <a:lstStyle/>
          <a:p>
            <a:endParaRPr lang="ko-KR" altLang="en-US"/>
          </a:p>
        </p:txBody>
      </p:sp>
      <p:sp>
        <p:nvSpPr>
          <p:cNvPr id="12" name="logical-region-label-1">
            <a:extLst>
              <a:ext uri="{FF2B5EF4-FFF2-40B4-BE49-F238E27FC236}">
                <a16:creationId xmlns:a16="http://schemas.microsoft.com/office/drawing/2014/main" id="{34DFCF08-1DE2-42D1-BE78-907020395FA1}"/>
              </a:ext>
            </a:extLst>
          </p:cNvPr>
          <p:cNvSpPr>
            <a:spLocks noGrp="1"/>
          </p:cNvSpPr>
          <p:nvPr/>
        </p:nvSpPr>
        <p:spPr>
          <a:xfrm>
            <a:off x="676275" y="3133725"/>
            <a:ext cx="1333500" cy="276225"/>
          </a:xfrm>
          <a:prstGeom prst="rect">
            <a:avLst/>
          </a:prstGeom>
          <a:noFill/>
          <a:ln w="0">
            <a:noFill/>
          </a:ln>
        </p:spPr>
        <p:txBody>
          <a:bodyPr wrap="square" lIns="0" tIns="0" rIns="0" bIns="0" anchor="t">
            <a:noAutofit/>
          </a:bodyPr>
          <a:lstStyle>
            <a:defPPr>
              <a:defRPr sz="1650" b="1">
                <a:solidFill>
                  <a:srgbClr val="008B82"/>
                </a:solidFill>
                <a:latin typeface="Apple SD Gothic Neo"/>
                <a:ea typeface="Apple SD Gothic Neo"/>
                <a:cs typeface="Apple SD Gothic Neo"/>
              </a:defRPr>
            </a:defPPr>
          </a:lstStyle>
          <a:p>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영역 1 (R1)</a:t>
            </a:r>
          </a:p>
        </p:txBody>
      </p:sp>
      <p:cxnSp>
        <p:nvCxnSpPr>
          <p:cNvPr id="13" name="region-to-map-1">
            <a:extLst>
              <a:ext uri="{FF2B5EF4-FFF2-40B4-BE49-F238E27FC236}">
                <a16:creationId xmlns:a16="http://schemas.microsoft.com/office/drawing/2014/main" id="{B7FDF62A-5192-4F90-BFC4-09CDD5DF8434}"/>
              </a:ext>
            </a:extLst>
          </p:cNvPr>
          <p:cNvCxnSpPr/>
          <p:nvPr/>
        </p:nvCxnSpPr>
        <p:spPr>
          <a:xfrm>
            <a:off x="2038350" y="3248025"/>
            <a:ext cx="238125" cy="0"/>
          </a:xfrm>
          <a:prstGeom prst="straightConnector1">
            <a:avLst/>
          </a:prstGeom>
          <a:ln w="19050">
            <a:solidFill>
              <a:srgbClr val="9AA9B5"/>
            </a:solidFill>
            <a:prstDash val="solid"/>
          </a:ln>
        </p:spPr>
      </p:cxnSp>
      <p:sp>
        <p:nvSpPr>
          <p:cNvPr id="14" name="logical-region-2">
            <a:extLst>
              <a:ext uri="{FF2B5EF4-FFF2-40B4-BE49-F238E27FC236}">
                <a16:creationId xmlns:a16="http://schemas.microsoft.com/office/drawing/2014/main" id="{C237C156-0D76-4DB7-8756-E7AD79C36EAC}"/>
              </a:ext>
            </a:extLst>
          </p:cNvPr>
          <p:cNvSpPr>
            <a:spLocks noGrp="1"/>
          </p:cNvSpPr>
          <p:nvPr/>
        </p:nvSpPr>
        <p:spPr>
          <a:xfrm>
            <a:off x="533400" y="3486150"/>
            <a:ext cx="1504950" cy="323850"/>
          </a:xfrm>
          <a:prstGeom prst="rect">
            <a:avLst/>
          </a:prstGeom>
          <a:solidFill>
            <a:srgbClr val="FCF3E3"/>
          </a:solidFill>
          <a:ln w="14288">
            <a:solidFill>
              <a:srgbClr val="A96715"/>
            </a:solidFill>
            <a:prstDash val="solid"/>
          </a:ln>
        </p:spPr>
        <p:txBody>
          <a:bodyPr/>
          <a:lstStyle/>
          <a:p>
            <a:endParaRPr lang="ko-KR" altLang="en-US"/>
          </a:p>
        </p:txBody>
      </p:sp>
      <p:sp>
        <p:nvSpPr>
          <p:cNvPr id="15" name="logical-region-label-2">
            <a:extLst>
              <a:ext uri="{FF2B5EF4-FFF2-40B4-BE49-F238E27FC236}">
                <a16:creationId xmlns:a16="http://schemas.microsoft.com/office/drawing/2014/main" id="{0BE7E21B-EA18-4256-97C5-6AD271B53EF5}"/>
              </a:ext>
            </a:extLst>
          </p:cNvPr>
          <p:cNvSpPr>
            <a:spLocks noGrp="1"/>
          </p:cNvSpPr>
          <p:nvPr/>
        </p:nvSpPr>
        <p:spPr>
          <a:xfrm>
            <a:off x="676275" y="3533775"/>
            <a:ext cx="1333500" cy="276225"/>
          </a:xfrm>
          <a:prstGeom prst="rect">
            <a:avLst/>
          </a:prstGeom>
          <a:noFill/>
          <a:ln w="0">
            <a:noFill/>
          </a:ln>
        </p:spPr>
        <p:txBody>
          <a:bodyPr wrap="square" lIns="0" tIns="0" rIns="0" bIns="0" anchor="t">
            <a:noAutofit/>
          </a:bodyPr>
          <a:lstStyle>
            <a:defPPr>
              <a:defRPr sz="1650" b="1">
                <a:solidFill>
                  <a:srgbClr val="A96715"/>
                </a:solidFill>
                <a:latin typeface="Apple SD Gothic Neo"/>
                <a:ea typeface="Apple SD Gothic Neo"/>
                <a:cs typeface="Apple SD Gothic Neo"/>
              </a:defRPr>
            </a:defPPr>
          </a:lstStyle>
          <a:p>
            <a:pPr>
              <a:defRPr sz="1650" b="1">
                <a:solidFill>
                  <a:srgbClr val="A96715"/>
                </a:solidFill>
                <a:latin typeface="Apple SD Gothic Neo"/>
                <a:ea typeface="Apple SD Gothic Neo"/>
                <a:cs typeface="Apple SD Gothic Neo"/>
              </a:defRPr>
            </a:pPr>
            <a:r>
              <a:rPr sz="1650" b="1">
                <a:solidFill>
                  <a:srgbClr val="A96715"/>
                </a:solidFill>
                <a:latin typeface="Apple SD Gothic Neo"/>
                <a:ea typeface="Apple SD Gothic Neo"/>
                <a:cs typeface="Apple SD Gothic Neo"/>
              </a:rPr>
              <a:t>영역 2 (R2)</a:t>
            </a:r>
          </a:p>
        </p:txBody>
      </p:sp>
      <p:cxnSp>
        <p:nvCxnSpPr>
          <p:cNvPr id="16" name="region-to-map-2">
            <a:extLst>
              <a:ext uri="{FF2B5EF4-FFF2-40B4-BE49-F238E27FC236}">
                <a16:creationId xmlns:a16="http://schemas.microsoft.com/office/drawing/2014/main" id="{2DF3D87D-64AA-4018-9808-046A1AE8F382}"/>
              </a:ext>
            </a:extLst>
          </p:cNvPr>
          <p:cNvCxnSpPr/>
          <p:nvPr/>
        </p:nvCxnSpPr>
        <p:spPr>
          <a:xfrm>
            <a:off x="2038350" y="3648075"/>
            <a:ext cx="238125" cy="0"/>
          </a:xfrm>
          <a:prstGeom prst="straightConnector1">
            <a:avLst/>
          </a:prstGeom>
          <a:ln w="19050">
            <a:solidFill>
              <a:srgbClr val="9AA9B5"/>
            </a:solidFill>
            <a:prstDash val="solid"/>
          </a:ln>
        </p:spPr>
      </p:cxnSp>
      <p:sp>
        <p:nvSpPr>
          <p:cNvPr id="17" name="logical-region-3">
            <a:extLst>
              <a:ext uri="{FF2B5EF4-FFF2-40B4-BE49-F238E27FC236}">
                <a16:creationId xmlns:a16="http://schemas.microsoft.com/office/drawing/2014/main" id="{95169BED-CCC2-46B3-9181-0813A31754A4}"/>
              </a:ext>
            </a:extLst>
          </p:cNvPr>
          <p:cNvSpPr>
            <a:spLocks noGrp="1"/>
          </p:cNvSpPr>
          <p:nvPr/>
        </p:nvSpPr>
        <p:spPr>
          <a:xfrm>
            <a:off x="533400" y="3886200"/>
            <a:ext cx="1504950" cy="323850"/>
          </a:xfrm>
          <a:prstGeom prst="rect">
            <a:avLst/>
          </a:prstGeom>
          <a:solidFill>
            <a:srgbClr val="F0EBF7"/>
          </a:solidFill>
          <a:ln w="14288">
            <a:solidFill>
              <a:srgbClr val="7553A2"/>
            </a:solidFill>
            <a:prstDash val="solid"/>
          </a:ln>
        </p:spPr>
        <p:txBody>
          <a:bodyPr/>
          <a:lstStyle/>
          <a:p>
            <a:endParaRPr lang="ko-KR" altLang="en-US"/>
          </a:p>
        </p:txBody>
      </p:sp>
      <p:sp>
        <p:nvSpPr>
          <p:cNvPr id="18" name="logical-region-label-3">
            <a:extLst>
              <a:ext uri="{FF2B5EF4-FFF2-40B4-BE49-F238E27FC236}">
                <a16:creationId xmlns:a16="http://schemas.microsoft.com/office/drawing/2014/main" id="{6AD0C973-21F8-4FA8-B2E7-8F52A8634108}"/>
              </a:ext>
            </a:extLst>
          </p:cNvPr>
          <p:cNvSpPr>
            <a:spLocks noGrp="1"/>
          </p:cNvSpPr>
          <p:nvPr/>
        </p:nvSpPr>
        <p:spPr>
          <a:xfrm>
            <a:off x="676275" y="3933825"/>
            <a:ext cx="1333500" cy="276225"/>
          </a:xfrm>
          <a:prstGeom prst="rect">
            <a:avLst/>
          </a:prstGeom>
          <a:noFill/>
          <a:ln w="0">
            <a:noFill/>
          </a:ln>
        </p:spPr>
        <p:txBody>
          <a:bodyPr wrap="square" lIns="0" tIns="0" rIns="0" bIns="0" anchor="t">
            <a:noAutofit/>
          </a:bodyPr>
          <a:lstStyle>
            <a:defPPr>
              <a:defRPr sz="1650" b="1">
                <a:solidFill>
                  <a:srgbClr val="7553A2"/>
                </a:solidFill>
                <a:latin typeface="Apple SD Gothic Neo"/>
                <a:ea typeface="Apple SD Gothic Neo"/>
                <a:cs typeface="Apple SD Gothic Neo"/>
              </a:defRPr>
            </a:defPPr>
          </a:lstStyle>
          <a:p>
            <a:pPr>
              <a:defRPr sz="1650" b="1">
                <a:solidFill>
                  <a:srgbClr val="7553A2"/>
                </a:solidFill>
                <a:latin typeface="Apple SD Gothic Neo"/>
                <a:ea typeface="Apple SD Gothic Neo"/>
                <a:cs typeface="Apple SD Gothic Neo"/>
              </a:defRPr>
            </a:pPr>
            <a:r>
              <a:rPr sz="1650" b="1">
                <a:solidFill>
                  <a:srgbClr val="7553A2"/>
                </a:solidFill>
                <a:latin typeface="Apple SD Gothic Neo"/>
                <a:ea typeface="Apple SD Gothic Neo"/>
                <a:cs typeface="Apple SD Gothic Neo"/>
              </a:rPr>
              <a:t>영역 3 (R3)</a:t>
            </a:r>
          </a:p>
        </p:txBody>
      </p:sp>
      <p:cxnSp>
        <p:nvCxnSpPr>
          <p:cNvPr id="19" name="region-to-map-3">
            <a:extLst>
              <a:ext uri="{FF2B5EF4-FFF2-40B4-BE49-F238E27FC236}">
                <a16:creationId xmlns:a16="http://schemas.microsoft.com/office/drawing/2014/main" id="{26EF0C89-F70B-48D4-8DB5-00824F02D169}"/>
              </a:ext>
            </a:extLst>
          </p:cNvPr>
          <p:cNvCxnSpPr/>
          <p:nvPr/>
        </p:nvCxnSpPr>
        <p:spPr>
          <a:xfrm>
            <a:off x="2038350" y="4048125"/>
            <a:ext cx="238125" cy="0"/>
          </a:xfrm>
          <a:prstGeom prst="straightConnector1">
            <a:avLst/>
          </a:prstGeom>
          <a:ln w="19050">
            <a:solidFill>
              <a:srgbClr val="9AA9B5"/>
            </a:solidFill>
            <a:prstDash val="solid"/>
          </a:ln>
        </p:spPr>
      </p:cxnSp>
      <p:cxnSp>
        <p:nvCxnSpPr>
          <p:cNvPr id="20" name="logical-region-bus">
            <a:extLst>
              <a:ext uri="{FF2B5EF4-FFF2-40B4-BE49-F238E27FC236}">
                <a16:creationId xmlns:a16="http://schemas.microsoft.com/office/drawing/2014/main" id="{99242F7A-2B47-4F53-A62B-1D2D39F5C197}"/>
              </a:ext>
            </a:extLst>
          </p:cNvPr>
          <p:cNvCxnSpPr/>
          <p:nvPr/>
        </p:nvCxnSpPr>
        <p:spPr>
          <a:xfrm>
            <a:off x="2276475" y="2847975"/>
            <a:ext cx="0" cy="1200150"/>
          </a:xfrm>
          <a:prstGeom prst="straightConnector1">
            <a:avLst/>
          </a:prstGeom>
          <a:ln w="19050">
            <a:solidFill>
              <a:srgbClr val="9AA9B5"/>
            </a:solidFill>
            <a:prstDash val="solid"/>
          </a:ln>
        </p:spPr>
      </p:cxnSp>
      <p:cxnSp>
        <p:nvCxnSpPr>
          <p:cNvPr id="21" name="logical-to-l2p">
            <a:extLst>
              <a:ext uri="{FF2B5EF4-FFF2-40B4-BE49-F238E27FC236}">
                <a16:creationId xmlns:a16="http://schemas.microsoft.com/office/drawing/2014/main" id="{3DFF3C61-8B3C-4F56-9E33-B2A994FFA6CD}"/>
              </a:ext>
            </a:extLst>
          </p:cNvPr>
          <p:cNvCxnSpPr/>
          <p:nvPr/>
        </p:nvCxnSpPr>
        <p:spPr>
          <a:xfrm>
            <a:off x="2276475" y="3409950"/>
            <a:ext cx="238125" cy="0"/>
          </a:xfrm>
          <a:prstGeom prst="straightConnector1">
            <a:avLst/>
          </a:prstGeom>
          <a:ln w="19050">
            <a:solidFill>
              <a:srgbClr val="126DCA"/>
            </a:solidFill>
            <a:prstDash val="solid"/>
            <a:tailEnd type="triangle" w="med" len="med"/>
          </a:ln>
        </p:spPr>
      </p:cxnSp>
      <p:sp>
        <p:nvSpPr>
          <p:cNvPr id="22" name="static-l2p">
            <a:extLst>
              <a:ext uri="{FF2B5EF4-FFF2-40B4-BE49-F238E27FC236}">
                <a16:creationId xmlns:a16="http://schemas.microsoft.com/office/drawing/2014/main" id="{716533CE-ED20-4D4B-82EF-48487203FE31}"/>
              </a:ext>
            </a:extLst>
          </p:cNvPr>
          <p:cNvSpPr>
            <a:spLocks noGrp="1"/>
          </p:cNvSpPr>
          <p:nvPr/>
        </p:nvSpPr>
        <p:spPr>
          <a:xfrm>
            <a:off x="2514600" y="2914650"/>
            <a:ext cx="1447800" cy="1000125"/>
          </a:xfrm>
          <a:prstGeom prst="rect">
            <a:avLst/>
          </a:prstGeom>
          <a:solidFill>
            <a:srgbClr val="F1F5F8"/>
          </a:solidFill>
          <a:ln w="14288">
            <a:solidFill>
              <a:srgbClr val="126DCA"/>
            </a:solidFill>
            <a:prstDash val="solid"/>
          </a:ln>
        </p:spPr>
        <p:txBody>
          <a:bodyPr/>
          <a:lstStyle/>
          <a:p>
            <a:endParaRPr lang="ko-KR" altLang="en-US"/>
          </a:p>
        </p:txBody>
      </p:sp>
      <p:sp>
        <p:nvSpPr>
          <p:cNvPr id="23" name="static-l2p-heading">
            <a:extLst>
              <a:ext uri="{FF2B5EF4-FFF2-40B4-BE49-F238E27FC236}">
                <a16:creationId xmlns:a16="http://schemas.microsoft.com/office/drawing/2014/main" id="{AFC68778-1224-447A-8859-C278C30BAA7F}"/>
              </a:ext>
            </a:extLst>
          </p:cNvPr>
          <p:cNvSpPr>
            <a:spLocks noGrp="1"/>
          </p:cNvSpPr>
          <p:nvPr/>
        </p:nvSpPr>
        <p:spPr>
          <a:xfrm>
            <a:off x="2686050" y="3028950"/>
            <a:ext cx="1228725" cy="342900"/>
          </a:xfrm>
          <a:prstGeom prst="rect">
            <a:avLst/>
          </a:prstGeom>
          <a:noFill/>
          <a:ln w="0">
            <a:noFill/>
          </a:ln>
        </p:spPr>
        <p:txBody>
          <a:bodyPr wrap="square" lIns="0" tIns="0" rIns="0" bIns="0" anchor="t">
            <a:noAutofit/>
          </a:bodyPr>
          <a:lstStyle>
            <a:defPPr>
              <a:defRPr sz="1950" b="1">
                <a:solidFill>
                  <a:srgbClr val="126DCA"/>
                </a:solidFill>
                <a:latin typeface="Apple SD Gothic Neo"/>
                <a:ea typeface="Apple SD Gothic Neo"/>
                <a:cs typeface="Apple SD Gothic Neo"/>
              </a:defRPr>
            </a:defPPr>
          </a:lstStyle>
          <a:p>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정적 L2P</a:t>
            </a:r>
          </a:p>
        </p:txBody>
      </p:sp>
      <p:sp>
        <p:nvSpPr>
          <p:cNvPr id="24" name="physical-address-fields">
            <a:extLst>
              <a:ext uri="{FF2B5EF4-FFF2-40B4-BE49-F238E27FC236}">
                <a16:creationId xmlns:a16="http://schemas.microsoft.com/office/drawing/2014/main" id="{BAA7BAE8-6B49-4FE0-9F8A-E4C03617F57E}"/>
              </a:ext>
            </a:extLst>
          </p:cNvPr>
          <p:cNvSpPr>
            <a:spLocks noGrp="1"/>
          </p:cNvSpPr>
          <p:nvPr/>
        </p:nvSpPr>
        <p:spPr>
          <a:xfrm>
            <a:off x="2667000" y="3409950"/>
            <a:ext cx="1257300" cy="495300"/>
          </a:xfrm>
          <a:prstGeom prst="rect">
            <a:avLst/>
          </a:prstGeom>
          <a:noFill/>
          <a:ln w="0">
            <a:noFill/>
          </a:ln>
        </p:spPr>
        <p:txBody>
          <a:bodyPr wrap="square" lIns="0" tIns="0" rIns="0" bIns="0" anchor="t">
            <a:noAutofit/>
          </a:bodyPr>
          <a:lstStyle>
            <a:defPPr>
              <a:defRPr sz="1500" b="0">
                <a:solidFill>
                  <a:srgbClr val="172738"/>
                </a:solidFill>
                <a:latin typeface="Apple SD Gothic Neo"/>
                <a:ea typeface="Apple SD Gothic Neo"/>
                <a:cs typeface="Apple SD Gothic Neo"/>
              </a:defRPr>
            </a:defPPr>
          </a:lstStyle>
          <a:p>
            <a:pPr>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CH · PL · q</a:t>
            </a:r>
          </a:p>
          <a:p>
            <a:pPr>
              <a:defRPr sz="1500" b="0">
                <a:solidFill>
                  <a:srgbClr val="172738"/>
                </a:solidFill>
                <a:latin typeface="Apple SD Gothic Neo"/>
                <a:ea typeface="Apple SD Gothic Neo"/>
                <a:cs typeface="Apple SD Gothic Neo"/>
              </a:defRPr>
            </a:pPr>
            <a:r>
              <a:rPr sz="1500" b="0">
                <a:solidFill>
                  <a:srgbClr val="172738"/>
                </a:solidFill>
                <a:latin typeface="Apple SD Gothic Neo"/>
                <a:ea typeface="Apple SD Gothic Neo"/>
                <a:cs typeface="Apple SD Gothic Neo"/>
              </a:rPr>
              <a:t>+ page offset</a:t>
            </a:r>
          </a:p>
        </p:txBody>
      </p:sp>
      <p:cxnSp>
        <p:nvCxnSpPr>
          <p:cNvPr id="25" name="mapped-address-out">
            <a:extLst>
              <a:ext uri="{FF2B5EF4-FFF2-40B4-BE49-F238E27FC236}">
                <a16:creationId xmlns:a16="http://schemas.microsoft.com/office/drawing/2014/main" id="{9618CC49-B268-411C-B9FF-75C9095D267E}"/>
              </a:ext>
            </a:extLst>
          </p:cNvPr>
          <p:cNvCxnSpPr/>
          <p:nvPr/>
        </p:nvCxnSpPr>
        <p:spPr>
          <a:xfrm>
            <a:off x="3962400" y="3409950"/>
            <a:ext cx="238125" cy="0"/>
          </a:xfrm>
          <a:prstGeom prst="straightConnector1">
            <a:avLst/>
          </a:prstGeom>
          <a:ln w="19050">
            <a:solidFill>
              <a:srgbClr val="126DCA"/>
            </a:solidFill>
            <a:prstDash val="solid"/>
          </a:ln>
        </p:spPr>
      </p:cxnSp>
      <p:cxnSp>
        <p:nvCxnSpPr>
          <p:cNvPr id="26" name="mapping-up-to-channels">
            <a:extLst>
              <a:ext uri="{FF2B5EF4-FFF2-40B4-BE49-F238E27FC236}">
                <a16:creationId xmlns:a16="http://schemas.microsoft.com/office/drawing/2014/main" id="{0CF66FCA-B9E9-43AE-9795-01E8DF399F20}"/>
              </a:ext>
            </a:extLst>
          </p:cNvPr>
          <p:cNvCxnSpPr/>
          <p:nvPr/>
        </p:nvCxnSpPr>
        <p:spPr>
          <a:xfrm>
            <a:off x="4200525" y="2209800"/>
            <a:ext cx="0" cy="1200150"/>
          </a:xfrm>
          <a:prstGeom prst="straightConnector1">
            <a:avLst/>
          </a:prstGeom>
          <a:ln w="19050">
            <a:solidFill>
              <a:srgbClr val="126DCA"/>
            </a:solidFill>
            <a:prstDash val="solid"/>
          </a:ln>
        </p:spPr>
      </p:cxnSp>
      <p:cxnSp>
        <p:nvCxnSpPr>
          <p:cNvPr id="27" name="mapping-channel-fanout">
            <a:extLst>
              <a:ext uri="{FF2B5EF4-FFF2-40B4-BE49-F238E27FC236}">
                <a16:creationId xmlns:a16="http://schemas.microsoft.com/office/drawing/2014/main" id="{AAB3E218-3A5E-4A2A-BF9C-B3618746AFDC}"/>
              </a:ext>
            </a:extLst>
          </p:cNvPr>
          <p:cNvCxnSpPr/>
          <p:nvPr/>
        </p:nvCxnSpPr>
        <p:spPr>
          <a:xfrm>
            <a:off x="4200525" y="2209800"/>
            <a:ext cx="6648450" cy="0"/>
          </a:xfrm>
          <a:prstGeom prst="straightConnector1">
            <a:avLst/>
          </a:prstGeom>
          <a:ln w="19050">
            <a:solidFill>
              <a:srgbClr val="126DCA"/>
            </a:solidFill>
            <a:prstDash val="solid"/>
          </a:ln>
        </p:spPr>
      </p:cxnSp>
      <p:sp>
        <p:nvSpPr>
          <p:cNvPr id="28" name="placement-channel-0">
            <a:extLst>
              <a:ext uri="{FF2B5EF4-FFF2-40B4-BE49-F238E27FC236}">
                <a16:creationId xmlns:a16="http://schemas.microsoft.com/office/drawing/2014/main" id="{15FDA524-7ABC-4581-A524-7C8ADBA76092}"/>
              </a:ext>
            </a:extLst>
          </p:cNvPr>
          <p:cNvSpPr>
            <a:spLocks noGrp="1"/>
          </p:cNvSpPr>
          <p:nvPr/>
        </p:nvSpPr>
        <p:spPr>
          <a:xfrm>
            <a:off x="449580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29" name="placement-channel-label-0">
            <a:extLst>
              <a:ext uri="{FF2B5EF4-FFF2-40B4-BE49-F238E27FC236}">
                <a16:creationId xmlns:a16="http://schemas.microsoft.com/office/drawing/2014/main" id="{55A09BB7-FAEB-424D-8CA8-B78100E016F3}"/>
              </a:ext>
            </a:extLst>
          </p:cNvPr>
          <p:cNvSpPr>
            <a:spLocks noGrp="1"/>
          </p:cNvSpPr>
          <p:nvPr/>
        </p:nvSpPr>
        <p:spPr>
          <a:xfrm>
            <a:off x="461962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CH0 · 16 Plane</a:t>
            </a:r>
          </a:p>
        </p:txBody>
      </p:sp>
      <p:cxnSp>
        <p:nvCxnSpPr>
          <p:cNvPr id="30" name="mapping-to-channel-0">
            <a:extLst>
              <a:ext uri="{FF2B5EF4-FFF2-40B4-BE49-F238E27FC236}">
                <a16:creationId xmlns:a16="http://schemas.microsoft.com/office/drawing/2014/main" id="{EF867BD8-7B45-4E58-9CF2-452ED6949128}"/>
              </a:ext>
            </a:extLst>
          </p:cNvPr>
          <p:cNvCxnSpPr/>
          <p:nvPr/>
        </p:nvCxnSpPr>
        <p:spPr>
          <a:xfrm>
            <a:off x="5305425" y="2209800"/>
            <a:ext cx="0" cy="190500"/>
          </a:xfrm>
          <a:prstGeom prst="straightConnector1">
            <a:avLst/>
          </a:prstGeom>
          <a:ln w="19050">
            <a:solidFill>
              <a:srgbClr val="126DCA"/>
            </a:solidFill>
            <a:prstDash val="solid"/>
            <a:tailEnd type="triangle" w="med" len="med"/>
          </a:ln>
        </p:spPr>
      </p:cxnSp>
      <p:sp>
        <p:nvSpPr>
          <p:cNvPr id="31" name="region-0-channel-0">
            <a:extLst>
              <a:ext uri="{FF2B5EF4-FFF2-40B4-BE49-F238E27FC236}">
                <a16:creationId xmlns:a16="http://schemas.microsoft.com/office/drawing/2014/main" id="{3036E529-BBDD-48F6-9F07-6DB392FFC1DB}"/>
              </a:ext>
            </a:extLst>
          </p:cNvPr>
          <p:cNvSpPr>
            <a:spLocks noGrp="1"/>
          </p:cNvSpPr>
          <p:nvPr/>
        </p:nvSpPr>
        <p:spPr>
          <a:xfrm>
            <a:off x="459105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32" name="planes-0-channel-0">
            <a:extLst>
              <a:ext uri="{FF2B5EF4-FFF2-40B4-BE49-F238E27FC236}">
                <a16:creationId xmlns:a16="http://schemas.microsoft.com/office/drawing/2014/main" id="{5C2095AA-B57F-45E0-954C-BCCF550E791E}"/>
              </a:ext>
            </a:extLst>
          </p:cNvPr>
          <p:cNvSpPr>
            <a:spLocks noGrp="1"/>
          </p:cNvSpPr>
          <p:nvPr/>
        </p:nvSpPr>
        <p:spPr>
          <a:xfrm>
            <a:off x="468630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33" name="region-1-channel-0">
            <a:extLst>
              <a:ext uri="{FF2B5EF4-FFF2-40B4-BE49-F238E27FC236}">
                <a16:creationId xmlns:a16="http://schemas.microsoft.com/office/drawing/2014/main" id="{F2F73D72-CA32-46F5-A053-40508882F705}"/>
              </a:ext>
            </a:extLst>
          </p:cNvPr>
          <p:cNvSpPr>
            <a:spLocks noGrp="1"/>
          </p:cNvSpPr>
          <p:nvPr/>
        </p:nvSpPr>
        <p:spPr>
          <a:xfrm>
            <a:off x="459105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34" name="planes-1-channel-0">
            <a:extLst>
              <a:ext uri="{FF2B5EF4-FFF2-40B4-BE49-F238E27FC236}">
                <a16:creationId xmlns:a16="http://schemas.microsoft.com/office/drawing/2014/main" id="{3ED80932-5E0E-46F0-BC0D-714ACE55BB87}"/>
              </a:ext>
            </a:extLst>
          </p:cNvPr>
          <p:cNvSpPr>
            <a:spLocks noGrp="1"/>
          </p:cNvSpPr>
          <p:nvPr/>
        </p:nvSpPr>
        <p:spPr>
          <a:xfrm>
            <a:off x="468630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35" name="region-2-channel-0">
            <a:extLst>
              <a:ext uri="{FF2B5EF4-FFF2-40B4-BE49-F238E27FC236}">
                <a16:creationId xmlns:a16="http://schemas.microsoft.com/office/drawing/2014/main" id="{AD9B978A-7D53-4455-B0D9-17E0CE9BBC06}"/>
              </a:ext>
            </a:extLst>
          </p:cNvPr>
          <p:cNvSpPr>
            <a:spLocks noGrp="1"/>
          </p:cNvSpPr>
          <p:nvPr/>
        </p:nvSpPr>
        <p:spPr>
          <a:xfrm>
            <a:off x="459105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36" name="planes-2-channel-0">
            <a:extLst>
              <a:ext uri="{FF2B5EF4-FFF2-40B4-BE49-F238E27FC236}">
                <a16:creationId xmlns:a16="http://schemas.microsoft.com/office/drawing/2014/main" id="{4B92EEB4-FDF6-45E5-91C0-8711A0D868D9}"/>
              </a:ext>
            </a:extLst>
          </p:cNvPr>
          <p:cNvSpPr>
            <a:spLocks noGrp="1"/>
          </p:cNvSpPr>
          <p:nvPr/>
        </p:nvSpPr>
        <p:spPr>
          <a:xfrm>
            <a:off x="468630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37" name="region-3-channel-0">
            <a:extLst>
              <a:ext uri="{FF2B5EF4-FFF2-40B4-BE49-F238E27FC236}">
                <a16:creationId xmlns:a16="http://schemas.microsoft.com/office/drawing/2014/main" id="{C0D97D9D-47BB-4D00-AECC-CE03CC28EE82}"/>
              </a:ext>
            </a:extLst>
          </p:cNvPr>
          <p:cNvSpPr>
            <a:spLocks noGrp="1"/>
          </p:cNvSpPr>
          <p:nvPr/>
        </p:nvSpPr>
        <p:spPr>
          <a:xfrm>
            <a:off x="459105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38" name="planes-3-channel-0">
            <a:extLst>
              <a:ext uri="{FF2B5EF4-FFF2-40B4-BE49-F238E27FC236}">
                <a16:creationId xmlns:a16="http://schemas.microsoft.com/office/drawing/2014/main" id="{23502003-466C-4EA6-8C1F-52A838745798}"/>
              </a:ext>
            </a:extLst>
          </p:cNvPr>
          <p:cNvSpPr>
            <a:spLocks noGrp="1"/>
          </p:cNvSpPr>
          <p:nvPr/>
        </p:nvSpPr>
        <p:spPr>
          <a:xfrm>
            <a:off x="468630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39" name="placement-channel-1">
            <a:extLst>
              <a:ext uri="{FF2B5EF4-FFF2-40B4-BE49-F238E27FC236}">
                <a16:creationId xmlns:a16="http://schemas.microsoft.com/office/drawing/2014/main" id="{686FE1C4-8474-4FF9-9555-2F54455F983A}"/>
              </a:ext>
            </a:extLst>
          </p:cNvPr>
          <p:cNvSpPr>
            <a:spLocks noGrp="1"/>
          </p:cNvSpPr>
          <p:nvPr/>
        </p:nvSpPr>
        <p:spPr>
          <a:xfrm>
            <a:off x="634365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40" name="placement-channel-label-1">
            <a:extLst>
              <a:ext uri="{FF2B5EF4-FFF2-40B4-BE49-F238E27FC236}">
                <a16:creationId xmlns:a16="http://schemas.microsoft.com/office/drawing/2014/main" id="{34053B1F-FCE6-4D75-A0E9-C7CF63CF5FDE}"/>
              </a:ext>
            </a:extLst>
          </p:cNvPr>
          <p:cNvSpPr>
            <a:spLocks noGrp="1"/>
          </p:cNvSpPr>
          <p:nvPr/>
        </p:nvSpPr>
        <p:spPr>
          <a:xfrm>
            <a:off x="646747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CH1 · 16 Plane</a:t>
            </a:r>
          </a:p>
        </p:txBody>
      </p:sp>
      <p:cxnSp>
        <p:nvCxnSpPr>
          <p:cNvPr id="41" name="mapping-to-channel-1">
            <a:extLst>
              <a:ext uri="{FF2B5EF4-FFF2-40B4-BE49-F238E27FC236}">
                <a16:creationId xmlns:a16="http://schemas.microsoft.com/office/drawing/2014/main" id="{4526C2D1-23E6-4C6B-89AE-05684448CB39}"/>
              </a:ext>
            </a:extLst>
          </p:cNvPr>
          <p:cNvCxnSpPr/>
          <p:nvPr/>
        </p:nvCxnSpPr>
        <p:spPr>
          <a:xfrm>
            <a:off x="7153275" y="2209800"/>
            <a:ext cx="0" cy="190500"/>
          </a:xfrm>
          <a:prstGeom prst="straightConnector1">
            <a:avLst/>
          </a:prstGeom>
          <a:ln w="19050">
            <a:solidFill>
              <a:srgbClr val="126DCA"/>
            </a:solidFill>
            <a:prstDash val="solid"/>
            <a:tailEnd type="triangle" w="med" len="med"/>
          </a:ln>
        </p:spPr>
      </p:cxnSp>
      <p:sp>
        <p:nvSpPr>
          <p:cNvPr id="42" name="region-0-channel-1">
            <a:extLst>
              <a:ext uri="{FF2B5EF4-FFF2-40B4-BE49-F238E27FC236}">
                <a16:creationId xmlns:a16="http://schemas.microsoft.com/office/drawing/2014/main" id="{7C5BAF5D-D06B-4390-A18F-A5FB2306AFD1}"/>
              </a:ext>
            </a:extLst>
          </p:cNvPr>
          <p:cNvSpPr>
            <a:spLocks noGrp="1"/>
          </p:cNvSpPr>
          <p:nvPr/>
        </p:nvSpPr>
        <p:spPr>
          <a:xfrm>
            <a:off x="643890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43" name="planes-0-channel-1">
            <a:extLst>
              <a:ext uri="{FF2B5EF4-FFF2-40B4-BE49-F238E27FC236}">
                <a16:creationId xmlns:a16="http://schemas.microsoft.com/office/drawing/2014/main" id="{1C026614-930F-4EC2-8790-8009312B2EE2}"/>
              </a:ext>
            </a:extLst>
          </p:cNvPr>
          <p:cNvSpPr>
            <a:spLocks noGrp="1"/>
          </p:cNvSpPr>
          <p:nvPr/>
        </p:nvSpPr>
        <p:spPr>
          <a:xfrm>
            <a:off x="653415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44" name="region-1-channel-1">
            <a:extLst>
              <a:ext uri="{FF2B5EF4-FFF2-40B4-BE49-F238E27FC236}">
                <a16:creationId xmlns:a16="http://schemas.microsoft.com/office/drawing/2014/main" id="{C3307529-BAD6-4525-B2E6-A14C762771F1}"/>
              </a:ext>
            </a:extLst>
          </p:cNvPr>
          <p:cNvSpPr>
            <a:spLocks noGrp="1"/>
          </p:cNvSpPr>
          <p:nvPr/>
        </p:nvSpPr>
        <p:spPr>
          <a:xfrm>
            <a:off x="643890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45" name="planes-1-channel-1">
            <a:extLst>
              <a:ext uri="{FF2B5EF4-FFF2-40B4-BE49-F238E27FC236}">
                <a16:creationId xmlns:a16="http://schemas.microsoft.com/office/drawing/2014/main" id="{95E7A9B5-EDEB-4799-BF74-6B241FCB1F1B}"/>
              </a:ext>
            </a:extLst>
          </p:cNvPr>
          <p:cNvSpPr>
            <a:spLocks noGrp="1"/>
          </p:cNvSpPr>
          <p:nvPr/>
        </p:nvSpPr>
        <p:spPr>
          <a:xfrm>
            <a:off x="653415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46" name="region-2-channel-1">
            <a:extLst>
              <a:ext uri="{FF2B5EF4-FFF2-40B4-BE49-F238E27FC236}">
                <a16:creationId xmlns:a16="http://schemas.microsoft.com/office/drawing/2014/main" id="{3368881A-C586-497C-9492-504BBCCA8201}"/>
              </a:ext>
            </a:extLst>
          </p:cNvPr>
          <p:cNvSpPr>
            <a:spLocks noGrp="1"/>
          </p:cNvSpPr>
          <p:nvPr/>
        </p:nvSpPr>
        <p:spPr>
          <a:xfrm>
            <a:off x="643890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47" name="planes-2-channel-1">
            <a:extLst>
              <a:ext uri="{FF2B5EF4-FFF2-40B4-BE49-F238E27FC236}">
                <a16:creationId xmlns:a16="http://schemas.microsoft.com/office/drawing/2014/main" id="{16EBBDC4-FB7C-4387-BDDF-34C705B659E5}"/>
              </a:ext>
            </a:extLst>
          </p:cNvPr>
          <p:cNvSpPr>
            <a:spLocks noGrp="1"/>
          </p:cNvSpPr>
          <p:nvPr/>
        </p:nvSpPr>
        <p:spPr>
          <a:xfrm>
            <a:off x="653415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48" name="region-3-channel-1">
            <a:extLst>
              <a:ext uri="{FF2B5EF4-FFF2-40B4-BE49-F238E27FC236}">
                <a16:creationId xmlns:a16="http://schemas.microsoft.com/office/drawing/2014/main" id="{290ED09E-A6BB-4A4B-A165-49D2AC7C1F91}"/>
              </a:ext>
            </a:extLst>
          </p:cNvPr>
          <p:cNvSpPr>
            <a:spLocks noGrp="1"/>
          </p:cNvSpPr>
          <p:nvPr/>
        </p:nvSpPr>
        <p:spPr>
          <a:xfrm>
            <a:off x="643890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49" name="planes-3-channel-1">
            <a:extLst>
              <a:ext uri="{FF2B5EF4-FFF2-40B4-BE49-F238E27FC236}">
                <a16:creationId xmlns:a16="http://schemas.microsoft.com/office/drawing/2014/main" id="{AF93A4FC-5A56-4640-93BD-49B09E43BC52}"/>
              </a:ext>
            </a:extLst>
          </p:cNvPr>
          <p:cNvSpPr>
            <a:spLocks noGrp="1"/>
          </p:cNvSpPr>
          <p:nvPr/>
        </p:nvSpPr>
        <p:spPr>
          <a:xfrm>
            <a:off x="653415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50" name="placement-channel-2">
            <a:extLst>
              <a:ext uri="{FF2B5EF4-FFF2-40B4-BE49-F238E27FC236}">
                <a16:creationId xmlns:a16="http://schemas.microsoft.com/office/drawing/2014/main" id="{BEB2B063-623C-4A77-869E-59805F65E80D}"/>
              </a:ext>
            </a:extLst>
          </p:cNvPr>
          <p:cNvSpPr>
            <a:spLocks noGrp="1"/>
          </p:cNvSpPr>
          <p:nvPr/>
        </p:nvSpPr>
        <p:spPr>
          <a:xfrm>
            <a:off x="819150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51" name="placement-channel-label-2">
            <a:extLst>
              <a:ext uri="{FF2B5EF4-FFF2-40B4-BE49-F238E27FC236}">
                <a16:creationId xmlns:a16="http://schemas.microsoft.com/office/drawing/2014/main" id="{CD6BB72F-F8D3-480F-A1DA-56A4852DCFAA}"/>
              </a:ext>
            </a:extLst>
          </p:cNvPr>
          <p:cNvSpPr>
            <a:spLocks noGrp="1"/>
          </p:cNvSpPr>
          <p:nvPr/>
        </p:nvSpPr>
        <p:spPr>
          <a:xfrm>
            <a:off x="831532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CH2 · 16 Plane</a:t>
            </a:r>
          </a:p>
        </p:txBody>
      </p:sp>
      <p:cxnSp>
        <p:nvCxnSpPr>
          <p:cNvPr id="52" name="mapping-to-channel-2">
            <a:extLst>
              <a:ext uri="{FF2B5EF4-FFF2-40B4-BE49-F238E27FC236}">
                <a16:creationId xmlns:a16="http://schemas.microsoft.com/office/drawing/2014/main" id="{1427E61E-EC3D-4760-AC56-77C95616F8CC}"/>
              </a:ext>
            </a:extLst>
          </p:cNvPr>
          <p:cNvCxnSpPr/>
          <p:nvPr/>
        </p:nvCxnSpPr>
        <p:spPr>
          <a:xfrm>
            <a:off x="9001125" y="2209800"/>
            <a:ext cx="0" cy="190500"/>
          </a:xfrm>
          <a:prstGeom prst="straightConnector1">
            <a:avLst/>
          </a:prstGeom>
          <a:ln w="19050">
            <a:solidFill>
              <a:srgbClr val="126DCA"/>
            </a:solidFill>
            <a:prstDash val="solid"/>
            <a:tailEnd type="triangle" w="med" len="med"/>
          </a:ln>
        </p:spPr>
      </p:cxnSp>
      <p:sp>
        <p:nvSpPr>
          <p:cNvPr id="53" name="region-0-channel-2">
            <a:extLst>
              <a:ext uri="{FF2B5EF4-FFF2-40B4-BE49-F238E27FC236}">
                <a16:creationId xmlns:a16="http://schemas.microsoft.com/office/drawing/2014/main" id="{3BB60691-169D-40D1-ACDD-E3147EA72B01}"/>
              </a:ext>
            </a:extLst>
          </p:cNvPr>
          <p:cNvSpPr>
            <a:spLocks noGrp="1"/>
          </p:cNvSpPr>
          <p:nvPr/>
        </p:nvSpPr>
        <p:spPr>
          <a:xfrm>
            <a:off x="828675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54" name="planes-0-channel-2">
            <a:extLst>
              <a:ext uri="{FF2B5EF4-FFF2-40B4-BE49-F238E27FC236}">
                <a16:creationId xmlns:a16="http://schemas.microsoft.com/office/drawing/2014/main" id="{703A39A6-C771-44BE-BD46-44C5B7640541}"/>
              </a:ext>
            </a:extLst>
          </p:cNvPr>
          <p:cNvSpPr>
            <a:spLocks noGrp="1"/>
          </p:cNvSpPr>
          <p:nvPr/>
        </p:nvSpPr>
        <p:spPr>
          <a:xfrm>
            <a:off x="838200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55" name="region-1-channel-2">
            <a:extLst>
              <a:ext uri="{FF2B5EF4-FFF2-40B4-BE49-F238E27FC236}">
                <a16:creationId xmlns:a16="http://schemas.microsoft.com/office/drawing/2014/main" id="{DA382E5F-A4AC-42AE-B50B-7689BA2AE280}"/>
              </a:ext>
            </a:extLst>
          </p:cNvPr>
          <p:cNvSpPr>
            <a:spLocks noGrp="1"/>
          </p:cNvSpPr>
          <p:nvPr/>
        </p:nvSpPr>
        <p:spPr>
          <a:xfrm>
            <a:off x="828675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56" name="planes-1-channel-2">
            <a:extLst>
              <a:ext uri="{FF2B5EF4-FFF2-40B4-BE49-F238E27FC236}">
                <a16:creationId xmlns:a16="http://schemas.microsoft.com/office/drawing/2014/main" id="{55BF7972-D4BB-44C8-9CF1-00034755DBDC}"/>
              </a:ext>
            </a:extLst>
          </p:cNvPr>
          <p:cNvSpPr>
            <a:spLocks noGrp="1"/>
          </p:cNvSpPr>
          <p:nvPr/>
        </p:nvSpPr>
        <p:spPr>
          <a:xfrm>
            <a:off x="838200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57" name="region-2-channel-2">
            <a:extLst>
              <a:ext uri="{FF2B5EF4-FFF2-40B4-BE49-F238E27FC236}">
                <a16:creationId xmlns:a16="http://schemas.microsoft.com/office/drawing/2014/main" id="{EC87DAD8-E691-4ED5-B92C-5F7528AE3D25}"/>
              </a:ext>
            </a:extLst>
          </p:cNvPr>
          <p:cNvSpPr>
            <a:spLocks noGrp="1"/>
          </p:cNvSpPr>
          <p:nvPr/>
        </p:nvSpPr>
        <p:spPr>
          <a:xfrm>
            <a:off x="828675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58" name="planes-2-channel-2">
            <a:extLst>
              <a:ext uri="{FF2B5EF4-FFF2-40B4-BE49-F238E27FC236}">
                <a16:creationId xmlns:a16="http://schemas.microsoft.com/office/drawing/2014/main" id="{CF71934D-7425-44DD-BDEF-B3835E4B7B00}"/>
              </a:ext>
            </a:extLst>
          </p:cNvPr>
          <p:cNvSpPr>
            <a:spLocks noGrp="1"/>
          </p:cNvSpPr>
          <p:nvPr/>
        </p:nvSpPr>
        <p:spPr>
          <a:xfrm>
            <a:off x="838200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59" name="region-3-channel-2">
            <a:extLst>
              <a:ext uri="{FF2B5EF4-FFF2-40B4-BE49-F238E27FC236}">
                <a16:creationId xmlns:a16="http://schemas.microsoft.com/office/drawing/2014/main" id="{9A2313E8-ACE3-4436-91B4-5E9ECD6922C6}"/>
              </a:ext>
            </a:extLst>
          </p:cNvPr>
          <p:cNvSpPr>
            <a:spLocks noGrp="1"/>
          </p:cNvSpPr>
          <p:nvPr/>
        </p:nvSpPr>
        <p:spPr>
          <a:xfrm>
            <a:off x="828675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60" name="planes-3-channel-2">
            <a:extLst>
              <a:ext uri="{FF2B5EF4-FFF2-40B4-BE49-F238E27FC236}">
                <a16:creationId xmlns:a16="http://schemas.microsoft.com/office/drawing/2014/main" id="{79DCB269-B612-4361-813D-CEC8E902D7AE}"/>
              </a:ext>
            </a:extLst>
          </p:cNvPr>
          <p:cNvSpPr>
            <a:spLocks noGrp="1"/>
          </p:cNvSpPr>
          <p:nvPr/>
        </p:nvSpPr>
        <p:spPr>
          <a:xfrm>
            <a:off x="838200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61" name="placement-channel-3">
            <a:extLst>
              <a:ext uri="{FF2B5EF4-FFF2-40B4-BE49-F238E27FC236}">
                <a16:creationId xmlns:a16="http://schemas.microsoft.com/office/drawing/2014/main" id="{EB198ADC-8F13-4BD9-B943-E3B3DEC69B07}"/>
              </a:ext>
            </a:extLst>
          </p:cNvPr>
          <p:cNvSpPr>
            <a:spLocks noGrp="1"/>
          </p:cNvSpPr>
          <p:nvPr/>
        </p:nvSpPr>
        <p:spPr>
          <a:xfrm>
            <a:off x="10039350" y="2400300"/>
            <a:ext cx="1619250" cy="1905000"/>
          </a:xfrm>
          <a:prstGeom prst="rect">
            <a:avLst/>
          </a:prstGeom>
          <a:solidFill>
            <a:srgbClr val="FFFFFF"/>
          </a:solidFill>
          <a:ln w="14288">
            <a:solidFill>
              <a:srgbClr val="DFE6EB"/>
            </a:solidFill>
            <a:prstDash val="solid"/>
          </a:ln>
        </p:spPr>
        <p:txBody>
          <a:bodyPr/>
          <a:lstStyle/>
          <a:p>
            <a:endParaRPr lang="ko-KR" altLang="en-US"/>
          </a:p>
        </p:txBody>
      </p:sp>
      <p:sp>
        <p:nvSpPr>
          <p:cNvPr id="62" name="placement-channel-label-3">
            <a:extLst>
              <a:ext uri="{FF2B5EF4-FFF2-40B4-BE49-F238E27FC236}">
                <a16:creationId xmlns:a16="http://schemas.microsoft.com/office/drawing/2014/main" id="{96A09A47-4003-4165-92A4-03D8A7BAE018}"/>
              </a:ext>
            </a:extLst>
          </p:cNvPr>
          <p:cNvSpPr>
            <a:spLocks noGrp="1"/>
          </p:cNvSpPr>
          <p:nvPr/>
        </p:nvSpPr>
        <p:spPr>
          <a:xfrm>
            <a:off x="10163175" y="2486025"/>
            <a:ext cx="1466850" cy="285750"/>
          </a:xfrm>
          <a:prstGeom prst="rect">
            <a:avLst/>
          </a:prstGeom>
          <a:noFill/>
          <a:ln w="0">
            <a:noFill/>
          </a:ln>
        </p:spPr>
        <p:txBody>
          <a:bodyPr wrap="square" lIns="0" tIns="0" rIns="0" bIns="0" anchor="t">
            <a:noAutofit/>
          </a:bodyPr>
          <a:lstStyle>
            <a:defPPr>
              <a:defRPr sz="1725" b="1">
                <a:solidFill>
                  <a:srgbClr val="172738"/>
                </a:solidFill>
                <a:latin typeface="Apple SD Gothic Neo"/>
                <a:ea typeface="Apple SD Gothic Neo"/>
                <a:cs typeface="Apple SD Gothic Neo"/>
              </a:defRPr>
            </a:defPPr>
          </a:lstStyle>
          <a:p>
            <a:pPr>
              <a:defRPr sz="1725" b="1">
                <a:solidFill>
                  <a:srgbClr val="172738"/>
                </a:solidFill>
                <a:latin typeface="Apple SD Gothic Neo"/>
                <a:ea typeface="Apple SD Gothic Neo"/>
                <a:cs typeface="Apple SD Gothic Neo"/>
              </a:defRPr>
            </a:pPr>
            <a:r>
              <a:rPr sz="1725" b="1">
                <a:solidFill>
                  <a:srgbClr val="172738"/>
                </a:solidFill>
                <a:latin typeface="Apple SD Gothic Neo"/>
                <a:ea typeface="Apple SD Gothic Neo"/>
                <a:cs typeface="Apple SD Gothic Neo"/>
              </a:rPr>
              <a:t>CH3 · 16 Plane</a:t>
            </a:r>
          </a:p>
        </p:txBody>
      </p:sp>
      <p:cxnSp>
        <p:nvCxnSpPr>
          <p:cNvPr id="63" name="mapping-to-channel-3">
            <a:extLst>
              <a:ext uri="{FF2B5EF4-FFF2-40B4-BE49-F238E27FC236}">
                <a16:creationId xmlns:a16="http://schemas.microsoft.com/office/drawing/2014/main" id="{B1A18C68-958D-43A8-A6CD-0A9934F8DFB4}"/>
              </a:ext>
            </a:extLst>
          </p:cNvPr>
          <p:cNvCxnSpPr/>
          <p:nvPr/>
        </p:nvCxnSpPr>
        <p:spPr>
          <a:xfrm>
            <a:off x="10848975" y="2209800"/>
            <a:ext cx="0" cy="190500"/>
          </a:xfrm>
          <a:prstGeom prst="straightConnector1">
            <a:avLst/>
          </a:prstGeom>
          <a:ln w="19050">
            <a:solidFill>
              <a:srgbClr val="126DCA"/>
            </a:solidFill>
            <a:prstDash val="solid"/>
            <a:tailEnd type="triangle" w="med" len="med"/>
          </a:ln>
        </p:spPr>
      </p:cxnSp>
      <p:sp>
        <p:nvSpPr>
          <p:cNvPr id="64" name="region-0-channel-3">
            <a:extLst>
              <a:ext uri="{FF2B5EF4-FFF2-40B4-BE49-F238E27FC236}">
                <a16:creationId xmlns:a16="http://schemas.microsoft.com/office/drawing/2014/main" id="{06335FDA-26DA-4829-8B5D-302EF46906D6}"/>
              </a:ext>
            </a:extLst>
          </p:cNvPr>
          <p:cNvSpPr>
            <a:spLocks noGrp="1"/>
          </p:cNvSpPr>
          <p:nvPr/>
        </p:nvSpPr>
        <p:spPr>
          <a:xfrm>
            <a:off x="10134600" y="2809875"/>
            <a:ext cx="1428750" cy="295275"/>
          </a:xfrm>
          <a:prstGeom prst="rect">
            <a:avLst/>
          </a:prstGeom>
          <a:solidFill>
            <a:srgbClr val="EAF2FD"/>
          </a:solidFill>
          <a:ln w="14288">
            <a:solidFill>
              <a:srgbClr val="126DCA"/>
            </a:solidFill>
            <a:prstDash val="solid"/>
          </a:ln>
        </p:spPr>
        <p:txBody>
          <a:bodyPr/>
          <a:lstStyle/>
          <a:p>
            <a:endParaRPr lang="ko-KR" altLang="en-US"/>
          </a:p>
        </p:txBody>
      </p:sp>
      <p:sp>
        <p:nvSpPr>
          <p:cNvPr id="65" name="planes-0-channel-3">
            <a:extLst>
              <a:ext uri="{FF2B5EF4-FFF2-40B4-BE49-F238E27FC236}">
                <a16:creationId xmlns:a16="http://schemas.microsoft.com/office/drawing/2014/main" id="{D685FA8C-B25D-4EF9-A2C9-B6058E2ECEC5}"/>
              </a:ext>
            </a:extLst>
          </p:cNvPr>
          <p:cNvSpPr>
            <a:spLocks noGrp="1"/>
          </p:cNvSpPr>
          <p:nvPr/>
        </p:nvSpPr>
        <p:spPr>
          <a:xfrm>
            <a:off x="10229850" y="2847975"/>
            <a:ext cx="1285875" cy="257175"/>
          </a:xfrm>
          <a:prstGeom prst="rect">
            <a:avLst/>
          </a:prstGeom>
          <a:noFill/>
          <a:ln w="0">
            <a:noFill/>
          </a:ln>
        </p:spPr>
        <p:txBody>
          <a:bodyPr wrap="square" lIns="0" tIns="0" rIns="0" bIns="0" anchor="t">
            <a:noAutofit/>
          </a:bodyPr>
          <a:lstStyle>
            <a:defPPr>
              <a:defRPr sz="1575" b="1">
                <a:solidFill>
                  <a:srgbClr val="126DCA"/>
                </a:solidFill>
                <a:latin typeface="Apple SD Gothic Neo"/>
                <a:ea typeface="Apple SD Gothic Neo"/>
                <a:cs typeface="Apple SD Gothic Neo"/>
              </a:defRPr>
            </a:defPPr>
          </a:lstStyle>
          <a:p>
            <a:pPr>
              <a:defRPr sz="1575" b="1">
                <a:solidFill>
                  <a:srgbClr val="126DCA"/>
                </a:solidFill>
                <a:latin typeface="Apple SD Gothic Neo"/>
                <a:ea typeface="Apple SD Gothic Neo"/>
                <a:cs typeface="Apple SD Gothic Neo"/>
              </a:defRPr>
            </a:pPr>
            <a:r>
              <a:rPr sz="1575" b="1">
                <a:solidFill>
                  <a:srgbClr val="126DCA"/>
                </a:solidFill>
                <a:latin typeface="Apple SD Gothic Neo"/>
                <a:ea typeface="Apple SD Gothic Neo"/>
                <a:cs typeface="Apple SD Gothic Neo"/>
              </a:rPr>
              <a:t>R0 · PL0–3</a:t>
            </a:r>
          </a:p>
        </p:txBody>
      </p:sp>
      <p:sp>
        <p:nvSpPr>
          <p:cNvPr id="66" name="region-1-channel-3">
            <a:extLst>
              <a:ext uri="{FF2B5EF4-FFF2-40B4-BE49-F238E27FC236}">
                <a16:creationId xmlns:a16="http://schemas.microsoft.com/office/drawing/2014/main" id="{5305DF6A-8F54-4B6A-9C56-56482E1032DA}"/>
              </a:ext>
            </a:extLst>
          </p:cNvPr>
          <p:cNvSpPr>
            <a:spLocks noGrp="1"/>
          </p:cNvSpPr>
          <p:nvPr/>
        </p:nvSpPr>
        <p:spPr>
          <a:xfrm>
            <a:off x="10134600" y="3162300"/>
            <a:ext cx="1428750" cy="295275"/>
          </a:xfrm>
          <a:prstGeom prst="rect">
            <a:avLst/>
          </a:prstGeom>
          <a:solidFill>
            <a:srgbClr val="E9F5F2"/>
          </a:solidFill>
          <a:ln w="14288">
            <a:solidFill>
              <a:srgbClr val="008B82"/>
            </a:solidFill>
            <a:prstDash val="solid"/>
          </a:ln>
        </p:spPr>
        <p:txBody>
          <a:bodyPr/>
          <a:lstStyle/>
          <a:p>
            <a:endParaRPr lang="ko-KR" altLang="en-US"/>
          </a:p>
        </p:txBody>
      </p:sp>
      <p:sp>
        <p:nvSpPr>
          <p:cNvPr id="67" name="planes-1-channel-3">
            <a:extLst>
              <a:ext uri="{FF2B5EF4-FFF2-40B4-BE49-F238E27FC236}">
                <a16:creationId xmlns:a16="http://schemas.microsoft.com/office/drawing/2014/main" id="{826E4EBB-AB63-45B0-93D2-3E90DDDBCB11}"/>
              </a:ext>
            </a:extLst>
          </p:cNvPr>
          <p:cNvSpPr>
            <a:spLocks noGrp="1"/>
          </p:cNvSpPr>
          <p:nvPr/>
        </p:nvSpPr>
        <p:spPr>
          <a:xfrm>
            <a:off x="10229850" y="3200400"/>
            <a:ext cx="1285875" cy="257175"/>
          </a:xfrm>
          <a:prstGeom prst="rect">
            <a:avLst/>
          </a:prstGeom>
          <a:noFill/>
          <a:ln w="0">
            <a:noFill/>
          </a:ln>
        </p:spPr>
        <p:txBody>
          <a:bodyPr wrap="square" lIns="0" tIns="0" rIns="0" bIns="0" anchor="t">
            <a:noAutofit/>
          </a:bodyPr>
          <a:lstStyle>
            <a:defPPr>
              <a:defRPr sz="1575" b="1">
                <a:solidFill>
                  <a:srgbClr val="008B82"/>
                </a:solidFill>
                <a:latin typeface="Apple SD Gothic Neo"/>
                <a:ea typeface="Apple SD Gothic Neo"/>
                <a:cs typeface="Apple SD Gothic Neo"/>
              </a:defRPr>
            </a:defPPr>
          </a:lstStyle>
          <a:p>
            <a:pPr>
              <a:defRPr sz="1575" b="1">
                <a:solidFill>
                  <a:srgbClr val="008B82"/>
                </a:solidFill>
                <a:latin typeface="Apple SD Gothic Neo"/>
                <a:ea typeface="Apple SD Gothic Neo"/>
                <a:cs typeface="Apple SD Gothic Neo"/>
              </a:defRPr>
            </a:pPr>
            <a:r>
              <a:rPr sz="1575" b="1">
                <a:solidFill>
                  <a:srgbClr val="008B82"/>
                </a:solidFill>
                <a:latin typeface="Apple SD Gothic Neo"/>
                <a:ea typeface="Apple SD Gothic Neo"/>
                <a:cs typeface="Apple SD Gothic Neo"/>
              </a:rPr>
              <a:t>R1 · PL4–7</a:t>
            </a:r>
          </a:p>
        </p:txBody>
      </p:sp>
      <p:sp>
        <p:nvSpPr>
          <p:cNvPr id="68" name="region-2-channel-3">
            <a:extLst>
              <a:ext uri="{FF2B5EF4-FFF2-40B4-BE49-F238E27FC236}">
                <a16:creationId xmlns:a16="http://schemas.microsoft.com/office/drawing/2014/main" id="{0618C77E-B85C-4D0A-8DC8-8C9B28F77746}"/>
              </a:ext>
            </a:extLst>
          </p:cNvPr>
          <p:cNvSpPr>
            <a:spLocks noGrp="1"/>
          </p:cNvSpPr>
          <p:nvPr/>
        </p:nvSpPr>
        <p:spPr>
          <a:xfrm>
            <a:off x="10134600" y="3514725"/>
            <a:ext cx="1428750" cy="295275"/>
          </a:xfrm>
          <a:prstGeom prst="rect">
            <a:avLst/>
          </a:prstGeom>
          <a:solidFill>
            <a:srgbClr val="FCF3E3"/>
          </a:solidFill>
          <a:ln w="14288">
            <a:solidFill>
              <a:srgbClr val="A96715"/>
            </a:solidFill>
            <a:prstDash val="solid"/>
          </a:ln>
        </p:spPr>
        <p:txBody>
          <a:bodyPr/>
          <a:lstStyle/>
          <a:p>
            <a:endParaRPr lang="ko-KR" altLang="en-US"/>
          </a:p>
        </p:txBody>
      </p:sp>
      <p:sp>
        <p:nvSpPr>
          <p:cNvPr id="69" name="planes-2-channel-3">
            <a:extLst>
              <a:ext uri="{FF2B5EF4-FFF2-40B4-BE49-F238E27FC236}">
                <a16:creationId xmlns:a16="http://schemas.microsoft.com/office/drawing/2014/main" id="{7ECD204E-A954-473B-9F6C-5223B6D63DB1}"/>
              </a:ext>
            </a:extLst>
          </p:cNvPr>
          <p:cNvSpPr>
            <a:spLocks noGrp="1"/>
          </p:cNvSpPr>
          <p:nvPr/>
        </p:nvSpPr>
        <p:spPr>
          <a:xfrm>
            <a:off x="10229850" y="3552825"/>
            <a:ext cx="1285875" cy="257175"/>
          </a:xfrm>
          <a:prstGeom prst="rect">
            <a:avLst/>
          </a:prstGeom>
          <a:noFill/>
          <a:ln w="0">
            <a:noFill/>
          </a:ln>
        </p:spPr>
        <p:txBody>
          <a:bodyPr wrap="square" lIns="0" tIns="0" rIns="0" bIns="0" anchor="t">
            <a:noAutofit/>
          </a:bodyPr>
          <a:lstStyle>
            <a:defPPr>
              <a:defRPr sz="1575" b="1">
                <a:solidFill>
                  <a:srgbClr val="A96715"/>
                </a:solidFill>
                <a:latin typeface="Apple SD Gothic Neo"/>
                <a:ea typeface="Apple SD Gothic Neo"/>
                <a:cs typeface="Apple SD Gothic Neo"/>
              </a:defRPr>
            </a:defPPr>
          </a:lstStyle>
          <a:p>
            <a:pPr>
              <a:defRPr sz="1575" b="1">
                <a:solidFill>
                  <a:srgbClr val="A96715"/>
                </a:solidFill>
                <a:latin typeface="Apple SD Gothic Neo"/>
                <a:ea typeface="Apple SD Gothic Neo"/>
                <a:cs typeface="Apple SD Gothic Neo"/>
              </a:defRPr>
            </a:pPr>
            <a:r>
              <a:rPr sz="1575" b="1">
                <a:solidFill>
                  <a:srgbClr val="A96715"/>
                </a:solidFill>
                <a:latin typeface="Apple SD Gothic Neo"/>
                <a:ea typeface="Apple SD Gothic Neo"/>
                <a:cs typeface="Apple SD Gothic Neo"/>
              </a:rPr>
              <a:t>R2 · PL8–11</a:t>
            </a:r>
          </a:p>
        </p:txBody>
      </p:sp>
      <p:sp>
        <p:nvSpPr>
          <p:cNvPr id="70" name="region-3-channel-3">
            <a:extLst>
              <a:ext uri="{FF2B5EF4-FFF2-40B4-BE49-F238E27FC236}">
                <a16:creationId xmlns:a16="http://schemas.microsoft.com/office/drawing/2014/main" id="{096745AC-466D-425D-BB0E-961BA4EE3F9D}"/>
              </a:ext>
            </a:extLst>
          </p:cNvPr>
          <p:cNvSpPr>
            <a:spLocks noGrp="1"/>
          </p:cNvSpPr>
          <p:nvPr/>
        </p:nvSpPr>
        <p:spPr>
          <a:xfrm>
            <a:off x="10134600" y="3867150"/>
            <a:ext cx="1428750" cy="295275"/>
          </a:xfrm>
          <a:prstGeom prst="rect">
            <a:avLst/>
          </a:prstGeom>
          <a:solidFill>
            <a:srgbClr val="F0EBF7"/>
          </a:solidFill>
          <a:ln w="14288">
            <a:solidFill>
              <a:srgbClr val="7553A2"/>
            </a:solidFill>
            <a:prstDash val="solid"/>
          </a:ln>
        </p:spPr>
        <p:txBody>
          <a:bodyPr/>
          <a:lstStyle/>
          <a:p>
            <a:endParaRPr lang="ko-KR" altLang="en-US"/>
          </a:p>
        </p:txBody>
      </p:sp>
      <p:sp>
        <p:nvSpPr>
          <p:cNvPr id="71" name="planes-3-channel-3">
            <a:extLst>
              <a:ext uri="{FF2B5EF4-FFF2-40B4-BE49-F238E27FC236}">
                <a16:creationId xmlns:a16="http://schemas.microsoft.com/office/drawing/2014/main" id="{01E15C0A-8B16-49ED-99EA-D47109A58337}"/>
              </a:ext>
            </a:extLst>
          </p:cNvPr>
          <p:cNvSpPr>
            <a:spLocks noGrp="1"/>
          </p:cNvSpPr>
          <p:nvPr/>
        </p:nvSpPr>
        <p:spPr>
          <a:xfrm>
            <a:off x="10229850" y="3905250"/>
            <a:ext cx="1285875" cy="257175"/>
          </a:xfrm>
          <a:prstGeom prst="rect">
            <a:avLst/>
          </a:prstGeom>
          <a:noFill/>
          <a:ln w="0">
            <a:noFill/>
          </a:ln>
        </p:spPr>
        <p:txBody>
          <a:bodyPr wrap="square" lIns="0" tIns="0" rIns="0" bIns="0" anchor="t">
            <a:noAutofit/>
          </a:bodyPr>
          <a:lstStyle>
            <a:defPPr>
              <a:defRPr sz="1575" b="1">
                <a:solidFill>
                  <a:srgbClr val="7553A2"/>
                </a:solidFill>
                <a:latin typeface="Apple SD Gothic Neo"/>
                <a:ea typeface="Apple SD Gothic Neo"/>
                <a:cs typeface="Apple SD Gothic Neo"/>
              </a:defRPr>
            </a:defPPr>
          </a:lstStyle>
          <a:p>
            <a:pPr>
              <a:defRPr sz="1575" b="1">
                <a:solidFill>
                  <a:srgbClr val="7553A2"/>
                </a:solidFill>
                <a:latin typeface="Apple SD Gothic Neo"/>
                <a:ea typeface="Apple SD Gothic Neo"/>
                <a:cs typeface="Apple SD Gothic Neo"/>
              </a:defRPr>
            </a:pPr>
            <a:r>
              <a:rPr sz="1575" b="1">
                <a:solidFill>
                  <a:srgbClr val="7553A2"/>
                </a:solidFill>
                <a:latin typeface="Apple SD Gothic Neo"/>
                <a:ea typeface="Apple SD Gothic Neo"/>
                <a:cs typeface="Apple SD Gothic Neo"/>
              </a:rPr>
              <a:t>R3 · PL12–15</a:t>
            </a:r>
          </a:p>
        </p:txBody>
      </p:sp>
      <p:sp>
        <p:nvSpPr>
          <p:cNvPr id="72" name="placement-color-key">
            <a:extLst>
              <a:ext uri="{FF2B5EF4-FFF2-40B4-BE49-F238E27FC236}">
                <a16:creationId xmlns:a16="http://schemas.microsoft.com/office/drawing/2014/main" id="{DE100083-8D11-4DFC-96AB-1F9D66C06F94}"/>
              </a:ext>
            </a:extLst>
          </p:cNvPr>
          <p:cNvSpPr>
            <a:spLocks noGrp="1"/>
          </p:cNvSpPr>
          <p:nvPr/>
        </p:nvSpPr>
        <p:spPr>
          <a:xfrm>
            <a:off x="552450" y="4438650"/>
            <a:ext cx="11096625" cy="304800"/>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같은 색 = 같은 논리 영역. 각 영역은 4채널 전체를 쓰고, 채널 안의 Plane 묶음을 분리합니다.</a:t>
            </a:r>
          </a:p>
        </p:txBody>
      </p:sp>
      <p:sp>
        <p:nvSpPr>
          <p:cNvPr id="73" name="packing-heading">
            <a:extLst>
              <a:ext uri="{FF2B5EF4-FFF2-40B4-BE49-F238E27FC236}">
                <a16:creationId xmlns:a16="http://schemas.microsoft.com/office/drawing/2014/main" id="{7D67C63D-1974-4642-BE13-1B8D51846325}"/>
              </a:ext>
            </a:extLst>
          </p:cNvPr>
          <p:cNvSpPr>
            <a:spLocks noGrp="1"/>
          </p:cNvSpPr>
          <p:nvPr/>
        </p:nvSpPr>
        <p:spPr>
          <a:xfrm>
            <a:off x="533400" y="4867275"/>
            <a:ext cx="5791200" cy="323850"/>
          </a:xfrm>
          <a:prstGeom prst="rect">
            <a:avLst/>
          </a:prstGeom>
          <a:noFill/>
          <a:ln w="0">
            <a:noFill/>
          </a:ln>
        </p:spPr>
        <p:txBody>
          <a:bodyPr wrap="square" lIns="0" tIns="0" rIns="0" bIns="0" anchor="t">
            <a:noAutofit/>
          </a:bodyPr>
          <a:lstStyle>
            <a:defPPr>
              <a:defRPr sz="1800" b="1">
                <a:solidFill>
                  <a:srgbClr val="172738"/>
                </a:solidFill>
                <a:latin typeface="Apple SD Gothic Neo"/>
                <a:ea typeface="Apple SD Gothic Neo"/>
                <a:cs typeface="Apple SD Gothic Neo"/>
              </a:defRPr>
            </a:defPPr>
          </a:lstStyle>
          <a:p>
            <a:pPr>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CH0의 첫 16KiB Page · 각 L = 4KiB</a:t>
            </a:r>
          </a:p>
        </p:txBody>
      </p:sp>
      <p:sp>
        <p:nvSpPr>
          <p:cNvPr id="74" name="stripe-label-0">
            <a:extLst>
              <a:ext uri="{FF2B5EF4-FFF2-40B4-BE49-F238E27FC236}">
                <a16:creationId xmlns:a16="http://schemas.microsoft.com/office/drawing/2014/main" id="{688873CD-1016-4696-876A-84ECF62DBFC7}"/>
              </a:ext>
            </a:extLst>
          </p:cNvPr>
          <p:cNvSpPr>
            <a:spLocks noGrp="1"/>
          </p:cNvSpPr>
          <p:nvPr/>
        </p:nvSpPr>
        <p:spPr>
          <a:xfrm>
            <a:off x="533400" y="5181600"/>
            <a:ext cx="1495425" cy="266700"/>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4KiB stripe</a:t>
            </a:r>
          </a:p>
        </p:txBody>
      </p:sp>
      <p:sp>
        <p:nvSpPr>
          <p:cNvPr id="75" name="stripe-workload-0">
            <a:extLst>
              <a:ext uri="{FF2B5EF4-FFF2-40B4-BE49-F238E27FC236}">
                <a16:creationId xmlns:a16="http://schemas.microsoft.com/office/drawing/2014/main" id="{BA599C7F-D578-4EC4-8512-CAE4207D3EF9}"/>
              </a:ext>
            </a:extLst>
          </p:cNvPr>
          <p:cNvSpPr>
            <a:spLocks noGrp="1"/>
          </p:cNvSpPr>
          <p:nvPr/>
        </p:nvSpPr>
        <p:spPr>
          <a:xfrm>
            <a:off x="533400" y="5429250"/>
            <a:ext cx="1495425" cy="247650"/>
          </a:xfrm>
          <a:prstGeom prst="rect">
            <a:avLst/>
          </a:prstGeom>
          <a:noFill/>
          <a:ln w="0">
            <a:noFill/>
          </a:ln>
        </p:spPr>
        <p:txBody>
          <a:bodyPr wrap="square" lIns="0" tIns="0" rIns="0" bIns="0" anchor="t">
            <a:noAutofit/>
          </a:bodyPr>
          <a:lstStyle>
            <a:defPPr>
              <a:defRPr sz="1500" b="0">
                <a:solidFill>
                  <a:srgbClr val="586875"/>
                </a:solidFill>
                <a:latin typeface="Apple SD Gothic Neo"/>
                <a:ea typeface="Apple SD Gothic Neo"/>
                <a:cs typeface="Apple SD Gothic Neo"/>
              </a:defRPr>
            </a:defPPr>
          </a:lstStyle>
          <a:p>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A1 / B1 / B2</a:t>
            </a:r>
          </a:p>
        </p:txBody>
      </p:sp>
      <p:sp>
        <p:nvSpPr>
          <p:cNvPr id="76" name="packed-page-0-0">
            <a:extLst>
              <a:ext uri="{FF2B5EF4-FFF2-40B4-BE49-F238E27FC236}">
                <a16:creationId xmlns:a16="http://schemas.microsoft.com/office/drawing/2014/main" id="{047DB451-6F77-4EC5-BE57-68FC7D9246CD}"/>
              </a:ext>
            </a:extLst>
          </p:cNvPr>
          <p:cNvSpPr>
            <a:spLocks noGrp="1"/>
          </p:cNvSpPr>
          <p:nvPr/>
        </p:nvSpPr>
        <p:spPr>
          <a:xfrm>
            <a:off x="207645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77" name="packed-page-label-0-0">
            <a:extLst>
              <a:ext uri="{FF2B5EF4-FFF2-40B4-BE49-F238E27FC236}">
                <a16:creationId xmlns:a16="http://schemas.microsoft.com/office/drawing/2014/main" id="{C989BFF8-F114-4127-8BA5-734AB9B9A02E}"/>
              </a:ext>
            </a:extLst>
          </p:cNvPr>
          <p:cNvSpPr>
            <a:spLocks noGrp="1"/>
          </p:cNvSpPr>
          <p:nvPr/>
        </p:nvSpPr>
        <p:spPr>
          <a:xfrm>
            <a:off x="233362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78" name="packed-page-0-1">
            <a:extLst>
              <a:ext uri="{FF2B5EF4-FFF2-40B4-BE49-F238E27FC236}">
                <a16:creationId xmlns:a16="http://schemas.microsoft.com/office/drawing/2014/main" id="{3A361E75-A068-46C5-AB70-F0ED561496D3}"/>
              </a:ext>
            </a:extLst>
          </p:cNvPr>
          <p:cNvSpPr>
            <a:spLocks noGrp="1"/>
          </p:cNvSpPr>
          <p:nvPr/>
        </p:nvSpPr>
        <p:spPr>
          <a:xfrm>
            <a:off x="300990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79" name="packed-page-label-0-1">
            <a:extLst>
              <a:ext uri="{FF2B5EF4-FFF2-40B4-BE49-F238E27FC236}">
                <a16:creationId xmlns:a16="http://schemas.microsoft.com/office/drawing/2014/main" id="{85E54BB5-AF41-48BF-B597-46F98C512E74}"/>
              </a:ext>
            </a:extLst>
          </p:cNvPr>
          <p:cNvSpPr>
            <a:spLocks noGrp="1"/>
          </p:cNvSpPr>
          <p:nvPr/>
        </p:nvSpPr>
        <p:spPr>
          <a:xfrm>
            <a:off x="326707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L4</a:t>
            </a:r>
          </a:p>
        </p:txBody>
      </p:sp>
      <p:sp>
        <p:nvSpPr>
          <p:cNvPr id="80" name="packed-page-0-2">
            <a:extLst>
              <a:ext uri="{FF2B5EF4-FFF2-40B4-BE49-F238E27FC236}">
                <a16:creationId xmlns:a16="http://schemas.microsoft.com/office/drawing/2014/main" id="{AE04F794-F829-401B-AEBF-22630A502862}"/>
              </a:ext>
            </a:extLst>
          </p:cNvPr>
          <p:cNvSpPr>
            <a:spLocks noGrp="1"/>
          </p:cNvSpPr>
          <p:nvPr/>
        </p:nvSpPr>
        <p:spPr>
          <a:xfrm>
            <a:off x="394335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1" name="packed-page-label-0-2">
            <a:extLst>
              <a:ext uri="{FF2B5EF4-FFF2-40B4-BE49-F238E27FC236}">
                <a16:creationId xmlns:a16="http://schemas.microsoft.com/office/drawing/2014/main" id="{458A5AFD-68C5-4ABF-BBFF-1487F7AD1401}"/>
              </a:ext>
            </a:extLst>
          </p:cNvPr>
          <p:cNvSpPr>
            <a:spLocks noGrp="1"/>
          </p:cNvSpPr>
          <p:nvPr/>
        </p:nvSpPr>
        <p:spPr>
          <a:xfrm>
            <a:off x="420052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L8</a:t>
            </a:r>
          </a:p>
        </p:txBody>
      </p:sp>
      <p:sp>
        <p:nvSpPr>
          <p:cNvPr id="82" name="packed-page-0-3">
            <a:extLst>
              <a:ext uri="{FF2B5EF4-FFF2-40B4-BE49-F238E27FC236}">
                <a16:creationId xmlns:a16="http://schemas.microsoft.com/office/drawing/2014/main" id="{020A0128-1DB5-4216-AB44-84E87497B7E6}"/>
              </a:ext>
            </a:extLst>
          </p:cNvPr>
          <p:cNvSpPr>
            <a:spLocks noGrp="1"/>
          </p:cNvSpPr>
          <p:nvPr/>
        </p:nvSpPr>
        <p:spPr>
          <a:xfrm>
            <a:off x="4876800" y="521970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3" name="packed-page-label-0-3">
            <a:extLst>
              <a:ext uri="{FF2B5EF4-FFF2-40B4-BE49-F238E27FC236}">
                <a16:creationId xmlns:a16="http://schemas.microsoft.com/office/drawing/2014/main" id="{41594A72-8C41-4FEC-9C89-FC981934E770}"/>
              </a:ext>
            </a:extLst>
          </p:cNvPr>
          <p:cNvSpPr>
            <a:spLocks noGrp="1"/>
          </p:cNvSpPr>
          <p:nvPr/>
        </p:nvSpPr>
        <p:spPr>
          <a:xfrm>
            <a:off x="5133975" y="528637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L12</a:t>
            </a:r>
          </a:p>
        </p:txBody>
      </p:sp>
      <p:sp>
        <p:nvSpPr>
          <p:cNvPr id="84" name="stripe-label-1">
            <a:extLst>
              <a:ext uri="{FF2B5EF4-FFF2-40B4-BE49-F238E27FC236}">
                <a16:creationId xmlns:a16="http://schemas.microsoft.com/office/drawing/2014/main" id="{4FDED947-F187-4B51-9870-CD699B81D2B1}"/>
              </a:ext>
            </a:extLst>
          </p:cNvPr>
          <p:cNvSpPr>
            <a:spLocks noGrp="1"/>
          </p:cNvSpPr>
          <p:nvPr/>
        </p:nvSpPr>
        <p:spPr>
          <a:xfrm>
            <a:off x="533400" y="5772150"/>
            <a:ext cx="1495425" cy="266700"/>
          </a:xfrm>
          <a:prstGeom prst="rect">
            <a:avLst/>
          </a:prstGeom>
          <a:noFill/>
          <a:ln w="0">
            <a:noFill/>
          </a:ln>
        </p:spPr>
        <p:txBody>
          <a:bodyPr wrap="square" lIns="0" tIns="0" rIns="0" bIns="0" anchor="t">
            <a:noAutofit/>
          </a:bodyPr>
          <a:lstStyle>
            <a:defPPr>
              <a:defRPr sz="1650" b="1">
                <a:solidFill>
                  <a:srgbClr val="126DCA"/>
                </a:solidFill>
                <a:latin typeface="Apple SD Gothic Neo"/>
                <a:ea typeface="Apple SD Gothic Neo"/>
                <a:cs typeface="Apple SD Gothic Neo"/>
              </a:defRPr>
            </a:defPPr>
          </a:lstStyle>
          <a:p>
            <a:pPr>
              <a:defRPr sz="1650" b="1">
                <a:solidFill>
                  <a:srgbClr val="126DCA"/>
                </a:solidFill>
                <a:latin typeface="Apple SD Gothic Neo"/>
                <a:ea typeface="Apple SD Gothic Neo"/>
                <a:cs typeface="Apple SD Gothic Neo"/>
              </a:defRPr>
            </a:pPr>
            <a:r>
              <a:rPr sz="1650" b="1">
                <a:solidFill>
                  <a:srgbClr val="126DCA"/>
                </a:solidFill>
                <a:latin typeface="Apple SD Gothic Neo"/>
                <a:ea typeface="Apple SD Gothic Neo"/>
                <a:cs typeface="Apple SD Gothic Neo"/>
              </a:rPr>
              <a:t>16KiB stripe</a:t>
            </a:r>
          </a:p>
        </p:txBody>
      </p:sp>
      <p:sp>
        <p:nvSpPr>
          <p:cNvPr id="85" name="stripe-workload-1">
            <a:extLst>
              <a:ext uri="{FF2B5EF4-FFF2-40B4-BE49-F238E27FC236}">
                <a16:creationId xmlns:a16="http://schemas.microsoft.com/office/drawing/2014/main" id="{423AE831-66B9-42D9-B7FB-1BF07831139D}"/>
              </a:ext>
            </a:extLst>
          </p:cNvPr>
          <p:cNvSpPr>
            <a:spLocks noGrp="1"/>
          </p:cNvSpPr>
          <p:nvPr/>
        </p:nvSpPr>
        <p:spPr>
          <a:xfrm>
            <a:off x="533400" y="6019800"/>
            <a:ext cx="1495425" cy="247650"/>
          </a:xfrm>
          <a:prstGeom prst="rect">
            <a:avLst/>
          </a:prstGeom>
          <a:noFill/>
          <a:ln w="0">
            <a:noFill/>
          </a:ln>
        </p:spPr>
        <p:txBody>
          <a:bodyPr wrap="square" lIns="0" tIns="0" rIns="0" bIns="0" anchor="t">
            <a:noAutofit/>
          </a:bodyPr>
          <a:lstStyle>
            <a:defPPr>
              <a:defRPr sz="1500" b="0">
                <a:solidFill>
                  <a:srgbClr val="586875"/>
                </a:solidFill>
                <a:latin typeface="Apple SD Gothic Neo"/>
                <a:ea typeface="Apple SD Gothic Neo"/>
                <a:cs typeface="Apple SD Gothic Neo"/>
              </a:defRPr>
            </a:defPPr>
          </a:lstStyle>
          <a:p>
            <a:pPr>
              <a:defRPr sz="1500" b="0">
                <a:solidFill>
                  <a:srgbClr val="586875"/>
                </a:solidFill>
                <a:latin typeface="Apple SD Gothic Neo"/>
                <a:ea typeface="Apple SD Gothic Neo"/>
                <a:cs typeface="Apple SD Gothic Neo"/>
              </a:defRPr>
            </a:pPr>
            <a:r>
              <a:rPr sz="1500" b="0">
                <a:solidFill>
                  <a:srgbClr val="586875"/>
                </a:solidFill>
                <a:latin typeface="Apple SD Gothic Neo"/>
                <a:ea typeface="Apple SD Gothic Neo"/>
                <a:cs typeface="Apple SD Gothic Neo"/>
              </a:rPr>
              <a:t>A2</a:t>
            </a:r>
          </a:p>
        </p:txBody>
      </p:sp>
      <p:sp>
        <p:nvSpPr>
          <p:cNvPr id="86" name="packed-page-1-0">
            <a:extLst>
              <a:ext uri="{FF2B5EF4-FFF2-40B4-BE49-F238E27FC236}">
                <a16:creationId xmlns:a16="http://schemas.microsoft.com/office/drawing/2014/main" id="{43E75FFC-C832-4B69-8504-83E0D5FEAD50}"/>
              </a:ext>
            </a:extLst>
          </p:cNvPr>
          <p:cNvSpPr>
            <a:spLocks noGrp="1"/>
          </p:cNvSpPr>
          <p:nvPr/>
        </p:nvSpPr>
        <p:spPr>
          <a:xfrm>
            <a:off x="207645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7" name="packed-page-label-1-0">
            <a:extLst>
              <a:ext uri="{FF2B5EF4-FFF2-40B4-BE49-F238E27FC236}">
                <a16:creationId xmlns:a16="http://schemas.microsoft.com/office/drawing/2014/main" id="{0B4057B7-0516-46F8-BB37-521B72766C21}"/>
              </a:ext>
            </a:extLst>
          </p:cNvPr>
          <p:cNvSpPr>
            <a:spLocks noGrp="1"/>
          </p:cNvSpPr>
          <p:nvPr/>
        </p:nvSpPr>
        <p:spPr>
          <a:xfrm>
            <a:off x="233362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L0</a:t>
            </a:r>
          </a:p>
        </p:txBody>
      </p:sp>
      <p:sp>
        <p:nvSpPr>
          <p:cNvPr id="88" name="packed-page-1-1">
            <a:extLst>
              <a:ext uri="{FF2B5EF4-FFF2-40B4-BE49-F238E27FC236}">
                <a16:creationId xmlns:a16="http://schemas.microsoft.com/office/drawing/2014/main" id="{9156BF4A-184C-4FE3-B7BC-E7788CC13BC3}"/>
              </a:ext>
            </a:extLst>
          </p:cNvPr>
          <p:cNvSpPr>
            <a:spLocks noGrp="1"/>
          </p:cNvSpPr>
          <p:nvPr/>
        </p:nvSpPr>
        <p:spPr>
          <a:xfrm>
            <a:off x="300990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89" name="packed-page-label-1-1">
            <a:extLst>
              <a:ext uri="{FF2B5EF4-FFF2-40B4-BE49-F238E27FC236}">
                <a16:creationId xmlns:a16="http://schemas.microsoft.com/office/drawing/2014/main" id="{65D6CE25-3656-4791-83A6-5ACE3BEC0ABD}"/>
              </a:ext>
            </a:extLst>
          </p:cNvPr>
          <p:cNvSpPr>
            <a:spLocks noGrp="1"/>
          </p:cNvSpPr>
          <p:nvPr/>
        </p:nvSpPr>
        <p:spPr>
          <a:xfrm>
            <a:off x="326707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L1</a:t>
            </a:r>
          </a:p>
        </p:txBody>
      </p:sp>
      <p:sp>
        <p:nvSpPr>
          <p:cNvPr id="90" name="packed-page-1-2">
            <a:extLst>
              <a:ext uri="{FF2B5EF4-FFF2-40B4-BE49-F238E27FC236}">
                <a16:creationId xmlns:a16="http://schemas.microsoft.com/office/drawing/2014/main" id="{CDE9528B-D793-4CEC-BB14-D1FADCB827A4}"/>
              </a:ext>
            </a:extLst>
          </p:cNvPr>
          <p:cNvSpPr>
            <a:spLocks noGrp="1"/>
          </p:cNvSpPr>
          <p:nvPr/>
        </p:nvSpPr>
        <p:spPr>
          <a:xfrm>
            <a:off x="394335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91" name="packed-page-label-1-2">
            <a:extLst>
              <a:ext uri="{FF2B5EF4-FFF2-40B4-BE49-F238E27FC236}">
                <a16:creationId xmlns:a16="http://schemas.microsoft.com/office/drawing/2014/main" id="{41A9A549-8C71-4C79-BBE4-C8819B2C8750}"/>
              </a:ext>
            </a:extLst>
          </p:cNvPr>
          <p:cNvSpPr>
            <a:spLocks noGrp="1"/>
          </p:cNvSpPr>
          <p:nvPr/>
        </p:nvSpPr>
        <p:spPr>
          <a:xfrm>
            <a:off x="420052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L2</a:t>
            </a:r>
          </a:p>
        </p:txBody>
      </p:sp>
      <p:sp>
        <p:nvSpPr>
          <p:cNvPr id="92" name="packed-page-1-3">
            <a:extLst>
              <a:ext uri="{FF2B5EF4-FFF2-40B4-BE49-F238E27FC236}">
                <a16:creationId xmlns:a16="http://schemas.microsoft.com/office/drawing/2014/main" id="{0F42F724-3DE0-4FFE-8DAE-E6B0CF80D334}"/>
              </a:ext>
            </a:extLst>
          </p:cNvPr>
          <p:cNvSpPr>
            <a:spLocks noGrp="1"/>
          </p:cNvSpPr>
          <p:nvPr/>
        </p:nvSpPr>
        <p:spPr>
          <a:xfrm>
            <a:off x="4876800" y="5810250"/>
            <a:ext cx="933450" cy="371475"/>
          </a:xfrm>
          <a:prstGeom prst="rect">
            <a:avLst/>
          </a:prstGeom>
          <a:solidFill>
            <a:srgbClr val="EAF2FD"/>
          </a:solidFill>
          <a:ln w="14288">
            <a:solidFill>
              <a:srgbClr val="126DCA"/>
            </a:solidFill>
            <a:prstDash val="solid"/>
          </a:ln>
        </p:spPr>
        <p:txBody>
          <a:bodyPr/>
          <a:lstStyle/>
          <a:p>
            <a:endParaRPr lang="ko-KR" altLang="en-US"/>
          </a:p>
        </p:txBody>
      </p:sp>
      <p:sp>
        <p:nvSpPr>
          <p:cNvPr id="93" name="packed-page-label-1-3">
            <a:extLst>
              <a:ext uri="{FF2B5EF4-FFF2-40B4-BE49-F238E27FC236}">
                <a16:creationId xmlns:a16="http://schemas.microsoft.com/office/drawing/2014/main" id="{BF9E9CCA-AFAE-455C-957A-1DABAAB50FEF}"/>
              </a:ext>
            </a:extLst>
          </p:cNvPr>
          <p:cNvSpPr>
            <a:spLocks noGrp="1"/>
          </p:cNvSpPr>
          <p:nvPr/>
        </p:nvSpPr>
        <p:spPr>
          <a:xfrm>
            <a:off x="5133975" y="5876925"/>
            <a:ext cx="666750" cy="276225"/>
          </a:xfrm>
          <a:prstGeom prst="rect">
            <a:avLst/>
          </a:prstGeom>
          <a:noFill/>
          <a:ln w="0">
            <a:noFill/>
          </a:ln>
        </p:spPr>
        <p:txBody>
          <a:bodyPr wrap="square" lIns="0" tIns="0" rIns="0" bIns="0" anchor="t">
            <a:noAutofit/>
          </a:bodyPr>
          <a:lstStyle>
            <a:defPPr>
              <a:defRPr sz="1725" b="1">
                <a:solidFill>
                  <a:srgbClr val="126DCA"/>
                </a:solidFill>
                <a:latin typeface="Apple SD Gothic Neo"/>
                <a:ea typeface="Apple SD Gothic Neo"/>
                <a:cs typeface="Apple SD Gothic Neo"/>
              </a:defRPr>
            </a:defPPr>
          </a:lstStyle>
          <a:p>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L3</a:t>
            </a:r>
          </a:p>
        </p:txBody>
      </p:sp>
      <p:sp>
        <p:nvSpPr>
          <p:cNvPr id="94" name="plane-address-heading">
            <a:extLst>
              <a:ext uri="{FF2B5EF4-FFF2-40B4-BE49-F238E27FC236}">
                <a16:creationId xmlns:a16="http://schemas.microsoft.com/office/drawing/2014/main" id="{11F03BE5-1D88-4233-89CE-C45D8C9643F9}"/>
              </a:ext>
            </a:extLst>
          </p:cNvPr>
          <p:cNvSpPr>
            <a:spLocks noGrp="1"/>
          </p:cNvSpPr>
          <p:nvPr/>
        </p:nvSpPr>
        <p:spPr>
          <a:xfrm>
            <a:off x="6572250" y="4867275"/>
            <a:ext cx="5038725" cy="323850"/>
          </a:xfrm>
          <a:prstGeom prst="rect">
            <a:avLst/>
          </a:prstGeom>
          <a:noFill/>
          <a:ln w="0">
            <a:noFill/>
          </a:ln>
        </p:spPr>
        <p:txBody>
          <a:bodyPr wrap="square" lIns="0" tIns="0" rIns="0" bIns="0" anchor="t">
            <a:noAutofit/>
          </a:bodyPr>
          <a:lstStyle>
            <a:defPPr>
              <a:defRPr sz="1800" b="1">
                <a:solidFill>
                  <a:srgbClr val="172738"/>
                </a:solidFill>
                <a:latin typeface="Apple SD Gothic Neo"/>
                <a:ea typeface="Apple SD Gothic Neo"/>
                <a:cs typeface="Apple SD Gothic Neo"/>
              </a:defRPr>
            </a:defPPr>
          </a:lstStyle>
          <a:p>
            <a:pPr>
              <a:defRPr sz="1800" b="1">
                <a:solidFill>
                  <a:srgbClr val="172738"/>
                </a:solidFill>
                <a:latin typeface="Apple SD Gothic Neo"/>
                <a:ea typeface="Apple SD Gothic Neo"/>
                <a:cs typeface="Apple SD Gothic Neo"/>
              </a:defRPr>
            </a:pPr>
            <a:r>
              <a:rPr sz="1800" b="1">
                <a:solidFill>
                  <a:srgbClr val="172738"/>
                </a:solidFill>
                <a:latin typeface="Apple SD Gothic Neo"/>
                <a:ea typeface="Apple SD Gothic Neo"/>
                <a:cs typeface="Apple SD Gothic Neo"/>
              </a:rPr>
              <a:t>Plane 내부의 주소 계층</a:t>
            </a:r>
          </a:p>
        </p:txBody>
      </p:sp>
      <p:sp>
        <p:nvSpPr>
          <p:cNvPr id="95" name="plane-hierarchy-0">
            <a:extLst>
              <a:ext uri="{FF2B5EF4-FFF2-40B4-BE49-F238E27FC236}">
                <a16:creationId xmlns:a16="http://schemas.microsoft.com/office/drawing/2014/main" id="{D7E5247D-D770-49B0-B038-BCB1F895936E}"/>
              </a:ext>
            </a:extLst>
          </p:cNvPr>
          <p:cNvSpPr>
            <a:spLocks noGrp="1"/>
          </p:cNvSpPr>
          <p:nvPr/>
        </p:nvSpPr>
        <p:spPr>
          <a:xfrm>
            <a:off x="6572250" y="5219700"/>
            <a:ext cx="800100" cy="581025"/>
          </a:xfrm>
          <a:prstGeom prst="rect">
            <a:avLst/>
          </a:prstGeom>
          <a:solidFill>
            <a:srgbClr val="F1F5F8"/>
          </a:solidFill>
          <a:ln w="14288">
            <a:solidFill>
              <a:srgbClr val="9AA9B5"/>
            </a:solidFill>
            <a:prstDash val="solid"/>
          </a:ln>
        </p:spPr>
        <p:txBody>
          <a:bodyPr/>
          <a:lstStyle/>
          <a:p>
            <a:endParaRPr lang="ko-KR" altLang="en-US"/>
          </a:p>
        </p:txBody>
      </p:sp>
      <p:sp>
        <p:nvSpPr>
          <p:cNvPr id="96" name="plane-hierarchy-label-0">
            <a:extLst>
              <a:ext uri="{FF2B5EF4-FFF2-40B4-BE49-F238E27FC236}">
                <a16:creationId xmlns:a16="http://schemas.microsoft.com/office/drawing/2014/main" id="{CEDCE6CC-A69A-478A-B60D-1636A1FD9610}"/>
              </a:ext>
            </a:extLst>
          </p:cNvPr>
          <p:cNvSpPr>
            <a:spLocks noGrp="1"/>
          </p:cNvSpPr>
          <p:nvPr/>
        </p:nvSpPr>
        <p:spPr>
          <a:xfrm>
            <a:off x="6648450" y="5400675"/>
            <a:ext cx="67627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Group</a:t>
            </a:r>
          </a:p>
        </p:txBody>
      </p:sp>
      <p:cxnSp>
        <p:nvCxnSpPr>
          <p:cNvPr id="97" name="plane-hierarchy-link-0">
            <a:extLst>
              <a:ext uri="{FF2B5EF4-FFF2-40B4-BE49-F238E27FC236}">
                <a16:creationId xmlns:a16="http://schemas.microsoft.com/office/drawing/2014/main" id="{9EF55857-F6D8-478C-B46D-9ACBA4BF4C31}"/>
              </a:ext>
            </a:extLst>
          </p:cNvPr>
          <p:cNvCxnSpPr/>
          <p:nvPr/>
        </p:nvCxnSpPr>
        <p:spPr>
          <a:xfrm>
            <a:off x="7372350" y="5514975"/>
            <a:ext cx="161925" cy="0"/>
          </a:xfrm>
          <a:prstGeom prst="straightConnector1">
            <a:avLst/>
          </a:prstGeom>
          <a:ln w="19050">
            <a:solidFill>
              <a:srgbClr val="9AA9B5"/>
            </a:solidFill>
            <a:prstDash val="solid"/>
            <a:tailEnd type="triangle" w="med" len="med"/>
          </a:ln>
        </p:spPr>
      </p:cxnSp>
      <p:sp>
        <p:nvSpPr>
          <p:cNvPr id="98" name="plane-hierarchy-1">
            <a:extLst>
              <a:ext uri="{FF2B5EF4-FFF2-40B4-BE49-F238E27FC236}">
                <a16:creationId xmlns:a16="http://schemas.microsoft.com/office/drawing/2014/main" id="{5D832858-AB2B-4C3A-B4B1-B7D89EFB2C11}"/>
              </a:ext>
            </a:extLst>
          </p:cNvPr>
          <p:cNvSpPr>
            <a:spLocks noGrp="1"/>
          </p:cNvSpPr>
          <p:nvPr/>
        </p:nvSpPr>
        <p:spPr>
          <a:xfrm>
            <a:off x="7534275" y="5219700"/>
            <a:ext cx="819150" cy="581025"/>
          </a:xfrm>
          <a:prstGeom prst="rect">
            <a:avLst/>
          </a:prstGeom>
          <a:solidFill>
            <a:srgbClr val="F1F5F8"/>
          </a:solidFill>
          <a:ln w="14288">
            <a:solidFill>
              <a:srgbClr val="9AA9B5"/>
            </a:solidFill>
            <a:prstDash val="solid"/>
          </a:ln>
        </p:spPr>
        <p:txBody>
          <a:bodyPr/>
          <a:lstStyle/>
          <a:p>
            <a:endParaRPr lang="ko-KR" altLang="en-US"/>
          </a:p>
        </p:txBody>
      </p:sp>
      <p:sp>
        <p:nvSpPr>
          <p:cNvPr id="99" name="plane-hierarchy-label-1">
            <a:extLst>
              <a:ext uri="{FF2B5EF4-FFF2-40B4-BE49-F238E27FC236}">
                <a16:creationId xmlns:a16="http://schemas.microsoft.com/office/drawing/2014/main" id="{9F47B9F0-7BB6-4C89-A2C3-2FCD945E940F}"/>
              </a:ext>
            </a:extLst>
          </p:cNvPr>
          <p:cNvSpPr>
            <a:spLocks noGrp="1"/>
          </p:cNvSpPr>
          <p:nvPr/>
        </p:nvSpPr>
        <p:spPr>
          <a:xfrm>
            <a:off x="7610475" y="5267325"/>
            <a:ext cx="69532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Block</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2개</a:t>
            </a:r>
          </a:p>
        </p:txBody>
      </p:sp>
      <p:cxnSp>
        <p:nvCxnSpPr>
          <p:cNvPr id="100" name="plane-hierarchy-link-1">
            <a:extLst>
              <a:ext uri="{FF2B5EF4-FFF2-40B4-BE49-F238E27FC236}">
                <a16:creationId xmlns:a16="http://schemas.microsoft.com/office/drawing/2014/main" id="{3F807A1C-3C24-4551-B245-32A9204BB9EB}"/>
              </a:ext>
            </a:extLst>
          </p:cNvPr>
          <p:cNvCxnSpPr/>
          <p:nvPr/>
        </p:nvCxnSpPr>
        <p:spPr>
          <a:xfrm>
            <a:off x="8353425" y="5514975"/>
            <a:ext cx="161925" cy="0"/>
          </a:xfrm>
          <a:prstGeom prst="straightConnector1">
            <a:avLst/>
          </a:prstGeom>
          <a:ln w="19050">
            <a:solidFill>
              <a:srgbClr val="9AA9B5"/>
            </a:solidFill>
            <a:prstDash val="solid"/>
            <a:tailEnd type="triangle" w="med" len="med"/>
          </a:ln>
        </p:spPr>
      </p:cxnSp>
      <p:sp>
        <p:nvSpPr>
          <p:cNvPr id="101" name="plane-hierarchy-2">
            <a:extLst>
              <a:ext uri="{FF2B5EF4-FFF2-40B4-BE49-F238E27FC236}">
                <a16:creationId xmlns:a16="http://schemas.microsoft.com/office/drawing/2014/main" id="{D9C4FCEB-59C0-457C-A7C8-73B3221A2CB9}"/>
              </a:ext>
            </a:extLst>
          </p:cNvPr>
          <p:cNvSpPr>
            <a:spLocks noGrp="1"/>
          </p:cNvSpPr>
          <p:nvPr/>
        </p:nvSpPr>
        <p:spPr>
          <a:xfrm>
            <a:off x="8515350" y="5219700"/>
            <a:ext cx="819150" cy="581025"/>
          </a:xfrm>
          <a:prstGeom prst="rect">
            <a:avLst/>
          </a:prstGeom>
          <a:solidFill>
            <a:srgbClr val="F1F5F8"/>
          </a:solidFill>
          <a:ln w="14288">
            <a:solidFill>
              <a:srgbClr val="9AA9B5"/>
            </a:solidFill>
            <a:prstDash val="solid"/>
          </a:ln>
        </p:spPr>
        <p:txBody>
          <a:bodyPr/>
          <a:lstStyle/>
          <a:p>
            <a:endParaRPr lang="ko-KR" altLang="en-US"/>
          </a:p>
        </p:txBody>
      </p:sp>
      <p:sp>
        <p:nvSpPr>
          <p:cNvPr id="102" name="plane-hierarchy-label-2">
            <a:extLst>
              <a:ext uri="{FF2B5EF4-FFF2-40B4-BE49-F238E27FC236}">
                <a16:creationId xmlns:a16="http://schemas.microsoft.com/office/drawing/2014/main" id="{ADC52859-C43E-40FE-ADF2-73E6555DB139}"/>
              </a:ext>
            </a:extLst>
          </p:cNvPr>
          <p:cNvSpPr>
            <a:spLocks noGrp="1"/>
          </p:cNvSpPr>
          <p:nvPr/>
        </p:nvSpPr>
        <p:spPr>
          <a:xfrm>
            <a:off x="8591550" y="5267325"/>
            <a:ext cx="69532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WL</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421개</a:t>
            </a:r>
          </a:p>
        </p:txBody>
      </p:sp>
      <p:cxnSp>
        <p:nvCxnSpPr>
          <p:cNvPr id="103" name="plane-hierarchy-link-2">
            <a:extLst>
              <a:ext uri="{FF2B5EF4-FFF2-40B4-BE49-F238E27FC236}">
                <a16:creationId xmlns:a16="http://schemas.microsoft.com/office/drawing/2014/main" id="{3800BE22-C7BA-4D1F-B2FB-ACB5380C041C}"/>
              </a:ext>
            </a:extLst>
          </p:cNvPr>
          <p:cNvCxnSpPr/>
          <p:nvPr/>
        </p:nvCxnSpPr>
        <p:spPr>
          <a:xfrm>
            <a:off x="9334500" y="5514975"/>
            <a:ext cx="161925" cy="0"/>
          </a:xfrm>
          <a:prstGeom prst="straightConnector1">
            <a:avLst/>
          </a:prstGeom>
          <a:ln w="19050">
            <a:solidFill>
              <a:srgbClr val="9AA9B5"/>
            </a:solidFill>
            <a:prstDash val="solid"/>
            <a:tailEnd type="triangle" w="med" len="med"/>
          </a:ln>
        </p:spPr>
      </p:cxnSp>
      <p:sp>
        <p:nvSpPr>
          <p:cNvPr id="104" name="plane-hierarchy-3">
            <a:extLst>
              <a:ext uri="{FF2B5EF4-FFF2-40B4-BE49-F238E27FC236}">
                <a16:creationId xmlns:a16="http://schemas.microsoft.com/office/drawing/2014/main" id="{9380E747-08DB-4D7C-AC13-BCAADA2FF85F}"/>
              </a:ext>
            </a:extLst>
          </p:cNvPr>
          <p:cNvSpPr>
            <a:spLocks noGrp="1"/>
          </p:cNvSpPr>
          <p:nvPr/>
        </p:nvSpPr>
        <p:spPr>
          <a:xfrm>
            <a:off x="9496425" y="5219700"/>
            <a:ext cx="800100" cy="581025"/>
          </a:xfrm>
          <a:prstGeom prst="rect">
            <a:avLst/>
          </a:prstGeom>
          <a:solidFill>
            <a:srgbClr val="F1F5F8"/>
          </a:solidFill>
          <a:ln w="14288">
            <a:solidFill>
              <a:srgbClr val="9AA9B5"/>
            </a:solidFill>
            <a:prstDash val="solid"/>
          </a:ln>
        </p:spPr>
        <p:txBody>
          <a:bodyPr/>
          <a:lstStyle/>
          <a:p>
            <a:endParaRPr lang="ko-KR" altLang="en-US"/>
          </a:p>
        </p:txBody>
      </p:sp>
      <p:sp>
        <p:nvSpPr>
          <p:cNvPr id="105" name="plane-hierarchy-label-3">
            <a:extLst>
              <a:ext uri="{FF2B5EF4-FFF2-40B4-BE49-F238E27FC236}">
                <a16:creationId xmlns:a16="http://schemas.microsoft.com/office/drawing/2014/main" id="{5208338C-C163-45F4-BBDC-36435990AECC}"/>
              </a:ext>
            </a:extLst>
          </p:cNvPr>
          <p:cNvSpPr>
            <a:spLocks noGrp="1"/>
          </p:cNvSpPr>
          <p:nvPr/>
        </p:nvSpPr>
        <p:spPr>
          <a:xfrm>
            <a:off x="9572625" y="5267325"/>
            <a:ext cx="67627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SSL</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6개</a:t>
            </a:r>
          </a:p>
        </p:txBody>
      </p:sp>
      <p:cxnSp>
        <p:nvCxnSpPr>
          <p:cNvPr id="106" name="plane-hierarchy-link-3">
            <a:extLst>
              <a:ext uri="{FF2B5EF4-FFF2-40B4-BE49-F238E27FC236}">
                <a16:creationId xmlns:a16="http://schemas.microsoft.com/office/drawing/2014/main" id="{BB803E86-1CFF-4905-88F2-CDAFECD6D0CE}"/>
              </a:ext>
            </a:extLst>
          </p:cNvPr>
          <p:cNvCxnSpPr/>
          <p:nvPr/>
        </p:nvCxnSpPr>
        <p:spPr>
          <a:xfrm>
            <a:off x="10296525" y="5514975"/>
            <a:ext cx="161925" cy="0"/>
          </a:xfrm>
          <a:prstGeom prst="straightConnector1">
            <a:avLst/>
          </a:prstGeom>
          <a:ln w="19050">
            <a:solidFill>
              <a:srgbClr val="9AA9B5"/>
            </a:solidFill>
            <a:prstDash val="solid"/>
            <a:tailEnd type="triangle" w="med" len="med"/>
          </a:ln>
        </p:spPr>
      </p:cxnSp>
      <p:sp>
        <p:nvSpPr>
          <p:cNvPr id="107" name="plane-hierarchy-4">
            <a:extLst>
              <a:ext uri="{FF2B5EF4-FFF2-40B4-BE49-F238E27FC236}">
                <a16:creationId xmlns:a16="http://schemas.microsoft.com/office/drawing/2014/main" id="{9730EEEE-5A9F-40D0-B08B-C31CBDA505A1}"/>
              </a:ext>
            </a:extLst>
          </p:cNvPr>
          <p:cNvSpPr>
            <a:spLocks noGrp="1"/>
          </p:cNvSpPr>
          <p:nvPr/>
        </p:nvSpPr>
        <p:spPr>
          <a:xfrm>
            <a:off x="10458450" y="5219700"/>
            <a:ext cx="1085850" cy="581025"/>
          </a:xfrm>
          <a:prstGeom prst="rect">
            <a:avLst/>
          </a:prstGeom>
          <a:solidFill>
            <a:srgbClr val="F1F5F8"/>
          </a:solidFill>
          <a:ln w="14288">
            <a:solidFill>
              <a:srgbClr val="9AA9B5"/>
            </a:solidFill>
            <a:prstDash val="solid"/>
          </a:ln>
        </p:spPr>
        <p:txBody>
          <a:bodyPr/>
          <a:lstStyle/>
          <a:p>
            <a:endParaRPr lang="ko-KR" altLang="en-US"/>
          </a:p>
        </p:txBody>
      </p:sp>
      <p:sp>
        <p:nvSpPr>
          <p:cNvPr id="108" name="plane-hierarchy-label-4">
            <a:extLst>
              <a:ext uri="{FF2B5EF4-FFF2-40B4-BE49-F238E27FC236}">
                <a16:creationId xmlns:a16="http://schemas.microsoft.com/office/drawing/2014/main" id="{C9CD6C0E-EDBC-494D-98E6-731048719963}"/>
              </a:ext>
            </a:extLst>
          </p:cNvPr>
          <p:cNvSpPr>
            <a:spLocks noGrp="1"/>
          </p:cNvSpPr>
          <p:nvPr/>
        </p:nvSpPr>
        <p:spPr>
          <a:xfrm>
            <a:off x="10534650" y="5267325"/>
            <a:ext cx="962025" cy="514350"/>
          </a:xfrm>
          <a:prstGeom prst="rect">
            <a:avLst/>
          </a:prstGeom>
          <a:noFill/>
          <a:ln w="0">
            <a:noFill/>
          </a:ln>
        </p:spPr>
        <p:txBody>
          <a:bodyPr wrap="square" lIns="0" tIns="0" rIns="0" bIns="0" anchor="t">
            <a:noAutofit/>
          </a:bodyPr>
          <a:lstStyle>
            <a:defPPr>
              <a:defRPr sz="1575" b="1">
                <a:solidFill>
                  <a:srgbClr val="172738"/>
                </a:solidFill>
                <a:latin typeface="Apple SD Gothic Neo"/>
                <a:ea typeface="Apple SD Gothic Neo"/>
                <a:cs typeface="Apple SD Gothic Neo"/>
              </a:defRPr>
            </a:defPPr>
          </a:lstStyle>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Page</a:t>
            </a:r>
          </a:p>
          <a:p>
            <a:pPr>
              <a:defRPr sz="1575" b="1">
                <a:solidFill>
                  <a:srgbClr val="172738"/>
                </a:solidFill>
                <a:latin typeface="Apple SD Gothic Neo"/>
                <a:ea typeface="Apple SD Gothic Neo"/>
                <a:cs typeface="Apple SD Gothic Neo"/>
              </a:defRPr>
            </a:pPr>
            <a:r>
              <a:rPr sz="1575" b="1">
                <a:solidFill>
                  <a:srgbClr val="172738"/>
                </a:solidFill>
                <a:latin typeface="Apple SD Gothic Neo"/>
                <a:ea typeface="Apple SD Gothic Neo"/>
                <a:cs typeface="Apple SD Gothic Neo"/>
              </a:rPr>
              <a:t>E/O 2개</a:t>
            </a:r>
          </a:p>
        </p:txBody>
      </p:sp>
      <p:sp>
        <p:nvSpPr>
          <p:cNvPr id="109" name="selected-physical-page">
            <a:extLst>
              <a:ext uri="{FF2B5EF4-FFF2-40B4-BE49-F238E27FC236}">
                <a16:creationId xmlns:a16="http://schemas.microsoft.com/office/drawing/2014/main" id="{8D2C603A-CA93-4183-8047-1A79B8E4F640}"/>
              </a:ext>
            </a:extLst>
          </p:cNvPr>
          <p:cNvSpPr>
            <a:spLocks noGrp="1"/>
          </p:cNvSpPr>
          <p:nvPr/>
        </p:nvSpPr>
        <p:spPr>
          <a:xfrm>
            <a:off x="6572250" y="5972175"/>
            <a:ext cx="2800350" cy="276225"/>
          </a:xfrm>
          <a:prstGeom prst="rect">
            <a:avLst/>
          </a:prstGeom>
          <a:noFill/>
          <a:ln w="0">
            <a:noFill/>
          </a:ln>
        </p:spPr>
        <p:txBody>
          <a:bodyPr wrap="square" lIns="0" tIns="0" rIns="0" bIns="0" anchor="t">
            <a:noAutofit/>
          </a:bodyPr>
          <a:lstStyle>
            <a:defPPr>
              <a:defRPr sz="1725" b="0">
                <a:solidFill>
                  <a:srgbClr val="008B82"/>
                </a:solidFill>
                <a:latin typeface="Apple SD Gothic Neo"/>
                <a:ea typeface="Apple SD Gothic Neo"/>
                <a:cs typeface="Apple SD Gothic Neo"/>
              </a:defRPr>
            </a:defPPr>
          </a:lstStyle>
          <a:p>
            <a:pPr>
              <a:defRPr sz="1725" b="0">
                <a:solidFill>
                  <a:srgbClr val="008B82"/>
                </a:solidFill>
                <a:latin typeface="Apple SD Gothic Neo"/>
                <a:ea typeface="Apple SD Gothic Neo"/>
                <a:cs typeface="Apple SD Gothic Neo"/>
              </a:defRPr>
            </a:pPr>
            <a:r>
              <a:rPr sz="1725" b="0">
                <a:solidFill>
                  <a:srgbClr val="008B82"/>
                </a:solidFill>
                <a:latin typeface="Apple SD Gothic Neo"/>
                <a:ea typeface="Apple SD Gothic Neo"/>
                <a:cs typeface="Apple SD Gothic Neo"/>
              </a:rPr>
              <a:t>선택된 Page 16KiB</a:t>
            </a:r>
          </a:p>
        </p:txBody>
      </p:sp>
      <p:sp>
        <p:nvSpPr>
          <p:cNvPr id="110" name="one-page-buffer-per-plane">
            <a:extLst>
              <a:ext uri="{FF2B5EF4-FFF2-40B4-BE49-F238E27FC236}">
                <a16:creationId xmlns:a16="http://schemas.microsoft.com/office/drawing/2014/main" id="{4026EB1C-D9F5-41EF-BE28-C70007577D13}"/>
              </a:ext>
            </a:extLst>
          </p:cNvPr>
          <p:cNvSpPr>
            <a:spLocks noGrp="1"/>
          </p:cNvSpPr>
          <p:nvPr/>
        </p:nvSpPr>
        <p:spPr>
          <a:xfrm>
            <a:off x="9553575" y="5934075"/>
            <a:ext cx="1990725" cy="314325"/>
          </a:xfrm>
          <a:prstGeom prst="rect">
            <a:avLst/>
          </a:prstGeom>
          <a:solidFill>
            <a:srgbClr val="E9F5F2"/>
          </a:solidFill>
          <a:ln w="14288">
            <a:solidFill>
              <a:srgbClr val="008B82"/>
            </a:solidFill>
            <a:prstDash val="solid"/>
          </a:ln>
        </p:spPr>
        <p:txBody>
          <a:bodyPr/>
          <a:lstStyle/>
          <a:p>
            <a:endParaRPr lang="ko-KR" altLang="en-US"/>
          </a:p>
        </p:txBody>
      </p:sp>
      <p:sp>
        <p:nvSpPr>
          <p:cNvPr id="111" name="page-buffer-count">
            <a:extLst>
              <a:ext uri="{FF2B5EF4-FFF2-40B4-BE49-F238E27FC236}">
                <a16:creationId xmlns:a16="http://schemas.microsoft.com/office/drawing/2014/main" id="{A6624CBB-0202-4458-BDBF-E042CCB9390B}"/>
              </a:ext>
            </a:extLst>
          </p:cNvPr>
          <p:cNvSpPr>
            <a:spLocks noGrp="1"/>
          </p:cNvSpPr>
          <p:nvPr/>
        </p:nvSpPr>
        <p:spPr>
          <a:xfrm>
            <a:off x="9677400" y="5972175"/>
            <a:ext cx="1828800" cy="257175"/>
          </a:xfrm>
          <a:prstGeom prst="rect">
            <a:avLst/>
          </a:prstGeom>
          <a:noFill/>
          <a:ln w="0">
            <a:noFill/>
          </a:ln>
        </p:spPr>
        <p:txBody>
          <a:bodyPr wrap="square" lIns="0" tIns="0" rIns="0" bIns="0" anchor="t">
            <a:noAutofit/>
          </a:bodyPr>
          <a:lstStyle>
            <a:defPPr>
              <a:defRPr sz="1650" b="1">
                <a:solidFill>
                  <a:srgbClr val="008B82"/>
                </a:solidFill>
                <a:latin typeface="Apple SD Gothic Neo"/>
                <a:ea typeface="Apple SD Gothic Neo"/>
                <a:cs typeface="Apple SD Gothic Neo"/>
              </a:defRPr>
            </a:defPPr>
          </a:lstStyle>
          <a:p>
            <a:pPr>
              <a:defRPr sz="1650" b="1">
                <a:solidFill>
                  <a:srgbClr val="008B82"/>
                </a:solidFill>
                <a:latin typeface="Apple SD Gothic Neo"/>
                <a:ea typeface="Apple SD Gothic Neo"/>
                <a:cs typeface="Apple SD Gothic Neo"/>
              </a:defRPr>
            </a:pPr>
            <a:r>
              <a:rPr sz="1650" b="1">
                <a:solidFill>
                  <a:srgbClr val="008B82"/>
                </a:solidFill>
                <a:latin typeface="Apple SD Gothic Neo"/>
                <a:ea typeface="Apple SD Gothic Neo"/>
                <a:cs typeface="Apple SD Gothic Neo"/>
              </a:rPr>
              <a:t>page buffer × 1</a:t>
            </a:r>
          </a:p>
        </p:txBody>
      </p:sp>
      <p:cxnSp>
        <p:nvCxnSpPr>
          <p:cNvPr id="112" name="page-sensing-to-buffer">
            <a:extLst>
              <a:ext uri="{FF2B5EF4-FFF2-40B4-BE49-F238E27FC236}">
                <a16:creationId xmlns:a16="http://schemas.microsoft.com/office/drawing/2014/main" id="{AE7FA66F-B272-4280-86FA-3AC5E2E2EBB4}"/>
              </a:ext>
            </a:extLst>
          </p:cNvPr>
          <p:cNvCxnSpPr/>
          <p:nvPr/>
        </p:nvCxnSpPr>
        <p:spPr>
          <a:xfrm>
            <a:off x="11001375" y="5800725"/>
            <a:ext cx="0" cy="133350"/>
          </a:xfrm>
          <a:prstGeom prst="straightConnector1">
            <a:avLst/>
          </a:prstGeom>
          <a:ln w="19050">
            <a:solidFill>
              <a:srgbClr val="008B82"/>
            </a:solidFill>
            <a:prstDash val="solid"/>
            <a:tailEnd type="triangle" w="med" len="med"/>
          </a:ln>
        </p:spPr>
      </p:cxnSp>
    </p:spTree>
    <p:extLst>
      <p:ext uri="{BB962C8B-B14F-4D97-AF65-F5344CB8AC3E}">
        <p14:creationId xmlns:p14="http://schemas.microsoft.com/office/powerpoint/2010/main" val="54875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729097A4-AC5E-4224-BB20-6A7B6FC7705A}"/>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전체 구조와 데이터 흐름</a:t>
            </a:r>
          </a:p>
        </p:txBody>
      </p:sp>
      <p:sp>
        <p:nvSpPr>
          <p:cNvPr id="2" name="subtitle">
            <a:extLst>
              <a:ext uri="{FF2B5EF4-FFF2-40B4-BE49-F238E27FC236}">
                <a16:creationId xmlns:a16="http://schemas.microsoft.com/office/drawing/2014/main" id="{4043A0BB-BFCB-4C36-83BB-52E9DE78234A}"/>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4개의 독립 Port가 4채널 전체를 공유하며, 읽기 주소가 Channel과 Plane을 결정합니다.</a:t>
            </a:r>
          </a:p>
        </p:txBody>
      </p:sp>
      <p:sp>
        <p:nvSpPr>
          <p:cNvPr id="3" name="footer">
            <a:extLst>
              <a:ext uri="{FF2B5EF4-FFF2-40B4-BE49-F238E27FC236}">
                <a16:creationId xmlns:a16="http://schemas.microsoft.com/office/drawing/2014/main" id="{AC587C56-C286-4CD2-91B2-7865CC039870}"/>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성능 개선 핵심 3가지    2026-10-11    현재 대표 실행 기준: 총 64 Plane, PF OFF</a:t>
            </a:r>
          </a:p>
        </p:txBody>
      </p:sp>
      <p:sp>
        <p:nvSpPr>
          <p:cNvPr id="4" name="page">
            <a:extLst>
              <a:ext uri="{FF2B5EF4-FFF2-40B4-BE49-F238E27FC236}">
                <a16:creationId xmlns:a16="http://schemas.microsoft.com/office/drawing/2014/main" id="{DA3751D0-F74B-4D6D-A806-1D764B1B3887}"/>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04</a:t>
            </a:r>
          </a:p>
        </p:txBody>
      </p:sp>
      <p:graphicFrame>
        <p:nvGraphicFramePr>
          <p:cNvPr id="5" name="model-architecture">
            <a:extLst>
              <a:ext uri="{FF2B5EF4-FFF2-40B4-BE49-F238E27FC236}">
                <a16:creationId xmlns:a16="http://schemas.microsoft.com/office/drawing/2014/main" id="{8DAD22BC-A2BB-4A30-BA4E-F830E09C7912}"/>
              </a:ext>
            </a:extLst>
          </p:cNvPr>
          <p:cNvGraphicFramePr/>
          <p:nvPr/>
        </p:nvGraphicFramePr>
        <p:xfrm>
          <a:off x="533400" y="1752600"/>
          <a:ext cx="11125200" cy="4276725"/>
        </p:xfrm>
        <a:graphic>
          <a:graphicData uri="http://schemas.openxmlformats.org/drawingml/2006/table">
            <a:tbl>
              <a:tblPr/>
              <a:tblGrid>
                <a:gridCol w="2171700">
                  <a:extLst>
                    <a:ext uri="{9D8B030D-6E8A-4147-A177-3AD203B41FA5}">
                      <a16:colId xmlns:a16="http://schemas.microsoft.com/office/drawing/2014/main" val="20000"/>
                    </a:ext>
                  </a:extLst>
                </a:gridCol>
                <a:gridCol w="537210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695325">
                <a:tc>
                  <a:txBody>
                    <a:bodyPr/>
                    <a:lstStyle/>
                    <a:p>
                      <a:r>
                        <a:rPr sz="1725" b="1">
                          <a:solidFill>
                            <a:srgbClr val="FFFFFF"/>
                          </a:solidFill>
                          <a:latin typeface="Apple SD Gothic Neo"/>
                          <a:ea typeface="Apple SD Gothic Neo"/>
                          <a:cs typeface="Apple SD Gothic Neo"/>
                        </a:rPr>
                        <a:t>처리 구간</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주요 동작</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자원과 순서 규칙</a:t>
                      </a:r>
                    </a:p>
                  </a:txBody>
                  <a:tcPr marL="133350" marR="133350" marT="95250" marB="95250" anchor="ctr">
                    <a:solidFill>
                      <a:srgbClr val="122C40"/>
                    </a:solidFill>
                  </a:tcPr>
                </a:tc>
                <a:extLst>
                  <a:ext uri="{0D108BD9-81ED-4DB2-BD59-A6C34878D82A}">
                    <a16:rowId xmlns:a16="http://schemas.microsoft.com/office/drawing/2014/main" val="10000"/>
                  </a:ext>
                </a:extLst>
              </a:tr>
              <a:tr h="695325">
                <a:tc>
                  <a:txBody>
                    <a:bodyPr/>
                    <a:lstStyle/>
                    <a:p>
                      <a:r>
                        <a:rPr sz="1725" b="0">
                          <a:solidFill>
                            <a:srgbClr val="172738"/>
                          </a:solidFill>
                          <a:latin typeface="Apple SD Gothic Neo"/>
                          <a:ea typeface="Apple SD Gothic Neo"/>
                          <a:cs typeface="Apple SD Gothic Neo"/>
                        </a:rPr>
                        <a:t>1. Host IF</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 0–3에서 독립적으로 읽기 요청</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Port당 64GB/s</a:t>
                      </a:r>
                    </a:p>
                    <a:p>
                      <a:r>
                        <a:rPr sz="1725" b="0">
                          <a:solidFill>
                            <a:srgbClr val="172738"/>
                          </a:solidFill>
                          <a:latin typeface="Apple SD Gothic Neo"/>
                          <a:ea typeface="Apple SD Gothic Neo"/>
                          <a:cs typeface="Apple SD Gothic Neo"/>
                        </a:rPr>
                        <a:t>합계 256GB/s</a:t>
                      </a:r>
                    </a:p>
                  </a:txBody>
                  <a:tcPr marL="133350" marR="133350" marT="95250" marB="95250" anchor="ctr">
                    <a:solidFill>
                      <a:srgbClr val="FFFFFF"/>
                    </a:solidFill>
                  </a:tcPr>
                </a:tc>
                <a:extLst>
                  <a:ext uri="{0D108BD9-81ED-4DB2-BD59-A6C34878D82A}">
                    <a16:rowId xmlns:a16="http://schemas.microsoft.com/office/drawing/2014/main" val="10001"/>
                  </a:ext>
                </a:extLst>
              </a:tr>
              <a:tr h="695325">
                <a:tc>
                  <a:txBody>
                    <a:bodyPr/>
                    <a:lstStyle/>
                    <a:p>
                      <a:r>
                        <a:rPr sz="1725" b="0">
                          <a:solidFill>
                            <a:srgbClr val="172738"/>
                          </a:solidFill>
                          <a:latin typeface="Apple SD Gothic Neo"/>
                          <a:ea typeface="Apple SD Gothic Neo"/>
                          <a:cs typeface="Apple SD Gothic Neo"/>
                        </a:rPr>
                        <a:t>2. Controller 수락</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Port별 QD 확인, 공유 버퍼 예약</a:t>
                      </a:r>
                    </a:p>
                    <a:p>
                      <a:r>
                        <a:rPr sz="1725" b="0">
                          <a:solidFill>
                            <a:srgbClr val="172738"/>
                          </a:solidFill>
                          <a:latin typeface="Apple SD Gothic Neo"/>
                          <a:ea typeface="Apple SD Gothic Neo"/>
                          <a:cs typeface="Apple SD Gothic Neo"/>
                        </a:rPr>
                        <a:t>L2P 조회로 물리 주소 확인</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대표 설정: 8MiB</a:t>
                      </a:r>
                    </a:p>
                    <a:p>
                      <a:r>
                        <a:rPr sz="1725" b="0">
                          <a:solidFill>
                            <a:srgbClr val="172738"/>
                          </a:solidFill>
                          <a:latin typeface="Apple SD Gothic Neo"/>
                          <a:ea typeface="Apple SD Gothic Neo"/>
                          <a:cs typeface="Apple SD Gothic Neo"/>
                        </a:rPr>
                        <a:t>QD 512/Port</a:t>
                      </a:r>
                    </a:p>
                  </a:txBody>
                  <a:tcPr marL="133350" marR="133350" marT="95250" marB="95250" anchor="ctr">
                    <a:solidFill>
                      <a:srgbClr val="F1F5F8"/>
                    </a:solidFill>
                  </a:tcPr>
                </a:tc>
                <a:extLst>
                  <a:ext uri="{0D108BD9-81ED-4DB2-BD59-A6C34878D82A}">
                    <a16:rowId xmlns:a16="http://schemas.microsoft.com/office/drawing/2014/main" val="10002"/>
                  </a:ext>
                </a:extLst>
              </a:tr>
              <a:tr h="695325">
                <a:tc>
                  <a:txBody>
                    <a:bodyPr/>
                    <a:lstStyle/>
                    <a:p>
                      <a:r>
                        <a:rPr sz="1725" b="0">
                          <a:solidFill>
                            <a:srgbClr val="172738"/>
                          </a:solidFill>
                          <a:latin typeface="Apple SD Gothic Neo"/>
                          <a:ea typeface="Apple SD Gothic Neo"/>
                          <a:cs typeface="Apple SD Gothic Neo"/>
                        </a:rPr>
                        <a:t>3. CA 스케줄링</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발행 가능한 물리 페이지의 처리 순서 선택</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연속 주소 우선</a:t>
                      </a:r>
                    </a:p>
                    <a:p>
                      <a:r>
                        <a:rPr sz="1725" b="0">
                          <a:solidFill>
                            <a:srgbClr val="172738"/>
                          </a:solidFill>
                          <a:latin typeface="Apple SD Gothic Neo"/>
                          <a:ea typeface="Apple SD Gothic Neo"/>
                          <a:cs typeface="Apple SD Gothic Neo"/>
                        </a:rPr>
                        <a:t>필요 시 Port 선두 우선</a:t>
                      </a:r>
                    </a:p>
                  </a:txBody>
                  <a:tcPr marL="133350" marR="133350" marT="95250" marB="95250" anchor="ctr">
                    <a:solidFill>
                      <a:srgbClr val="FFFFFF"/>
                    </a:solidFill>
                  </a:tcPr>
                </a:tc>
                <a:extLst>
                  <a:ext uri="{0D108BD9-81ED-4DB2-BD59-A6C34878D82A}">
                    <a16:rowId xmlns:a16="http://schemas.microsoft.com/office/drawing/2014/main" val="10003"/>
                  </a:ext>
                </a:extLst>
              </a:tr>
              <a:tr h="695325">
                <a:tc>
                  <a:txBody>
                    <a:bodyPr/>
                    <a:lstStyle/>
                    <a:p>
                      <a:r>
                        <a:rPr sz="1725" b="0">
                          <a:solidFill>
                            <a:srgbClr val="172738"/>
                          </a:solidFill>
                          <a:latin typeface="Apple SD Gothic Neo"/>
                          <a:ea typeface="Apple SD Gothic Neo"/>
                          <a:cs typeface="Apple SD Gothic Neo"/>
                        </a:rPr>
                        <a:t>4. NAND Read</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4채널 × 16Plane에서 sensing</a:t>
                      </a:r>
                    </a:p>
                    <a:p>
                      <a:r>
                        <a:rPr sz="1725" b="0">
                          <a:solidFill>
                            <a:srgbClr val="172738"/>
                          </a:solidFill>
                          <a:latin typeface="Apple SD Gothic Neo"/>
                          <a:ea typeface="Apple SD Gothic Neo"/>
                          <a:cs typeface="Apple SD Gothic Neo"/>
                        </a:rPr>
                        <a:t>물리 페이지 크기는 16KiB</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Plane당 page buffer 1개</a:t>
                      </a:r>
                    </a:p>
                    <a:p>
                      <a:r>
                        <a:rPr sz="1725" b="0">
                          <a:solidFill>
                            <a:srgbClr val="172738"/>
                          </a:solidFill>
                          <a:latin typeface="Apple SD Gothic Neo"/>
                          <a:ea typeface="Apple SD Gothic Neo"/>
                          <a:cs typeface="Apple SD Gothic Neo"/>
                        </a:rPr>
                        <a:t>채널별 CA와 Data 경로</a:t>
                      </a:r>
                    </a:p>
                  </a:txBody>
                  <a:tcPr marL="133350" marR="133350" marT="95250" marB="95250" anchor="ctr">
                    <a:solidFill>
                      <a:srgbClr val="F1F5F8"/>
                    </a:solidFill>
                  </a:tcPr>
                </a:tc>
                <a:extLst>
                  <a:ext uri="{0D108BD9-81ED-4DB2-BD59-A6C34878D82A}">
                    <a16:rowId xmlns:a16="http://schemas.microsoft.com/office/drawing/2014/main" val="10004"/>
                  </a:ext>
                </a:extLst>
              </a:tr>
              <a:tr h="695325">
                <a:tc>
                  <a:txBody>
                    <a:bodyPr/>
                    <a:lstStyle/>
                    <a:p>
                      <a:r>
                        <a:rPr sz="1725" b="0">
                          <a:solidFill>
                            <a:srgbClr val="172738"/>
                          </a:solidFill>
                          <a:latin typeface="Apple SD Gothic Neo"/>
                          <a:ea typeface="Apple SD Gothic Neo"/>
                          <a:cs typeface="Apple SD Gothic Neo"/>
                        </a:rPr>
                        <a:t>5. Data와 반환</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NAND 출력과 ECC 후 Controller buffer 준비</a:t>
                      </a:r>
                    </a:p>
                    <a:p>
                      <a:r>
                        <a:rPr sz="1725" b="0">
                          <a:solidFill>
                            <a:srgbClr val="172738"/>
                          </a:solidFill>
                          <a:latin typeface="Apple SD Gothic Neo"/>
                          <a:ea typeface="Apple SD Gothic Neo"/>
                          <a:cs typeface="Apple SD Gothic Neo"/>
                        </a:rPr>
                        <a:t>Port별로 Host에 읽기 데이터 반환</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Port 내부 in-order</a:t>
                      </a:r>
                    </a:p>
                    <a:p>
                      <a:r>
                        <a:rPr sz="1725" b="0">
                          <a:solidFill>
                            <a:srgbClr val="172738"/>
                          </a:solidFill>
                          <a:latin typeface="Apple SD Gothic Neo"/>
                          <a:ea typeface="Apple SD Gothic Neo"/>
                          <a:cs typeface="Apple SD Gothic Neo"/>
                        </a:rPr>
                        <a:t>연결된 마지막 응답 후 버퍼 해제</a:t>
                      </a:r>
                    </a:p>
                  </a:txBody>
                  <a:tcPr marL="133350" marR="133350" marT="95250" marB="95250" anchor="ctr">
                    <a:solidFill>
                      <a:srgbClr val="FFFFFF"/>
                    </a:solidFill>
                  </a:tcPr>
                </a:tc>
                <a:extLst>
                  <a:ext uri="{0D108BD9-81ED-4DB2-BD59-A6C34878D82A}">
                    <a16:rowId xmlns:a16="http://schemas.microsoft.com/office/drawing/2014/main" val="10005"/>
                  </a:ext>
                </a:extLst>
              </a:tr>
            </a:tbl>
          </a:graphicData>
        </a:graphic>
      </p:graphicFrame>
      <p:sp>
        <p:nvSpPr>
          <p:cNvPr id="6" name="buffer-distinction">
            <a:extLst>
              <a:ext uri="{FF2B5EF4-FFF2-40B4-BE49-F238E27FC236}">
                <a16:creationId xmlns:a16="http://schemas.microsoft.com/office/drawing/2014/main" id="{554C643E-5CB9-46FB-AD8E-B412C931BCB1}"/>
              </a:ext>
            </a:extLst>
          </p:cNvPr>
          <p:cNvSpPr>
            <a:spLocks noGrp="1"/>
          </p:cNvSpPr>
          <p:nvPr/>
        </p:nvSpPr>
        <p:spPr>
          <a:xfrm>
            <a:off x="571500" y="6038850"/>
            <a:ext cx="11049000" cy="28575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NAND page buffer는 Plane별 자원이며, Controller buffer는 여러 Port가 공유하는 임시 보관 공간입니다.</a:t>
            </a:r>
          </a:p>
        </p:txBody>
      </p:sp>
    </p:spTree>
    <p:extLst>
      <p:ext uri="{BB962C8B-B14F-4D97-AF65-F5344CB8AC3E}">
        <p14:creationId xmlns:p14="http://schemas.microsoft.com/office/powerpoint/2010/main" val="1028551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7D9721F7-85CA-4536-837B-CB81BAD5DBA0}"/>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지금까지 효과를 확인한 3가지</a:t>
            </a:r>
          </a:p>
        </p:txBody>
      </p:sp>
      <p:sp>
        <p:nvSpPr>
          <p:cNvPr id="2" name="subtitle">
            <a:extLst>
              <a:ext uri="{FF2B5EF4-FFF2-40B4-BE49-F238E27FC236}">
                <a16:creationId xmlns:a16="http://schemas.microsoft.com/office/drawing/2014/main" id="{A1F398D5-14B3-43A2-8589-442BC394EA9E}"/>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발행 순서, 데이터 위치, 수락 가능한 요청의 분포를 각각 개선했습니다.</a:t>
            </a:r>
          </a:p>
        </p:txBody>
      </p:sp>
      <p:sp>
        <p:nvSpPr>
          <p:cNvPr id="3" name="footer">
            <a:extLst>
              <a:ext uri="{FF2B5EF4-FFF2-40B4-BE49-F238E27FC236}">
                <a16:creationId xmlns:a16="http://schemas.microsoft.com/office/drawing/2014/main" id="{2C957EBF-CF2C-4BD2-911E-B76F742BA3B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locality, host_ceiling, saturation 실험 원자료</a:t>
            </a:r>
          </a:p>
        </p:txBody>
      </p:sp>
      <p:sp>
        <p:nvSpPr>
          <p:cNvPr id="4" name="page">
            <a:extLst>
              <a:ext uri="{FF2B5EF4-FFF2-40B4-BE49-F238E27FC236}">
                <a16:creationId xmlns:a16="http://schemas.microsoft.com/office/drawing/2014/main" id="{C14C03FC-6618-44CE-977F-CDE70CA4F193}"/>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05</a:t>
            </a:r>
          </a:p>
        </p:txBody>
      </p:sp>
      <p:graphicFrame>
        <p:nvGraphicFramePr>
          <p:cNvPr id="5" name="three-items">
            <a:extLst>
              <a:ext uri="{FF2B5EF4-FFF2-40B4-BE49-F238E27FC236}">
                <a16:creationId xmlns:a16="http://schemas.microsoft.com/office/drawing/2014/main" id="{6939356A-6526-4C2D-BEF2-56F99DB0FD95}"/>
              </a:ext>
            </a:extLst>
          </p:cNvPr>
          <p:cNvGraphicFramePr/>
          <p:nvPr/>
        </p:nvGraphicFramePr>
        <p:xfrm>
          <a:off x="533400" y="1885950"/>
          <a:ext cx="11125200" cy="3295652"/>
        </p:xfrm>
        <a:graphic>
          <a:graphicData uri="http://schemas.openxmlformats.org/drawingml/2006/table">
            <a:tbl>
              <a:tblPr/>
              <a:tblGrid>
                <a:gridCol w="2914650">
                  <a:extLst>
                    <a:ext uri="{9D8B030D-6E8A-4147-A177-3AD203B41FA5}">
                      <a16:colId xmlns:a16="http://schemas.microsoft.com/office/drawing/2014/main" val="20000"/>
                    </a:ext>
                  </a:extLst>
                </a:gridCol>
                <a:gridCol w="3790950">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tblGrid>
              <a:tr h="823913">
                <a:tc>
                  <a:txBody>
                    <a:bodyPr/>
                    <a:lstStyle/>
                    <a:p>
                      <a:r>
                        <a:rPr sz="1800" b="1">
                          <a:solidFill>
                            <a:srgbClr val="FFFFFF"/>
                          </a:solidFill>
                          <a:latin typeface="Apple SD Gothic Neo"/>
                          <a:ea typeface="Apple SD Gothic Neo"/>
                          <a:cs typeface="Apple SD Gothic Neo"/>
                        </a:rPr>
                        <a:t>핵심 항목</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해결한 병목</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대표 처리량 (GB/s)</a:t>
                      </a:r>
                    </a:p>
                  </a:txBody>
                  <a:tcPr marL="133350" marR="133350" marT="95250" marB="95250" anchor="ctr">
                    <a:solidFill>
                      <a:srgbClr val="122C40"/>
                    </a:solidFill>
                  </a:tcPr>
                </a:tc>
                <a:extLst>
                  <a:ext uri="{0D108BD9-81ED-4DB2-BD59-A6C34878D82A}">
                    <a16:rowId xmlns:a16="http://schemas.microsoft.com/office/drawing/2014/main" val="10000"/>
                  </a:ext>
                </a:extLst>
              </a:tr>
              <a:tr h="823913">
                <a:tc>
                  <a:txBody>
                    <a:bodyPr/>
                    <a:lstStyle/>
                    <a:p>
                      <a:r>
                        <a:rPr sz="1800" b="0">
                          <a:solidFill>
                            <a:srgbClr val="172738"/>
                          </a:solidFill>
                          <a:latin typeface="Apple SD Gothic Neo"/>
                          <a:ea typeface="Apple SD Gothic Neo"/>
                          <a:cs typeface="Apple SD Gothic Neo"/>
                        </a:rPr>
                        <a:t>1. 컨트롤러 스케줄링</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물리 주소 점프로 인한</a:t>
                      </a:r>
                    </a:p>
                    <a:p>
                      <a:r>
                        <a:rPr sz="1800" b="0">
                          <a:solidFill>
                            <a:srgbClr val="172738"/>
                          </a:solidFill>
                          <a:latin typeface="Apple SD Gothic Neo"/>
                          <a:ea typeface="Apple SD Gothic Neo"/>
                          <a:cs typeface="Apple SD Gothic Neo"/>
                        </a:rPr>
                        <a:t>Long tR의 반복</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A2 37.08에서 118.26</a:t>
                      </a:r>
                    </a:p>
                    <a:p>
                      <a:r>
                        <a:rPr sz="1800" b="0">
                          <a:solidFill>
                            <a:srgbClr val="172738"/>
                          </a:solidFill>
                          <a:latin typeface="Apple SD Gothic Neo"/>
                          <a:ea typeface="Apple SD Gothic Neo"/>
                          <a:cs typeface="Apple SD Gothic Neo"/>
                        </a:rPr>
                        <a:t>동일 조건의 CA 정책 비교</a:t>
                      </a:r>
                    </a:p>
                  </a:txBody>
                  <a:tcPr marL="133350" marR="133350" marT="95250" marB="95250" anchor="ctr">
                    <a:solidFill>
                      <a:srgbClr val="FFFFFF"/>
                    </a:solidFill>
                  </a:tcPr>
                </a:tc>
                <a:extLst>
                  <a:ext uri="{0D108BD9-81ED-4DB2-BD59-A6C34878D82A}">
                    <a16:rowId xmlns:a16="http://schemas.microsoft.com/office/drawing/2014/main" val="10001"/>
                  </a:ext>
                </a:extLst>
              </a:tr>
              <a:tr h="823913">
                <a:tc>
                  <a:txBody>
                    <a:bodyPr/>
                    <a:lstStyle/>
                    <a:p>
                      <a:r>
                        <a:rPr sz="1800" b="0">
                          <a:solidFill>
                            <a:srgbClr val="172738"/>
                          </a:solidFill>
                          <a:latin typeface="Apple SD Gothic Neo"/>
                          <a:ea typeface="Apple SD Gothic Neo"/>
                          <a:cs typeface="Apple SD Gothic Neo"/>
                        </a:rPr>
                        <a:t>2. Plane 확장과 배치</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NAND 공급량 부족과</a:t>
                      </a:r>
                    </a:p>
                    <a:p>
                      <a:r>
                        <a:rPr sz="1800" b="0">
                          <a:solidFill>
                            <a:srgbClr val="172738"/>
                          </a:solidFill>
                          <a:latin typeface="Apple SD Gothic Neo"/>
                          <a:ea typeface="Apple SD Gothic Neo"/>
                          <a:cs typeface="Apple SD Gothic Neo"/>
                        </a:rPr>
                        <a:t>같은 Plane의 영역 간 경합</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64 Plane A2 189.32에서 234.99</a:t>
                      </a:r>
                    </a:p>
                    <a:p>
                      <a:r>
                        <a:rPr sz="1800" b="0">
                          <a:solidFill>
                            <a:srgbClr val="172738"/>
                          </a:solidFill>
                          <a:latin typeface="Apple SD Gothic Neo"/>
                          <a:ea typeface="Apple SD Gothic Neo"/>
                          <a:cs typeface="Apple SD Gothic Neo"/>
                        </a:rPr>
                        <a:t>동일 자원에서 배치만 변경</a:t>
                      </a:r>
                    </a:p>
                  </a:txBody>
                  <a:tcPr marL="133350" marR="133350" marT="95250" marB="95250" anchor="ctr">
                    <a:solidFill>
                      <a:srgbClr val="F1F5F8"/>
                    </a:solidFill>
                  </a:tcPr>
                </a:tc>
                <a:extLst>
                  <a:ext uri="{0D108BD9-81ED-4DB2-BD59-A6C34878D82A}">
                    <a16:rowId xmlns:a16="http://schemas.microsoft.com/office/drawing/2014/main" val="10002"/>
                  </a:ext>
                </a:extLst>
              </a:tr>
              <a:tr h="823913">
                <a:tc>
                  <a:txBody>
                    <a:bodyPr/>
                    <a:lstStyle/>
                    <a:p>
                      <a:r>
                        <a:rPr sz="1800" b="0">
                          <a:solidFill>
                            <a:srgbClr val="172738"/>
                          </a:solidFill>
                          <a:latin typeface="Apple SD Gothic Neo"/>
                          <a:ea typeface="Apple SD Gothic Neo"/>
                          <a:cs typeface="Apple SD Gothic Neo"/>
                        </a:rPr>
                        <a:t>3. 버퍼와 QD의 공동 조정</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요청 부족 또는 일부 Port의</a:t>
                      </a:r>
                    </a:p>
                    <a:p>
                      <a:r>
                        <a:rPr sz="1800" b="0">
                          <a:solidFill>
                            <a:srgbClr val="172738"/>
                          </a:solidFill>
                          <a:latin typeface="Apple SD Gothic Neo"/>
                          <a:ea typeface="Apple SD Gothic Neo"/>
                          <a:cs typeface="Apple SD Gothic Neo"/>
                        </a:rPr>
                        <a:t>공유 버퍼 예약 편중</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8MiB A1 68.86에서 255.37</a:t>
                      </a:r>
                    </a:p>
                    <a:p>
                      <a:r>
                        <a:rPr sz="1800" b="0">
                          <a:solidFill>
                            <a:srgbClr val="172738"/>
                          </a:solidFill>
                          <a:latin typeface="Apple SD Gothic Neo"/>
                          <a:ea typeface="Apple SD Gothic Neo"/>
                          <a:cs typeface="Apple SD Gothic Neo"/>
                        </a:rPr>
                        <a:t>QD 2,048과 512/Port 비교</a:t>
                      </a:r>
                    </a:p>
                  </a:txBody>
                  <a:tcPr marL="133350" marR="13335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measurement-caution">
            <a:extLst>
              <a:ext uri="{FF2B5EF4-FFF2-40B4-BE49-F238E27FC236}">
                <a16:creationId xmlns:a16="http://schemas.microsoft.com/office/drawing/2014/main" id="{F2C1557B-02F6-4F94-A420-3BC806B84904}"/>
              </a:ext>
            </a:extLst>
          </p:cNvPr>
          <p:cNvSpPr>
            <a:spLocks noGrp="1"/>
          </p:cNvSpPr>
          <p:nvPr/>
        </p:nvSpPr>
        <p:spPr>
          <a:xfrm>
            <a:off x="571500" y="5495925"/>
            <a:ext cx="10953750" cy="714375"/>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1·2번 수치는 유한 요청열의 전체 평균입니다.</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3번은 초기 구간을 제외한 지속 부하 평균이므로 개선율을 합산하지 않습니다.</a:t>
            </a:r>
          </a:p>
        </p:txBody>
      </p:sp>
    </p:spTree>
    <p:extLst>
      <p:ext uri="{BB962C8B-B14F-4D97-AF65-F5344CB8AC3E}">
        <p14:creationId xmlns:p14="http://schemas.microsoft.com/office/powerpoint/2010/main" val="355043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9E57754B-B64F-4D02-8676-20D6304D6A7A}"/>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1. 연속 물리 주소를 우선하는 스케줄링</a:t>
            </a:r>
          </a:p>
        </p:txBody>
      </p:sp>
      <p:sp>
        <p:nvSpPr>
          <p:cNvPr id="2" name="subtitle">
            <a:extLst>
              <a:ext uri="{FF2B5EF4-FFF2-40B4-BE49-F238E27FC236}">
                <a16:creationId xmlns:a16="http://schemas.microsoft.com/office/drawing/2014/main" id="{F155CF80-4527-42C1-8C63-4C61C8E99C58}"/>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 상수는 그대로 두고, Long tR이 발생하는 접근의 비율을 낮췄습니다.</a:t>
            </a:r>
          </a:p>
        </p:txBody>
      </p:sp>
      <p:sp>
        <p:nvSpPr>
          <p:cNvPr id="3" name="footer">
            <a:extLst>
              <a:ext uri="{FF2B5EF4-FFF2-40B4-BE49-F238E27FC236}">
                <a16:creationId xmlns:a16="http://schemas.microsoft.com/office/drawing/2014/main" id="{00096BAC-3D65-4F2F-AEC4-B2B7B64477C5}"/>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32 Plane, 32MiB, QD 2,048/Port, PF ON, 8,192요청/Port의 전체 평균</a:t>
            </a:r>
          </a:p>
        </p:txBody>
      </p:sp>
      <p:sp>
        <p:nvSpPr>
          <p:cNvPr id="4" name="page">
            <a:extLst>
              <a:ext uri="{FF2B5EF4-FFF2-40B4-BE49-F238E27FC236}">
                <a16:creationId xmlns:a16="http://schemas.microsoft.com/office/drawing/2014/main" id="{ADC96A71-15DA-49C5-9F9C-40DE828EFD99}"/>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06</a:t>
            </a:r>
          </a:p>
        </p:txBody>
      </p:sp>
      <p:sp>
        <p:nvSpPr>
          <p:cNvPr id="5" name="chart-unit">
            <a:extLst>
              <a:ext uri="{FF2B5EF4-FFF2-40B4-BE49-F238E27FC236}">
                <a16:creationId xmlns:a16="http://schemas.microsoft.com/office/drawing/2014/main" id="{56C605DD-339A-4E0F-ADB4-1156BBD200B5}"/>
              </a:ext>
            </a:extLst>
          </p:cNvPr>
          <p:cNvSpPr>
            <a:spLocks noGrp="1"/>
          </p:cNvSpPr>
          <p:nvPr/>
        </p:nvSpPr>
        <p:spPr>
          <a:xfrm>
            <a:off x="590550" y="1762125"/>
            <a:ext cx="5905500" cy="314325"/>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a:ext uri="{FF2B5EF4-FFF2-40B4-BE49-F238E27FC236}">
                <a16:creationId xmlns:a16="http://schemas.microsoft.com/office/drawing/2014/main" id="{17FC8F10-962A-4D31-B339-1F6CFB1FF1AA}"/>
              </a:ext>
            </a:extLst>
          </p:cNvPr>
          <p:cNvGraphicFramePr/>
          <p:nvPr/>
        </p:nvGraphicFramePr>
        <p:xfrm>
          <a:off x="533400" y="2124075"/>
          <a:ext cx="5905500" cy="2667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tr-mix">
            <a:extLst>
              <a:ext uri="{FF2B5EF4-FFF2-40B4-BE49-F238E27FC236}">
                <a16:creationId xmlns:a16="http://schemas.microsoft.com/office/drawing/2014/main" id="{B0F2F1A1-696F-4A0A-BD57-99F5579A7E2F}"/>
              </a:ext>
            </a:extLst>
          </p:cNvPr>
          <p:cNvGraphicFramePr/>
          <p:nvPr/>
        </p:nvGraphicFramePr>
        <p:xfrm>
          <a:off x="571500" y="5067300"/>
          <a:ext cx="5791200" cy="981076"/>
        </p:xfrm>
        <a:graphic>
          <a:graphicData uri="http://schemas.openxmlformats.org/drawingml/2006/table">
            <a:tbl>
              <a:tblPr/>
              <a:tblGrid>
                <a:gridCol w="21717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tblGrid>
              <a:tr h="490538">
                <a:tc>
                  <a:txBody>
                    <a:bodyPr/>
                    <a:lstStyle/>
                    <a:p>
                      <a:r>
                        <a:rPr sz="1725" b="1">
                          <a:solidFill>
                            <a:srgbClr val="FFFFFF"/>
                          </a:solidFill>
                          <a:latin typeface="Apple SD Gothic Neo"/>
                          <a:ea typeface="Apple SD Gothic Neo"/>
                          <a:cs typeface="Apple SD Gothic Neo"/>
                        </a:rPr>
                        <a:t>Long tR 비율</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FIFO</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연속 우선</a:t>
                      </a:r>
                    </a:p>
                  </a:txBody>
                  <a:tcPr marL="133350" marR="133350" marT="95250" marB="95250" anchor="ctr">
                    <a:solidFill>
                      <a:srgbClr val="122C40"/>
                    </a:solidFill>
                  </a:tcPr>
                </a:tc>
                <a:extLst>
                  <a:ext uri="{0D108BD9-81ED-4DB2-BD59-A6C34878D82A}">
                    <a16:rowId xmlns:a16="http://schemas.microsoft.com/office/drawing/2014/main" val="10000"/>
                  </a:ext>
                </a:extLst>
              </a:tr>
              <a:tr h="490538">
                <a:tc>
                  <a:txBody>
                    <a:bodyPr/>
                    <a:lstStyle/>
                    <a:p>
                      <a:r>
                        <a:rPr sz="1725" b="0">
                          <a:solidFill>
                            <a:srgbClr val="172738"/>
                          </a:solidFill>
                          <a:latin typeface="Apple SD Gothic Neo"/>
                          <a:ea typeface="Apple SD Gothic Neo"/>
                          <a:cs typeface="Apple SD Gothic Neo"/>
                        </a:rPr>
                        <a:t>전체 sensing 중</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91.81%</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10.57%</a:t>
                      </a:r>
                    </a:p>
                  </a:txBody>
                  <a:tcPr marL="133350" marR="133350" marT="95250" marB="95250" anchor="ctr">
                    <a:solidFill>
                      <a:srgbClr val="FFFFFF"/>
                    </a:solidFill>
                  </a:tcPr>
                </a:tc>
                <a:extLst>
                  <a:ext uri="{0D108BD9-81ED-4DB2-BD59-A6C34878D82A}">
                    <a16:rowId xmlns:a16="http://schemas.microsoft.com/office/drawing/2014/main" val="10001"/>
                  </a:ext>
                </a:extLst>
              </a:tr>
            </a:tbl>
          </a:graphicData>
        </a:graphic>
      </p:graphicFrame>
      <p:sp>
        <p:nvSpPr>
          <p:cNvPr id="8" name="mechanism1">
            <a:extLst>
              <a:ext uri="{FF2B5EF4-FFF2-40B4-BE49-F238E27FC236}">
                <a16:creationId xmlns:a16="http://schemas.microsoft.com/office/drawing/2014/main" id="{9AE3B47D-E515-4F9F-BAF6-31F6893E55FE}"/>
              </a:ext>
            </a:extLst>
          </p:cNvPr>
          <p:cNvSpPr>
            <a:spLocks noGrp="1"/>
          </p:cNvSpPr>
          <p:nvPr/>
        </p:nvSpPr>
        <p:spPr>
          <a:xfrm>
            <a:off x="6877050" y="1828800"/>
            <a:ext cx="4762500" cy="4572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컨트롤러 CA 발행 단계에서 선택</a:t>
            </a:r>
          </a:p>
        </p:txBody>
      </p:sp>
      <p:sp>
        <p:nvSpPr>
          <p:cNvPr id="9" name="mechanism1-detail">
            <a:extLst>
              <a:ext uri="{FF2B5EF4-FFF2-40B4-BE49-F238E27FC236}">
                <a16:creationId xmlns:a16="http://schemas.microsoft.com/office/drawing/2014/main" id="{3239696C-EC2E-4CDF-B9EF-3203E7BF01D8}"/>
              </a:ext>
            </a:extLst>
          </p:cNvPr>
          <p:cNvSpPr>
            <a:spLocks noGrp="1"/>
          </p:cNvSpPr>
          <p:nvPr/>
        </p:nvSpPr>
        <p:spPr>
          <a:xfrm>
            <a:off x="6877050" y="2400300"/>
            <a:ext cx="4762500" cy="148590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이미 발행 가능한 요청 중 같은 Plane의</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다음 물리 페이지를 먼저 읽습니다.</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또는 Mid 2.08µs의</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접근을 더 많이 사용합니다.</a:t>
            </a:r>
          </a:p>
        </p:txBody>
      </p:sp>
      <p:sp>
        <p:nvSpPr>
          <p:cNvPr id="10" name="ordering">
            <a:extLst>
              <a:ext uri="{FF2B5EF4-FFF2-40B4-BE49-F238E27FC236}">
                <a16:creationId xmlns:a16="http://schemas.microsoft.com/office/drawing/2014/main" id="{897D3A24-7E50-4B7C-A4D8-C4D706171003}"/>
              </a:ext>
            </a:extLst>
          </p:cNvPr>
          <p:cNvSpPr>
            <a:spLocks noGrp="1"/>
          </p:cNvSpPr>
          <p:nvPr/>
        </p:nvSpPr>
        <p:spPr>
          <a:xfrm>
            <a:off x="6877050" y="4086225"/>
            <a:ext cx="4762500" cy="68580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Host의 주소 발행 순서와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 반환은 유지합니다.</a:t>
            </a:r>
          </a:p>
        </p:txBody>
      </p:sp>
      <p:sp>
        <p:nvSpPr>
          <p:cNvPr id="11" name="bounded">
            <a:extLst>
              <a:ext uri="{FF2B5EF4-FFF2-40B4-BE49-F238E27FC236}">
                <a16:creationId xmlns:a16="http://schemas.microsoft.com/office/drawing/2014/main" id="{33B3908F-C371-4836-BF5E-24512DD5665C}"/>
              </a:ext>
            </a:extLst>
          </p:cNvPr>
          <p:cNvSpPr>
            <a:spLocks noGrp="1"/>
          </p:cNvSpPr>
          <p:nvPr/>
        </p:nvSpPr>
        <p:spPr>
          <a:xfrm>
            <a:off x="6877050" y="5162550"/>
            <a:ext cx="4762500" cy="97155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우회 한도로 오래된 요청을 보호합니다.</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A1에는 오래 기다린 선두 요청의</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우선 처리도 적용했습니다.</a:t>
            </a:r>
          </a:p>
        </p:txBody>
      </p:sp>
    </p:spTree>
    <p:extLst>
      <p:ext uri="{BB962C8B-B14F-4D97-AF65-F5344CB8AC3E}">
        <p14:creationId xmlns:p14="http://schemas.microsoft.com/office/powerpoint/2010/main" val="2138549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itle">
            <a:extLst>
              <a:ext uri="{FF2B5EF4-FFF2-40B4-BE49-F238E27FC236}">
                <a16:creationId xmlns:a16="http://schemas.microsoft.com/office/drawing/2014/main" id="{AF860CE6-241D-4E8A-8860-CD0201D69EF6}"/>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64 Plane과 영역별 데이터 배치</a:t>
            </a:r>
          </a:p>
        </p:txBody>
      </p:sp>
      <p:sp>
        <p:nvSpPr>
          <p:cNvPr id="2" name="subtitle">
            <a:extLst>
              <a:ext uri="{FF2B5EF4-FFF2-40B4-BE49-F238E27FC236}">
                <a16:creationId xmlns:a16="http://schemas.microsoft.com/office/drawing/2014/main" id="{55BDF935-BF33-49E8-8C4A-675FB478DDF3}"/>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Plane 확장으로 공급 여력을 확보하고, 배치 개선으로 그 여력을 활용했습니다.</a:t>
            </a:r>
          </a:p>
        </p:txBody>
      </p:sp>
      <p:sp>
        <p:nvSpPr>
          <p:cNvPr id="3" name="footer">
            <a:extLst>
              <a:ext uri="{FF2B5EF4-FFF2-40B4-BE49-F238E27FC236}">
                <a16:creationId xmlns:a16="http://schemas.microsoft.com/office/drawing/2014/main" id="{589E45C1-94EE-42DD-AFA3-4ABDE69E0B89}"/>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4 Port, 32MiB, QD 2,048/Port, PF OFF, 8,192요청/Port의 전체 평균</a:t>
            </a:r>
          </a:p>
        </p:txBody>
      </p:sp>
      <p:sp>
        <p:nvSpPr>
          <p:cNvPr id="4" name="page">
            <a:extLst>
              <a:ext uri="{FF2B5EF4-FFF2-40B4-BE49-F238E27FC236}">
                <a16:creationId xmlns:a16="http://schemas.microsoft.com/office/drawing/2014/main" id="{D86B298D-8746-4377-86F0-1764A12769C7}"/>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07</a:t>
            </a:r>
          </a:p>
        </p:txBody>
      </p:sp>
      <p:sp>
        <p:nvSpPr>
          <p:cNvPr id="5" name="chart-unit">
            <a:extLst>
              <a:ext uri="{FF2B5EF4-FFF2-40B4-BE49-F238E27FC236}">
                <a16:creationId xmlns:a16="http://schemas.microsoft.com/office/drawing/2014/main" id="{73B98BBB-538F-4265-A320-7644DFAC4AF6}"/>
              </a:ext>
            </a:extLst>
          </p:cNvPr>
          <p:cNvSpPr>
            <a:spLocks noGrp="1"/>
          </p:cNvSpPr>
          <p:nvPr/>
        </p:nvSpPr>
        <p:spPr>
          <a:xfrm>
            <a:off x="590550" y="1762125"/>
            <a:ext cx="5905500" cy="3048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a:ext uri="{FF2B5EF4-FFF2-40B4-BE49-F238E27FC236}">
                <a16:creationId xmlns:a16="http://schemas.microsoft.com/office/drawing/2014/main" id="{ECAA493E-5DDF-49DA-8EF4-6F1B1913BBAC}"/>
              </a:ext>
            </a:extLst>
          </p:cNvPr>
          <p:cNvGraphicFramePr/>
          <p:nvPr/>
        </p:nvGraphicFramePr>
        <p:xfrm>
          <a:off x="533400" y="2114550"/>
          <a:ext cx="63817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7" name="geometry">
            <a:extLst>
              <a:ext uri="{FF2B5EF4-FFF2-40B4-BE49-F238E27FC236}">
                <a16:creationId xmlns:a16="http://schemas.microsoft.com/office/drawing/2014/main" id="{6229C431-F5E9-431D-BA84-3F0D8D9D8DA5}"/>
              </a:ext>
            </a:extLst>
          </p:cNvPr>
          <p:cNvSpPr>
            <a:spLocks noGrp="1"/>
          </p:cNvSpPr>
          <p:nvPr/>
        </p:nvSpPr>
        <p:spPr>
          <a:xfrm>
            <a:off x="7381875" y="1838325"/>
            <a:ext cx="4171950" cy="4191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물리 자원 확대</a:t>
            </a:r>
          </a:p>
        </p:txBody>
      </p:sp>
      <p:sp>
        <p:nvSpPr>
          <p:cNvPr id="8" name="geometry-detail">
            <a:extLst>
              <a:ext uri="{FF2B5EF4-FFF2-40B4-BE49-F238E27FC236}">
                <a16:creationId xmlns:a16="http://schemas.microsoft.com/office/drawing/2014/main" id="{6C3CC1E4-0B4A-4F82-9597-CAE4C6AC5776}"/>
              </a:ext>
            </a:extLst>
          </p:cNvPr>
          <p:cNvSpPr>
            <a:spLocks noGrp="1"/>
          </p:cNvSpPr>
          <p:nvPr/>
        </p:nvSpPr>
        <p:spPr>
          <a:xfrm>
            <a:off x="7381875" y="2343150"/>
            <a:ext cx="4191000" cy="1362075"/>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Plane을 8개에서 16개로</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늘렸습니다. 32 Plane의 공급량은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가용률 100%와 최단 주기를 가정한</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낙관적 상한도 약 222.7GB/s입니다.</a:t>
            </a:r>
          </a:p>
        </p:txBody>
      </p:sp>
      <p:sp>
        <p:nvSpPr>
          <p:cNvPr id="9" name="layout">
            <a:extLst>
              <a:ext uri="{FF2B5EF4-FFF2-40B4-BE49-F238E27FC236}">
                <a16:creationId xmlns:a16="http://schemas.microsoft.com/office/drawing/2014/main" id="{6A250655-448E-4504-A62F-601150D7774A}"/>
              </a:ext>
            </a:extLst>
          </p:cNvPr>
          <p:cNvSpPr>
            <a:spLocks noGrp="1"/>
          </p:cNvSpPr>
          <p:nvPr/>
        </p:nvSpPr>
        <p:spPr>
          <a:xfrm>
            <a:off x="7381875" y="4010025"/>
            <a:ext cx="4171950" cy="4191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같은 64 Plane에서 배치 효과</a:t>
            </a:r>
          </a:p>
        </p:txBody>
      </p:sp>
      <p:sp>
        <p:nvSpPr>
          <p:cNvPr id="10" name="layout-detail">
            <a:extLst>
              <a:ext uri="{FF2B5EF4-FFF2-40B4-BE49-F238E27FC236}">
                <a16:creationId xmlns:a16="http://schemas.microsoft.com/office/drawing/2014/main" id="{756A61FE-458D-4FD5-9486-70A8514C56DD}"/>
              </a:ext>
            </a:extLst>
          </p:cNvPr>
          <p:cNvSpPr>
            <a:spLocks noGrp="1"/>
          </p:cNvSpPr>
          <p:nvPr/>
        </p:nvSpPr>
        <p:spPr>
          <a:xfrm>
            <a:off x="7381875" y="4543425"/>
            <a:ext cx="4171950" cy="1057275"/>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A2 처리량 24.12% 증가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Long sensing 1142회에서 3회</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총 sensing 8196회 기준</a:t>
            </a:r>
          </a:p>
        </p:txBody>
      </p:sp>
      <p:sp>
        <p:nvSpPr>
          <p:cNvPr id="11" name="separate-effects">
            <a:extLst>
              <a:ext uri="{FF2B5EF4-FFF2-40B4-BE49-F238E27FC236}">
                <a16:creationId xmlns:a16="http://schemas.microsoft.com/office/drawing/2014/main" id="{0A1E0286-5E34-4B18-938B-9877A517E5FE}"/>
              </a:ext>
            </a:extLst>
          </p:cNvPr>
          <p:cNvSpPr>
            <a:spLocks noGrp="1"/>
          </p:cNvSpPr>
          <p:nvPr/>
        </p:nvSpPr>
        <p:spPr>
          <a:xfrm>
            <a:off x="571500" y="5895975"/>
            <a:ext cx="10953750" cy="333375"/>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Plane 증가는 자원 변경입니다. 같은 Plane 수 안의 두 막대가 배치만 바꾼 비교입니다.</a:t>
            </a:r>
          </a:p>
        </p:txBody>
      </p:sp>
    </p:spTree>
    <p:extLst>
      <p:ext uri="{BB962C8B-B14F-4D97-AF65-F5344CB8AC3E}">
        <p14:creationId xmlns:p14="http://schemas.microsoft.com/office/powerpoint/2010/main" val="1714267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6DE5C3F3-3DE2-447C-B7B2-87C3E358AAA4}"/>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데이터 배치가 Long tR를 줄이는 원리</a:t>
            </a:r>
          </a:p>
        </p:txBody>
      </p:sp>
      <p:sp>
        <p:nvSpPr>
          <p:cNvPr id="2" name="subtitle">
            <a:extLst>
              <a:ext uri="{FF2B5EF4-FFF2-40B4-BE49-F238E27FC236}">
                <a16:creationId xmlns:a16="http://schemas.microsoft.com/office/drawing/2014/main" id="{1AD61FDD-E354-454D-B2DC-B537BA66638A}"/>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논리 영역은 4채널을 모두 쓰되, 채널 안에서 서로 다른 Plane 묶음을 사용합니다.</a:t>
            </a:r>
          </a:p>
        </p:txBody>
      </p:sp>
      <p:sp>
        <p:nvSpPr>
          <p:cNvPr id="3" name="footer">
            <a:extLst>
              <a:ext uri="{FF2B5EF4-FFF2-40B4-BE49-F238E27FC236}">
                <a16:creationId xmlns:a16="http://schemas.microsoft.com/office/drawing/2014/main" id="{2F380B73-1850-4AE4-A66E-815965249173}"/>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host_ceiling의 영역별 L2P snapshot. 총 64 Plane 구성의 설명용 배치 표</a:t>
            </a:r>
          </a:p>
        </p:txBody>
      </p:sp>
      <p:sp>
        <p:nvSpPr>
          <p:cNvPr id="4" name="page">
            <a:extLst>
              <a:ext uri="{FF2B5EF4-FFF2-40B4-BE49-F238E27FC236}">
                <a16:creationId xmlns:a16="http://schemas.microsoft.com/office/drawing/2014/main" id="{1C4C5CBF-6238-4AF9-9038-2C5AFDD5AFCB}"/>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08</a:t>
            </a:r>
          </a:p>
        </p:txBody>
      </p:sp>
      <p:graphicFrame>
        <p:nvGraphicFramePr>
          <p:cNvPr id="5" name="region-mapping">
            <a:extLst>
              <a:ext uri="{FF2B5EF4-FFF2-40B4-BE49-F238E27FC236}">
                <a16:creationId xmlns:a16="http://schemas.microsoft.com/office/drawing/2014/main" id="{26822469-63F2-4D8E-883F-769252BC4EA7}"/>
              </a:ext>
            </a:extLst>
          </p:cNvPr>
          <p:cNvGraphicFramePr/>
          <p:nvPr/>
        </p:nvGraphicFramePr>
        <p:xfrm>
          <a:off x="533400" y="1905000"/>
          <a:ext cx="11125200" cy="2476500"/>
        </p:xfrm>
        <a:graphic>
          <a:graphicData uri="http://schemas.openxmlformats.org/drawingml/2006/table">
            <a:tbl>
              <a:tblPr/>
              <a:tblGrid>
                <a:gridCol w="2209800">
                  <a:extLst>
                    <a:ext uri="{9D8B030D-6E8A-4147-A177-3AD203B41FA5}">
                      <a16:colId xmlns:a16="http://schemas.microsoft.com/office/drawing/2014/main" val="20000"/>
                    </a:ext>
                  </a:extLst>
                </a:gridCol>
                <a:gridCol w="222885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gridCol w="2228850">
                  <a:extLst>
                    <a:ext uri="{9D8B030D-6E8A-4147-A177-3AD203B41FA5}">
                      <a16:colId xmlns:a16="http://schemas.microsoft.com/office/drawing/2014/main" val="20003"/>
                    </a:ext>
                  </a:extLst>
                </a:gridCol>
                <a:gridCol w="2228850">
                  <a:extLst>
                    <a:ext uri="{9D8B030D-6E8A-4147-A177-3AD203B41FA5}">
                      <a16:colId xmlns:a16="http://schemas.microsoft.com/office/drawing/2014/main" val="20004"/>
                    </a:ext>
                  </a:extLst>
                </a:gridCol>
              </a:tblGrid>
              <a:tr h="495300">
                <a:tc>
                  <a:txBody>
                    <a:bodyPr/>
                    <a:lstStyle/>
                    <a:p>
                      <a:r>
                        <a:rPr sz="1800" b="1">
                          <a:solidFill>
                            <a:srgbClr val="FFFFFF"/>
                          </a:solidFill>
                          <a:latin typeface="Apple SD Gothic Neo"/>
                          <a:ea typeface="Apple SD Gothic Neo"/>
                          <a:cs typeface="Apple SD Gothic Neo"/>
                        </a:rPr>
                        <a:t>논리 영역</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0</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1</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2</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Channel 3</a:t>
                      </a:r>
                    </a:p>
                  </a:txBody>
                  <a:tcPr marL="133350" marR="133350" marT="95250" marB="95250" anchor="ctr">
                    <a:solidFill>
                      <a:srgbClr val="122C40"/>
                    </a:solidFill>
                  </a:tcPr>
                </a:tc>
                <a:extLst>
                  <a:ext uri="{0D108BD9-81ED-4DB2-BD59-A6C34878D82A}">
                    <a16:rowId xmlns:a16="http://schemas.microsoft.com/office/drawing/2014/main" val="10000"/>
                  </a:ext>
                </a:extLst>
              </a:tr>
              <a:tr h="495300">
                <a:tc>
                  <a:txBody>
                    <a:bodyPr/>
                    <a:lstStyle/>
                    <a:p>
                      <a:r>
                        <a:rPr sz="1800" b="0">
                          <a:solidFill>
                            <a:srgbClr val="172738"/>
                          </a:solidFill>
                          <a:latin typeface="Apple SD Gothic Neo"/>
                          <a:ea typeface="Apple SD Gothic Neo"/>
                          <a:cs typeface="Apple SD Gothic Neo"/>
                        </a:rPr>
                        <a:t>영역 0</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extLst>
                  <a:ext uri="{0D108BD9-81ED-4DB2-BD59-A6C34878D82A}">
                    <a16:rowId xmlns:a16="http://schemas.microsoft.com/office/drawing/2014/main" val="10001"/>
                  </a:ext>
                </a:extLst>
              </a:tr>
              <a:tr h="495300">
                <a:tc>
                  <a:txBody>
                    <a:bodyPr/>
                    <a:lstStyle/>
                    <a:p>
                      <a:r>
                        <a:rPr sz="1800" b="0">
                          <a:solidFill>
                            <a:srgbClr val="172738"/>
                          </a:solidFill>
                          <a:latin typeface="Apple SD Gothic Neo"/>
                          <a:ea typeface="Apple SD Gothic Neo"/>
                          <a:cs typeface="Apple SD Gothic Neo"/>
                        </a:rPr>
                        <a:t>영역 1</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extLst>
                  <a:ext uri="{0D108BD9-81ED-4DB2-BD59-A6C34878D82A}">
                    <a16:rowId xmlns:a16="http://schemas.microsoft.com/office/drawing/2014/main" val="10002"/>
                  </a:ext>
                </a:extLst>
              </a:tr>
              <a:tr h="495300">
                <a:tc>
                  <a:txBody>
                    <a:bodyPr/>
                    <a:lstStyle/>
                    <a:p>
                      <a:r>
                        <a:rPr sz="1800" b="0">
                          <a:solidFill>
                            <a:srgbClr val="172738"/>
                          </a:solidFill>
                          <a:latin typeface="Apple SD Gothic Neo"/>
                          <a:ea typeface="Apple SD Gothic Neo"/>
                          <a:cs typeface="Apple SD Gothic Neo"/>
                        </a:rPr>
                        <a:t>영역 2</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extLst>
                  <a:ext uri="{0D108BD9-81ED-4DB2-BD59-A6C34878D82A}">
                    <a16:rowId xmlns:a16="http://schemas.microsoft.com/office/drawing/2014/main" val="10003"/>
                  </a:ext>
                </a:extLst>
              </a:tr>
              <a:tr h="495300">
                <a:tc>
                  <a:txBody>
                    <a:bodyPr/>
                    <a:lstStyle/>
                    <a:p>
                      <a:r>
                        <a:rPr sz="1800" b="0">
                          <a:solidFill>
                            <a:srgbClr val="172738"/>
                          </a:solidFill>
                          <a:latin typeface="Apple SD Gothic Neo"/>
                          <a:ea typeface="Apple SD Gothic Neo"/>
                          <a:cs typeface="Apple SD Gothic Neo"/>
                        </a:rPr>
                        <a:t>영역 3</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extLst>
                  <a:ext uri="{0D108BD9-81ED-4DB2-BD59-A6C34878D82A}">
                    <a16:rowId xmlns:a16="http://schemas.microsoft.com/office/drawing/2014/main" val="10004"/>
                  </a:ext>
                </a:extLst>
              </a:tr>
            </a:tbl>
          </a:graphicData>
        </a:graphic>
      </p:graphicFrame>
      <p:sp>
        <p:nvSpPr>
          <p:cNvPr id="6" name="placement-why">
            <a:extLst>
              <a:ext uri="{FF2B5EF4-FFF2-40B4-BE49-F238E27FC236}">
                <a16:creationId xmlns:a16="http://schemas.microsoft.com/office/drawing/2014/main" id="{40E3109C-CA6A-4814-9319-93A705A43125}"/>
              </a:ext>
            </a:extLst>
          </p:cNvPr>
          <p:cNvSpPr>
            <a:spLocks noGrp="1"/>
          </p:cNvSpPr>
          <p:nvPr/>
        </p:nvSpPr>
        <p:spPr>
          <a:xfrm>
            <a:off x="571500" y="4695825"/>
            <a:ext cx="10953750" cy="809625"/>
          </a:xfrm>
          <a:prstGeom prst="rect">
            <a:avLst/>
          </a:prstGeom>
          <a:noFill/>
          <a:ln w="0">
            <a:noFill/>
          </a:ln>
        </p:spPr>
        <p:txBody>
          <a:bodyPr wrap="square" lIns="0" tIns="0" rIns="0" bIns="0" anchor="t">
            <a:noAutofit/>
          </a:bodyPr>
          <a:lstStyle>
            <a:defPPr>
              <a:defRPr sz="1875" b="0">
                <a:solidFill>
                  <a:srgbClr val="172738"/>
                </a:solidFill>
                <a:latin typeface="Apple SD Gothic Neo"/>
                <a:ea typeface="Apple SD Gothic Neo"/>
                <a:cs typeface="Apple SD Gothic Neo"/>
              </a:defRPr>
            </a:defPPr>
          </a:lstStyle>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한 Plane에 서로 먼 영역의 요청이 섞이면 물리 페이지 순서가 자주 끊깁니다.</a:t>
            </a:r>
          </a:p>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영역별 Plane 묶음을 분리하면 각 Plane에서 다음 페이지로 진행하기 쉬워집니다.</a:t>
            </a:r>
          </a:p>
        </p:txBody>
      </p:sp>
      <p:sp>
        <p:nvSpPr>
          <p:cNvPr id="7" name="mapping-not-wiring">
            <a:extLst>
              <a:ext uri="{FF2B5EF4-FFF2-40B4-BE49-F238E27FC236}">
                <a16:creationId xmlns:a16="http://schemas.microsoft.com/office/drawing/2014/main" id="{170064C2-A64C-46F5-821F-30DFB6DAE6B9}"/>
              </a:ext>
            </a:extLst>
          </p:cNvPr>
          <p:cNvSpPr>
            <a:spLocks noGrp="1"/>
          </p:cNvSpPr>
          <p:nvPr/>
        </p:nvSpPr>
        <p:spPr>
          <a:xfrm>
            <a:off x="571500" y="5638800"/>
            <a:ext cx="10953750" cy="581025"/>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이 실험은 Port별로 다른 논리 영역을 읽습니다. Channel과 Plane 선택은 주소가 결정하며,</a:t>
            </a:r>
          </a:p>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Port를 특정 Channel에 고정하는 구조가 아닙니다.</a:t>
            </a:r>
          </a:p>
        </p:txBody>
      </p:sp>
    </p:spTree>
    <p:extLst>
      <p:ext uri="{BB962C8B-B14F-4D97-AF65-F5344CB8AC3E}">
        <p14:creationId xmlns:p14="http://schemas.microsoft.com/office/powerpoint/2010/main" val="1615964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A8DE21D7-411E-4DEB-8DE7-35589ACB1382}"/>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3. 버퍼와 Port별 Outstanding의 공동 조정</a:t>
            </a:r>
          </a:p>
        </p:txBody>
      </p:sp>
      <p:sp>
        <p:nvSpPr>
          <p:cNvPr id="2" name="subtitle">
            <a:extLst>
              <a:ext uri="{FF2B5EF4-FFF2-40B4-BE49-F238E27FC236}">
                <a16:creationId xmlns:a16="http://schemas.microsoft.com/office/drawing/2014/main" id="{019C64FC-16FF-4147-8E4F-67CA51C1E87E}"/>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8MiB에서는 QD 512/Port가 4개 Port의 동시 진행을 유지했습니다.</a:t>
            </a:r>
          </a:p>
        </p:txBody>
      </p:sp>
      <p:sp>
        <p:nvSpPr>
          <p:cNvPr id="3" name="footer">
            <a:extLst>
              <a:ext uri="{FF2B5EF4-FFF2-40B4-BE49-F238E27FC236}">
                <a16:creationId xmlns:a16="http://schemas.microsoft.com/office/drawing/2014/main" id="{CDDD334E-5723-41C3-83BF-5D60F7B8C17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64 Plane, 영역 배치, PF OFF. 초기 200µs 제외 후 200–2,200µs 고정 평균</a:t>
            </a:r>
          </a:p>
        </p:txBody>
      </p:sp>
      <p:sp>
        <p:nvSpPr>
          <p:cNvPr id="4" name="page">
            <a:extLst>
              <a:ext uri="{FF2B5EF4-FFF2-40B4-BE49-F238E27FC236}">
                <a16:creationId xmlns:a16="http://schemas.microsoft.com/office/drawing/2014/main" id="{9A6FB43E-9AE0-4C46-AEBF-7D6AD0475985}"/>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09</a:t>
            </a:r>
          </a:p>
        </p:txBody>
      </p:sp>
      <p:sp>
        <p:nvSpPr>
          <p:cNvPr id="5" name="chart-unit">
            <a:extLst>
              <a:ext uri="{FF2B5EF4-FFF2-40B4-BE49-F238E27FC236}">
                <a16:creationId xmlns:a16="http://schemas.microsoft.com/office/drawing/2014/main" id="{5762372C-5FF8-4C80-9E4E-E07264370F2A}"/>
              </a:ext>
            </a:extLst>
          </p:cNvPr>
          <p:cNvSpPr>
            <a:spLocks noGrp="1"/>
          </p:cNvSpPr>
          <p:nvPr/>
        </p:nvSpPr>
        <p:spPr>
          <a:xfrm>
            <a:off x="571500" y="1724025"/>
            <a:ext cx="6572250" cy="3048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8MiB 버퍼의 처리량 (GB/s)</a:t>
            </a:r>
          </a:p>
        </p:txBody>
      </p:sp>
      <p:graphicFrame>
        <p:nvGraphicFramePr>
          <p:cNvPr id="6" name="Chart">
            <a:extLst>
              <a:ext uri="{FF2B5EF4-FFF2-40B4-BE49-F238E27FC236}">
                <a16:creationId xmlns:a16="http://schemas.microsoft.com/office/drawing/2014/main" id="{4DCA4F78-A2B8-48BF-9550-12891B6FD129}"/>
              </a:ext>
            </a:extLst>
          </p:cNvPr>
          <p:cNvGraphicFramePr/>
          <p:nvPr/>
        </p:nvGraphicFramePr>
        <p:xfrm>
          <a:off x="533400" y="2047875"/>
          <a:ext cx="6629400" cy="2686050"/>
        </p:xfrm>
        <a:graphic>
          <a:graphicData uri="http://schemas.openxmlformats.org/drawingml/2006/chart">
            <c:chart xmlns:c="http://schemas.openxmlformats.org/drawingml/2006/chart" xmlns:r="http://schemas.openxmlformats.org/officeDocument/2006/relationships" r:id="rId3"/>
          </a:graphicData>
        </a:graphic>
      </p:graphicFrame>
      <p:sp>
        <p:nvSpPr>
          <p:cNvPr id="7" name="qd-effect">
            <a:extLst>
              <a:ext uri="{FF2B5EF4-FFF2-40B4-BE49-F238E27FC236}">
                <a16:creationId xmlns:a16="http://schemas.microsoft.com/office/drawing/2014/main" id="{0D2353CC-B97B-4F36-A0C4-CD9D8E2FF1F7}"/>
              </a:ext>
            </a:extLst>
          </p:cNvPr>
          <p:cNvSpPr>
            <a:spLocks noGrp="1"/>
          </p:cNvSpPr>
          <p:nvPr/>
        </p:nvSpPr>
        <p:spPr>
          <a:xfrm>
            <a:off x="7572375" y="1819275"/>
            <a:ext cx="4067175" cy="695325"/>
          </a:xfrm>
          <a:prstGeom prst="rect">
            <a:avLst/>
          </a:prstGeom>
          <a:noFill/>
          <a:ln w="0">
            <a:noFill/>
          </a:ln>
        </p:spPr>
        <p:txBody>
          <a:bodyPr wrap="square" lIns="0" tIns="0" rIns="0" bIns="0" anchor="t">
            <a:noAutofit/>
          </a:bodyPr>
          <a:lstStyle>
            <a:defPPr>
              <a:defRPr sz="1950" b="1">
                <a:solidFill>
                  <a:srgbClr val="126DCA"/>
                </a:solidFill>
                <a:latin typeface="Apple SD Gothic Neo"/>
                <a:ea typeface="Apple SD Gothic Neo"/>
                <a:cs typeface="Apple SD Gothic Neo"/>
              </a:defRPr>
            </a:defPPr>
          </a:lstStyle>
          <a:p>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QD가 작으면 준비할 요청이 부족합니다.</a:t>
            </a:r>
          </a:p>
        </p:txBody>
      </p:sp>
      <p:sp>
        <p:nvSpPr>
          <p:cNvPr id="8" name="qd-effect-2">
            <a:extLst>
              <a:ext uri="{FF2B5EF4-FFF2-40B4-BE49-F238E27FC236}">
                <a16:creationId xmlns:a16="http://schemas.microsoft.com/office/drawing/2014/main" id="{48E12F9D-0A34-4754-9695-56B857F9A4B2}"/>
              </a:ext>
            </a:extLst>
          </p:cNvPr>
          <p:cNvSpPr>
            <a:spLocks noGrp="1"/>
          </p:cNvSpPr>
          <p:nvPr/>
        </p:nvSpPr>
        <p:spPr>
          <a:xfrm>
            <a:off x="7572375" y="2705100"/>
            <a:ext cx="4067175" cy="142875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QD가 너무 크면 앞선 Port가</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공유 버퍼를 먼저 예약합니다.</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다른 Port의 실제 outstanding이</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줄면서 병렬성이 무너집니다.</a:t>
            </a:r>
          </a:p>
        </p:txBody>
      </p:sp>
      <p:sp>
        <p:nvSpPr>
          <p:cNvPr id="9" name="actual-qd-caption">
            <a:extLst>
              <a:ext uri="{FF2B5EF4-FFF2-40B4-BE49-F238E27FC236}">
                <a16:creationId xmlns:a16="http://schemas.microsoft.com/office/drawing/2014/main" id="{0921D1BA-53AF-4809-9C6C-002CC3EA1E34}"/>
              </a:ext>
            </a:extLst>
          </p:cNvPr>
          <p:cNvSpPr>
            <a:spLocks noGrp="1"/>
          </p:cNvSpPr>
          <p:nvPr/>
        </p:nvSpPr>
        <p:spPr>
          <a:xfrm>
            <a:off x="7572375" y="4438650"/>
            <a:ext cx="4067175" cy="323850"/>
          </a:xfrm>
          <a:prstGeom prst="rect">
            <a:avLst/>
          </a:prstGeom>
          <a:noFill/>
          <a:ln w="0">
            <a:noFill/>
          </a:ln>
        </p:spPr>
        <p:txBody>
          <a:bodyPr wrap="square" lIns="0" tIns="0" rIns="0" bIns="0" anchor="t">
            <a:noAutofit/>
          </a:bodyPr>
          <a:lstStyle>
            <a:defPPr>
              <a:defRPr sz="1575" b="0">
                <a:solidFill>
                  <a:srgbClr val="586875"/>
                </a:solidFill>
                <a:latin typeface="Apple SD Gothic Neo"/>
                <a:ea typeface="Apple SD Gothic Neo"/>
                <a:cs typeface="Apple SD Gothic Neo"/>
              </a:defRPr>
            </a:defPPr>
          </a:lstStyle>
          <a:p>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아래 표: 실제 outstanding 평균 (개)</a:t>
            </a:r>
          </a:p>
        </p:txBody>
      </p:sp>
      <p:graphicFrame>
        <p:nvGraphicFramePr>
          <p:cNvPr id="10" name="actual-qd">
            <a:extLst>
              <a:ext uri="{FF2B5EF4-FFF2-40B4-BE49-F238E27FC236}">
                <a16:creationId xmlns:a16="http://schemas.microsoft.com/office/drawing/2014/main" id="{8F3C1A6D-7F19-4CF3-BDF9-8FC230F1F16B}"/>
              </a:ext>
            </a:extLst>
          </p:cNvPr>
          <p:cNvGraphicFramePr/>
          <p:nvPr/>
        </p:nvGraphicFramePr>
        <p:xfrm>
          <a:off x="533400" y="4867275"/>
          <a:ext cx="11125200" cy="1325880"/>
        </p:xfrm>
        <a:graphic>
          <a:graphicData uri="http://schemas.openxmlformats.org/drawingml/2006/table">
            <a:tbl>
              <a:tblPr/>
              <a:tblGrid>
                <a:gridCol w="255270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gridCol w="2143125">
                  <a:extLst>
                    <a:ext uri="{9D8B030D-6E8A-4147-A177-3AD203B41FA5}">
                      <a16:colId xmlns:a16="http://schemas.microsoft.com/office/drawing/2014/main" val="20004"/>
                    </a:ext>
                  </a:extLst>
                </a:gridCol>
              </a:tblGrid>
              <a:tr h="419100">
                <a:tc>
                  <a:txBody>
                    <a:bodyPr/>
                    <a:lstStyle/>
                    <a:p>
                      <a:r>
                        <a:rPr sz="1650" b="1">
                          <a:solidFill>
                            <a:srgbClr val="FFFFFF"/>
                          </a:solidFill>
                          <a:latin typeface="Apple SD Gothic Neo"/>
                          <a:ea typeface="Apple SD Gothic Neo"/>
                          <a:cs typeface="Apple SD Gothic Neo"/>
                        </a:rPr>
                        <a:t>A1 설정 QD/Port</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0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1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2 평균</a:t>
                      </a:r>
                    </a:p>
                  </a:txBody>
                  <a:tcPr marL="133350" marR="133350" marT="95250" marB="95250" anchor="ctr">
                    <a:solidFill>
                      <a:srgbClr val="122C40"/>
                    </a:solidFill>
                  </a:tcPr>
                </a:tc>
                <a:tc>
                  <a:txBody>
                    <a:bodyPr/>
                    <a:lstStyle/>
                    <a:p>
                      <a:r>
                        <a:rPr sz="1650" b="1">
                          <a:solidFill>
                            <a:srgbClr val="FFFFFF"/>
                          </a:solidFill>
                          <a:latin typeface="Apple SD Gothic Neo"/>
                          <a:ea typeface="Apple SD Gothic Neo"/>
                          <a:cs typeface="Apple SD Gothic Neo"/>
                        </a:rPr>
                        <a:t>Port 3 평균</a:t>
                      </a:r>
                    </a:p>
                  </a:txBody>
                  <a:tcPr marL="133350" marR="133350" marT="95250" marB="95250" anchor="ctr">
                    <a:solidFill>
                      <a:srgbClr val="122C40"/>
                    </a:solidFill>
                  </a:tcPr>
                </a:tc>
                <a:extLst>
                  <a:ext uri="{0D108BD9-81ED-4DB2-BD59-A6C34878D82A}">
                    <a16:rowId xmlns:a16="http://schemas.microsoft.com/office/drawing/2014/main" val="10000"/>
                  </a:ext>
                </a:extLst>
              </a:tr>
              <a:tr h="419100">
                <a:tc>
                  <a:txBody>
                    <a:bodyPr/>
                    <a:lstStyle/>
                    <a:p>
                      <a:r>
                        <a:rPr sz="165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511.4</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510.6</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510.3</a:t>
                      </a:r>
                    </a:p>
                  </a:txBody>
                  <a:tcPr marL="133350" marR="133350" marT="95250" marB="95250" anchor="ctr">
                    <a:solidFill>
                      <a:srgbClr val="FFFFFF"/>
                    </a:solidFill>
                  </a:tcPr>
                </a:tc>
                <a:tc>
                  <a:txBody>
                    <a:bodyPr/>
                    <a:lstStyle/>
                    <a:p>
                      <a:r>
                        <a:rPr sz="1650" b="0">
                          <a:solidFill>
                            <a:srgbClr val="172738"/>
                          </a:solidFill>
                          <a:latin typeface="Apple SD Gothic Neo"/>
                          <a:ea typeface="Apple SD Gothic Neo"/>
                          <a:cs typeface="Apple SD Gothic Neo"/>
                        </a:rPr>
                        <a:t>474.5</a:t>
                      </a:r>
                    </a:p>
                  </a:txBody>
                  <a:tcPr marL="133350" marR="133350" marT="95250" marB="95250" anchor="ctr">
                    <a:solidFill>
                      <a:srgbClr val="FFFFFF"/>
                    </a:solidFill>
                  </a:tcPr>
                </a:tc>
                <a:extLst>
                  <a:ext uri="{0D108BD9-81ED-4DB2-BD59-A6C34878D82A}">
                    <a16:rowId xmlns:a16="http://schemas.microsoft.com/office/drawing/2014/main" val="10001"/>
                  </a:ext>
                </a:extLst>
              </a:tr>
              <a:tr h="419100">
                <a:tc>
                  <a:txBody>
                    <a:bodyPr/>
                    <a:lstStyle/>
                    <a:p>
                      <a:r>
                        <a:rPr sz="1650" b="0">
                          <a:solidFill>
                            <a:srgbClr val="172738"/>
                          </a:solidFill>
                          <a:latin typeface="Apple SD Gothic Neo"/>
                          <a:ea typeface="Apple SD Gothic Neo"/>
                          <a:cs typeface="Apple SD Gothic Neo"/>
                        </a:rPr>
                        <a:t>2,048</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2026.5</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7954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
            <a:extLst>
              <a:ext uri="{FF2B5EF4-FFF2-40B4-BE49-F238E27FC236}">
                <a16:creationId xmlns:a16="http://schemas.microsoft.com/office/drawing/2014/main" id="{CFE0F642-ADF1-45FF-B886-B9770B8CD176}"/>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현재 확인된 실행 기준</a:t>
            </a:r>
          </a:p>
        </p:txBody>
      </p:sp>
      <p:sp>
        <p:nvSpPr>
          <p:cNvPr id="2" name="subtitle">
            <a:extLst>
              <a:ext uri="{FF2B5EF4-FFF2-40B4-BE49-F238E27FC236}">
                <a16:creationId xmlns:a16="http://schemas.microsoft.com/office/drawing/2014/main" id="{CA027FDD-FE48-45B6-96B3-3C7D30C007B0}"/>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8MiB와 QD 512/Port의 조합으로 A1/A2가 Host IF 256GB/s에 근접했습니다.</a:t>
            </a:r>
          </a:p>
        </p:txBody>
      </p:sp>
      <p:sp>
        <p:nvSpPr>
          <p:cNvPr id="3" name="footer">
            <a:extLst>
              <a:ext uri="{FF2B5EF4-FFF2-40B4-BE49-F238E27FC236}">
                <a16:creationId xmlns:a16="http://schemas.microsoft.com/office/drawing/2014/main" id="{73205BCE-169E-43BC-89E2-02BA9D7F154F}"/>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관측 범위: seed 7, 지속 부하 2.2ms. 아래 처리량은 초기 200µs를 제외한 고정 2ms 평균</a:t>
            </a:r>
          </a:p>
        </p:txBody>
      </p:sp>
      <p:sp>
        <p:nvSpPr>
          <p:cNvPr id="4" name="page">
            <a:extLst>
              <a:ext uri="{FF2B5EF4-FFF2-40B4-BE49-F238E27FC236}">
                <a16:creationId xmlns:a16="http://schemas.microsoft.com/office/drawing/2014/main" id="{D98881DD-DC6E-4387-A458-C7A37683D145}"/>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10</a:t>
            </a:r>
          </a:p>
        </p:txBody>
      </p:sp>
      <p:graphicFrame>
        <p:nvGraphicFramePr>
          <p:cNvPr id="5" name="buffer-choices">
            <a:extLst>
              <a:ext uri="{FF2B5EF4-FFF2-40B4-BE49-F238E27FC236}">
                <a16:creationId xmlns:a16="http://schemas.microsoft.com/office/drawing/2014/main" id="{104E32BF-C2C4-4431-BE2A-44043EE20CA3}"/>
              </a:ext>
            </a:extLst>
          </p:cNvPr>
          <p:cNvGraphicFramePr/>
          <p:nvPr/>
        </p:nvGraphicFramePr>
        <p:xfrm>
          <a:off x="533400" y="1943100"/>
          <a:ext cx="7410450" cy="2171700"/>
        </p:xfrm>
        <a:graphic>
          <a:graphicData uri="http://schemas.openxmlformats.org/drawingml/2006/table">
            <a:tbl>
              <a:tblPr/>
              <a:tblGrid>
                <a:gridCol w="260985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542925">
                <a:tc>
                  <a:txBody>
                    <a:bodyPr/>
                    <a:lstStyle/>
                    <a:p>
                      <a:r>
                        <a:rPr sz="1800" b="1">
                          <a:solidFill>
                            <a:srgbClr val="FFFFFF"/>
                          </a:solidFill>
                          <a:latin typeface="Apple SD Gothic Neo"/>
                          <a:ea typeface="Apple SD Gothic Neo"/>
                          <a:cs typeface="Apple SD Gothic Neo"/>
                        </a:rPr>
                        <a:t>Controller buffer</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QD / Port</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A1 (GB/s)</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A2 (GB/s)</a:t>
                      </a:r>
                    </a:p>
                  </a:txBody>
                  <a:tcPr marL="133350" marR="133350" marT="95250" marB="95250" anchor="ctr">
                    <a:solidFill>
                      <a:srgbClr val="122C40"/>
                    </a:solidFill>
                  </a:tcPr>
                </a:tc>
                <a:extLst>
                  <a:ext uri="{0D108BD9-81ED-4DB2-BD59-A6C34878D82A}">
                    <a16:rowId xmlns:a16="http://schemas.microsoft.com/office/drawing/2014/main" val="10000"/>
                  </a:ext>
                </a:extLst>
              </a:tr>
              <a:tr h="542925">
                <a:tc>
                  <a:txBody>
                    <a:bodyPr/>
                    <a:lstStyle/>
                    <a:p>
                      <a:r>
                        <a:rPr sz="1800" b="0">
                          <a:solidFill>
                            <a:srgbClr val="172738"/>
                          </a:solidFill>
                          <a:latin typeface="Apple SD Gothic Neo"/>
                          <a:ea typeface="Apple SD Gothic Neo"/>
                          <a:cs typeface="Apple SD Gothic Neo"/>
                        </a:rPr>
                        <a:t>4MiB</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256</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234.48</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239.90</a:t>
                      </a:r>
                    </a:p>
                  </a:txBody>
                  <a:tcPr marL="133350" marR="133350" marT="95250" marB="95250" anchor="ctr">
                    <a:solidFill>
                      <a:srgbClr val="FFFFFF"/>
                    </a:solidFill>
                  </a:tcPr>
                </a:tc>
                <a:extLst>
                  <a:ext uri="{0D108BD9-81ED-4DB2-BD59-A6C34878D82A}">
                    <a16:rowId xmlns:a16="http://schemas.microsoft.com/office/drawing/2014/main" val="10001"/>
                  </a:ext>
                </a:extLst>
              </a:tr>
              <a:tr h="542925">
                <a:tc>
                  <a:txBody>
                    <a:bodyPr/>
                    <a:lstStyle/>
                    <a:p>
                      <a:r>
                        <a:rPr sz="1800" b="0">
                          <a:solidFill>
                            <a:srgbClr val="172738"/>
                          </a:solidFill>
                          <a:latin typeface="Apple SD Gothic Neo"/>
                          <a:ea typeface="Apple SD Gothic Neo"/>
                          <a:cs typeface="Apple SD Gothic Neo"/>
                        </a:rPr>
                        <a:t>8MiB</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255.06</a:t>
                      </a:r>
                    </a:p>
                  </a:txBody>
                  <a:tcPr marL="133350" marR="133350" marT="95250" marB="95250" anchor="ctr">
                    <a:solidFill>
                      <a:srgbClr val="F1F5F8"/>
                    </a:solidFill>
                  </a:tcPr>
                </a:tc>
                <a:extLst>
                  <a:ext uri="{0D108BD9-81ED-4DB2-BD59-A6C34878D82A}">
                    <a16:rowId xmlns:a16="http://schemas.microsoft.com/office/drawing/2014/main" val="10002"/>
                  </a:ext>
                </a:extLst>
              </a:tr>
              <a:tr h="542925">
                <a:tc>
                  <a:txBody>
                    <a:bodyPr/>
                    <a:lstStyle/>
                    <a:p>
                      <a:r>
                        <a:rPr sz="1800" b="0">
                          <a:solidFill>
                            <a:srgbClr val="172738"/>
                          </a:solidFill>
                          <a:latin typeface="Apple SD Gothic Neo"/>
                          <a:ea typeface="Apple SD Gothic Neo"/>
                          <a:cs typeface="Apple SD Gothic Neo"/>
                        </a:rPr>
                        <a:t>16MiB</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255.21</a:t>
                      </a:r>
                    </a:p>
                  </a:txBody>
                  <a:tcPr marL="133350" marR="13335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current-configuration">
            <a:extLst>
              <a:ext uri="{FF2B5EF4-FFF2-40B4-BE49-F238E27FC236}">
                <a16:creationId xmlns:a16="http://schemas.microsoft.com/office/drawing/2014/main" id="{90BCAF51-5CD3-43EE-B775-2DFDAD8130BA}"/>
              </a:ext>
            </a:extLst>
          </p:cNvPr>
          <p:cNvSpPr>
            <a:spLocks noGrp="1"/>
          </p:cNvSpPr>
          <p:nvPr/>
        </p:nvSpPr>
        <p:spPr>
          <a:xfrm>
            <a:off x="8382000" y="1943100"/>
            <a:ext cx="3228975" cy="4191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공통 조건</a:t>
            </a:r>
          </a:p>
        </p:txBody>
      </p:sp>
      <p:sp>
        <p:nvSpPr>
          <p:cNvPr id="7" name="current-configuration-detail">
            <a:extLst>
              <a:ext uri="{FF2B5EF4-FFF2-40B4-BE49-F238E27FC236}">
                <a16:creationId xmlns:a16="http://schemas.microsoft.com/office/drawing/2014/main" id="{14BA4A00-A069-4B0D-879A-9F5770D976BE}"/>
              </a:ext>
            </a:extLst>
          </p:cNvPr>
          <p:cNvSpPr>
            <a:spLocks noGrp="1"/>
          </p:cNvSpPr>
          <p:nvPr/>
        </p:nvSpPr>
        <p:spPr>
          <a:xfrm>
            <a:off x="8382000" y="2514600"/>
            <a:ext cx="3228975" cy="1685925"/>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4 Port, 4 Channel</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16 Plane</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영역별 L2P 배치</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PF OFF</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a:t>
            </a:r>
          </a:p>
        </p:txBody>
      </p:sp>
      <p:sp>
        <p:nvSpPr>
          <p:cNvPr id="8" name="buffer-choice-explanation">
            <a:extLst>
              <a:ext uri="{FF2B5EF4-FFF2-40B4-BE49-F238E27FC236}">
                <a16:creationId xmlns:a16="http://schemas.microsoft.com/office/drawing/2014/main" id="{7691E53A-EE92-41B6-A45E-67854C11798A}"/>
              </a:ext>
            </a:extLst>
          </p:cNvPr>
          <p:cNvSpPr>
            <a:spLocks noGrp="1"/>
          </p:cNvSpPr>
          <p:nvPr/>
        </p:nvSpPr>
        <p:spPr>
          <a:xfrm>
            <a:off x="571500" y="4543425"/>
            <a:ext cx="10991850" cy="819150"/>
          </a:xfrm>
          <a:prstGeom prst="rect">
            <a:avLst/>
          </a:prstGeom>
          <a:noFill/>
          <a:ln w="0">
            <a:noFill/>
          </a:ln>
        </p:spPr>
        <p:txBody>
          <a:bodyPr wrap="square" lIns="0" tIns="0" rIns="0" bIns="0" anchor="t">
            <a:noAutofit/>
          </a:bodyPr>
          <a:lstStyle>
            <a:defPPr>
              <a:defRPr sz="1875" b="0">
                <a:solidFill>
                  <a:srgbClr val="172738"/>
                </a:solidFill>
                <a:latin typeface="Apple SD Gothic Neo"/>
                <a:ea typeface="Apple SD Gothic Neo"/>
                <a:cs typeface="Apple SD Gothic Neo"/>
              </a:defRPr>
            </a:defPPr>
          </a:lstStyle>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측정한 조합에서는 4MiB도 200GB/s를 넘었습니다.</a:t>
            </a:r>
          </a:p>
          <a:p>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16MiB는 8MiB와 처리량이 비슷하므로, 현재 부하에서는 8MiB가 유효한 기준점입니다.</a:t>
            </a:r>
          </a:p>
        </p:txBody>
      </p:sp>
      <p:sp>
        <p:nvSpPr>
          <p:cNvPr id="9" name="partial-read-limit">
            <a:extLst>
              <a:ext uri="{FF2B5EF4-FFF2-40B4-BE49-F238E27FC236}">
                <a16:creationId xmlns:a16="http://schemas.microsoft.com/office/drawing/2014/main" id="{37BF2D31-4BAD-4B59-B839-A6051A93BD4A}"/>
              </a:ext>
            </a:extLst>
          </p:cNvPr>
          <p:cNvSpPr>
            <a:spLocks noGrp="1"/>
          </p:cNvSpPr>
          <p:nvPr/>
        </p:nvSpPr>
        <p:spPr>
          <a:xfrm>
            <a:off x="571500" y="5505450"/>
            <a:ext cx="11001375" cy="704850"/>
          </a:xfrm>
          <a:prstGeom prst="rect">
            <a:avLst/>
          </a:prstGeom>
          <a:noFill/>
          <a:ln w="0">
            <a:noFill/>
          </a:ln>
        </p:spPr>
        <p:txBody>
          <a:bodyPr wrap="square" lIns="0" tIns="0" rIns="0" bIns="0" anchor="t">
            <a:noAutofit/>
          </a:bodyPr>
          <a:lstStyle>
            <a:defPPr>
              <a:defRPr sz="1725" b="0">
                <a:solidFill>
                  <a:srgbClr val="586875"/>
                </a:solidFill>
                <a:latin typeface="Apple SD Gothic Neo"/>
                <a:ea typeface="Apple SD Gothic Neo"/>
                <a:cs typeface="Apple SD Gothic Neo"/>
              </a:defRPr>
            </a:defPPr>
          </a:lstStyle>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64B 부분 읽기 B1/B2는 같은 8MiB·QD512에서 약 4GB/s입니다.</a:t>
            </a:r>
          </a:p>
          <a:p>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현재 모델의 전체 16KiB NAND 전송 중 유효 데이터가 256B여서, A의 수치를 그대로 적용할 수 없습니다.</a:t>
            </a:r>
          </a:p>
        </p:txBody>
      </p:sp>
    </p:spTree>
    <p:extLst>
      <p:ext uri="{BB962C8B-B14F-4D97-AF65-F5344CB8AC3E}">
        <p14:creationId xmlns:p14="http://schemas.microsoft.com/office/powerpoint/2010/main" val="996841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itle">
            <a:extLst>
              <a:ext uri="{FF2B5EF4-FFF2-40B4-BE49-F238E27FC236}">
                <a16:creationId xmlns:a16="http://schemas.microsoft.com/office/drawing/2014/main" id="{24D2D394-2556-4E5F-99A2-868E09AFD357}"/>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비교 조건과 적용 범위</a:t>
            </a:r>
          </a:p>
        </p:txBody>
      </p:sp>
      <p:sp>
        <p:nvSpPr>
          <p:cNvPr id="2" name="subtitle">
            <a:extLst>
              <a:ext uri="{FF2B5EF4-FFF2-40B4-BE49-F238E27FC236}">
                <a16:creationId xmlns:a16="http://schemas.microsoft.com/office/drawing/2014/main" id="{0A030419-B32F-4325-8771-AB045D499349}"/>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실험 안의 전후 비교로 효과를 판단하고, 서로 다른 실험의 증가율은 합산하지 않습니다.</a:t>
            </a:r>
          </a:p>
        </p:txBody>
      </p:sp>
      <p:sp>
        <p:nvSpPr>
          <p:cNvPr id="3" name="footer">
            <a:extLst>
              <a:ext uri="{FF2B5EF4-FFF2-40B4-BE49-F238E27FC236}">
                <a16:creationId xmlns:a16="http://schemas.microsoft.com/office/drawing/2014/main" id="{4499C99B-7977-4CF8-B619-EA2FEA9D7E4B}"/>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원자료 기준 커밋: 22d9b33    상세 경로와 설명은 슬라이드 노트 및 동봉 문서 참조</a:t>
            </a:r>
          </a:p>
        </p:txBody>
      </p:sp>
      <p:sp>
        <p:nvSpPr>
          <p:cNvPr id="4" name="page">
            <a:extLst>
              <a:ext uri="{FF2B5EF4-FFF2-40B4-BE49-F238E27FC236}">
                <a16:creationId xmlns:a16="http://schemas.microsoft.com/office/drawing/2014/main" id="{D05A805D-7577-4D96-966D-C546F45C083A}"/>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11</a:t>
            </a:r>
          </a:p>
        </p:txBody>
      </p:sp>
      <p:graphicFrame>
        <p:nvGraphicFramePr>
          <p:cNvPr id="5" name="comparison-contract">
            <a:extLst>
              <a:ext uri="{FF2B5EF4-FFF2-40B4-BE49-F238E27FC236}">
                <a16:creationId xmlns:a16="http://schemas.microsoft.com/office/drawing/2014/main" id="{E9888A42-A81E-4087-8D16-434F95A1CB41}"/>
              </a:ext>
            </a:extLst>
          </p:cNvPr>
          <p:cNvGraphicFramePr/>
          <p:nvPr/>
        </p:nvGraphicFramePr>
        <p:xfrm>
          <a:off x="533400" y="1866900"/>
          <a:ext cx="11125200" cy="2171700"/>
        </p:xfrm>
        <a:graphic>
          <a:graphicData uri="http://schemas.openxmlformats.org/drawingml/2006/table">
            <a:tbl>
              <a:tblPr/>
              <a:tblGrid>
                <a:gridCol w="2590800">
                  <a:extLst>
                    <a:ext uri="{9D8B030D-6E8A-4147-A177-3AD203B41FA5}">
                      <a16:colId xmlns:a16="http://schemas.microsoft.com/office/drawing/2014/main" val="20000"/>
                    </a:ext>
                  </a:extLst>
                </a:gridCol>
                <a:gridCol w="4457700">
                  <a:extLst>
                    <a:ext uri="{9D8B030D-6E8A-4147-A177-3AD203B41FA5}">
                      <a16:colId xmlns:a16="http://schemas.microsoft.com/office/drawing/2014/main" val="20001"/>
                    </a:ext>
                  </a:extLst>
                </a:gridCol>
                <a:gridCol w="4076700">
                  <a:extLst>
                    <a:ext uri="{9D8B030D-6E8A-4147-A177-3AD203B41FA5}">
                      <a16:colId xmlns:a16="http://schemas.microsoft.com/office/drawing/2014/main" val="20002"/>
                    </a:ext>
                  </a:extLst>
                </a:gridCol>
              </a:tblGrid>
              <a:tr h="542925">
                <a:tc>
                  <a:txBody>
                    <a:bodyPr/>
                    <a:lstStyle/>
                    <a:p>
                      <a:r>
                        <a:rPr sz="1725" b="1">
                          <a:solidFill>
                            <a:srgbClr val="FFFFFF"/>
                          </a:solidFill>
                          <a:latin typeface="Apple SD Gothic Neo"/>
                          <a:ea typeface="Apple SD Gothic Neo"/>
                          <a:cs typeface="Apple SD Gothic Neo"/>
                        </a:rPr>
                        <a:t>자료의 비교</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측정 방식</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구분할 조건</a:t>
                      </a:r>
                    </a:p>
                  </a:txBody>
                  <a:tcPr marL="133350" marR="133350" marT="95250" marB="95250" anchor="ctr">
                    <a:solidFill>
                      <a:srgbClr val="122C40"/>
                    </a:solidFill>
                  </a:tcPr>
                </a:tc>
                <a:extLst>
                  <a:ext uri="{0D108BD9-81ED-4DB2-BD59-A6C34878D82A}">
                    <a16:rowId xmlns:a16="http://schemas.microsoft.com/office/drawing/2014/main" val="10000"/>
                  </a:ext>
                </a:extLst>
              </a:tr>
              <a:tr h="542925">
                <a:tc>
                  <a:txBody>
                    <a:bodyPr/>
                    <a:lstStyle/>
                    <a:p>
                      <a:r>
                        <a:rPr sz="1725" b="0">
                          <a:solidFill>
                            <a:srgbClr val="172738"/>
                          </a:solidFill>
                          <a:latin typeface="Apple SD Gothic Neo"/>
                          <a:ea typeface="Apple SD Gothic Neo"/>
                          <a:cs typeface="Apple SD Gothic Neo"/>
                        </a:rPr>
                        <a:t>1. CA 스케줄링</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32 Plane, PF ON</a:t>
                      </a:r>
                    </a:p>
                  </a:txBody>
                  <a:tcPr marL="133350" marR="133350" marT="95250" marB="95250" anchor="ctr">
                    <a:solidFill>
                      <a:srgbClr val="FFFFFF"/>
                    </a:solidFill>
                  </a:tcPr>
                </a:tc>
                <a:extLst>
                  <a:ext uri="{0D108BD9-81ED-4DB2-BD59-A6C34878D82A}">
                    <a16:rowId xmlns:a16="http://schemas.microsoft.com/office/drawing/2014/main" val="10001"/>
                  </a:ext>
                </a:extLst>
              </a:tr>
              <a:tr h="542925">
                <a:tc>
                  <a:txBody>
                    <a:bodyPr/>
                    <a:lstStyle/>
                    <a:p>
                      <a:r>
                        <a:rPr sz="1725" b="0">
                          <a:solidFill>
                            <a:srgbClr val="172738"/>
                          </a:solidFill>
                          <a:latin typeface="Apple SD Gothic Neo"/>
                          <a:ea typeface="Apple SD Gothic Neo"/>
                          <a:cs typeface="Apple SD Gothic Neo"/>
                        </a:rPr>
                        <a:t>2. Plane과 배치</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32/64 Plane, PF OFF</a:t>
                      </a:r>
                    </a:p>
                  </a:txBody>
                  <a:tcPr marL="133350" marR="133350" marT="95250" marB="95250" anchor="ctr">
                    <a:solidFill>
                      <a:srgbClr val="F1F5F8"/>
                    </a:solidFill>
                  </a:tcPr>
                </a:tc>
                <a:extLst>
                  <a:ext uri="{0D108BD9-81ED-4DB2-BD59-A6C34878D82A}">
                    <a16:rowId xmlns:a16="http://schemas.microsoft.com/office/drawing/2014/main" val="10002"/>
                  </a:ext>
                </a:extLst>
              </a:tr>
              <a:tr h="542925">
                <a:tc>
                  <a:txBody>
                    <a:bodyPr/>
                    <a:lstStyle/>
                    <a:p>
                      <a:r>
                        <a:rPr sz="1725" b="0">
                          <a:solidFill>
                            <a:srgbClr val="172738"/>
                          </a:solidFill>
                          <a:latin typeface="Apple SD Gothic Neo"/>
                          <a:ea typeface="Apple SD Gothic Neo"/>
                          <a:cs typeface="Apple SD Gothic Neo"/>
                        </a:rPr>
                        <a:t>3. 버퍼와 QD</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지속 공급 중 고정 2ms 평균</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64 Plane, PF OFF, 종료 drain 제외</a:t>
                      </a:r>
                    </a:p>
                  </a:txBody>
                  <a:tcPr marL="133350" marR="133350" marT="95250" marB="95250" anchor="ctr">
                    <a:solidFill>
                      <a:srgbClr val="FFFFFF"/>
                    </a:solidFill>
                  </a:tcPr>
                </a:tc>
                <a:extLst>
                  <a:ext uri="{0D108BD9-81ED-4DB2-BD59-A6C34878D82A}">
                    <a16:rowId xmlns:a16="http://schemas.microsoft.com/office/drawing/2014/main" val="10003"/>
                  </a:ext>
                </a:extLst>
              </a:tr>
            </a:tbl>
          </a:graphicData>
        </a:graphic>
      </p:graphicFrame>
      <p:sp>
        <p:nvSpPr>
          <p:cNvPr id="6" name="tr-preserved">
            <a:extLst>
              <a:ext uri="{FF2B5EF4-FFF2-40B4-BE49-F238E27FC236}">
                <a16:creationId xmlns:a16="http://schemas.microsoft.com/office/drawing/2014/main" id="{334A7216-6F76-484B-9B59-9F63BE11CDCC}"/>
              </a:ext>
            </a:extLst>
          </p:cNvPr>
          <p:cNvSpPr>
            <a:spLocks noGrp="1"/>
          </p:cNvSpPr>
          <p:nvPr/>
        </p:nvSpPr>
        <p:spPr>
          <a:xfrm>
            <a:off x="571500" y="4381500"/>
            <a:ext cx="10953750" cy="381000"/>
          </a:xfrm>
          <a:prstGeom prst="rect">
            <a:avLst/>
          </a:prstGeom>
          <a:noFill/>
          <a:ln w="0">
            <a:noFill/>
          </a:ln>
        </p:spPr>
        <p:txBody>
          <a:bodyPr wrap="square" lIns="0" tIns="0" rIns="0" bIns="0" anchor="t">
            <a:noAutofit/>
          </a:bodyPr>
          <a:lstStyle>
            <a:defPPr>
              <a:defRPr sz="2100" b="1">
                <a:solidFill>
                  <a:srgbClr val="126DCA"/>
                </a:solidFill>
                <a:latin typeface="Apple SD Gothic Neo"/>
                <a:ea typeface="Apple SD Gothic Neo"/>
                <a:cs typeface="Apple SD Gothic Neo"/>
              </a:defRPr>
            </a:defPPr>
          </a:lstStyle>
          <a:p>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유지한 tR 입력값</a:t>
            </a:r>
          </a:p>
        </p:txBody>
      </p:sp>
      <p:sp>
        <p:nvSpPr>
          <p:cNvPr id="7" name="tr-values">
            <a:extLst>
              <a:ext uri="{FF2B5EF4-FFF2-40B4-BE49-F238E27FC236}">
                <a16:creationId xmlns:a16="http://schemas.microsoft.com/office/drawing/2014/main" id="{E88AE2A3-4A9A-4EB5-A5A6-9103A6F31AC6}"/>
              </a:ext>
            </a:extLst>
          </p:cNvPr>
          <p:cNvSpPr>
            <a:spLocks noGrp="1"/>
          </p:cNvSpPr>
          <p:nvPr/>
        </p:nvSpPr>
        <p:spPr>
          <a:xfrm>
            <a:off x="571500" y="4876800"/>
            <a:ext cx="10953750" cy="38100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Mid 2.08µs    Long 12.16µs    First / Group 20.69µs</a:t>
            </a:r>
          </a:p>
        </p:txBody>
      </p:sp>
      <p:sp>
        <p:nvSpPr>
          <p:cNvPr id="8" name="limits">
            <a:extLst>
              <a:ext uri="{FF2B5EF4-FFF2-40B4-BE49-F238E27FC236}">
                <a16:creationId xmlns:a16="http://schemas.microsoft.com/office/drawing/2014/main" id="{F465BF0A-DD8A-4505-B414-BC48F6271B42}"/>
              </a:ext>
            </a:extLst>
          </p:cNvPr>
          <p:cNvSpPr>
            <a:spLocks noGrp="1"/>
          </p:cNvSpPr>
          <p:nvPr/>
        </p:nvSpPr>
        <p:spPr>
          <a:xfrm>
            <a:off x="571500" y="5514975"/>
            <a:ext cx="10953750" cy="70485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가용률 85%와 Port 내부 순서 제약을 유지한 모델 결과입니다.</a:t>
            </a:r>
          </a:p>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다른 주소 편향, 동적 L2P, 실제 GC 및 Die/LUN 공유 자원은 별도 검증이 필요합니다.</a:t>
            </a:r>
          </a:p>
        </p:txBody>
      </p:sp>
    </p:spTree>
    <p:extLst>
      <p:ext uri="{BB962C8B-B14F-4D97-AF65-F5344CB8AC3E}">
        <p14:creationId xmlns:p14="http://schemas.microsoft.com/office/powerpoint/2010/main" val="189851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8B2CB721-D3CF-420A-8804-A5E267D855F6}"/>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 워크로드의 요청 크기와 접근 순서</a:t>
            </a:r>
          </a:p>
        </p:txBody>
      </p:sp>
      <p:sp>
        <p:nvSpPr>
          <p:cNvPr id="2" name="subtitle">
            <a:extLst>
              <a:ext uri="{FF2B5EF4-FFF2-40B4-BE49-F238E27FC236}">
                <a16:creationId xmlns:a16="http://schemas.microsoft.com/office/drawing/2014/main" id="{31D7E433-66A5-4407-806B-7FC05BEA6A32}"/>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아래 P1, P2는 각각 4KiB 논리 페이지입니다. NAND의 16KiB 물리 페이지와 구분합니다.</a:t>
            </a:r>
          </a:p>
        </p:txBody>
      </p:sp>
      <p:sp>
        <p:nvSpPr>
          <p:cNvPr id="3" name="footer">
            <a:extLst>
              <a:ext uri="{FF2B5EF4-FFF2-40B4-BE49-F238E27FC236}">
                <a16:creationId xmlns:a16="http://schemas.microsoft.com/office/drawing/2014/main" id="{D3AE081B-6268-4B25-87BA-1A35A121FAB5}"/>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model.py의 workload(), A/B 지속 부하 생성기. A2/B2는 3개 단위의 국소 순열</a:t>
            </a:r>
          </a:p>
        </p:txBody>
      </p:sp>
      <p:sp>
        <p:nvSpPr>
          <p:cNvPr id="4" name="page">
            <a:extLst>
              <a:ext uri="{FF2B5EF4-FFF2-40B4-BE49-F238E27FC236}">
                <a16:creationId xmlns:a16="http://schemas.microsoft.com/office/drawing/2014/main" id="{CC9B8883-9020-4374-8333-F7B1390CF2C0}"/>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12</a:t>
            </a:r>
          </a:p>
        </p:txBody>
      </p:sp>
      <p:graphicFrame>
        <p:nvGraphicFramePr>
          <p:cNvPr id="5" name="workload-patterns">
            <a:extLst>
              <a:ext uri="{FF2B5EF4-FFF2-40B4-BE49-F238E27FC236}">
                <a16:creationId xmlns:a16="http://schemas.microsoft.com/office/drawing/2014/main" id="{3E6522F3-0E53-4F25-ABFC-A6B9A4093A22}"/>
              </a:ext>
            </a:extLst>
          </p:cNvPr>
          <p:cNvGraphicFramePr/>
          <p:nvPr/>
        </p:nvGraphicFramePr>
        <p:xfrm>
          <a:off x="533400" y="1819275"/>
          <a:ext cx="11125200" cy="3467100"/>
        </p:xfrm>
        <a:graphic>
          <a:graphicData uri="http://schemas.openxmlformats.org/drawingml/2006/table">
            <a:tbl>
              <a:tblPr/>
              <a:tblGrid>
                <a:gridCol w="1000125">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gridCol w="4124325">
                  <a:extLst>
                    <a:ext uri="{9D8B030D-6E8A-4147-A177-3AD203B41FA5}">
                      <a16:colId xmlns:a16="http://schemas.microsoft.com/office/drawing/2014/main" val="20003"/>
                    </a:ext>
                  </a:extLst>
                </a:gridCol>
              </a:tblGrid>
              <a:tr h="577850">
                <a:tc>
                  <a:txBody>
                    <a:bodyPr/>
                    <a:lstStyle/>
                    <a:p>
                      <a:r>
                        <a:rPr sz="1725" b="1">
                          <a:solidFill>
                            <a:srgbClr val="FFFFFF"/>
                          </a:solidFill>
                          <a:latin typeface="Apple SD Gothic Neo"/>
                          <a:ea typeface="Apple SD Gothic Neo"/>
                          <a:cs typeface="Apple SD Gothic Neo"/>
                        </a:rPr>
                        <a:t>패턴</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요청당 반환</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논리 페이지 접근 순서</a:t>
                      </a:r>
                    </a:p>
                  </a:txBody>
                  <a:tcPr marL="133350" marR="133350" marT="95250" marB="95250" anchor="ctr">
                    <a:solidFill>
                      <a:srgbClr val="122C40"/>
                    </a:solidFill>
                  </a:tcPr>
                </a:tc>
                <a:tc>
                  <a:txBody>
                    <a:bodyPr/>
                    <a:lstStyle/>
                    <a:p>
                      <a:r>
                        <a:rPr sz="1725" b="1">
                          <a:solidFill>
                            <a:srgbClr val="FFFFFF"/>
                          </a:solidFill>
                          <a:latin typeface="Apple SD Gothic Neo"/>
                          <a:ea typeface="Apple SD Gothic Neo"/>
                          <a:cs typeface="Apple SD Gothic Neo"/>
                        </a:rPr>
                        <a:t>패턴의 의미</a:t>
                      </a:r>
                    </a:p>
                  </a:txBody>
                  <a:tcPr marL="133350" marR="133350" marT="95250" marB="95250" anchor="ctr">
                    <a:solidFill>
                      <a:srgbClr val="122C40"/>
                    </a:solidFill>
                  </a:tcPr>
                </a:tc>
                <a:extLst>
                  <a:ext uri="{0D108BD9-81ED-4DB2-BD59-A6C34878D82A}">
                    <a16:rowId xmlns:a16="http://schemas.microsoft.com/office/drawing/2014/main" val="10000"/>
                  </a:ext>
                </a:extLst>
              </a:tr>
              <a:tr h="577850">
                <a:tc>
                  <a:txBody>
                    <a:bodyPr/>
                    <a:lstStyle/>
                    <a:p>
                      <a:r>
                        <a:rPr sz="1725" b="0">
                          <a:solidFill>
                            <a:srgbClr val="172738"/>
                          </a:solidFill>
                          <a:latin typeface="Apple SD Gothic Neo"/>
                          <a:ea typeface="Apple SD Gothic Neo"/>
                          <a:cs typeface="Apple SD Gothic Neo"/>
                        </a:rPr>
                        <a:t>A1</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4KiB</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P1, P2, P3, P4, …</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각 논리 페이지 전체를 순서대로 읽음</a:t>
                      </a:r>
                    </a:p>
                  </a:txBody>
                  <a:tcPr marL="133350" marR="133350" marT="95250" marB="95250" anchor="ctr">
                    <a:solidFill>
                      <a:srgbClr val="FFFFFF"/>
                    </a:solidFill>
                  </a:tcPr>
                </a:tc>
                <a:extLst>
                  <a:ext uri="{0D108BD9-81ED-4DB2-BD59-A6C34878D82A}">
                    <a16:rowId xmlns:a16="http://schemas.microsoft.com/office/drawing/2014/main" val="10001"/>
                  </a:ext>
                </a:extLst>
              </a:tr>
              <a:tr h="577850">
                <a:tc>
                  <a:txBody>
                    <a:bodyPr/>
                    <a:lstStyle/>
                    <a:p>
                      <a:r>
                        <a:rPr sz="1725" b="0">
                          <a:solidFill>
                            <a:srgbClr val="172738"/>
                          </a:solidFill>
                          <a:latin typeface="Apple SD Gothic Neo"/>
                          <a:ea typeface="Apple SD Gothic Neo"/>
                          <a:cs typeface="Apple SD Gothic Neo"/>
                        </a:rPr>
                        <a:t>A2</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4KiB</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P1, P3, P2, P4, P6, P5, …</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3개씩 순서를 바꿔 페이지 전체를 읽음</a:t>
                      </a:r>
                    </a:p>
                  </a:txBody>
                  <a:tcPr marL="133350" marR="133350" marT="95250" marB="95250" anchor="ctr">
                    <a:solidFill>
                      <a:srgbClr val="F1F5F8"/>
                    </a:solidFill>
                  </a:tcPr>
                </a:tc>
                <a:extLst>
                  <a:ext uri="{0D108BD9-81ED-4DB2-BD59-A6C34878D82A}">
                    <a16:rowId xmlns:a16="http://schemas.microsoft.com/office/drawing/2014/main" val="10002"/>
                  </a:ext>
                </a:extLst>
              </a:tr>
              <a:tr h="577850">
                <a:tc>
                  <a:txBody>
                    <a:bodyPr/>
                    <a:lstStyle/>
                    <a:p>
                      <a:r>
                        <a:rPr sz="1725" b="0">
                          <a:solidFill>
                            <a:srgbClr val="172738"/>
                          </a:solidFill>
                          <a:latin typeface="Apple SD Gothic Neo"/>
                          <a:ea typeface="Apple SD Gothic Neo"/>
                          <a:cs typeface="Apple SD Gothic Neo"/>
                        </a:rPr>
                        <a:t>B1</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64B</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P1, P2, P3, P4, …</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각 페이지의 시작 64B만 읽음</a:t>
                      </a:r>
                    </a:p>
                  </a:txBody>
                  <a:tcPr marL="133350" marR="133350" marT="95250" marB="95250" anchor="ctr">
                    <a:solidFill>
                      <a:srgbClr val="FFFFFF"/>
                    </a:solidFill>
                  </a:tcPr>
                </a:tc>
                <a:extLst>
                  <a:ext uri="{0D108BD9-81ED-4DB2-BD59-A6C34878D82A}">
                    <a16:rowId xmlns:a16="http://schemas.microsoft.com/office/drawing/2014/main" val="10003"/>
                  </a:ext>
                </a:extLst>
              </a:tr>
              <a:tr h="577850">
                <a:tc>
                  <a:txBody>
                    <a:bodyPr/>
                    <a:lstStyle/>
                    <a:p>
                      <a:r>
                        <a:rPr sz="1725" b="0">
                          <a:solidFill>
                            <a:srgbClr val="172738"/>
                          </a:solidFill>
                          <a:latin typeface="Apple SD Gothic Neo"/>
                          <a:ea typeface="Apple SD Gothic Neo"/>
                          <a:cs typeface="Apple SD Gothic Neo"/>
                        </a:rPr>
                        <a:t>B2</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64B</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P1, P3, P2, P4, P6, P5, …</a:t>
                      </a:r>
                    </a:p>
                  </a:txBody>
                  <a:tcPr marL="133350" marR="133350" marT="95250" marB="95250" anchor="ctr">
                    <a:solidFill>
                      <a:srgbClr val="F1F5F8"/>
                    </a:solidFill>
                  </a:tcPr>
                </a:tc>
                <a:tc>
                  <a:txBody>
                    <a:bodyPr/>
                    <a:lstStyle/>
                    <a:p>
                      <a:r>
                        <a:rPr sz="1725" b="0">
                          <a:solidFill>
                            <a:srgbClr val="172738"/>
                          </a:solidFill>
                          <a:latin typeface="Apple SD Gothic Neo"/>
                          <a:ea typeface="Apple SD Gothic Neo"/>
                          <a:cs typeface="Apple SD Gothic Neo"/>
                        </a:rPr>
                        <a:t>B1과 크기는 같고 접근 순서만 바꿈</a:t>
                      </a:r>
                    </a:p>
                  </a:txBody>
                  <a:tcPr marL="133350" marR="133350" marT="95250" marB="95250" anchor="ctr">
                    <a:solidFill>
                      <a:srgbClr val="F1F5F8"/>
                    </a:solidFill>
                  </a:tcPr>
                </a:tc>
                <a:extLst>
                  <a:ext uri="{0D108BD9-81ED-4DB2-BD59-A6C34878D82A}">
                    <a16:rowId xmlns:a16="http://schemas.microsoft.com/office/drawing/2014/main" val="10004"/>
                  </a:ext>
                </a:extLst>
              </a:tr>
              <a:tr h="577850">
                <a:tc>
                  <a:txBody>
                    <a:bodyPr/>
                    <a:lstStyle/>
                    <a:p>
                      <a:r>
                        <a:rPr sz="1725" b="0">
                          <a:solidFill>
                            <a:srgbClr val="172738"/>
                          </a:solidFill>
                          <a:latin typeface="Apple SD Gothic Neo"/>
                          <a:ea typeface="Apple SD Gothic Neo"/>
                          <a:cs typeface="Apple SD Gothic Neo"/>
                        </a:rPr>
                        <a:t>B3</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64B</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P1, P3, P1(재방문), P2, …</a:t>
                      </a:r>
                    </a:p>
                  </a:txBody>
                  <a:tcPr marL="133350" marR="133350" marT="95250" marB="95250" anchor="ctr">
                    <a:solidFill>
                      <a:srgbClr val="FFFFFF"/>
                    </a:solidFill>
                  </a:tcPr>
                </a:tc>
                <a:tc>
                  <a:txBody>
                    <a:bodyPr/>
                    <a:lstStyle/>
                    <a:p>
                      <a:r>
                        <a:rPr sz="1725" b="0">
                          <a:solidFill>
                            <a:srgbClr val="172738"/>
                          </a:solidFill>
                          <a:latin typeface="Apple SD Gothic Neo"/>
                          <a:ea typeface="Apple SD Gothic Neo"/>
                          <a:cs typeface="Apple SD Gothic Neo"/>
                        </a:rPr>
                        <a:t>P1 재방문 시 offset +64B를 읽음</a:t>
                      </a:r>
                    </a:p>
                  </a:txBody>
                  <a:tcPr marL="133350" marR="133350" marT="95250" marB="95250" anchor="ctr">
                    <a:solidFill>
                      <a:srgbClr val="FFFFFF"/>
                    </a:solidFill>
                  </a:tcPr>
                </a:tc>
                <a:extLst>
                  <a:ext uri="{0D108BD9-81ED-4DB2-BD59-A6C34878D82A}">
                    <a16:rowId xmlns:a16="http://schemas.microsoft.com/office/drawing/2014/main" val="10005"/>
                  </a:ext>
                </a:extLst>
              </a:tr>
            </a:tbl>
          </a:graphicData>
        </a:graphic>
      </p:graphicFrame>
      <p:sp>
        <p:nvSpPr>
          <p:cNvPr id="6" name="logical-not-physical">
            <a:extLst>
              <a:ext uri="{FF2B5EF4-FFF2-40B4-BE49-F238E27FC236}">
                <a16:creationId xmlns:a16="http://schemas.microsoft.com/office/drawing/2014/main" id="{4733899D-1820-44B6-8F02-D344EC7CC350}"/>
              </a:ext>
            </a:extLst>
          </p:cNvPr>
          <p:cNvSpPr>
            <a:spLocks noGrp="1"/>
          </p:cNvSpPr>
          <p:nvPr/>
        </p:nvSpPr>
        <p:spPr>
          <a:xfrm>
            <a:off x="571500" y="5514975"/>
            <a:ext cx="11049000" cy="600075"/>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B3의 재방문은 같은 논리 페이지의 다른 데이터를 읽습니다.</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논리 페이지의 접근 순서와 실제 Channel·Plane·물리 페이지는 L2P 배치를 거쳐 연결됩니다.</a:t>
            </a:r>
          </a:p>
        </p:txBody>
      </p:sp>
    </p:spTree>
    <p:extLst>
      <p:ext uri="{BB962C8B-B14F-4D97-AF65-F5344CB8AC3E}">
        <p14:creationId xmlns:p14="http://schemas.microsoft.com/office/powerpoint/2010/main" val="1174511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itle">
            <a:extLst>
              <a:ext uri="{FF2B5EF4-FFF2-40B4-BE49-F238E27FC236}">
                <a16:creationId xmlns:a16="http://schemas.microsoft.com/office/drawing/2014/main" id="{9553CF1F-95E3-41CB-BEA6-DBC1204B110E}"/>
              </a:ext>
            </a:extLst>
          </p:cNvPr>
          <p:cNvSpPr>
            <a:spLocks noGrp="1"/>
          </p:cNvSpPr>
          <p:nvPr/>
        </p:nvSpPr>
        <p:spPr>
          <a:xfrm>
            <a:off x="533400" y="438150"/>
            <a:ext cx="11125200" cy="628650"/>
          </a:xfrm>
          <a:prstGeom prst="rect">
            <a:avLst/>
          </a:prstGeom>
          <a:noFill/>
          <a:ln w="0">
            <a:noFill/>
          </a:ln>
        </p:spPr>
        <p:txBody>
          <a:bodyPr wrap="square" lIns="0" tIns="0" rIns="0" bIns="0" anchor="t">
            <a:noAutofit/>
          </a:bodyPr>
          <a:lstStyle>
            <a:defPPr>
              <a:defRPr sz="3300" b="1">
                <a:solidFill>
                  <a:srgbClr val="172738"/>
                </a:solidFill>
                <a:latin typeface="Apple SD Gothic Neo"/>
                <a:ea typeface="Apple SD Gothic Neo"/>
                <a:cs typeface="Apple SD Gothic Neo"/>
              </a:defRPr>
            </a:defPPr>
          </a:lstStyle>
          <a:p>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A·B의 유효 데이터량과 처리량</a:t>
            </a:r>
          </a:p>
        </p:txBody>
      </p:sp>
      <p:sp>
        <p:nvSpPr>
          <p:cNvPr id="2" name="subtitle">
            <a:extLst>
              <a:ext uri="{FF2B5EF4-FFF2-40B4-BE49-F238E27FC236}">
                <a16:creationId xmlns:a16="http://schemas.microsoft.com/office/drawing/2014/main" id="{B49075C3-9706-4A05-BAD6-0FAD5E0C04E6}"/>
              </a:ext>
            </a:extLst>
          </p:cNvPr>
          <p:cNvSpPr>
            <a:spLocks noGrp="1"/>
          </p:cNvSpPr>
          <p:nvPr/>
        </p:nvSpPr>
        <p:spPr>
          <a:xfrm>
            <a:off x="552450" y="1104900"/>
            <a:ext cx="11087100" cy="571500"/>
          </a:xfrm>
          <a:prstGeom prst="rect">
            <a:avLst/>
          </a:prstGeom>
          <a:noFill/>
          <a:ln w="0">
            <a:noFill/>
          </a:ln>
        </p:spPr>
        <p:txBody>
          <a:bodyPr wrap="square" lIns="0" tIns="0" rIns="0" bIns="0" anchor="t">
            <a:noAutofit/>
          </a:bodyPr>
          <a:lstStyle>
            <a:defPPr>
              <a:defRPr sz="1800" b="0">
                <a:solidFill>
                  <a:srgbClr val="586875"/>
                </a:solidFill>
                <a:latin typeface="Apple SD Gothic Neo"/>
                <a:ea typeface="Apple SD Gothic Neo"/>
                <a:cs typeface="Apple SD Gothic Neo"/>
              </a:defRPr>
            </a:defPPr>
          </a:lstStyle>
          <a:p>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현재 모델은 64B 요청에도 NAND에서 물리 페이지 전체 16KiB를 출력합니다.</a:t>
            </a:r>
          </a:p>
        </p:txBody>
      </p:sp>
      <p:sp>
        <p:nvSpPr>
          <p:cNvPr id="3" name="footer">
            <a:extLst>
              <a:ext uri="{FF2B5EF4-FFF2-40B4-BE49-F238E27FC236}">
                <a16:creationId xmlns:a16="http://schemas.microsoft.com/office/drawing/2014/main" id="{EEAE4101-D7D3-4D86-A035-7658C0E98FA7}"/>
              </a:ext>
            </a:extLst>
          </p:cNvPr>
          <p:cNvSpPr>
            <a:spLocks noGrp="1"/>
          </p:cNvSpPr>
          <p:nvPr/>
        </p:nvSpPr>
        <p:spPr>
          <a:xfrm>
            <a:off x="533400" y="6419850"/>
            <a:ext cx="104775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64 Plane, 영역 배치, 8MiB, QD512/Port, PF OFF. 200–2,200µs 고정 평균</a:t>
            </a:r>
          </a:p>
        </p:txBody>
      </p:sp>
      <p:sp>
        <p:nvSpPr>
          <p:cNvPr id="4" name="page">
            <a:extLst>
              <a:ext uri="{FF2B5EF4-FFF2-40B4-BE49-F238E27FC236}">
                <a16:creationId xmlns:a16="http://schemas.microsoft.com/office/drawing/2014/main" id="{EB20151C-2FE9-477E-A0A8-EC23B27EF9F9}"/>
              </a:ext>
            </a:extLst>
          </p:cNvPr>
          <p:cNvSpPr>
            <a:spLocks noGrp="1"/>
          </p:cNvSpPr>
          <p:nvPr/>
        </p:nvSpPr>
        <p:spPr>
          <a:xfrm>
            <a:off x="11144250" y="6419850"/>
            <a:ext cx="495300" cy="257175"/>
          </a:xfrm>
          <a:prstGeom prst="rect">
            <a:avLst/>
          </a:prstGeom>
          <a:noFill/>
          <a:ln w="0">
            <a:noFill/>
          </a:ln>
        </p:spPr>
        <p:txBody>
          <a:bodyPr wrap="square" lIns="0" tIns="0" rIns="0" bIns="0" anchor="t">
            <a:noAutofit/>
          </a:bodyPr>
          <a:lstStyle>
            <a:defPPr>
              <a:defRPr sz="1200" b="0">
                <a:solidFill>
                  <a:srgbClr val="586875"/>
                </a:solidFill>
                <a:latin typeface="Apple SD Gothic Neo"/>
                <a:ea typeface="Apple SD Gothic Neo"/>
                <a:cs typeface="Apple SD Gothic Neo"/>
              </a:defRPr>
            </a:defPPr>
          </a:lstStyle>
          <a:p>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13</a:t>
            </a:r>
          </a:p>
        </p:txBody>
      </p:sp>
      <p:graphicFrame>
        <p:nvGraphicFramePr>
          <p:cNvPr id="5" name="workload-byte-efficiency">
            <a:extLst>
              <a:ext uri="{FF2B5EF4-FFF2-40B4-BE49-F238E27FC236}">
                <a16:creationId xmlns:a16="http://schemas.microsoft.com/office/drawing/2014/main" id="{D7A7B089-CDF9-43F3-8003-F76141A3E646}"/>
              </a:ext>
            </a:extLst>
          </p:cNvPr>
          <p:cNvGraphicFramePr/>
          <p:nvPr/>
        </p:nvGraphicFramePr>
        <p:xfrm>
          <a:off x="533400" y="1800225"/>
          <a:ext cx="11125200" cy="2857500"/>
        </p:xfrm>
        <a:graphic>
          <a:graphicData uri="http://schemas.openxmlformats.org/drawingml/2006/table">
            <a:tbl>
              <a:tblPr/>
              <a:tblGrid>
                <a:gridCol w="3286125">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3933825">
                  <a:extLst>
                    <a:ext uri="{9D8B030D-6E8A-4147-A177-3AD203B41FA5}">
                      <a16:colId xmlns:a16="http://schemas.microsoft.com/office/drawing/2014/main" val="20002"/>
                    </a:ext>
                  </a:extLst>
                </a:gridCol>
              </a:tblGrid>
              <a:tr h="571500">
                <a:tc>
                  <a:txBody>
                    <a:bodyPr/>
                    <a:lstStyle/>
                    <a:p>
                      <a:r>
                        <a:rPr sz="1800" b="1">
                          <a:solidFill>
                            <a:srgbClr val="FFFFFF"/>
                          </a:solidFill>
                          <a:latin typeface="Apple SD Gothic Neo"/>
                          <a:ea typeface="Apple SD Gothic Neo"/>
                          <a:cs typeface="Apple SD Gothic Neo"/>
                        </a:rPr>
                        <a:t>비교 항목</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A1 / A2</a:t>
                      </a:r>
                    </a:p>
                  </a:txBody>
                  <a:tcPr marL="133350" marR="133350" marT="95250" marB="95250" anchor="ctr">
                    <a:solidFill>
                      <a:srgbClr val="122C40"/>
                    </a:solidFill>
                  </a:tcPr>
                </a:tc>
                <a:tc>
                  <a:txBody>
                    <a:bodyPr/>
                    <a:lstStyle/>
                    <a:p>
                      <a:r>
                        <a:rPr sz="1800" b="1">
                          <a:solidFill>
                            <a:srgbClr val="FFFFFF"/>
                          </a:solidFill>
                          <a:latin typeface="Apple SD Gothic Neo"/>
                          <a:ea typeface="Apple SD Gothic Neo"/>
                          <a:cs typeface="Apple SD Gothic Neo"/>
                        </a:rPr>
                        <a:t>B1 / B2</a:t>
                      </a:r>
                    </a:p>
                  </a:txBody>
                  <a:tcPr marL="133350" marR="133350" marT="95250" marB="95250" anchor="ctr">
                    <a:solidFill>
                      <a:srgbClr val="122C40"/>
                    </a:solidFill>
                  </a:tcPr>
                </a:tc>
                <a:extLst>
                  <a:ext uri="{0D108BD9-81ED-4DB2-BD59-A6C34878D82A}">
                    <a16:rowId xmlns:a16="http://schemas.microsoft.com/office/drawing/2014/main" val="10000"/>
                  </a:ext>
                </a:extLst>
              </a:tr>
              <a:tr h="571500">
                <a:tc>
                  <a:txBody>
                    <a:bodyPr/>
                    <a:lstStyle/>
                    <a:p>
                      <a:r>
                        <a:rPr sz="1800" b="0">
                          <a:solidFill>
                            <a:srgbClr val="172738"/>
                          </a:solidFill>
                          <a:latin typeface="Apple SD Gothic Neo"/>
                          <a:ea typeface="Apple SD Gothic Neo"/>
                          <a:cs typeface="Apple SD Gothic Neo"/>
                        </a:rPr>
                        <a:t>Host 요청당 반환량</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4KiB</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64B</a:t>
                      </a:r>
                    </a:p>
                  </a:txBody>
                  <a:tcPr marL="133350" marR="133350" marT="95250" marB="95250" anchor="ctr">
                    <a:solidFill>
                      <a:srgbClr val="FFFFFF"/>
                    </a:solidFill>
                  </a:tcPr>
                </a:tc>
                <a:extLst>
                  <a:ext uri="{0D108BD9-81ED-4DB2-BD59-A6C34878D82A}">
                    <a16:rowId xmlns:a16="http://schemas.microsoft.com/office/drawing/2014/main" val="10001"/>
                  </a:ext>
                </a:extLst>
              </a:tr>
              <a:tr h="571500">
                <a:tc>
                  <a:txBody>
                    <a:bodyPr/>
                    <a:lstStyle/>
                    <a:p>
                      <a:r>
                        <a:rPr sz="1800" b="0">
                          <a:solidFill>
                            <a:srgbClr val="172738"/>
                          </a:solidFill>
                          <a:latin typeface="Apple SD Gothic Neo"/>
                          <a:ea typeface="Apple SD Gothic Neo"/>
                          <a:cs typeface="Apple SD Gothic Neo"/>
                        </a:rPr>
                        <a:t>물리 16KiB당 유효 데이터</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4 × 4KiB = 16KiB</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4 × 64B = 256B</a:t>
                      </a:r>
                    </a:p>
                  </a:txBody>
                  <a:tcPr marL="133350" marR="133350" marT="95250" marB="95250" anchor="ctr">
                    <a:solidFill>
                      <a:srgbClr val="F1F5F8"/>
                    </a:solidFill>
                  </a:tcPr>
                </a:tc>
                <a:extLst>
                  <a:ext uri="{0D108BD9-81ED-4DB2-BD59-A6C34878D82A}">
                    <a16:rowId xmlns:a16="http://schemas.microsoft.com/office/drawing/2014/main" val="10002"/>
                  </a:ext>
                </a:extLst>
              </a:tr>
              <a:tr h="571500">
                <a:tc>
                  <a:txBody>
                    <a:bodyPr/>
                    <a:lstStyle/>
                    <a:p>
                      <a:r>
                        <a:rPr sz="1800" b="0">
                          <a:solidFill>
                            <a:srgbClr val="172738"/>
                          </a:solidFill>
                          <a:latin typeface="Apple SD Gothic Neo"/>
                          <a:ea typeface="Apple SD Gothic Neo"/>
                          <a:cs typeface="Apple SD Gothic Neo"/>
                        </a:rPr>
                        <a:t>명목 유효 데이터 비율</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100%</a:t>
                      </a:r>
                    </a:p>
                  </a:txBody>
                  <a:tcPr marL="133350" marR="133350" marT="95250" marB="95250" anchor="ctr">
                    <a:solidFill>
                      <a:srgbClr val="FFFFFF"/>
                    </a:solidFill>
                  </a:tcPr>
                </a:tc>
                <a:tc>
                  <a:txBody>
                    <a:bodyPr/>
                    <a:lstStyle/>
                    <a:p>
                      <a:r>
                        <a:rPr sz="1800" b="0">
                          <a:solidFill>
                            <a:srgbClr val="172738"/>
                          </a:solidFill>
                          <a:latin typeface="Apple SD Gothic Neo"/>
                          <a:ea typeface="Apple SD Gothic Neo"/>
                          <a:cs typeface="Apple SD Gothic Neo"/>
                        </a:rPr>
                        <a:t>1/64 = 1.5625%</a:t>
                      </a:r>
                    </a:p>
                  </a:txBody>
                  <a:tcPr marL="133350" marR="133350" marT="95250" marB="95250" anchor="ctr">
                    <a:solidFill>
                      <a:srgbClr val="FFFFFF"/>
                    </a:solidFill>
                  </a:tcPr>
                </a:tc>
                <a:extLst>
                  <a:ext uri="{0D108BD9-81ED-4DB2-BD59-A6C34878D82A}">
                    <a16:rowId xmlns:a16="http://schemas.microsoft.com/office/drawing/2014/main" val="10003"/>
                  </a:ext>
                </a:extLst>
              </a:tr>
              <a:tr h="571500">
                <a:tc>
                  <a:txBody>
                    <a:bodyPr/>
                    <a:lstStyle/>
                    <a:p>
                      <a:r>
                        <a:rPr sz="1800" b="0">
                          <a:solidFill>
                            <a:srgbClr val="172738"/>
                          </a:solidFill>
                          <a:latin typeface="Apple SD Gothic Neo"/>
                          <a:ea typeface="Apple SD Gothic Neo"/>
                          <a:cs typeface="Apple SD Gothic Neo"/>
                        </a:rPr>
                        <a:t>Host 처리량 (GB/s)</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A1 255.366 / A2 255.058</a:t>
                      </a:r>
                    </a:p>
                  </a:txBody>
                  <a:tcPr marL="133350" marR="133350" marT="95250" marB="95250" anchor="ctr">
                    <a:solidFill>
                      <a:srgbClr val="F1F5F8"/>
                    </a:solidFill>
                  </a:tcPr>
                </a:tc>
                <a:tc>
                  <a:txBody>
                    <a:bodyPr/>
                    <a:lstStyle/>
                    <a:p>
                      <a:r>
                        <a:rPr sz="1800" b="0">
                          <a:solidFill>
                            <a:srgbClr val="172738"/>
                          </a:solidFill>
                          <a:latin typeface="Apple SD Gothic Neo"/>
                          <a:ea typeface="Apple SD Gothic Neo"/>
                          <a:cs typeface="Apple SD Gothic Neo"/>
                        </a:rPr>
                        <a:t>B1 3.995 / B2 4.001</a:t>
                      </a:r>
                    </a:p>
                  </a:txBody>
                  <a:tcPr marL="133350" marR="133350" marT="95250" marB="95250" anchor="ctr">
                    <a:solidFill>
                      <a:srgbClr val="F1F5F8"/>
                    </a:solidFill>
                  </a:tcPr>
                </a:tc>
                <a:extLst>
                  <a:ext uri="{0D108BD9-81ED-4DB2-BD59-A6C34878D82A}">
                    <a16:rowId xmlns:a16="http://schemas.microsoft.com/office/drawing/2014/main" val="10004"/>
                  </a:ext>
                </a:extLst>
              </a:tr>
            </a:tbl>
          </a:graphicData>
        </a:graphic>
      </p:graphicFrame>
      <p:sp>
        <p:nvSpPr>
          <p:cNvPr id="6" name="partial-read-meaning">
            <a:extLst>
              <a:ext uri="{FF2B5EF4-FFF2-40B4-BE49-F238E27FC236}">
                <a16:creationId xmlns:a16="http://schemas.microsoft.com/office/drawing/2014/main" id="{AED5F031-98B6-4A16-8893-0459893B9ED9}"/>
              </a:ext>
            </a:extLst>
          </p:cNvPr>
          <p:cNvSpPr>
            <a:spLocks noGrp="1"/>
          </p:cNvSpPr>
          <p:nvPr/>
        </p:nvSpPr>
        <p:spPr>
          <a:xfrm>
            <a:off x="571500" y="4914900"/>
            <a:ext cx="11029950" cy="704850"/>
          </a:xfrm>
          <a:prstGeom prst="rect">
            <a:avLst/>
          </a:prstGeom>
          <a:noFill/>
          <a:ln w="0">
            <a:noFill/>
          </a:ln>
        </p:spPr>
        <p:txBody>
          <a:bodyPr wrap="square" lIns="0" tIns="0" rIns="0" bIns="0" anchor="t">
            <a:noAutofit/>
          </a:bodyPr>
          <a:lstStyle>
            <a:defPPr>
              <a:defRPr sz="1800" b="0">
                <a:solidFill>
                  <a:srgbClr val="172738"/>
                </a:solidFill>
                <a:latin typeface="Apple SD Gothic Neo"/>
                <a:ea typeface="Apple SD Gothic Neo"/>
                <a:cs typeface="Apple SD Gothic Neo"/>
              </a:defRPr>
            </a:defPPr>
          </a:lstStyle>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B1/B2는 한 페이지 안의 64B를 모두 이어 읽는 부하가 아닙니다.</a:t>
            </a:r>
          </a:p>
          <a:p>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B의 내부 NAND 전송은 약 257GB/s지만, Host가 사용하는 데이터는 그 일부입니다.</a:t>
            </a:r>
          </a:p>
        </p:txBody>
      </p:sp>
      <p:sp>
        <p:nvSpPr>
          <p:cNvPr id="7" name="comparison-limits">
            <a:extLst>
              <a:ext uri="{FF2B5EF4-FFF2-40B4-BE49-F238E27FC236}">
                <a16:creationId xmlns:a16="http://schemas.microsoft.com/office/drawing/2014/main" id="{D25FD698-3EBE-4135-99A7-8E20B625C81F}"/>
              </a:ext>
            </a:extLst>
          </p:cNvPr>
          <p:cNvSpPr>
            <a:spLocks noGrp="1"/>
          </p:cNvSpPr>
          <p:nvPr/>
        </p:nvSpPr>
        <p:spPr>
          <a:xfrm>
            <a:off x="571500" y="5800725"/>
            <a:ext cx="11029950" cy="533400"/>
          </a:xfrm>
          <a:prstGeom prst="rect">
            <a:avLst/>
          </a:prstGeom>
          <a:noFill/>
          <a:ln w="0">
            <a:noFill/>
          </a:ln>
        </p:spPr>
        <p:txBody>
          <a:bodyPr wrap="square" lIns="0" tIns="0" rIns="0" bIns="0" anchor="t">
            <a:noAutofit/>
          </a:bodyPr>
          <a:lstStyle>
            <a:defPPr>
              <a:defRPr sz="1650" b="0">
                <a:solidFill>
                  <a:srgbClr val="586875"/>
                </a:solidFill>
                <a:latin typeface="Apple SD Gothic Neo"/>
                <a:ea typeface="Apple SD Gothic Neo"/>
                <a:cs typeface="Apple SD Gothic Neo"/>
              </a:defRPr>
            </a:defPPr>
          </a:lstStyle>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A1/B1은 매핑과 장치 설정이 같습니다. A2/B2는 stripe와 CA 정책이 다릅니다.</a:t>
            </a:r>
          </a:p>
          <a:p>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B3는 패턴 정의만 포함했으며, 이번 64 Plane 지속 부하의 성능 수치는 없습니다.</a:t>
            </a:r>
          </a:p>
        </p:txBody>
      </p:sp>
    </p:spTree>
    <p:extLst>
      <p:ext uri="{BB962C8B-B14F-4D97-AF65-F5344CB8AC3E}">
        <p14:creationId xmlns:p14="http://schemas.microsoft.com/office/powerpoint/2010/main" val="1597914831"/>
      </p:ext>
    </p:extLst>
  </p:cSld>
  <p:clrMapOvr>
    <a:masterClrMapping/>
  </p:clrMapOvr>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B84B65B1-86DF-48E2-BFFE-6A7AEB3511B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시간별 성능과 A·B의 병목</a:t>
            </a:r>
          </a:p>
        </p:txBody>
      </p:sp>
      <p:sp>
        <p:nvSpPr>
          <p:cNvPr id="2" name="conditions">
            <a:extLst xmlns:a="http://schemas.openxmlformats.org/drawingml/2006/main">
              <a:ext uri="{FF2B5EF4-FFF2-40B4-BE49-F238E27FC236}">
                <a16:creationId xmlns:a16="http://schemas.microsoft.com/office/drawing/2014/main" id="{2E72F62E-C1A3-4F90-9D9C-30B0B48B4CFE}"/>
              </a:ext>
            </a:extLst>
          </p:cNvPr>
          <p:cNvSpPr>
            <a:spLocks xmlns:a="http://schemas.openxmlformats.org/drawingml/2006/main" noGrp="1"/>
          </p:cNvSpPr>
          <p:nvPr/>
        </p:nvSpPr>
        <p:spPr>
          <a:xfrm xmlns:a="http://schemas.openxmlformats.org/drawingml/2006/main">
            <a:off x="552450" y="1104900"/>
            <a:ext cx="11087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4 Port / 64 Plane / 8MiB / QD512/Port / PF OFF / 가용률 85% / 기존 tR 유지</a:t>
            </a:r>
          </a:p>
        </p:txBody>
      </p:sp>
      <p:sp>
        <p:nvSpPr>
          <p:cNvPr id="3" name="measurement">
            <a:extLst xmlns:a="http://schemas.openxmlformats.org/drawingml/2006/main">
              <a:ext uri="{FF2B5EF4-FFF2-40B4-BE49-F238E27FC236}">
                <a16:creationId xmlns:a16="http://schemas.microsoft.com/office/drawing/2014/main" id="{40A5A0B9-476C-4C00-936E-5E5A9C8D80EF}"/>
              </a:ext>
            </a:extLst>
          </p:cNvPr>
          <p:cNvSpPr>
            <a:spLocks xmlns:a="http://schemas.openxmlformats.org/drawingml/2006/main" noGrp="1"/>
          </p:cNvSpPr>
          <p:nvPr/>
        </p:nvSpPr>
        <p:spPr>
          <a:xfrm xmlns:a="http://schemas.openxmlformats.org/drawingml/2006/main">
            <a:off x="552450" y="1457325"/>
            <a:ext cx="11087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초기 200µs 제외, 0.2–2.2ms 지속 부하. 곡선은 25µs 평균이며 종료 drain은 없습니다.</a:t>
            </a:r>
          </a:p>
        </p:txBody>
      </p:sp>
      <p:sp>
        <p:nvSpPr>
          <p:cNvPr id="4" name="a-heading">
            <a:extLst xmlns:a="http://schemas.openxmlformats.org/drawingml/2006/main">
              <a:ext uri="{FF2B5EF4-FFF2-40B4-BE49-F238E27FC236}">
                <a16:creationId xmlns:a16="http://schemas.microsoft.com/office/drawing/2014/main" id="{EAFC6426-B297-4E2F-98FA-D80B4A891A1C}"/>
              </a:ext>
            </a:extLst>
          </p:cNvPr>
          <p:cNvSpPr>
            <a:spLocks xmlns:a="http://schemas.openxmlformats.org/drawingml/2006/main" noGrp="1"/>
          </p:cNvSpPr>
          <p:nvPr/>
        </p:nvSpPr>
        <p:spPr>
          <a:xfrm xmlns:a="http://schemas.openxmlformats.org/drawingml/2006/main">
            <a:off x="552450" y="18669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2738"/>
                </a:solidFill>
                <a:latin typeface="Apple SD Gothic Neo"/>
                <a:ea typeface="Apple SD Gothic Neo"/>
                <a:cs typeface="Apple SD Gothic Neo"/>
              </a:defRPr>
            </a:defPPr>
          </a:lstStyle>
          <a:p xmlns:a="http://schemas.openxmlformats.org/drawingml/2006/main">
            <a:pPr>
              <a:defRPr sz="2100" b="1">
                <a:solidFill>
                  <a:srgbClr val="172738"/>
                </a:solidFill>
                <a:latin typeface="Apple SD Gothic Neo"/>
                <a:ea typeface="Apple SD Gothic Neo"/>
                <a:cs typeface="Apple SD Gothic Neo"/>
              </a:defRPr>
            </a:pPr>
            <a:r>
              <a:rPr sz="2100" b="1">
                <a:solidFill>
                  <a:srgbClr val="172738"/>
                </a:solidFill>
                <a:latin typeface="Apple SD Gothic Neo"/>
                <a:ea typeface="Apple SD Gothic Neo"/>
                <a:cs typeface="Apple SD Gothic Neo"/>
              </a:rPr>
              <a:t>A1 / A2  ·  4KiB 반환</a:t>
            </a:r>
          </a:p>
        </p:txBody>
      </p:sp>
      <p:sp>
        <p:nvSpPr>
          <p:cNvPr id="5" name="b-heading">
            <a:extLst xmlns:a="http://schemas.openxmlformats.org/drawingml/2006/main">
              <a:ext uri="{FF2B5EF4-FFF2-40B4-BE49-F238E27FC236}">
                <a16:creationId xmlns:a16="http://schemas.microsoft.com/office/drawing/2014/main" id="{8029F7C9-4608-4CCC-884B-285DF1C9C4F7}"/>
              </a:ext>
            </a:extLst>
          </p:cNvPr>
          <p:cNvSpPr>
            <a:spLocks xmlns:a="http://schemas.openxmlformats.org/drawingml/2006/main" noGrp="1"/>
          </p:cNvSpPr>
          <p:nvPr/>
        </p:nvSpPr>
        <p:spPr>
          <a:xfrm xmlns:a="http://schemas.openxmlformats.org/drawingml/2006/main">
            <a:off x="6267450" y="18669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72738"/>
                </a:solidFill>
                <a:latin typeface="Apple SD Gothic Neo"/>
                <a:ea typeface="Apple SD Gothic Neo"/>
                <a:cs typeface="Apple SD Gothic Neo"/>
              </a:defRPr>
            </a:defPPr>
          </a:lstStyle>
          <a:p xmlns:a="http://schemas.openxmlformats.org/drawingml/2006/main">
            <a:pPr>
              <a:defRPr sz="2100" b="1">
                <a:solidFill>
                  <a:srgbClr val="172738"/>
                </a:solidFill>
                <a:latin typeface="Apple SD Gothic Neo"/>
                <a:ea typeface="Apple SD Gothic Neo"/>
                <a:cs typeface="Apple SD Gothic Neo"/>
              </a:defRPr>
            </a:pPr>
            <a:r>
              <a:rPr sz="2100" b="1">
                <a:solidFill>
                  <a:srgbClr val="172738"/>
                </a:solidFill>
                <a:latin typeface="Apple SD Gothic Neo"/>
                <a:ea typeface="Apple SD Gothic Neo"/>
                <a:cs typeface="Apple SD Gothic Neo"/>
              </a:rPr>
              <a:t>B1 / B2  ·  64B 반환</a:t>
            </a:r>
          </a:p>
        </p:txBody>
      </p:sp>
      <p:graphicFrame>
        <p:nvGraphicFramePr>
          <p:cNvPr id="6" name="Chart">
            <a:extLst xmlns:a="http://schemas.openxmlformats.org/drawingml/2006/main">
              <a:ext uri="{FF2B5EF4-FFF2-40B4-BE49-F238E27FC236}">
                <a16:creationId xmlns:a16="http://schemas.microsoft.com/office/drawing/2014/main" id="{E388D2BD-E795-4ADF-96CD-13D4996B093D}"/>
              </a:ext>
            </a:extLst>
          </p:cNvPr>
          <p:cNvGraphicFramePr/>
          <p:nvPr/>
        </p:nvGraphicFramePr>
        <p:xfrm>
          <a:off xmlns:a="http://schemas.openxmlformats.org/drawingml/2006/main" x="533400" y="2238375"/>
          <a:ext xmlns:a="http://schemas.openxmlformats.org/drawingml/2006/main" cx="5391150" cy="2447925"/>
        </p:xfrm>
        <a:graphic xmlns:a="http://schemas.openxmlformats.org/drawingml/2006/main">
          <a:graphicData uri="http://schemas.openxmlformats.org/drawingml/2006/chart">
            <c:chart xmlns:r="http://schemas.openxmlformats.org/officeDocument/2006/relationships" xmlns:c="http://schemas.openxmlformats.org/drawingml/2006/chart" r:id="Rf74d68ed40634fd1"/>
          </a:graphicData>
        </a:graphic>
      </p:graphicFrame>
      <p:graphicFrame>
        <p:nvGraphicFramePr>
          <p:cNvPr id="7" name="Chart">
            <a:extLst xmlns:a="http://schemas.openxmlformats.org/drawingml/2006/main">
              <a:ext uri="{FF2B5EF4-FFF2-40B4-BE49-F238E27FC236}">
                <a16:creationId xmlns:a16="http://schemas.microsoft.com/office/drawing/2014/main" id="{45726DD8-5E29-4589-BC64-97D660CA4D06}"/>
              </a:ext>
            </a:extLst>
          </p:cNvPr>
          <p:cNvGraphicFramePr/>
          <p:nvPr/>
        </p:nvGraphicFramePr>
        <p:xfrm>
          <a:off xmlns:a="http://schemas.openxmlformats.org/drawingml/2006/main" x="6248400" y="2238375"/>
          <a:ext xmlns:a="http://schemas.openxmlformats.org/drawingml/2006/main" cx="5391150" cy="2447925"/>
        </p:xfrm>
        <a:graphic xmlns:a="http://schemas.openxmlformats.org/drawingml/2006/main">
          <a:graphicData uri="http://schemas.openxmlformats.org/drawingml/2006/chart">
            <c:chart xmlns:r="http://schemas.openxmlformats.org/officeDocument/2006/relationships" xmlns:c="http://schemas.openxmlformats.org/drawingml/2006/chart" r:id="R9e7376dfd8b54e3c"/>
          </a:graphicData>
        </a:graphic>
      </p:graphicFrame>
      <p:sp>
        <p:nvSpPr>
          <p:cNvPr id="8" name="a-mean">
            <a:extLst xmlns:a="http://schemas.openxmlformats.org/drawingml/2006/main">
              <a:ext uri="{FF2B5EF4-FFF2-40B4-BE49-F238E27FC236}">
                <a16:creationId xmlns:a16="http://schemas.microsoft.com/office/drawing/2014/main" id="{6C82D796-258A-459D-B679-EB5BAD2C3711}"/>
              </a:ext>
            </a:extLst>
          </p:cNvPr>
          <p:cNvSpPr>
            <a:spLocks xmlns:a="http://schemas.openxmlformats.org/drawingml/2006/main" noGrp="1"/>
          </p:cNvSpPr>
          <p:nvPr/>
        </p:nvSpPr>
        <p:spPr>
          <a:xfrm xmlns:a="http://schemas.openxmlformats.org/drawingml/2006/main">
            <a:off x="571500" y="47434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26DCA"/>
                </a:solidFill>
                <a:latin typeface="Apple SD Gothic Neo"/>
                <a:ea typeface="Apple SD Gothic Neo"/>
                <a:cs typeface="Apple SD Gothic Neo"/>
              </a:defRPr>
            </a:defPPr>
          </a:lstStyle>
          <a:p xmlns:a="http://schemas.openxmlformats.org/drawingml/2006/main">
            <a:pPr>
              <a:defRPr sz="1725" b="1">
                <a:solidFill>
                  <a:srgbClr val="126DCA"/>
                </a:solidFill>
                <a:latin typeface="Apple SD Gothic Neo"/>
                <a:ea typeface="Apple SD Gothic Neo"/>
                <a:cs typeface="Apple SD Gothic Neo"/>
              </a:defRPr>
            </a:pPr>
            <a:r>
              <a:rPr sz="1725" b="1">
                <a:solidFill>
                  <a:srgbClr val="126DCA"/>
                </a:solidFill>
                <a:latin typeface="Apple SD Gothic Neo"/>
                <a:ea typeface="Apple SD Gothic Neo"/>
                <a:cs typeface="Apple SD Gothic Neo"/>
              </a:rPr>
              <a:t>2ms 평균  A1 255.37 / A2 255.06 GB/s</a:t>
            </a:r>
          </a:p>
        </p:txBody>
      </p:sp>
      <p:sp>
        <p:nvSpPr>
          <p:cNvPr id="9" name="b-mean">
            <a:extLst xmlns:a="http://schemas.openxmlformats.org/drawingml/2006/main">
              <a:ext uri="{FF2B5EF4-FFF2-40B4-BE49-F238E27FC236}">
                <a16:creationId xmlns:a16="http://schemas.microsoft.com/office/drawing/2014/main" id="{2BAC634F-AEAF-46F4-95B0-D91BA8D7DC38}"/>
              </a:ext>
            </a:extLst>
          </p:cNvPr>
          <p:cNvSpPr>
            <a:spLocks xmlns:a="http://schemas.openxmlformats.org/drawingml/2006/main" noGrp="1"/>
          </p:cNvSpPr>
          <p:nvPr/>
        </p:nvSpPr>
        <p:spPr>
          <a:xfrm xmlns:a="http://schemas.openxmlformats.org/drawingml/2006/main">
            <a:off x="6286500" y="4743450"/>
            <a:ext cx="539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08B82"/>
                </a:solidFill>
                <a:latin typeface="Apple SD Gothic Neo"/>
                <a:ea typeface="Apple SD Gothic Neo"/>
                <a:cs typeface="Apple SD Gothic Neo"/>
              </a:defRPr>
            </a:defPPr>
          </a:lstStyle>
          <a:p xmlns:a="http://schemas.openxmlformats.org/drawingml/2006/main">
            <a:pPr>
              <a:defRPr sz="1725" b="1">
                <a:solidFill>
                  <a:srgbClr val="008B82"/>
                </a:solidFill>
                <a:latin typeface="Apple SD Gothic Neo"/>
                <a:ea typeface="Apple SD Gothic Neo"/>
                <a:cs typeface="Apple SD Gothic Neo"/>
              </a:defRPr>
            </a:pPr>
            <a:r>
              <a:rPr sz="1725" b="1">
                <a:solidFill>
                  <a:srgbClr val="008B82"/>
                </a:solidFill>
                <a:latin typeface="Apple SD Gothic Neo"/>
                <a:ea typeface="Apple SD Gothic Neo"/>
                <a:cs typeface="Apple SD Gothic Neo"/>
              </a:rPr>
              <a:t>2ms 평균  B1 3.995 / B2 4.001 GB/s</a:t>
            </a:r>
          </a:p>
        </p:txBody>
      </p:sp>
      <p:sp>
        <p:nvSpPr>
          <p:cNvPr id="10" name="a-counts">
            <a:extLst xmlns:a="http://schemas.openxmlformats.org/drawingml/2006/main">
              <a:ext uri="{FF2B5EF4-FFF2-40B4-BE49-F238E27FC236}">
                <a16:creationId xmlns:a16="http://schemas.microsoft.com/office/drawing/2014/main" id="{B9B046BA-AEC4-4712-B482-9D45D576BEF9}"/>
              </a:ext>
            </a:extLst>
          </p:cNvPr>
          <p:cNvSpPr>
            <a:spLocks xmlns:a="http://schemas.openxmlformats.org/drawingml/2006/main" noGrp="1"/>
          </p:cNvSpPr>
          <p:nvPr/>
        </p:nvSpPr>
        <p:spPr>
          <a:xfrm xmlns:a="http://schemas.openxmlformats.org/drawingml/2006/main">
            <a:off x="571500" y="5105400"/>
            <a:ext cx="5476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완료 124,692 / 124,541건</a:t>
            </a:r>
          </a:p>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실제 outstanding 평균 2006.7 / 2035.9건</a:t>
            </a:r>
          </a:p>
        </p:txBody>
      </p:sp>
      <p:sp>
        <p:nvSpPr>
          <p:cNvPr id="11" name="b-counts">
            <a:extLst xmlns:a="http://schemas.openxmlformats.org/drawingml/2006/main">
              <a:ext uri="{FF2B5EF4-FFF2-40B4-BE49-F238E27FC236}">
                <a16:creationId xmlns:a16="http://schemas.microsoft.com/office/drawing/2014/main" id="{8552874F-EF4E-4A22-9915-56B91057B2DF}"/>
              </a:ext>
            </a:extLst>
          </p:cNvPr>
          <p:cNvSpPr>
            <a:spLocks xmlns:a="http://schemas.openxmlformats.org/drawingml/2006/main" noGrp="1"/>
          </p:cNvSpPr>
          <p:nvPr/>
        </p:nvSpPr>
        <p:spPr>
          <a:xfrm xmlns:a="http://schemas.openxmlformats.org/drawingml/2006/main">
            <a:off x="6286500" y="5105400"/>
            <a:ext cx="5391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완료 124,832 / 125,023건</a:t>
            </a:r>
          </a:p>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실제 outstanding 평균 2030.7 / 2029.3건</a:t>
            </a:r>
          </a:p>
        </p:txBody>
      </p:sp>
      <p:sp>
        <p:nvSpPr>
          <p:cNvPr id="12" name="a-insight">
            <a:extLst xmlns:a="http://schemas.openxmlformats.org/drawingml/2006/main">
              <a:ext uri="{FF2B5EF4-FFF2-40B4-BE49-F238E27FC236}">
                <a16:creationId xmlns:a16="http://schemas.microsoft.com/office/drawing/2014/main" id="{1A7D25CA-C89F-4658-A1B2-95D8DC7FFEB7}"/>
              </a:ext>
            </a:extLst>
          </p:cNvPr>
          <p:cNvSpPr>
            <a:spLocks xmlns:a="http://schemas.openxmlformats.org/drawingml/2006/main" noGrp="1"/>
          </p:cNvSpPr>
          <p:nvPr/>
        </p:nvSpPr>
        <p:spPr>
          <a:xfrm xmlns:a="http://schemas.openxmlformats.org/drawingml/2006/main">
            <a:off x="571500" y="5753100"/>
            <a:ext cx="5448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A는 Host 상한 256GB/s의 약 99.6–99.8%</a:t>
            </a:r>
          </a:p>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추가 병렬성보다 남은 대기 구간 축소가 관건</a:t>
            </a:r>
          </a:p>
        </p:txBody>
      </p:sp>
      <p:sp>
        <p:nvSpPr>
          <p:cNvPr id="13" name="b-insight">
            <a:extLst xmlns:a="http://schemas.openxmlformats.org/drawingml/2006/main">
              <a:ext uri="{FF2B5EF4-FFF2-40B4-BE49-F238E27FC236}">
                <a16:creationId xmlns:a16="http://schemas.microsoft.com/office/drawing/2014/main" id="{5E8E6AC8-1442-4CEF-B3BE-2C3A28DE8E59}"/>
              </a:ext>
            </a:extLst>
          </p:cNvPr>
          <p:cNvSpPr>
            <a:spLocks xmlns:a="http://schemas.openxmlformats.org/drawingml/2006/main" noGrp="1"/>
          </p:cNvSpPr>
          <p:nvPr/>
        </p:nvSpPr>
        <p:spPr>
          <a:xfrm xmlns:a="http://schemas.openxmlformats.org/drawingml/2006/main">
            <a:off x="6286500" y="5753100"/>
            <a:ext cx="542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72738"/>
                </a:solidFill>
                <a:latin typeface="Apple SD Gothic Neo"/>
                <a:ea typeface="Apple SD Gothic Neo"/>
                <a:cs typeface="Apple SD Gothic Neo"/>
              </a:defRPr>
            </a:defPPr>
          </a:lstStyle>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B는 명목 유효 비율 1/64로 약 4GB/s</a:t>
            </a:r>
          </a:p>
          <a:p xmlns:a="http://schemas.openxmlformats.org/drawingml/2006/main">
            <a:pPr>
              <a:defRPr sz="1650" b="1">
                <a:solidFill>
                  <a:srgbClr val="172738"/>
                </a:solidFill>
                <a:latin typeface="Apple SD Gothic Neo"/>
                <a:ea typeface="Apple SD Gothic Neo"/>
                <a:cs typeface="Apple SD Gothic Neo"/>
              </a:defRPr>
            </a:pPr>
            <a:r>
              <a:rPr sz="1650" b="1">
                <a:solidFill>
                  <a:srgbClr val="172738"/>
                </a:solidFill>
                <a:latin typeface="Apple SD Gothic Neo"/>
                <a:ea typeface="Apple SD Gothic Neo"/>
                <a:cs typeface="Apple SD Gothic Neo"/>
              </a:rPr>
              <a:t>주기적 하락은 maintenance와 in-order 선두 대기</a:t>
            </a:r>
          </a:p>
        </p:txBody>
      </p:sp>
      <p:sp>
        <p:nvSpPr>
          <p:cNvPr id="14" name="footer">
            <a:extLst xmlns:a="http://schemas.openxmlformats.org/drawingml/2006/main">
              <a:ext uri="{FF2B5EF4-FFF2-40B4-BE49-F238E27FC236}">
                <a16:creationId xmlns:a16="http://schemas.microsoft.com/office/drawing/2014/main" id="{718C0C5F-BAFF-40F2-834A-172607A3ABE4}"/>
              </a:ext>
            </a:extLst>
          </p:cNvPr>
          <p:cNvSpPr>
            <a:spLocks xmlns:a="http://schemas.openxmlformats.org/drawingml/2006/main" noGrp="1"/>
          </p:cNvSpPr>
          <p:nvPr/>
        </p:nvSpPr>
        <p:spPr>
          <a:xfrm xmlns:a="http://schemas.openxmlformats.org/drawingml/2006/main">
            <a:off x="533400" y="6448425"/>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63" b="0">
                <a:solidFill>
                  <a:srgbClr val="586875"/>
                </a:solidFill>
                <a:latin typeface="Apple SD Gothic Neo"/>
                <a:ea typeface="Apple SD Gothic Neo"/>
                <a:cs typeface="Apple SD Gothic Neo"/>
              </a:defRPr>
            </a:defPPr>
          </a:lstStyle>
          <a:p xmlns:a="http://schemas.openxmlformats.org/drawingml/2006/main">
            <a:pPr>
              <a:defRPr sz="1163" b="0">
                <a:solidFill>
                  <a:srgbClr val="586875"/>
                </a:solidFill>
                <a:latin typeface="Apple SD Gothic Neo"/>
                <a:ea typeface="Apple SD Gothic Neo"/>
                <a:cs typeface="Apple SD Gothic Neo"/>
              </a:defRPr>
            </a:pPr>
            <a:r>
              <a:rPr sz="1163" b="0">
                <a:solidFill>
                  <a:srgbClr val="586875"/>
                </a:solidFill>
                <a:latin typeface="Apple SD Gothic Neo"/>
                <a:ea typeface="Apple SD Gothic Neo"/>
                <a:cs typeface="Apple SD Gothic Neo"/>
              </a:rPr>
              <a:t>모델 결과 / 좌우 Y축 다름 / A1·B1·B2: stripe 4KiB, A2: 16KiB / 요청 수·outstanding은 4 Port 합계</a:t>
            </a:r>
          </a:p>
        </p:txBody>
      </p:sp>
      <p:sp>
        <p:nvSpPr>
          <p:cNvPr id="15" name="page">
            <a:extLst xmlns:a="http://schemas.openxmlformats.org/drawingml/2006/main">
              <a:ext uri="{FF2B5EF4-FFF2-40B4-BE49-F238E27FC236}">
                <a16:creationId xmlns:a16="http://schemas.microsoft.com/office/drawing/2014/main" id="{D2D546F9-50B9-4D0D-BB0B-6B0EA3D5EC32}"/>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14</a:t>
            </a:r>
          </a:p>
        </p:txBody>
      </p:sp>
    </p:spTree>
    <p:extLst>
      <p:ext uri="{BB962C8B-B14F-4D97-AF65-F5344CB8AC3E}">
        <p14:creationId xmlns:p14="http://schemas.microsoft.com/office/powerpoint/2010/main" val="16377134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6156</Words>
  <Application>Microsoft Macintosh PowerPoint</Application>
  <DocSecurity>0</DocSecurity>
  <PresentationFormat>와이드스크린</PresentationFormat>
  <Paragraphs>503</Paragraphs>
  <Slides>14</Slides>
  <Notes>14</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13</vt:i4>
      </vt:variant>
    </vt:vector>
  </HeadingPairs>
  <TitlesOfParts>
    <vt:vector size="17" baseType="lpstr">
      <vt:lpstr>Apple SD Gothic Neo</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시간별 성능과 A·B의 병목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준범 박</cp:lastModifiedBy>
  <cp:revision>1</cp:revision>
  <dcterms:created xsi:type="dcterms:W3CDTF">2026-10-11T01:39:40Z</dcterms:created>
  <dcterms:modified xsi:type="dcterms:W3CDTF">2026-10-11T02:12:23Z</dcterms:modified>
</cp:coreProperties>
</file>